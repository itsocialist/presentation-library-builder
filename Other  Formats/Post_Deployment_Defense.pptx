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96042"/>
            <a:ext cx="17475200" cy="436602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827899" y="6842916"/>
            <a:ext cx="0" cy="2221865"/>
          </a:xfrm>
          <a:custGeom>
            <a:avLst/>
            <a:gdLst/>
            <a:ahLst/>
            <a:cxnLst/>
            <a:rect l="l" t="t" r="r" b="b"/>
            <a:pathLst>
              <a:path w="0" h="2221865">
                <a:moveTo>
                  <a:pt x="0" y="2221308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4621983" y="6842916"/>
            <a:ext cx="0" cy="2195830"/>
          </a:xfrm>
          <a:custGeom>
            <a:avLst/>
            <a:gdLst/>
            <a:ahLst/>
            <a:cxnLst/>
            <a:rect l="l" t="t" r="r" b="b"/>
            <a:pathLst>
              <a:path w="0" h="2195829">
                <a:moveTo>
                  <a:pt x="0" y="219577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815162" y="6855683"/>
            <a:ext cx="3923029" cy="0"/>
          </a:xfrm>
          <a:custGeom>
            <a:avLst/>
            <a:gdLst/>
            <a:ahLst/>
            <a:cxnLst/>
            <a:rect l="l" t="t" r="r" b="b"/>
            <a:pathLst>
              <a:path w="3923029" h="0">
                <a:moveTo>
                  <a:pt x="0" y="0"/>
                </a:moveTo>
                <a:lnTo>
                  <a:pt x="3922971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7336465" y="6855683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113" y="0"/>
                </a:lnTo>
              </a:path>
            </a:pathLst>
          </a:custGeom>
          <a:ln w="3175">
            <a:solidFill>
              <a:srgbClr val="D3D4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3017131" y="6855683"/>
            <a:ext cx="1630680" cy="0"/>
          </a:xfrm>
          <a:custGeom>
            <a:avLst/>
            <a:gdLst/>
            <a:ahLst/>
            <a:cxnLst/>
            <a:rect l="l" t="t" r="r" b="b"/>
            <a:pathLst>
              <a:path w="1630680" h="0">
                <a:moveTo>
                  <a:pt x="0" y="0"/>
                </a:moveTo>
                <a:lnTo>
                  <a:pt x="1630325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9807427" y="6868448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79" h="0">
                <a:moveTo>
                  <a:pt x="891584" y="0"/>
                </a:moveTo>
                <a:lnTo>
                  <a:pt x="1553904" y="0"/>
                </a:lnTo>
              </a:path>
              <a:path w="1554479" h="0">
                <a:moveTo>
                  <a:pt x="0" y="0"/>
                </a:moveTo>
                <a:lnTo>
                  <a:pt x="866110" y="0"/>
                </a:lnTo>
              </a:path>
            </a:pathLst>
          </a:custGeom>
          <a:ln w="3175">
            <a:solidFill>
              <a:srgbClr val="D3D4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5145715" y="6868448"/>
            <a:ext cx="1426845" cy="0"/>
          </a:xfrm>
          <a:custGeom>
            <a:avLst/>
            <a:gdLst/>
            <a:ahLst/>
            <a:cxnLst/>
            <a:rect l="l" t="t" r="r" b="b"/>
            <a:pathLst>
              <a:path w="1426845" h="0">
                <a:moveTo>
                  <a:pt x="0" y="0"/>
                </a:moveTo>
                <a:lnTo>
                  <a:pt x="1426534" y="0"/>
                </a:lnTo>
              </a:path>
            </a:pathLst>
          </a:custGeom>
          <a:ln w="3175">
            <a:solidFill>
              <a:srgbClr val="D3D4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2685971" y="9013160"/>
            <a:ext cx="1961514" cy="0"/>
          </a:xfrm>
          <a:custGeom>
            <a:avLst/>
            <a:gdLst/>
            <a:ahLst/>
            <a:cxnLst/>
            <a:rect l="l" t="t" r="r" b="b"/>
            <a:pathLst>
              <a:path w="1961515" h="0">
                <a:moveTo>
                  <a:pt x="0" y="0"/>
                </a:moveTo>
                <a:lnTo>
                  <a:pt x="1961485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815162" y="9025927"/>
            <a:ext cx="3184525" cy="0"/>
          </a:xfrm>
          <a:custGeom>
            <a:avLst/>
            <a:gdLst/>
            <a:ahLst/>
            <a:cxnLst/>
            <a:rect l="l" t="t" r="r" b="b"/>
            <a:pathLst>
              <a:path w="3184525" h="0">
                <a:moveTo>
                  <a:pt x="0" y="0"/>
                </a:moveTo>
                <a:lnTo>
                  <a:pt x="318422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16409" y="676937"/>
            <a:ext cx="10106025" cy="1595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1" i="0">
                <a:solidFill>
                  <a:srgbClr val="11131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242644" y="7181288"/>
            <a:ext cx="12934950" cy="14833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1" i="0">
                <a:solidFill>
                  <a:srgbClr val="1D212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1" i="0">
                <a:solidFill>
                  <a:srgbClr val="11131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rgbClr val="1D212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1" i="0">
                <a:solidFill>
                  <a:srgbClr val="11131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1" i="0">
                <a:solidFill>
                  <a:srgbClr val="11131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7998" y="676937"/>
            <a:ext cx="15347315" cy="8680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1" i="0">
                <a:solidFill>
                  <a:srgbClr val="11131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72953" y="2451430"/>
            <a:ext cx="11057255" cy="21678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1" i="0">
                <a:solidFill>
                  <a:srgbClr val="1D212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Relationship Id="rId8" Type="http://schemas.openxmlformats.org/officeDocument/2006/relationships/image" Target="../media/image9.jpg"/><Relationship Id="rId9" Type="http://schemas.openxmlformats.org/officeDocument/2006/relationships/image" Target="../media/image10.jpg"/><Relationship Id="rId10" Type="http://schemas.openxmlformats.org/officeDocument/2006/relationships/image" Target="../media/image1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Relationship Id="rId9" Type="http://schemas.openxmlformats.org/officeDocument/2006/relationships/image" Target="../media/image19.jpg"/><Relationship Id="rId10" Type="http://schemas.openxmlformats.org/officeDocument/2006/relationships/image" Target="../media/image20.jpg"/><Relationship Id="rId11" Type="http://schemas.openxmlformats.org/officeDocument/2006/relationships/image" Target="../media/image21.jpg"/><Relationship Id="rId12" Type="http://schemas.openxmlformats.org/officeDocument/2006/relationships/image" Target="../media/image22.jpg"/><Relationship Id="rId13" Type="http://schemas.openxmlformats.org/officeDocument/2006/relationships/image" Target="../media/image23.jpg"/><Relationship Id="rId14" Type="http://schemas.openxmlformats.org/officeDocument/2006/relationships/image" Target="../media/image24.jpg"/><Relationship Id="rId15" Type="http://schemas.openxmlformats.org/officeDocument/2006/relationships/image" Target="../media/image25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5" Type="http://schemas.openxmlformats.org/officeDocument/2006/relationships/image" Target="../media/image29.jpg"/><Relationship Id="rId6" Type="http://schemas.openxmlformats.org/officeDocument/2006/relationships/image" Target="../media/image30.jpg"/><Relationship Id="rId7" Type="http://schemas.openxmlformats.org/officeDocument/2006/relationships/image" Target="../media/image31.jpg"/><Relationship Id="rId8" Type="http://schemas.openxmlformats.org/officeDocument/2006/relationships/image" Target="../media/image32.jpg"/><Relationship Id="rId9" Type="http://schemas.openxmlformats.org/officeDocument/2006/relationships/image" Target="../media/image33.jpg"/><Relationship Id="rId10" Type="http://schemas.openxmlformats.org/officeDocument/2006/relationships/image" Target="../media/image34.jpg"/><Relationship Id="rId11" Type="http://schemas.openxmlformats.org/officeDocument/2006/relationships/image" Target="../media/image35.jpg"/><Relationship Id="rId12" Type="http://schemas.openxmlformats.org/officeDocument/2006/relationships/image" Target="../media/image36.jpg"/><Relationship Id="rId13" Type="http://schemas.openxmlformats.org/officeDocument/2006/relationships/image" Target="../media/image37.jpg"/><Relationship Id="rId14" Type="http://schemas.openxmlformats.org/officeDocument/2006/relationships/image" Target="../media/image38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jpg"/><Relationship Id="rId3" Type="http://schemas.openxmlformats.org/officeDocument/2006/relationships/image" Target="../media/image40.jpg"/><Relationship Id="rId4" Type="http://schemas.openxmlformats.org/officeDocument/2006/relationships/image" Target="../media/image41.jpg"/><Relationship Id="rId5" Type="http://schemas.openxmlformats.org/officeDocument/2006/relationships/image" Target="../media/image42.jpg"/><Relationship Id="rId6" Type="http://schemas.openxmlformats.org/officeDocument/2006/relationships/image" Target="../media/image43.jpg"/><Relationship Id="rId7" Type="http://schemas.openxmlformats.org/officeDocument/2006/relationships/image" Target="../media/image44.jpg"/><Relationship Id="rId8" Type="http://schemas.openxmlformats.org/officeDocument/2006/relationships/image" Target="../media/image45.jpg"/><Relationship Id="rId9" Type="http://schemas.openxmlformats.org/officeDocument/2006/relationships/image" Target="../media/image46.jpg"/><Relationship Id="rId10" Type="http://schemas.openxmlformats.org/officeDocument/2006/relationships/image" Target="../media/image47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jpg"/><Relationship Id="rId3" Type="http://schemas.openxmlformats.org/officeDocument/2006/relationships/image" Target="../media/image49.jpg"/><Relationship Id="rId4" Type="http://schemas.openxmlformats.org/officeDocument/2006/relationships/image" Target="../media/image50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jpg"/><Relationship Id="rId3" Type="http://schemas.openxmlformats.org/officeDocument/2006/relationships/image" Target="../media/image52.jpg"/><Relationship Id="rId4" Type="http://schemas.openxmlformats.org/officeDocument/2006/relationships/image" Target="../media/image53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jpg"/><Relationship Id="rId3" Type="http://schemas.openxmlformats.org/officeDocument/2006/relationships/image" Target="../media/image55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jpg"/><Relationship Id="rId3" Type="http://schemas.openxmlformats.org/officeDocument/2006/relationships/image" Target="../media/image57.jpg"/><Relationship Id="rId4" Type="http://schemas.openxmlformats.org/officeDocument/2006/relationships/image" Target="../media/image58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jpg"/><Relationship Id="rId3" Type="http://schemas.openxmlformats.org/officeDocument/2006/relationships/image" Target="../media/image60.jpg"/><Relationship Id="rId4" Type="http://schemas.openxmlformats.org/officeDocument/2006/relationships/image" Target="../media/image61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jpg"/><Relationship Id="rId3" Type="http://schemas.openxmlformats.org/officeDocument/2006/relationships/image" Target="../media/image63.jpg"/><Relationship Id="rId4" Type="http://schemas.openxmlformats.org/officeDocument/2006/relationships/image" Target="../media/image64.jpg"/><Relationship Id="rId5" Type="http://schemas.openxmlformats.org/officeDocument/2006/relationships/image" Target="../media/image65.jpg"/><Relationship Id="rId6" Type="http://schemas.openxmlformats.org/officeDocument/2006/relationships/image" Target="../media/image66.jpg"/><Relationship Id="rId7" Type="http://schemas.openxmlformats.org/officeDocument/2006/relationships/image" Target="../media/image67.jpg"/><Relationship Id="rId8" Type="http://schemas.openxmlformats.org/officeDocument/2006/relationships/image" Target="../media/image68.jpg"/><Relationship Id="rId9" Type="http://schemas.openxmlformats.org/officeDocument/2006/relationships/image" Target="../media/image69.jpg"/><Relationship Id="rId10" Type="http://schemas.openxmlformats.org/officeDocument/2006/relationships/image" Target="../media/image70.jpg"/><Relationship Id="rId11" Type="http://schemas.openxmlformats.org/officeDocument/2006/relationships/image" Target="../media/image71.jpg"/><Relationship Id="rId12" Type="http://schemas.openxmlformats.org/officeDocument/2006/relationships/image" Target="../media/image72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4.jpg"/><Relationship Id="rId3" Type="http://schemas.openxmlformats.org/officeDocument/2006/relationships/image" Target="../media/image75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46776" y="766232"/>
            <a:ext cx="4814554" cy="441708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385535" y="5579136"/>
            <a:ext cx="10686415" cy="198120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45415" marR="5080" indent="-133350">
              <a:lnSpc>
                <a:spcPts val="7440"/>
              </a:lnSpc>
              <a:spcBef>
                <a:spcPts val="720"/>
              </a:spcBef>
            </a:pPr>
            <a:r>
              <a:rPr dirty="0" sz="6600" spc="290" b="1">
                <a:solidFill>
                  <a:srgbClr val="151823"/>
                </a:solidFill>
                <a:latin typeface="Arial"/>
                <a:cs typeface="Arial"/>
              </a:rPr>
              <a:t>We</a:t>
            </a:r>
            <a:r>
              <a:rPr dirty="0" sz="6600" spc="-300" b="1">
                <a:solidFill>
                  <a:srgbClr val="151823"/>
                </a:solidFill>
                <a:latin typeface="Arial"/>
                <a:cs typeface="Arial"/>
              </a:rPr>
              <a:t> </a:t>
            </a:r>
            <a:r>
              <a:rPr dirty="0" sz="6600" spc="140" b="1">
                <a:solidFill>
                  <a:srgbClr val="151823"/>
                </a:solidFill>
                <a:latin typeface="Arial"/>
                <a:cs typeface="Arial"/>
              </a:rPr>
              <a:t>Are</a:t>
            </a:r>
            <a:r>
              <a:rPr dirty="0" sz="6600" spc="-310" b="1">
                <a:solidFill>
                  <a:srgbClr val="151823"/>
                </a:solidFill>
                <a:latin typeface="Arial"/>
                <a:cs typeface="Arial"/>
              </a:rPr>
              <a:t> </a:t>
            </a:r>
            <a:r>
              <a:rPr dirty="0" sz="6600" spc="229" b="1">
                <a:solidFill>
                  <a:srgbClr val="151823"/>
                </a:solidFill>
                <a:latin typeface="Arial"/>
                <a:cs typeface="Arial"/>
              </a:rPr>
              <a:t>The</a:t>
            </a:r>
            <a:r>
              <a:rPr dirty="0" sz="6600" spc="-380" b="1">
                <a:solidFill>
                  <a:srgbClr val="151823"/>
                </a:solidFill>
                <a:latin typeface="Arial"/>
                <a:cs typeface="Arial"/>
              </a:rPr>
              <a:t> </a:t>
            </a:r>
            <a:r>
              <a:rPr dirty="0" sz="6600" spc="130" b="1">
                <a:solidFill>
                  <a:srgbClr val="151823"/>
                </a:solidFill>
                <a:latin typeface="Arial"/>
                <a:cs typeface="Arial"/>
              </a:rPr>
              <a:t>Missing</a:t>
            </a:r>
            <a:r>
              <a:rPr dirty="0" sz="6600" spc="-254" b="1">
                <a:solidFill>
                  <a:srgbClr val="151823"/>
                </a:solidFill>
                <a:latin typeface="Arial"/>
                <a:cs typeface="Arial"/>
              </a:rPr>
              <a:t> </a:t>
            </a:r>
            <a:r>
              <a:rPr dirty="0" sz="6600" spc="85" b="1">
                <a:solidFill>
                  <a:srgbClr val="151823"/>
                </a:solidFill>
                <a:latin typeface="Arial"/>
                <a:cs typeface="Arial"/>
              </a:rPr>
              <a:t>Piece </a:t>
            </a:r>
            <a:r>
              <a:rPr dirty="0" sz="6600" spc="200" b="1">
                <a:solidFill>
                  <a:srgbClr val="151823"/>
                </a:solidFill>
                <a:latin typeface="Arial"/>
                <a:cs typeface="Arial"/>
              </a:rPr>
              <a:t>in</a:t>
            </a:r>
            <a:r>
              <a:rPr dirty="0" sz="6600" spc="-470" b="1">
                <a:solidFill>
                  <a:srgbClr val="151823"/>
                </a:solidFill>
                <a:latin typeface="Arial"/>
                <a:cs typeface="Arial"/>
              </a:rPr>
              <a:t> </a:t>
            </a:r>
            <a:r>
              <a:rPr dirty="0" sz="6600" spc="270" b="1">
                <a:solidFill>
                  <a:srgbClr val="151823"/>
                </a:solidFill>
                <a:latin typeface="Arial"/>
                <a:cs typeface="Arial"/>
              </a:rPr>
              <a:t>The</a:t>
            </a:r>
            <a:r>
              <a:rPr dirty="0" sz="6600" spc="-365" b="1">
                <a:solidFill>
                  <a:srgbClr val="151823"/>
                </a:solidFill>
                <a:latin typeface="Arial"/>
                <a:cs typeface="Arial"/>
              </a:rPr>
              <a:t> </a:t>
            </a:r>
            <a:r>
              <a:rPr dirty="0" sz="6600" spc="125" b="1">
                <a:solidFill>
                  <a:srgbClr val="151823"/>
                </a:solidFill>
                <a:latin typeface="Arial"/>
                <a:cs typeface="Arial"/>
              </a:rPr>
              <a:t>Security</a:t>
            </a:r>
            <a:r>
              <a:rPr dirty="0" sz="6600" spc="-185" b="1">
                <a:solidFill>
                  <a:srgbClr val="151823"/>
                </a:solidFill>
                <a:latin typeface="Arial"/>
                <a:cs typeface="Arial"/>
              </a:rPr>
              <a:t> </a:t>
            </a:r>
            <a:r>
              <a:rPr dirty="0" sz="6600" spc="70" b="1">
                <a:solidFill>
                  <a:srgbClr val="151823"/>
                </a:solidFill>
                <a:latin typeface="Arial"/>
                <a:cs typeface="Arial"/>
              </a:rPr>
              <a:t>Lifecycle.</a:t>
            </a:r>
            <a:endParaRPr sz="6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84982" y="7768531"/>
            <a:ext cx="11967845" cy="14897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dirty="0" sz="3050">
                <a:solidFill>
                  <a:srgbClr val="151823"/>
                </a:solidFill>
                <a:latin typeface="Arial"/>
                <a:cs typeface="Arial"/>
              </a:rPr>
              <a:t>DeployHub:</a:t>
            </a:r>
            <a:r>
              <a:rPr dirty="0" sz="3050" spc="215">
                <a:solidFill>
                  <a:srgbClr val="151823"/>
                </a:solidFill>
                <a:latin typeface="Arial"/>
                <a:cs typeface="Arial"/>
              </a:rPr>
              <a:t> </a:t>
            </a:r>
            <a:r>
              <a:rPr dirty="0" sz="3050">
                <a:solidFill>
                  <a:srgbClr val="151823"/>
                </a:solidFill>
                <a:latin typeface="Arial"/>
                <a:cs typeface="Arial"/>
              </a:rPr>
              <a:t>The</a:t>
            </a:r>
            <a:r>
              <a:rPr dirty="0" sz="3050" spc="80">
                <a:solidFill>
                  <a:srgbClr val="151823"/>
                </a:solidFill>
                <a:latin typeface="Arial"/>
                <a:cs typeface="Arial"/>
              </a:rPr>
              <a:t> </a:t>
            </a:r>
            <a:r>
              <a:rPr dirty="0" sz="3050" spc="50">
                <a:solidFill>
                  <a:srgbClr val="151823"/>
                </a:solidFill>
                <a:latin typeface="Arial"/>
                <a:cs typeface="Arial"/>
              </a:rPr>
              <a:t>Post-</a:t>
            </a:r>
            <a:r>
              <a:rPr dirty="0" sz="3050" spc="60">
                <a:solidFill>
                  <a:srgbClr val="151823"/>
                </a:solidFill>
                <a:latin typeface="Arial"/>
                <a:cs typeface="Arial"/>
              </a:rPr>
              <a:t>Deployment</a:t>
            </a:r>
            <a:r>
              <a:rPr dirty="0" sz="3050" spc="165">
                <a:solidFill>
                  <a:srgbClr val="151823"/>
                </a:solidFill>
                <a:latin typeface="Arial"/>
                <a:cs typeface="Arial"/>
              </a:rPr>
              <a:t> </a:t>
            </a:r>
            <a:r>
              <a:rPr dirty="0" sz="3050">
                <a:solidFill>
                  <a:srgbClr val="151823"/>
                </a:solidFill>
                <a:latin typeface="Arial"/>
                <a:cs typeface="Arial"/>
              </a:rPr>
              <a:t>Cybersecurity</a:t>
            </a:r>
            <a:r>
              <a:rPr dirty="0" sz="3050" spc="580">
                <a:solidFill>
                  <a:srgbClr val="151823"/>
                </a:solidFill>
                <a:latin typeface="Arial"/>
                <a:cs typeface="Arial"/>
              </a:rPr>
              <a:t> </a:t>
            </a:r>
            <a:r>
              <a:rPr dirty="0" sz="3050">
                <a:solidFill>
                  <a:srgbClr val="151823"/>
                </a:solidFill>
                <a:latin typeface="Arial"/>
                <a:cs typeface="Arial"/>
              </a:rPr>
              <a:t>Defense</a:t>
            </a:r>
            <a:r>
              <a:rPr dirty="0" sz="3050" spc="200">
                <a:solidFill>
                  <a:srgbClr val="151823"/>
                </a:solidFill>
                <a:latin typeface="Arial"/>
                <a:cs typeface="Arial"/>
              </a:rPr>
              <a:t> </a:t>
            </a:r>
            <a:r>
              <a:rPr dirty="0" sz="3050" spc="45">
                <a:solidFill>
                  <a:srgbClr val="151823"/>
                </a:solidFill>
                <a:latin typeface="Arial"/>
                <a:cs typeface="Arial"/>
              </a:rPr>
              <a:t>Platform</a:t>
            </a:r>
            <a:r>
              <a:rPr dirty="0" sz="3050" spc="45">
                <a:solidFill>
                  <a:srgbClr val="2F3134"/>
                </a:solidFill>
                <a:latin typeface="Arial"/>
                <a:cs typeface="Arial"/>
              </a:rPr>
              <a:t>.</a:t>
            </a:r>
            <a:endParaRPr sz="3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3050">
              <a:latin typeface="Arial"/>
              <a:cs typeface="Arial"/>
            </a:endParaRPr>
          </a:p>
          <a:p>
            <a:pPr algn="ctr" marR="34290">
              <a:lnSpc>
                <a:spcPct val="100000"/>
              </a:lnSpc>
              <a:spcBef>
                <a:spcPts val="5"/>
              </a:spcBef>
            </a:pPr>
            <a:r>
              <a:rPr dirty="0" sz="2600" spc="95" b="1">
                <a:solidFill>
                  <a:srgbClr val="4D72B5"/>
                </a:solidFill>
                <a:latin typeface="Arial"/>
                <a:cs typeface="Arial"/>
              </a:rPr>
              <a:t>E)</a:t>
            </a:r>
            <a:r>
              <a:rPr dirty="0" sz="2600" spc="95" b="1">
                <a:solidFill>
                  <a:srgbClr val="151823"/>
                </a:solidFill>
                <a:latin typeface="Arial"/>
                <a:cs typeface="Arial"/>
              </a:rPr>
              <a:t>DeployHub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7058" y="2706687"/>
            <a:ext cx="1095375" cy="155746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39802" y="2706687"/>
            <a:ext cx="1146322" cy="155746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38968" y="2706687"/>
            <a:ext cx="1426535" cy="158300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31005" y="3753511"/>
            <a:ext cx="713267" cy="99575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151021" y="2732219"/>
            <a:ext cx="636845" cy="150640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042608" y="2706687"/>
            <a:ext cx="1146322" cy="155746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290826" y="2706687"/>
            <a:ext cx="1146322" cy="155746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615462" y="2936478"/>
            <a:ext cx="993479" cy="107235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26989" y="2604557"/>
            <a:ext cx="4254500" cy="3728085"/>
            <a:chOff x="6826989" y="2604557"/>
            <a:chExt cx="4254500" cy="3728085"/>
          </a:xfrm>
        </p:grpSpPr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26989" y="5004593"/>
              <a:ext cx="2547383" cy="132767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65199" y="2604557"/>
              <a:ext cx="4216400" cy="3676650"/>
            </a:xfrm>
            <a:custGeom>
              <a:avLst/>
              <a:gdLst/>
              <a:ahLst/>
              <a:cxnLst/>
              <a:rect l="l" t="t" r="r" b="b"/>
              <a:pathLst>
                <a:path w="4216400" h="3676650">
                  <a:moveTo>
                    <a:pt x="0" y="2400034"/>
                  </a:moveTo>
                  <a:lnTo>
                    <a:pt x="0" y="0"/>
                  </a:lnTo>
                </a:path>
                <a:path w="4216400" h="3676650">
                  <a:moveTo>
                    <a:pt x="2509173" y="3676648"/>
                  </a:moveTo>
                  <a:lnTo>
                    <a:pt x="4215920" y="3676648"/>
                  </a:lnTo>
                </a:path>
              </a:pathLst>
            </a:custGeom>
            <a:ln w="12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40">
                <a:solidFill>
                  <a:srgbClr val="111111"/>
                </a:solidFill>
              </a:rPr>
              <a:t>The</a:t>
            </a:r>
            <a:r>
              <a:rPr dirty="0" spc="-590">
                <a:solidFill>
                  <a:srgbClr val="111111"/>
                </a:solidFill>
              </a:rPr>
              <a:t> </a:t>
            </a:r>
            <a:r>
              <a:rPr dirty="0" spc="-270">
                <a:solidFill>
                  <a:srgbClr val="111111"/>
                </a:solidFill>
              </a:rPr>
              <a:t>New</a:t>
            </a:r>
            <a:r>
              <a:rPr dirty="0" spc="-320">
                <a:solidFill>
                  <a:srgbClr val="111111"/>
                </a:solidFill>
              </a:rPr>
              <a:t> </a:t>
            </a:r>
            <a:r>
              <a:rPr dirty="0" spc="-290">
                <a:solidFill>
                  <a:srgbClr val="111111"/>
                </a:solidFill>
              </a:rPr>
              <a:t>Reality</a:t>
            </a:r>
            <a:r>
              <a:rPr dirty="0" spc="-465">
                <a:solidFill>
                  <a:srgbClr val="111111"/>
                </a:solidFill>
              </a:rPr>
              <a:t> </a:t>
            </a:r>
            <a:r>
              <a:rPr dirty="0" spc="-275">
                <a:solidFill>
                  <a:srgbClr val="111111"/>
                </a:solidFill>
              </a:rPr>
              <a:t>Has</a:t>
            </a:r>
            <a:r>
              <a:rPr dirty="0" spc="-490">
                <a:solidFill>
                  <a:srgbClr val="111111"/>
                </a:solidFill>
              </a:rPr>
              <a:t> </a:t>
            </a:r>
            <a:r>
              <a:rPr dirty="0" spc="-160">
                <a:solidFill>
                  <a:srgbClr val="111111"/>
                </a:solidFill>
              </a:rPr>
              <a:t>a</a:t>
            </a:r>
            <a:r>
              <a:rPr dirty="0" spc="-625">
                <a:solidFill>
                  <a:srgbClr val="111111"/>
                </a:solidFill>
              </a:rPr>
              <a:t> </a:t>
            </a:r>
            <a:r>
              <a:rPr dirty="0" spc="-315">
                <a:solidFill>
                  <a:srgbClr val="111111"/>
                </a:solidFill>
              </a:rPr>
              <a:t>Hidden</a:t>
            </a:r>
            <a:r>
              <a:rPr dirty="0" spc="-260">
                <a:solidFill>
                  <a:srgbClr val="111111"/>
                </a:solidFill>
              </a:rPr>
              <a:t> </a:t>
            </a:r>
            <a:r>
              <a:rPr dirty="0" spc="-300">
                <a:solidFill>
                  <a:srgbClr val="111111"/>
                </a:solidFill>
              </a:rPr>
              <a:t>and</a:t>
            </a:r>
            <a:r>
              <a:rPr dirty="0" spc="-505">
                <a:solidFill>
                  <a:srgbClr val="111111"/>
                </a:solidFill>
              </a:rPr>
              <a:t> </a:t>
            </a:r>
            <a:r>
              <a:rPr dirty="0" spc="-360">
                <a:solidFill>
                  <a:srgbClr val="111111"/>
                </a:solidFill>
              </a:rPr>
              <a:t>Dangerous</a:t>
            </a:r>
            <a:r>
              <a:rPr dirty="0" spc="-229">
                <a:solidFill>
                  <a:srgbClr val="111111"/>
                </a:solidFill>
              </a:rPr>
              <a:t> </a:t>
            </a:r>
            <a:r>
              <a:rPr dirty="0" spc="-150">
                <a:solidFill>
                  <a:srgbClr val="111111"/>
                </a:solidFill>
              </a:rPr>
              <a:t>Cost.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40801" y="4928062"/>
            <a:ext cx="4576445" cy="234886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3335" marR="366395" indent="-1270">
              <a:lnSpc>
                <a:spcPts val="3720"/>
              </a:lnSpc>
              <a:spcBef>
                <a:spcPts val="140"/>
              </a:spcBef>
            </a:pPr>
            <a:r>
              <a:rPr dirty="0" sz="3000">
                <a:solidFill>
                  <a:srgbClr val="111111"/>
                </a:solidFill>
                <a:latin typeface="Arial"/>
                <a:cs typeface="Arial"/>
              </a:rPr>
              <a:t>of</a:t>
            </a:r>
            <a:r>
              <a:rPr dirty="0" sz="3000" spc="-17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55">
                <a:solidFill>
                  <a:srgbClr val="111111"/>
                </a:solidFill>
                <a:latin typeface="Arial"/>
                <a:cs typeface="Arial"/>
              </a:rPr>
              <a:t>all</a:t>
            </a:r>
            <a:r>
              <a:rPr dirty="0" sz="3000" spc="-19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120">
                <a:solidFill>
                  <a:srgbClr val="111111"/>
                </a:solidFill>
                <a:latin typeface="Arial"/>
                <a:cs typeface="Arial"/>
              </a:rPr>
              <a:t>companies</a:t>
            </a:r>
            <a:r>
              <a:rPr dirty="0" sz="3000" spc="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100">
                <a:solidFill>
                  <a:srgbClr val="111111"/>
                </a:solidFill>
                <a:latin typeface="Arial"/>
                <a:cs typeface="Arial"/>
              </a:rPr>
              <a:t>now</a:t>
            </a:r>
            <a:r>
              <a:rPr dirty="0" sz="3000" spc="-16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25">
                <a:solidFill>
                  <a:srgbClr val="111111"/>
                </a:solidFill>
                <a:latin typeface="Arial"/>
                <a:cs typeface="Arial"/>
              </a:rPr>
              <a:t>build </a:t>
            </a:r>
            <a:r>
              <a:rPr dirty="0" sz="3000" spc="-65">
                <a:solidFill>
                  <a:srgbClr val="111111"/>
                </a:solidFill>
                <a:latin typeface="Arial"/>
                <a:cs typeface="Arial"/>
              </a:rPr>
              <a:t>software</a:t>
            </a:r>
            <a:r>
              <a:rPr dirty="0" sz="3000" spc="-10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60">
                <a:solidFill>
                  <a:srgbClr val="111111"/>
                </a:solidFill>
                <a:latin typeface="Arial"/>
                <a:cs typeface="Arial"/>
              </a:rPr>
              <a:t>on</a:t>
            </a:r>
            <a:r>
              <a:rPr dirty="0" sz="3000" spc="-16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190">
                <a:solidFill>
                  <a:srgbClr val="111111"/>
                </a:solidFill>
                <a:latin typeface="Arial"/>
                <a:cs typeface="Arial"/>
              </a:rPr>
              <a:t>a</a:t>
            </a:r>
            <a:r>
              <a:rPr dirty="0" sz="3000" spc="-12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10">
                <a:solidFill>
                  <a:srgbClr val="111111"/>
                </a:solidFill>
                <a:latin typeface="Arial"/>
                <a:cs typeface="Arial"/>
              </a:rPr>
              <a:t>foundation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ts val="3475"/>
              </a:lnSpc>
            </a:pPr>
            <a:r>
              <a:rPr dirty="0" sz="3000">
                <a:solidFill>
                  <a:srgbClr val="111111"/>
                </a:solidFill>
                <a:latin typeface="Arial"/>
                <a:cs typeface="Arial"/>
              </a:rPr>
              <a:t>of</a:t>
            </a:r>
            <a:r>
              <a:rPr dirty="0" sz="3000" spc="-10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120">
                <a:solidFill>
                  <a:srgbClr val="111111"/>
                </a:solidFill>
                <a:latin typeface="Arial"/>
                <a:cs typeface="Arial"/>
              </a:rPr>
              <a:t>open-</a:t>
            </a:r>
            <a:r>
              <a:rPr dirty="0" sz="3000" spc="-70">
                <a:solidFill>
                  <a:srgbClr val="111111"/>
                </a:solidFill>
                <a:latin typeface="Arial"/>
                <a:cs typeface="Arial"/>
              </a:rPr>
              <a:t>source</a:t>
            </a:r>
            <a:r>
              <a:rPr dirty="0" sz="3000" spc="1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95">
                <a:solidFill>
                  <a:srgbClr val="111111"/>
                </a:solidFill>
                <a:latin typeface="Arial"/>
                <a:cs typeface="Arial"/>
              </a:rPr>
              <a:t>components.</a:t>
            </a:r>
            <a:endParaRPr sz="3000">
              <a:latin typeface="Arial"/>
              <a:cs typeface="Arial"/>
            </a:endParaRPr>
          </a:p>
          <a:p>
            <a:pPr marL="13335" marR="692785" indent="2540">
              <a:lnSpc>
                <a:spcPts val="3720"/>
              </a:lnSpc>
            </a:pPr>
            <a:r>
              <a:rPr dirty="0" sz="3000" spc="-105">
                <a:solidFill>
                  <a:srgbClr val="111111"/>
                </a:solidFill>
                <a:latin typeface="Arial"/>
                <a:cs typeface="Arial"/>
              </a:rPr>
              <a:t>This</a:t>
            </a:r>
            <a:r>
              <a:rPr dirty="0" sz="3000" spc="-23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>
                <a:solidFill>
                  <a:srgbClr val="111111"/>
                </a:solidFill>
                <a:latin typeface="Arial"/>
                <a:cs typeface="Arial"/>
              </a:rPr>
              <a:t>is</a:t>
            </a:r>
            <a:r>
              <a:rPr dirty="0" sz="3000" spc="-25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dirty="0" sz="3000" spc="-29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65">
                <a:solidFill>
                  <a:srgbClr val="111111"/>
                </a:solidFill>
                <a:latin typeface="Arial"/>
                <a:cs typeface="Arial"/>
              </a:rPr>
              <a:t>new</a:t>
            </a:r>
            <a:r>
              <a:rPr dirty="0" sz="3000" spc="-9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114">
                <a:solidFill>
                  <a:srgbClr val="111111"/>
                </a:solidFill>
                <a:latin typeface="Arial"/>
                <a:cs typeface="Arial"/>
              </a:rPr>
              <a:t>universal universal</a:t>
            </a:r>
            <a:r>
              <a:rPr dirty="0" sz="3000" spc="-4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10">
                <a:solidFill>
                  <a:srgbClr val="111111"/>
                </a:solidFill>
                <a:latin typeface="Arial"/>
                <a:cs typeface="Arial"/>
              </a:rPr>
              <a:t>standard.</a:t>
            </a:r>
            <a:endParaRPr sz="3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75747" y="3517403"/>
            <a:ext cx="13208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25">
                <a:solidFill>
                  <a:srgbClr val="858989"/>
                </a:solidFill>
                <a:latin typeface="Arial"/>
                <a:cs typeface="Arial"/>
              </a:rPr>
              <a:t>(/)</a:t>
            </a:r>
            <a:endParaRPr sz="9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71320" y="3625916"/>
            <a:ext cx="334010" cy="4089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-2314" sz="3600" spc="-1095">
                <a:solidFill>
                  <a:srgbClr val="858989"/>
                </a:solidFill>
                <a:latin typeface="Arial"/>
                <a:cs typeface="Arial"/>
              </a:rPr>
              <a:t>·</a:t>
            </a:r>
            <a:r>
              <a:rPr dirty="0" sz="2500" spc="-100">
                <a:solidFill>
                  <a:srgbClr val="858989"/>
                </a:solidFill>
                <a:latin typeface="Arial"/>
                <a:cs typeface="Arial"/>
              </a:rPr>
              <a:t>.</a:t>
            </a:r>
            <a:r>
              <a:rPr dirty="0" sz="2500" spc="-600">
                <a:solidFill>
                  <a:srgbClr val="858989"/>
                </a:solidFill>
                <a:latin typeface="Arial"/>
                <a:cs typeface="Arial"/>
              </a:rPr>
              <a:t>.</a:t>
            </a:r>
            <a:r>
              <a:rPr dirty="0" baseline="63492" sz="1575" spc="-1192" b="1">
                <a:solidFill>
                  <a:srgbClr val="858989"/>
                </a:solidFill>
                <a:latin typeface="Arial"/>
                <a:cs typeface="Arial"/>
              </a:rPr>
              <a:t>Q</a:t>
            </a:r>
            <a:r>
              <a:rPr dirty="0" baseline="-2314" sz="3600" spc="-1087">
                <a:solidFill>
                  <a:srgbClr val="858989"/>
                </a:solidFill>
                <a:latin typeface="Arial"/>
                <a:cs typeface="Arial"/>
              </a:rPr>
              <a:t>-</a:t>
            </a:r>
            <a:r>
              <a:rPr dirty="0" sz="2500" spc="-360">
                <a:solidFill>
                  <a:srgbClr val="858989"/>
                </a:solidFill>
                <a:latin typeface="Arial"/>
                <a:cs typeface="Arial"/>
              </a:rPr>
              <a:t>..</a:t>
            </a:r>
            <a:r>
              <a:rPr dirty="0" baseline="63492" sz="1575" spc="-540" b="1">
                <a:solidFill>
                  <a:srgbClr val="858989"/>
                </a:solidFill>
                <a:latin typeface="Arial"/>
                <a:cs typeface="Arial"/>
              </a:rPr>
              <a:t>)</a:t>
            </a:r>
            <a:r>
              <a:rPr dirty="0" sz="2500" spc="-360">
                <a:solidFill>
                  <a:srgbClr val="858989"/>
                </a:solidFill>
                <a:latin typeface="Arial"/>
                <a:cs typeface="Arial"/>
              </a:rPr>
              <a:t>,</a:t>
            </a:r>
            <a:endParaRPr sz="2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65411" y="3766343"/>
            <a:ext cx="204470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dirty="0" baseline="-23809" sz="4200" spc="-1560">
                <a:solidFill>
                  <a:srgbClr val="858989"/>
                </a:solidFill>
                <a:latin typeface="Arial"/>
                <a:cs typeface="Arial"/>
              </a:rPr>
              <a:t>·</a:t>
            </a:r>
            <a:r>
              <a:rPr dirty="0" sz="2400" spc="-440">
                <a:solidFill>
                  <a:srgbClr val="858989"/>
                </a:solidFill>
                <a:latin typeface="Arial"/>
                <a:cs typeface="Arial"/>
              </a:rPr>
              <a:t>·</a:t>
            </a:r>
            <a:r>
              <a:rPr dirty="0" baseline="-11904" sz="4200" spc="-1289">
                <a:solidFill>
                  <a:srgbClr val="858989"/>
                </a:solidFill>
                <a:latin typeface="Arial"/>
                <a:cs typeface="Arial"/>
              </a:rPr>
              <a:t>-</a:t>
            </a:r>
            <a:r>
              <a:rPr dirty="0" sz="2400" spc="-780">
                <a:solidFill>
                  <a:srgbClr val="858989"/>
                </a:solidFill>
                <a:latin typeface="Arial"/>
                <a:cs typeface="Arial"/>
              </a:rPr>
              <a:t>-</a:t>
            </a:r>
            <a:r>
              <a:rPr dirty="0" baseline="-23809" sz="4200" spc="-742">
                <a:solidFill>
                  <a:srgbClr val="858989"/>
                </a:solidFill>
                <a:latin typeface="Arial"/>
                <a:cs typeface="Arial"/>
              </a:rPr>
              <a:t>-</a:t>
            </a:r>
            <a:endParaRPr baseline="-23809" sz="4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31804" y="4168477"/>
            <a:ext cx="108585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310" b="1">
                <a:solidFill>
                  <a:srgbClr val="858989"/>
                </a:solidFill>
                <a:latin typeface="Arial"/>
                <a:cs typeface="Arial"/>
              </a:rPr>
              <a:t>.0</a:t>
            </a:r>
            <a:endParaRPr sz="14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75346" y="4353586"/>
            <a:ext cx="207010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-310" b="1">
                <a:solidFill>
                  <a:srgbClr val="858989"/>
                </a:solidFill>
                <a:latin typeface="Arial"/>
                <a:cs typeface="Arial"/>
              </a:rPr>
              <a:t>C'O</a:t>
            </a:r>
            <a:endParaRPr sz="13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89274" y="4487631"/>
            <a:ext cx="7429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-95">
                <a:solidFill>
                  <a:srgbClr val="858989"/>
                </a:solidFill>
                <a:latin typeface="Arial"/>
                <a:cs typeface="Arial"/>
              </a:rPr>
              <a:t>'-</a:t>
            </a:r>
            <a:endParaRPr sz="11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77378" y="4602526"/>
            <a:ext cx="11938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95" b="1">
                <a:solidFill>
                  <a:srgbClr val="858989"/>
                </a:solidFill>
                <a:latin typeface="Arial"/>
                <a:cs typeface="Arial"/>
              </a:rPr>
              <a:t>Q)</a:t>
            </a:r>
            <a:endParaRPr sz="10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88383" y="4768486"/>
            <a:ext cx="131445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220" b="1">
                <a:solidFill>
                  <a:srgbClr val="858989"/>
                </a:solidFill>
                <a:latin typeface="Arial"/>
                <a:cs typeface="Arial"/>
              </a:rPr>
              <a:t>C:</a:t>
            </a:r>
            <a:endParaRPr sz="12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08461" y="4762103"/>
            <a:ext cx="221615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dirty="0" baseline="7936" sz="4200" spc="-900">
                <a:solidFill>
                  <a:srgbClr val="858989"/>
                </a:solidFill>
                <a:latin typeface="Arial"/>
                <a:cs typeface="Arial"/>
              </a:rPr>
              <a:t>-</a:t>
            </a:r>
            <a:r>
              <a:rPr dirty="0" sz="1500" spc="-70">
                <a:solidFill>
                  <a:srgbClr val="858989"/>
                </a:solidFill>
                <a:latin typeface="Arial"/>
                <a:cs typeface="Arial"/>
              </a:rPr>
              <a:t>::,</a:t>
            </a:r>
            <a:endParaRPr sz="15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26372" y="5042959"/>
            <a:ext cx="147320" cy="4241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00" spc="-610">
                <a:solidFill>
                  <a:srgbClr val="858989"/>
                </a:solidFill>
                <a:latin typeface="Arial"/>
                <a:cs typeface="Arial"/>
              </a:rPr>
              <a:t>&gt;</a:t>
            </a:r>
            <a:endParaRPr sz="2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382765" y="2591858"/>
            <a:ext cx="1369695" cy="5156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200" spc="85" b="1">
                <a:solidFill>
                  <a:srgbClr val="111111"/>
                </a:solidFill>
                <a:latin typeface="Arial"/>
                <a:cs typeface="Arial"/>
              </a:rPr>
              <a:t>+200%</a:t>
            </a:r>
            <a:endParaRPr sz="3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156909" y="4487631"/>
            <a:ext cx="1499870" cy="7689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850" spc="-500" b="1">
                <a:solidFill>
                  <a:srgbClr val="111111"/>
                </a:solidFill>
                <a:latin typeface="Arial"/>
                <a:cs typeface="Arial"/>
              </a:rPr>
              <a:t>DAYS</a:t>
            </a:r>
            <a:endParaRPr sz="48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130744" y="6415318"/>
            <a:ext cx="154241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25">
                <a:solidFill>
                  <a:srgbClr val="858989"/>
                </a:solidFill>
                <a:latin typeface="Arial"/>
                <a:cs typeface="Arial"/>
              </a:rPr>
              <a:t>Last</a:t>
            </a:r>
            <a:r>
              <a:rPr dirty="0" sz="2250" spc="-100">
                <a:solidFill>
                  <a:srgbClr val="858989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858989"/>
                </a:solidFill>
                <a:latin typeface="Arial"/>
                <a:cs typeface="Arial"/>
              </a:rPr>
              <a:t>3</a:t>
            </a:r>
            <a:r>
              <a:rPr dirty="0" sz="2250" spc="-10">
                <a:solidFill>
                  <a:srgbClr val="858989"/>
                </a:solidFill>
                <a:latin typeface="Arial"/>
                <a:cs typeface="Arial"/>
              </a:rPr>
              <a:t> </a:t>
            </a:r>
            <a:r>
              <a:rPr dirty="0" sz="2250" spc="-90">
                <a:solidFill>
                  <a:srgbClr val="858989"/>
                </a:solidFill>
                <a:latin typeface="Arial"/>
                <a:cs typeface="Arial"/>
              </a:rPr>
              <a:t>Years</a:t>
            </a:r>
            <a:endParaRPr sz="22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381488" y="7289799"/>
            <a:ext cx="4693285" cy="141732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 marR="5080" indent="15875">
              <a:lnSpc>
                <a:spcPct val="101899"/>
              </a:lnSpc>
              <a:spcBef>
                <a:spcPts val="45"/>
              </a:spcBef>
            </a:pPr>
            <a:r>
              <a:rPr dirty="0" sz="3000" spc="-135">
                <a:solidFill>
                  <a:srgbClr val="111111"/>
                </a:solidFill>
                <a:latin typeface="Arial"/>
                <a:cs typeface="Arial"/>
              </a:rPr>
              <a:t>This</a:t>
            </a:r>
            <a:r>
              <a:rPr dirty="0" sz="3000" spc="-10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120">
                <a:solidFill>
                  <a:srgbClr val="111111"/>
                </a:solidFill>
                <a:latin typeface="Arial"/>
                <a:cs typeface="Arial"/>
              </a:rPr>
              <a:t>has</a:t>
            </a:r>
            <a:r>
              <a:rPr dirty="0" sz="3000" spc="-21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35">
                <a:solidFill>
                  <a:srgbClr val="111111"/>
                </a:solidFill>
                <a:latin typeface="Arial"/>
                <a:cs typeface="Arial"/>
              </a:rPr>
              <a:t>led</a:t>
            </a:r>
            <a:r>
              <a:rPr dirty="0" sz="3000" spc="-20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60">
                <a:solidFill>
                  <a:srgbClr val="111111"/>
                </a:solidFill>
                <a:latin typeface="Arial"/>
                <a:cs typeface="Arial"/>
              </a:rPr>
              <a:t>to</a:t>
            </a:r>
            <a:r>
              <a:rPr dirty="0" sz="3000" spc="-204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190">
                <a:solidFill>
                  <a:srgbClr val="111111"/>
                </a:solidFill>
                <a:latin typeface="Arial"/>
                <a:cs typeface="Arial"/>
              </a:rPr>
              <a:t>a</a:t>
            </a:r>
            <a:r>
              <a:rPr dirty="0" sz="3000" spc="-8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180">
                <a:solidFill>
                  <a:srgbClr val="111111"/>
                </a:solidFill>
                <a:latin typeface="Arial"/>
                <a:cs typeface="Arial"/>
              </a:rPr>
              <a:t>200%</a:t>
            </a:r>
            <a:r>
              <a:rPr dirty="0" sz="3000" spc="-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10">
                <a:solidFill>
                  <a:srgbClr val="111111"/>
                </a:solidFill>
                <a:latin typeface="Arial"/>
                <a:cs typeface="Arial"/>
              </a:rPr>
              <a:t>spike </a:t>
            </a:r>
            <a:r>
              <a:rPr dirty="0" sz="3000">
                <a:solidFill>
                  <a:srgbClr val="111111"/>
                </a:solidFill>
                <a:latin typeface="Arial"/>
                <a:cs typeface="Arial"/>
              </a:rPr>
              <a:t>in</a:t>
            </a:r>
            <a:r>
              <a:rPr dirty="0" sz="3000" spc="-21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120">
                <a:solidFill>
                  <a:srgbClr val="111111"/>
                </a:solidFill>
                <a:latin typeface="Arial"/>
                <a:cs typeface="Arial"/>
              </a:rPr>
              <a:t>open-</a:t>
            </a:r>
            <a:r>
              <a:rPr dirty="0" sz="3000" spc="-55">
                <a:solidFill>
                  <a:srgbClr val="111111"/>
                </a:solidFill>
                <a:latin typeface="Arial"/>
                <a:cs typeface="Arial"/>
              </a:rPr>
              <a:t>source</a:t>
            </a:r>
            <a:r>
              <a:rPr dirty="0" sz="3000" spc="-2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65">
                <a:solidFill>
                  <a:srgbClr val="111111"/>
                </a:solidFill>
                <a:latin typeface="Arial"/>
                <a:cs typeface="Arial"/>
              </a:rPr>
              <a:t>vulnerabilities </a:t>
            </a:r>
            <a:r>
              <a:rPr dirty="0" sz="3000">
                <a:solidFill>
                  <a:srgbClr val="111111"/>
                </a:solidFill>
                <a:latin typeface="Arial"/>
                <a:cs typeface="Arial"/>
              </a:rPr>
              <a:t>in</a:t>
            </a:r>
            <a:r>
              <a:rPr dirty="0" sz="3000" spc="-204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65">
                <a:solidFill>
                  <a:srgbClr val="111111"/>
                </a:solidFill>
                <a:latin typeface="Arial"/>
                <a:cs typeface="Arial"/>
              </a:rPr>
              <a:t>just</a:t>
            </a:r>
            <a:r>
              <a:rPr dirty="0" sz="3000" spc="-11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dirty="0" sz="3000" spc="-29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55">
                <a:solidFill>
                  <a:srgbClr val="111111"/>
                </a:solidFill>
                <a:latin typeface="Arial"/>
                <a:cs typeface="Arial"/>
              </a:rPr>
              <a:t>last</a:t>
            </a:r>
            <a:r>
              <a:rPr dirty="0" sz="3000" spc="-13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45">
                <a:solidFill>
                  <a:srgbClr val="111111"/>
                </a:solidFill>
                <a:latin typeface="Arial"/>
                <a:cs typeface="Arial"/>
              </a:rPr>
              <a:t>three</a:t>
            </a:r>
            <a:r>
              <a:rPr dirty="0" sz="3000" spc="-10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10">
                <a:solidFill>
                  <a:srgbClr val="111111"/>
                </a:solidFill>
                <a:latin typeface="Arial"/>
                <a:cs typeface="Arial"/>
              </a:rPr>
              <a:t>years.</a:t>
            </a:r>
            <a:endParaRPr sz="3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148127" y="5885523"/>
            <a:ext cx="4959985" cy="280860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 indent="6350">
              <a:lnSpc>
                <a:spcPct val="101600"/>
              </a:lnSpc>
              <a:spcBef>
                <a:spcPts val="55"/>
              </a:spcBef>
            </a:pPr>
            <a:r>
              <a:rPr dirty="0" sz="3000" spc="-13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dirty="0" sz="3000" spc="-16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90">
                <a:solidFill>
                  <a:srgbClr val="111111"/>
                </a:solidFill>
                <a:latin typeface="Arial"/>
                <a:cs typeface="Arial"/>
              </a:rPr>
              <a:t>real</a:t>
            </a:r>
            <a:r>
              <a:rPr dirty="0" sz="3000" spc="-5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90">
                <a:solidFill>
                  <a:srgbClr val="111111"/>
                </a:solidFill>
                <a:latin typeface="Arial"/>
                <a:cs typeface="Arial"/>
              </a:rPr>
              <a:t>failure</a:t>
            </a:r>
            <a:r>
              <a:rPr dirty="0" sz="3000" spc="-19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>
                <a:solidFill>
                  <a:srgbClr val="111111"/>
                </a:solidFill>
                <a:latin typeface="Arial"/>
                <a:cs typeface="Arial"/>
              </a:rPr>
              <a:t>is</a:t>
            </a:r>
            <a:r>
              <a:rPr dirty="0" sz="3000" spc="-29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>
                <a:solidFill>
                  <a:srgbClr val="111111"/>
                </a:solidFill>
                <a:latin typeface="Arial"/>
                <a:cs typeface="Arial"/>
              </a:rPr>
              <a:t>in</a:t>
            </a:r>
            <a:r>
              <a:rPr dirty="0" sz="3000" spc="-204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25">
                <a:solidFill>
                  <a:srgbClr val="111111"/>
                </a:solidFill>
                <a:latin typeface="Arial"/>
                <a:cs typeface="Arial"/>
              </a:rPr>
              <a:t>our </a:t>
            </a:r>
            <a:r>
              <a:rPr dirty="0" sz="3000" spc="-130">
                <a:solidFill>
                  <a:srgbClr val="111111"/>
                </a:solidFill>
                <a:latin typeface="Arial"/>
                <a:cs typeface="Arial"/>
              </a:rPr>
              <a:t>response.</a:t>
            </a:r>
            <a:r>
              <a:rPr dirty="0" sz="3000" spc="-8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55">
                <a:solidFill>
                  <a:srgbClr val="111111"/>
                </a:solidFill>
                <a:latin typeface="Arial"/>
                <a:cs typeface="Arial"/>
              </a:rPr>
              <a:t>It</a:t>
            </a:r>
            <a:r>
              <a:rPr dirty="0" sz="3000" spc="-16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95">
                <a:solidFill>
                  <a:srgbClr val="111111"/>
                </a:solidFill>
                <a:latin typeface="Arial"/>
                <a:cs typeface="Arial"/>
              </a:rPr>
              <a:t>takes</a:t>
            </a:r>
            <a:r>
              <a:rPr dirty="0" sz="3000" spc="-10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185" b="1">
                <a:solidFill>
                  <a:srgbClr val="111111"/>
                </a:solidFill>
                <a:latin typeface="Arial"/>
                <a:cs typeface="Arial"/>
              </a:rPr>
              <a:t>over</a:t>
            </a:r>
            <a:r>
              <a:rPr dirty="0" sz="3000" spc="-36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950" spc="65" b="1">
                <a:solidFill>
                  <a:srgbClr val="111111"/>
                </a:solidFill>
                <a:latin typeface="Arial"/>
                <a:cs typeface="Arial"/>
              </a:rPr>
              <a:t>100 </a:t>
            </a:r>
            <a:r>
              <a:rPr dirty="0" sz="3000" spc="-150" b="1">
                <a:solidFill>
                  <a:srgbClr val="111111"/>
                </a:solidFill>
                <a:latin typeface="Arial"/>
                <a:cs typeface="Arial"/>
              </a:rPr>
              <a:t>days</a:t>
            </a:r>
            <a:r>
              <a:rPr dirty="0" sz="3000" spc="-2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60">
                <a:solidFill>
                  <a:srgbClr val="111111"/>
                </a:solidFill>
                <a:latin typeface="Arial"/>
                <a:cs typeface="Arial"/>
              </a:rPr>
              <a:t>to</a:t>
            </a:r>
            <a:r>
              <a:rPr dirty="0" sz="3000" spc="-22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>
                <a:solidFill>
                  <a:srgbClr val="111111"/>
                </a:solidFill>
                <a:latin typeface="Arial"/>
                <a:cs typeface="Arial"/>
              </a:rPr>
              <a:t>fix</a:t>
            </a:r>
            <a:r>
              <a:rPr dirty="0" sz="3000" spc="-9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190">
                <a:solidFill>
                  <a:srgbClr val="111111"/>
                </a:solidFill>
                <a:latin typeface="Arial"/>
                <a:cs typeface="Arial"/>
              </a:rPr>
              <a:t>a</a:t>
            </a:r>
            <a:r>
              <a:rPr dirty="0" sz="3000" spc="-8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105">
                <a:solidFill>
                  <a:srgbClr val="111111"/>
                </a:solidFill>
                <a:latin typeface="Arial"/>
                <a:cs typeface="Arial"/>
              </a:rPr>
              <a:t>single</a:t>
            </a:r>
            <a:r>
              <a:rPr dirty="0" sz="3000" spc="-11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20">
                <a:solidFill>
                  <a:srgbClr val="111111"/>
                </a:solidFill>
                <a:latin typeface="Arial"/>
                <a:cs typeface="Arial"/>
              </a:rPr>
              <a:t>known </a:t>
            </a:r>
            <a:r>
              <a:rPr dirty="0" sz="3000" spc="-50">
                <a:solidFill>
                  <a:srgbClr val="111111"/>
                </a:solidFill>
                <a:latin typeface="Arial"/>
                <a:cs typeface="Arial"/>
              </a:rPr>
              <a:t>threat,</a:t>
            </a:r>
            <a:r>
              <a:rPr dirty="0" sz="3000" spc="-13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114">
                <a:solidFill>
                  <a:srgbClr val="111111"/>
                </a:solidFill>
                <a:latin typeface="Arial"/>
                <a:cs typeface="Arial"/>
              </a:rPr>
              <a:t>leaving</a:t>
            </a:r>
            <a:r>
              <a:rPr dirty="0" sz="3000" spc="-9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75">
                <a:solidFill>
                  <a:srgbClr val="111111"/>
                </a:solidFill>
                <a:latin typeface="Arial"/>
                <a:cs typeface="Arial"/>
              </a:rPr>
              <a:t>a</a:t>
            </a:r>
            <a:r>
              <a:rPr dirty="0" sz="3000" spc="-22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10">
                <a:solidFill>
                  <a:srgbClr val="111111"/>
                </a:solidFill>
                <a:latin typeface="Arial"/>
                <a:cs typeface="Arial"/>
              </a:rPr>
              <a:t>massive, </a:t>
            </a:r>
            <a:r>
              <a:rPr dirty="0" sz="3000" spc="-100">
                <a:solidFill>
                  <a:srgbClr val="111111"/>
                </a:solidFill>
                <a:latin typeface="Arial"/>
                <a:cs typeface="Arial"/>
              </a:rPr>
              <a:t>undefended</a:t>
            </a:r>
            <a:r>
              <a:rPr dirty="0" sz="3000" spc="-3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25">
                <a:solidFill>
                  <a:srgbClr val="111111"/>
                </a:solidFill>
                <a:latin typeface="Arial"/>
                <a:cs typeface="Arial"/>
              </a:rPr>
              <a:t>attack</a:t>
            </a:r>
            <a:r>
              <a:rPr dirty="0" sz="3000" spc="-18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10">
                <a:solidFill>
                  <a:srgbClr val="111111"/>
                </a:solidFill>
                <a:latin typeface="Arial"/>
                <a:cs typeface="Arial"/>
              </a:rPr>
              <a:t>surface. </a:t>
            </a:r>
            <a:r>
              <a:rPr dirty="0" sz="3000" spc="-275">
                <a:solidFill>
                  <a:srgbClr val="111111"/>
                </a:solidFill>
                <a:latin typeface="Arial"/>
                <a:cs typeface="Arial"/>
              </a:rPr>
              <a:t>We</a:t>
            </a:r>
            <a:r>
              <a:rPr dirty="0" sz="3000" spc="-16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105">
                <a:solidFill>
                  <a:srgbClr val="111111"/>
                </a:solidFill>
                <a:latin typeface="Arial"/>
                <a:cs typeface="Arial"/>
              </a:rPr>
              <a:t>are</a:t>
            </a:r>
            <a:r>
              <a:rPr dirty="0" sz="3000" spc="-18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95">
                <a:solidFill>
                  <a:srgbClr val="111111"/>
                </a:solidFill>
                <a:latin typeface="Arial"/>
                <a:cs typeface="Arial"/>
              </a:rPr>
              <a:t>fundamentally</a:t>
            </a:r>
            <a:r>
              <a:rPr dirty="0" sz="3000" spc="1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>
                <a:solidFill>
                  <a:srgbClr val="111111"/>
                </a:solidFill>
                <a:latin typeface="Arial"/>
                <a:cs typeface="Arial"/>
              </a:rPr>
              <a:t>too</a:t>
            </a:r>
            <a:r>
              <a:rPr dirty="0" sz="3000" spc="-16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000" spc="-85">
                <a:solidFill>
                  <a:srgbClr val="111111"/>
                </a:solidFill>
                <a:latin typeface="Arial"/>
                <a:cs typeface="Arial"/>
              </a:rPr>
              <a:t>slow.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532" y="1991782"/>
            <a:ext cx="1069901" cy="94469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42532" y="2476896"/>
            <a:ext cx="4993005" cy="5617210"/>
            <a:chOff x="942532" y="2476896"/>
            <a:chExt cx="4993005" cy="561721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4540" y="2476896"/>
              <a:ext cx="993479" cy="11234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5799" y="3166268"/>
              <a:ext cx="4279604" cy="444261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2532" y="7123774"/>
              <a:ext cx="1069901" cy="9702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94540" y="6970580"/>
              <a:ext cx="636845" cy="638307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98785" y="2323703"/>
            <a:ext cx="1502956" cy="45958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69521" y="4008833"/>
            <a:ext cx="1961485" cy="63830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769521" y="5438642"/>
            <a:ext cx="1986959" cy="63830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973311" y="7302500"/>
            <a:ext cx="1604852" cy="84256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093548" y="2476896"/>
            <a:ext cx="2037906" cy="130214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093548" y="3881173"/>
            <a:ext cx="585898" cy="58724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5513570" y="1991782"/>
            <a:ext cx="1069901" cy="97022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4469135" y="3906705"/>
            <a:ext cx="1146322" cy="89363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3068084" y="5285449"/>
            <a:ext cx="3515389" cy="2808552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891584" y="2936477"/>
            <a:ext cx="0" cy="4187825"/>
          </a:xfrm>
          <a:custGeom>
            <a:avLst/>
            <a:gdLst/>
            <a:ahLst/>
            <a:cxnLst/>
            <a:rect l="l" t="t" r="r" b="b"/>
            <a:pathLst>
              <a:path w="0" h="4187825">
                <a:moveTo>
                  <a:pt x="0" y="4187294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592114" y="4774801"/>
            <a:ext cx="0" cy="536575"/>
          </a:xfrm>
          <a:custGeom>
            <a:avLst/>
            <a:gdLst/>
            <a:ahLst/>
            <a:cxnLst/>
            <a:rect l="l" t="t" r="r" b="b"/>
            <a:pathLst>
              <a:path w="0" h="536575">
                <a:moveTo>
                  <a:pt x="0" y="536177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948748" y="6562061"/>
            <a:ext cx="0" cy="561975"/>
          </a:xfrm>
          <a:custGeom>
            <a:avLst/>
            <a:gdLst/>
            <a:ahLst/>
            <a:cxnLst/>
            <a:rect l="l" t="t" r="r" b="b"/>
            <a:pathLst>
              <a:path w="0" h="561975">
                <a:moveTo>
                  <a:pt x="0" y="561710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948748" y="2936477"/>
            <a:ext cx="0" cy="842644"/>
          </a:xfrm>
          <a:custGeom>
            <a:avLst/>
            <a:gdLst/>
            <a:ahLst/>
            <a:cxnLst/>
            <a:rect l="l" t="t" r="r" b="b"/>
            <a:pathLst>
              <a:path w="0" h="842645">
                <a:moveTo>
                  <a:pt x="0" y="842565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394540" y="6562061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40">
                <a:moveTo>
                  <a:pt x="0" y="408516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381803" y="3140735"/>
            <a:ext cx="0" cy="459740"/>
          </a:xfrm>
          <a:custGeom>
            <a:avLst/>
            <a:gdLst/>
            <a:ahLst/>
            <a:cxnLst/>
            <a:rect l="l" t="t" r="r" b="b"/>
            <a:pathLst>
              <a:path w="0" h="459739">
                <a:moveTo>
                  <a:pt x="0" y="459581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400757" y="3089671"/>
            <a:ext cx="0" cy="485140"/>
          </a:xfrm>
          <a:custGeom>
            <a:avLst/>
            <a:gdLst/>
            <a:ahLst/>
            <a:cxnLst/>
            <a:rect l="l" t="t" r="r" b="b"/>
            <a:pathLst>
              <a:path w="0" h="485139">
                <a:moveTo>
                  <a:pt x="0" y="485113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011826" y="4774801"/>
            <a:ext cx="0" cy="536575"/>
          </a:xfrm>
          <a:custGeom>
            <a:avLst/>
            <a:gdLst/>
            <a:ahLst/>
            <a:cxnLst/>
            <a:rect l="l" t="t" r="r" b="b"/>
            <a:pathLst>
              <a:path w="0" h="536575">
                <a:moveTo>
                  <a:pt x="0" y="536177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686882" y="1966250"/>
            <a:ext cx="0" cy="6153785"/>
          </a:xfrm>
          <a:custGeom>
            <a:avLst/>
            <a:gdLst/>
            <a:ahLst/>
            <a:cxnLst/>
            <a:rect l="l" t="t" r="r" b="b"/>
            <a:pathLst>
              <a:path w="0" h="6153784">
                <a:moveTo>
                  <a:pt x="0" y="6153280"/>
                </a:moveTo>
                <a:lnTo>
                  <a:pt x="0" y="0"/>
                </a:lnTo>
              </a:path>
            </a:pathLst>
          </a:custGeom>
          <a:ln w="891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769521" y="4647140"/>
            <a:ext cx="0" cy="791845"/>
          </a:xfrm>
          <a:custGeom>
            <a:avLst/>
            <a:gdLst/>
            <a:ahLst/>
            <a:cxnLst/>
            <a:rect l="l" t="t" r="r" b="b"/>
            <a:pathLst>
              <a:path w="0" h="791845">
                <a:moveTo>
                  <a:pt x="0" y="791500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9731006" y="4647140"/>
            <a:ext cx="0" cy="791845"/>
          </a:xfrm>
          <a:custGeom>
            <a:avLst/>
            <a:gdLst/>
            <a:ahLst/>
            <a:cxnLst/>
            <a:rect l="l" t="t" r="r" b="b"/>
            <a:pathLst>
              <a:path w="0" h="791845">
                <a:moveTo>
                  <a:pt x="0" y="791500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0813644" y="1966250"/>
            <a:ext cx="0" cy="6153785"/>
          </a:xfrm>
          <a:custGeom>
            <a:avLst/>
            <a:gdLst/>
            <a:ahLst/>
            <a:cxnLst/>
            <a:rect l="l" t="t" r="r" b="b"/>
            <a:pathLst>
              <a:path w="0" h="6153784">
                <a:moveTo>
                  <a:pt x="0" y="6153280"/>
                </a:moveTo>
                <a:lnTo>
                  <a:pt x="0" y="0"/>
                </a:lnTo>
              </a:path>
            </a:pathLst>
          </a:custGeom>
          <a:ln w="891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3068079" y="6306738"/>
            <a:ext cx="0" cy="587375"/>
          </a:xfrm>
          <a:custGeom>
            <a:avLst/>
            <a:gdLst/>
            <a:ahLst/>
            <a:cxnLst/>
            <a:rect l="l" t="t" r="r" b="b"/>
            <a:pathLst>
              <a:path w="0" h="587375">
                <a:moveTo>
                  <a:pt x="0" y="587242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3093552" y="3115203"/>
            <a:ext cx="0" cy="766445"/>
          </a:xfrm>
          <a:custGeom>
            <a:avLst/>
            <a:gdLst/>
            <a:ahLst/>
            <a:cxnLst/>
            <a:rect l="l" t="t" r="r" b="b"/>
            <a:pathLst>
              <a:path w="0" h="766445">
                <a:moveTo>
                  <a:pt x="0" y="765968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5067774" y="4800334"/>
            <a:ext cx="0" cy="485140"/>
          </a:xfrm>
          <a:custGeom>
            <a:avLst/>
            <a:gdLst/>
            <a:ahLst/>
            <a:cxnLst/>
            <a:rect l="l" t="t" r="r" b="b"/>
            <a:pathLst>
              <a:path w="0" h="485139">
                <a:moveTo>
                  <a:pt x="0" y="485113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5105986" y="3166267"/>
            <a:ext cx="0" cy="741045"/>
          </a:xfrm>
          <a:custGeom>
            <a:avLst/>
            <a:gdLst/>
            <a:ahLst/>
            <a:cxnLst/>
            <a:rect l="l" t="t" r="r" b="b"/>
            <a:pathLst>
              <a:path w="0" h="741045">
                <a:moveTo>
                  <a:pt x="0" y="740436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5551777" y="2962009"/>
            <a:ext cx="0" cy="944880"/>
          </a:xfrm>
          <a:custGeom>
            <a:avLst/>
            <a:gdLst/>
            <a:ahLst/>
            <a:cxnLst/>
            <a:rect l="l" t="t" r="r" b="b"/>
            <a:pathLst>
              <a:path w="0" h="944879">
                <a:moveTo>
                  <a:pt x="0" y="944694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5984833" y="4468414"/>
            <a:ext cx="0" cy="817244"/>
          </a:xfrm>
          <a:custGeom>
            <a:avLst/>
            <a:gdLst/>
            <a:ahLst/>
            <a:cxnLst/>
            <a:rect l="l" t="t" r="r" b="b"/>
            <a:pathLst>
              <a:path w="0" h="817245">
                <a:moveTo>
                  <a:pt x="0" y="817033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6621680" y="2962009"/>
            <a:ext cx="0" cy="4161790"/>
          </a:xfrm>
          <a:custGeom>
            <a:avLst/>
            <a:gdLst/>
            <a:ahLst/>
            <a:cxnLst/>
            <a:rect l="l" t="t" r="r" b="b"/>
            <a:pathLst>
              <a:path w="0" h="4161790">
                <a:moveTo>
                  <a:pt x="0" y="4161762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0877329" y="2004548"/>
            <a:ext cx="4636770" cy="0"/>
          </a:xfrm>
          <a:custGeom>
            <a:avLst/>
            <a:gdLst/>
            <a:ahLst/>
            <a:cxnLst/>
            <a:rect l="l" t="t" r="r" b="b"/>
            <a:pathLst>
              <a:path w="4636769" h="0">
                <a:moveTo>
                  <a:pt x="0" y="0"/>
                </a:moveTo>
                <a:lnTo>
                  <a:pt x="4636238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8813948" y="2004548"/>
            <a:ext cx="1936114" cy="0"/>
          </a:xfrm>
          <a:custGeom>
            <a:avLst/>
            <a:gdLst/>
            <a:ahLst/>
            <a:cxnLst/>
            <a:rect l="l" t="t" r="r" b="b"/>
            <a:pathLst>
              <a:path w="1936115" h="0">
                <a:moveTo>
                  <a:pt x="0" y="0"/>
                </a:moveTo>
                <a:lnTo>
                  <a:pt x="1936011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012433" y="2004548"/>
            <a:ext cx="6674484" cy="0"/>
          </a:xfrm>
          <a:custGeom>
            <a:avLst/>
            <a:gdLst/>
            <a:ahLst/>
            <a:cxnLst/>
            <a:rect l="l" t="t" r="r" b="b"/>
            <a:pathLst>
              <a:path w="6674484" h="0">
                <a:moveTo>
                  <a:pt x="0" y="0"/>
                </a:moveTo>
                <a:lnTo>
                  <a:pt x="6674145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3730399" y="2451363"/>
            <a:ext cx="739140" cy="0"/>
          </a:xfrm>
          <a:custGeom>
            <a:avLst/>
            <a:gdLst/>
            <a:ahLst/>
            <a:cxnLst/>
            <a:rect l="l" t="t" r="r" b="b"/>
            <a:pathLst>
              <a:path w="739140" h="0">
                <a:moveTo>
                  <a:pt x="0" y="0"/>
                </a:moveTo>
                <a:lnTo>
                  <a:pt x="738741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031386" y="2464130"/>
            <a:ext cx="789940" cy="0"/>
          </a:xfrm>
          <a:custGeom>
            <a:avLst/>
            <a:gdLst/>
            <a:ahLst/>
            <a:cxnLst/>
            <a:rect l="l" t="t" r="r" b="b"/>
            <a:pathLst>
              <a:path w="789939" h="0">
                <a:moveTo>
                  <a:pt x="0" y="0"/>
                </a:moveTo>
                <a:lnTo>
                  <a:pt x="789689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3679451" y="4468414"/>
            <a:ext cx="789940" cy="0"/>
          </a:xfrm>
          <a:custGeom>
            <a:avLst/>
            <a:gdLst/>
            <a:ahLst/>
            <a:cxnLst/>
            <a:rect l="l" t="t" r="r" b="b"/>
            <a:pathLst>
              <a:path w="789940" h="0">
                <a:moveTo>
                  <a:pt x="0" y="0"/>
                </a:moveTo>
                <a:lnTo>
                  <a:pt x="789689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031386" y="7596119"/>
            <a:ext cx="739140" cy="0"/>
          </a:xfrm>
          <a:custGeom>
            <a:avLst/>
            <a:gdLst/>
            <a:ahLst/>
            <a:cxnLst/>
            <a:rect l="l" t="t" r="r" b="b"/>
            <a:pathLst>
              <a:path w="739139" h="0">
                <a:moveTo>
                  <a:pt x="0" y="0"/>
                </a:moveTo>
                <a:lnTo>
                  <a:pt x="738741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9578163" y="8068466"/>
            <a:ext cx="5859145" cy="0"/>
          </a:xfrm>
          <a:custGeom>
            <a:avLst/>
            <a:gdLst/>
            <a:ahLst/>
            <a:cxnLst/>
            <a:rect l="l" t="t" r="r" b="b"/>
            <a:pathLst>
              <a:path w="5859144" h="0">
                <a:moveTo>
                  <a:pt x="0" y="0"/>
                </a:moveTo>
                <a:lnTo>
                  <a:pt x="5858982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012433" y="8068466"/>
            <a:ext cx="5961380" cy="0"/>
          </a:xfrm>
          <a:custGeom>
            <a:avLst/>
            <a:gdLst/>
            <a:ahLst/>
            <a:cxnLst/>
            <a:rect l="l" t="t" r="r" b="b"/>
            <a:pathLst>
              <a:path w="5961380" h="0">
                <a:moveTo>
                  <a:pt x="0" y="0"/>
                </a:moveTo>
                <a:lnTo>
                  <a:pt x="5960878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40"/>
              <a:t>The</a:t>
            </a:r>
            <a:r>
              <a:rPr dirty="0" spc="-585"/>
              <a:t> </a:t>
            </a:r>
            <a:r>
              <a:rPr dirty="0" spc="-265"/>
              <a:t>Entire</a:t>
            </a:r>
            <a:r>
              <a:rPr dirty="0" spc="-505"/>
              <a:t> </a:t>
            </a:r>
            <a:r>
              <a:rPr dirty="0" spc="-254"/>
              <a:t>Industry</a:t>
            </a:r>
            <a:r>
              <a:rPr dirty="0" spc="-260"/>
              <a:t> </a:t>
            </a:r>
            <a:r>
              <a:rPr dirty="0" spc="-125"/>
              <a:t>is</a:t>
            </a:r>
            <a:r>
              <a:rPr dirty="0" spc="-675"/>
              <a:t> </a:t>
            </a:r>
            <a:r>
              <a:rPr dirty="0" spc="-340"/>
              <a:t>Playing</a:t>
            </a:r>
            <a:r>
              <a:rPr dirty="0" spc="-225"/>
              <a:t> </a:t>
            </a:r>
            <a:r>
              <a:rPr dirty="0" spc="-190"/>
              <a:t>Offense.</a:t>
            </a:r>
          </a:p>
        </p:txBody>
      </p:sp>
      <p:sp>
        <p:nvSpPr>
          <p:cNvPr id="46" name="object 46"/>
          <p:cNvSpPr/>
          <p:nvPr/>
        </p:nvSpPr>
        <p:spPr>
          <a:xfrm>
            <a:off x="4333895" y="2770517"/>
            <a:ext cx="993775" cy="0"/>
          </a:xfrm>
          <a:custGeom>
            <a:avLst/>
            <a:gdLst/>
            <a:ahLst/>
            <a:cxnLst/>
            <a:rect l="l" t="t" r="r" b="b"/>
            <a:pathLst>
              <a:path w="993775" h="0">
                <a:moveTo>
                  <a:pt x="0" y="0"/>
                </a:moveTo>
                <a:lnTo>
                  <a:pt x="993479" y="0"/>
                </a:lnTo>
              </a:path>
            </a:pathLst>
          </a:custGeom>
          <a:ln w="12766">
            <a:solidFill>
              <a:srgbClr val="11131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4250053" y="3070588"/>
            <a:ext cx="233045" cy="508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150" spc="-65">
                <a:solidFill>
                  <a:srgbClr val="8C8E8E"/>
                </a:solidFill>
                <a:latin typeface="Arial"/>
                <a:cs typeface="Arial"/>
              </a:rPr>
              <a:t>0</a:t>
            </a:r>
            <a:endParaRPr sz="31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161273" y="3159952"/>
            <a:ext cx="1633220" cy="692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2450" spc="-265">
                <a:solidFill>
                  <a:srgbClr val="8C8E8E"/>
                </a:solidFill>
                <a:latin typeface="Times New Roman"/>
                <a:cs typeface="Times New Roman"/>
              </a:rPr>
              <a:t>,,,,,,,.....</a:t>
            </a:r>
            <a:r>
              <a:rPr dirty="0" sz="2450" spc="-315">
                <a:solidFill>
                  <a:srgbClr val="8C8E8E"/>
                </a:solidFill>
                <a:latin typeface="Times New Roman"/>
                <a:cs typeface="Times New Roman"/>
              </a:rPr>
              <a:t>.</a:t>
            </a:r>
            <a:r>
              <a:rPr dirty="0" sz="2450" spc="-865">
                <a:solidFill>
                  <a:srgbClr val="8C8E8E"/>
                </a:solidFill>
                <a:latin typeface="Times New Roman"/>
                <a:cs typeface="Times New Roman"/>
              </a:rPr>
              <a:t>,</a:t>
            </a:r>
            <a:r>
              <a:rPr dirty="0" sz="2450" spc="-265">
                <a:solidFill>
                  <a:srgbClr val="8C8E8E"/>
                </a:solidFill>
                <a:latin typeface="Times New Roman"/>
                <a:cs typeface="Times New Roman"/>
              </a:rPr>
              <a:t>.</a:t>
            </a:r>
            <a:r>
              <a:rPr dirty="0" sz="2450" spc="-215">
                <a:solidFill>
                  <a:srgbClr val="8C8E8E"/>
                </a:solidFill>
                <a:latin typeface="Times New Roman"/>
                <a:cs typeface="Times New Roman"/>
              </a:rPr>
              <a:t>.</a:t>
            </a:r>
            <a:r>
              <a:rPr dirty="0" sz="2450" spc="-265">
                <a:solidFill>
                  <a:srgbClr val="8C8E8E"/>
                </a:solidFill>
                <a:latin typeface="Times New Roman"/>
                <a:cs typeface="Times New Roman"/>
              </a:rPr>
              <a:t>-</a:t>
            </a:r>
            <a:r>
              <a:rPr dirty="0" sz="2450" spc="145">
                <a:solidFill>
                  <a:srgbClr val="8C8E8E"/>
                </a:solidFill>
                <a:latin typeface="Times New Roman"/>
                <a:cs typeface="Times New Roman"/>
              </a:rPr>
              <a:t>--</a:t>
            </a:r>
            <a:r>
              <a:rPr dirty="0" sz="2450" spc="-65">
                <a:solidFill>
                  <a:srgbClr val="8C8E8E"/>
                </a:solidFill>
                <a:latin typeface="Times New Roman"/>
                <a:cs typeface="Times New Roman"/>
              </a:rPr>
              <a:t>r</a:t>
            </a:r>
            <a:r>
              <a:rPr dirty="0" sz="4350" spc="-65">
                <a:solidFill>
                  <a:srgbClr val="8C8E8E"/>
                </a:solidFill>
                <a:latin typeface="Times New Roman"/>
                <a:cs typeface="Times New Roman"/>
              </a:rPr>
              <a:t>r</a:t>
            </a:r>
            <a:r>
              <a:rPr dirty="0" sz="4350" spc="-350">
                <a:solidFill>
                  <a:srgbClr val="8C8E8E"/>
                </a:solidFill>
                <a:latin typeface="Times New Roman"/>
                <a:cs typeface="Times New Roman"/>
              </a:rPr>
              <a:t> </a:t>
            </a:r>
            <a:r>
              <a:rPr dirty="0" baseline="36398" sz="4350" spc="-89">
                <a:solidFill>
                  <a:srgbClr val="8C8E8E"/>
                </a:solidFill>
                <a:latin typeface="Times New Roman"/>
                <a:cs typeface="Times New Roman"/>
              </a:rPr>
              <a:t>L</a:t>
            </a:r>
            <a:endParaRPr baseline="36398" sz="43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837585" y="6530213"/>
            <a:ext cx="255270" cy="447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50" spc="220">
                <a:solidFill>
                  <a:srgbClr val="8C8E8E"/>
                </a:solidFill>
                <a:latin typeface="Arial"/>
                <a:cs typeface="Arial"/>
              </a:rPr>
              <a:t>7</a:t>
            </a:r>
            <a:endParaRPr sz="27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321195" y="2279088"/>
            <a:ext cx="8667115" cy="600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953884" algn="l"/>
              </a:tabLst>
            </a:pPr>
            <a:r>
              <a:rPr dirty="0" sz="3750" spc="-254" b="1">
                <a:solidFill>
                  <a:srgbClr val="111313"/>
                </a:solidFill>
                <a:latin typeface="Arial"/>
                <a:cs typeface="Arial"/>
              </a:rPr>
              <a:t>Build</a:t>
            </a:r>
            <a:r>
              <a:rPr dirty="0" sz="3750" spc="-260" b="1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3750" spc="-20" b="1">
                <a:solidFill>
                  <a:srgbClr val="111313"/>
                </a:solidFill>
                <a:latin typeface="Arial"/>
                <a:cs typeface="Arial"/>
              </a:rPr>
              <a:t>Time</a:t>
            </a:r>
            <a:r>
              <a:rPr dirty="0" sz="3750" b="1">
                <a:solidFill>
                  <a:srgbClr val="111313"/>
                </a:solidFill>
                <a:latin typeface="Arial"/>
                <a:cs typeface="Arial"/>
              </a:rPr>
              <a:t>	</a:t>
            </a:r>
            <a:r>
              <a:rPr dirty="0" sz="3750" spc="-229" b="1">
                <a:solidFill>
                  <a:srgbClr val="111313"/>
                </a:solidFill>
                <a:latin typeface="Arial"/>
                <a:cs typeface="Arial"/>
              </a:rPr>
              <a:t>Runtime</a:t>
            </a:r>
            <a:endParaRPr sz="37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969226" y="3006757"/>
            <a:ext cx="3606165" cy="8451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310890" algn="l"/>
              </a:tabLst>
            </a:pPr>
            <a:r>
              <a:rPr dirty="0" sz="5350" spc="285">
                <a:solidFill>
                  <a:srgbClr val="8C8E8E"/>
                </a:solidFill>
                <a:latin typeface="Arial"/>
                <a:cs typeface="Arial"/>
              </a:rPr>
              <a:t>•</a:t>
            </a:r>
            <a:r>
              <a:rPr dirty="0" sz="5350">
                <a:solidFill>
                  <a:srgbClr val="8C8E8E"/>
                </a:solidFill>
                <a:latin typeface="Arial"/>
                <a:cs typeface="Arial"/>
              </a:rPr>
              <a:t>	</a:t>
            </a:r>
            <a:r>
              <a:rPr dirty="0" sz="5350" spc="285">
                <a:solidFill>
                  <a:srgbClr val="8C8E8E"/>
                </a:solidFill>
                <a:latin typeface="Arial"/>
                <a:cs typeface="Arial"/>
              </a:rPr>
              <a:t>•</a:t>
            </a:r>
            <a:endParaRPr sz="53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967876" y="6134463"/>
            <a:ext cx="290830" cy="8756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550" spc="85">
                <a:solidFill>
                  <a:srgbClr val="8C8E8E"/>
                </a:solidFill>
                <a:latin typeface="Arial"/>
                <a:cs typeface="Arial"/>
              </a:rPr>
              <a:t>•</a:t>
            </a:r>
            <a:endParaRPr sz="55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0266738" y="6134463"/>
            <a:ext cx="290830" cy="8756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550" spc="85">
                <a:solidFill>
                  <a:srgbClr val="8C8E8E"/>
                </a:solidFill>
                <a:latin typeface="Arial"/>
                <a:cs typeface="Arial"/>
              </a:rPr>
              <a:t>•</a:t>
            </a:r>
            <a:endParaRPr sz="55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26089" y="8381305"/>
            <a:ext cx="14925675" cy="98298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 marR="5080" indent="17780">
              <a:lnSpc>
                <a:spcPts val="3620"/>
              </a:lnSpc>
              <a:spcBef>
                <a:spcPts val="470"/>
              </a:spcBef>
            </a:pPr>
            <a:r>
              <a:rPr dirty="0" sz="3200" spc="-215">
                <a:solidFill>
                  <a:srgbClr val="111313"/>
                </a:solidFill>
                <a:latin typeface="Arial"/>
                <a:cs typeface="Arial"/>
              </a:rPr>
              <a:t>Today's</a:t>
            </a:r>
            <a:r>
              <a:rPr dirty="0" sz="3200" spc="-3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3200" spc="-110">
                <a:solidFill>
                  <a:srgbClr val="111313"/>
                </a:solidFill>
                <a:latin typeface="Arial"/>
                <a:cs typeface="Arial"/>
              </a:rPr>
              <a:t>security</a:t>
            </a:r>
            <a:r>
              <a:rPr dirty="0" sz="3200" spc="-4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3200" spc="-85">
                <a:solidFill>
                  <a:srgbClr val="111313"/>
                </a:solidFill>
                <a:latin typeface="Arial"/>
                <a:cs typeface="Arial"/>
              </a:rPr>
              <a:t>tools</a:t>
            </a:r>
            <a:r>
              <a:rPr dirty="0" sz="3200" spc="-165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3200" spc="-180">
                <a:solidFill>
                  <a:srgbClr val="111313"/>
                </a:solidFill>
                <a:latin typeface="Arial"/>
                <a:cs typeface="Arial"/>
              </a:rPr>
              <a:t>are</a:t>
            </a:r>
            <a:r>
              <a:rPr dirty="0" sz="3200" spc="-15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3200" spc="-125">
                <a:solidFill>
                  <a:srgbClr val="111313"/>
                </a:solidFill>
                <a:latin typeface="Arial"/>
                <a:cs typeface="Arial"/>
              </a:rPr>
              <a:t>great</a:t>
            </a:r>
            <a:r>
              <a:rPr dirty="0" sz="3200" spc="-6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3200" spc="-35">
                <a:solidFill>
                  <a:srgbClr val="111313"/>
                </a:solidFill>
                <a:latin typeface="Arial"/>
                <a:cs typeface="Arial"/>
              </a:rPr>
              <a:t>at</a:t>
            </a:r>
            <a:r>
              <a:rPr dirty="0" sz="3200" spc="-13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3200" spc="-100">
                <a:solidFill>
                  <a:srgbClr val="111313"/>
                </a:solidFill>
                <a:latin typeface="Arial"/>
                <a:cs typeface="Arial"/>
              </a:rPr>
              <a:t>pre-</a:t>
            </a:r>
            <a:r>
              <a:rPr dirty="0" sz="3200" spc="-110">
                <a:solidFill>
                  <a:srgbClr val="111313"/>
                </a:solidFill>
                <a:latin typeface="Arial"/>
                <a:cs typeface="Arial"/>
              </a:rPr>
              <a:t>deployment</a:t>
            </a:r>
            <a:r>
              <a:rPr dirty="0" sz="3200" spc="-204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3200" spc="-165">
                <a:solidFill>
                  <a:srgbClr val="111313"/>
                </a:solidFill>
                <a:latin typeface="Arial"/>
                <a:cs typeface="Arial"/>
              </a:rPr>
              <a:t>scanning.</a:t>
            </a:r>
            <a:r>
              <a:rPr dirty="0" sz="3200" spc="-3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3200" spc="-204">
                <a:solidFill>
                  <a:srgbClr val="111313"/>
                </a:solidFill>
                <a:latin typeface="Arial"/>
                <a:cs typeface="Arial"/>
              </a:rPr>
              <a:t>They</a:t>
            </a:r>
            <a:r>
              <a:rPr dirty="0" sz="3200" spc="-145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3250" spc="-204" b="1">
                <a:solidFill>
                  <a:srgbClr val="111313"/>
                </a:solidFill>
                <a:latin typeface="Arial"/>
                <a:cs typeface="Arial"/>
              </a:rPr>
              <a:t>focus</a:t>
            </a:r>
            <a:r>
              <a:rPr dirty="0" sz="3250" spc="-380" b="1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3250" spc="-229" b="1">
                <a:solidFill>
                  <a:srgbClr val="111313"/>
                </a:solidFill>
                <a:latin typeface="Arial"/>
                <a:cs typeface="Arial"/>
              </a:rPr>
              <a:t>on</a:t>
            </a:r>
            <a:r>
              <a:rPr dirty="0" sz="3250" spc="-315" b="1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3250" spc="-200" b="1">
                <a:solidFill>
                  <a:srgbClr val="111313"/>
                </a:solidFill>
                <a:latin typeface="Arial"/>
                <a:cs typeface="Arial"/>
              </a:rPr>
              <a:t>finding</a:t>
            </a:r>
            <a:r>
              <a:rPr dirty="0" sz="3250" spc="-385" b="1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3250" spc="-135" b="1">
                <a:solidFill>
                  <a:srgbClr val="111313"/>
                </a:solidFill>
                <a:latin typeface="Arial"/>
                <a:cs typeface="Arial"/>
              </a:rPr>
              <a:t>issues </a:t>
            </a:r>
            <a:r>
              <a:rPr dirty="0" sz="3250" spc="-170" b="1">
                <a:solidFill>
                  <a:srgbClr val="111313"/>
                </a:solidFill>
                <a:latin typeface="Arial"/>
                <a:cs typeface="Arial"/>
              </a:rPr>
              <a:t>before</a:t>
            </a:r>
            <a:r>
              <a:rPr dirty="0" sz="3250" spc="-355" b="1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3250" spc="-200" b="1">
                <a:solidFill>
                  <a:srgbClr val="111313"/>
                </a:solidFill>
                <a:latin typeface="Arial"/>
                <a:cs typeface="Arial"/>
              </a:rPr>
              <a:t>code</a:t>
            </a:r>
            <a:r>
              <a:rPr dirty="0" sz="3250" spc="-250" b="1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3250" spc="-245" b="1">
                <a:solidFill>
                  <a:srgbClr val="111313"/>
                </a:solidFill>
                <a:latin typeface="Arial"/>
                <a:cs typeface="Arial"/>
              </a:rPr>
              <a:t>ships.</a:t>
            </a:r>
            <a:r>
              <a:rPr dirty="0" sz="3250" spc="-120" b="1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3200" spc="-150">
                <a:solidFill>
                  <a:srgbClr val="111313"/>
                </a:solidFill>
                <a:latin typeface="Arial"/>
                <a:cs typeface="Arial"/>
              </a:rPr>
              <a:t>But</a:t>
            </a:r>
            <a:r>
              <a:rPr dirty="0" sz="3200" spc="-6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3200" spc="-55">
                <a:solidFill>
                  <a:srgbClr val="111313"/>
                </a:solidFill>
                <a:latin typeface="Arial"/>
                <a:cs typeface="Arial"/>
              </a:rPr>
              <a:t>this</a:t>
            </a:r>
            <a:r>
              <a:rPr dirty="0" sz="3200" spc="-315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3200" spc="-70">
                <a:solidFill>
                  <a:srgbClr val="111313"/>
                </a:solidFill>
                <a:latin typeface="Arial"/>
                <a:cs typeface="Arial"/>
              </a:rPr>
              <a:t>is</a:t>
            </a:r>
            <a:r>
              <a:rPr dirty="0" sz="3200" spc="-14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3200" spc="-155">
                <a:solidFill>
                  <a:srgbClr val="111313"/>
                </a:solidFill>
                <a:latin typeface="Arial"/>
                <a:cs typeface="Arial"/>
              </a:rPr>
              <a:t>only</a:t>
            </a:r>
            <a:r>
              <a:rPr dirty="0" sz="3200" spc="-65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3200" spc="-125">
                <a:solidFill>
                  <a:srgbClr val="111313"/>
                </a:solidFill>
                <a:latin typeface="Arial"/>
                <a:cs typeface="Arial"/>
              </a:rPr>
              <a:t>half</a:t>
            </a:r>
            <a:r>
              <a:rPr dirty="0" sz="3200" spc="-95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3200" spc="-45">
                <a:solidFill>
                  <a:srgbClr val="111313"/>
                </a:solidFill>
                <a:latin typeface="Arial"/>
                <a:cs typeface="Arial"/>
              </a:rPr>
              <a:t>the</a:t>
            </a:r>
            <a:r>
              <a:rPr dirty="0" sz="3200" spc="-14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111313"/>
                </a:solidFill>
                <a:latin typeface="Arial"/>
                <a:cs typeface="Arial"/>
              </a:rPr>
              <a:t>game.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2715" rIns="0" bIns="0" rtlCol="0" vert="horz">
            <a:spAutoFit/>
          </a:bodyPr>
          <a:lstStyle/>
          <a:p>
            <a:pPr marL="12700" marR="5080" indent="12700">
              <a:lnSpc>
                <a:spcPts val="5730"/>
              </a:lnSpc>
              <a:spcBef>
                <a:spcPts val="1045"/>
              </a:spcBef>
            </a:pPr>
            <a:r>
              <a:rPr dirty="0" spc="-210">
                <a:solidFill>
                  <a:srgbClr val="131511"/>
                </a:solidFill>
              </a:rPr>
              <a:t>...Leaving</a:t>
            </a:r>
            <a:r>
              <a:rPr dirty="0" spc="-265">
                <a:solidFill>
                  <a:srgbClr val="131511"/>
                </a:solidFill>
              </a:rPr>
              <a:t> </a:t>
            </a:r>
            <a:r>
              <a:rPr dirty="0" spc="-105">
                <a:solidFill>
                  <a:srgbClr val="131511"/>
                </a:solidFill>
              </a:rPr>
              <a:t>an</a:t>
            </a:r>
            <a:r>
              <a:rPr dirty="0" spc="-635">
                <a:solidFill>
                  <a:srgbClr val="131511"/>
                </a:solidFill>
              </a:rPr>
              <a:t> </a:t>
            </a:r>
            <a:r>
              <a:rPr dirty="0" spc="-275">
                <a:solidFill>
                  <a:srgbClr val="131511"/>
                </a:solidFill>
              </a:rPr>
              <a:t>Empty</a:t>
            </a:r>
            <a:r>
              <a:rPr dirty="0" spc="-254">
                <a:solidFill>
                  <a:srgbClr val="131511"/>
                </a:solidFill>
              </a:rPr>
              <a:t> </a:t>
            </a:r>
            <a:r>
              <a:rPr dirty="0" spc="-60">
                <a:solidFill>
                  <a:srgbClr val="131511"/>
                </a:solidFill>
              </a:rPr>
              <a:t>Net</a:t>
            </a:r>
            <a:r>
              <a:rPr dirty="0" spc="-295">
                <a:solidFill>
                  <a:srgbClr val="131511"/>
                </a:solidFill>
              </a:rPr>
              <a:t> </a:t>
            </a:r>
            <a:r>
              <a:rPr dirty="0" spc="-145">
                <a:solidFill>
                  <a:srgbClr val="131511"/>
                </a:solidFill>
              </a:rPr>
              <a:t>Where</a:t>
            </a:r>
            <a:r>
              <a:rPr dirty="0" spc="-395">
                <a:solidFill>
                  <a:srgbClr val="131511"/>
                </a:solidFill>
              </a:rPr>
              <a:t> </a:t>
            </a:r>
            <a:r>
              <a:rPr dirty="0" spc="55">
                <a:solidFill>
                  <a:srgbClr val="131511"/>
                </a:solidFill>
              </a:rPr>
              <a:t>It </a:t>
            </a:r>
            <a:r>
              <a:rPr dirty="0" spc="-70">
                <a:solidFill>
                  <a:srgbClr val="131511"/>
                </a:solidFill>
              </a:rPr>
              <a:t>Matters</a:t>
            </a:r>
            <a:r>
              <a:rPr dirty="0" spc="-350">
                <a:solidFill>
                  <a:srgbClr val="131511"/>
                </a:solidFill>
              </a:rPr>
              <a:t> </a:t>
            </a:r>
            <a:r>
              <a:rPr dirty="0" spc="-125">
                <a:solidFill>
                  <a:srgbClr val="131511"/>
                </a:solidFill>
              </a:rPr>
              <a:t>Most:</a:t>
            </a:r>
            <a:r>
              <a:rPr dirty="0" spc="-550">
                <a:solidFill>
                  <a:srgbClr val="131511"/>
                </a:solidFill>
              </a:rPr>
              <a:t> </a:t>
            </a:r>
            <a:r>
              <a:rPr dirty="0" spc="-35">
                <a:solidFill>
                  <a:srgbClr val="131511"/>
                </a:solidFill>
              </a:rPr>
              <a:t>In</a:t>
            </a:r>
            <a:r>
              <a:rPr dirty="0" spc="-655">
                <a:solidFill>
                  <a:srgbClr val="131511"/>
                </a:solidFill>
              </a:rPr>
              <a:t> </a:t>
            </a:r>
            <a:r>
              <a:rPr dirty="0" spc="-135">
                <a:solidFill>
                  <a:srgbClr val="131511"/>
                </a:solidFill>
              </a:rPr>
              <a:t>Production.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62230" rIns="0" bIns="0" rtlCol="0" vert="horz">
            <a:spAutoFit/>
          </a:bodyPr>
          <a:lstStyle/>
          <a:p>
            <a:pPr marL="20955" marR="5080" indent="-8890">
              <a:lnSpc>
                <a:spcPts val="3720"/>
              </a:lnSpc>
              <a:spcBef>
                <a:spcPts val="490"/>
              </a:spcBef>
            </a:pPr>
            <a:r>
              <a:rPr dirty="0" sz="3350" spc="-254">
                <a:solidFill>
                  <a:srgbClr val="131511"/>
                </a:solidFill>
              </a:rPr>
              <a:t>Once</a:t>
            </a:r>
            <a:r>
              <a:rPr dirty="0" sz="3350" spc="-135">
                <a:solidFill>
                  <a:srgbClr val="131511"/>
                </a:solidFill>
              </a:rPr>
              <a:t> </a:t>
            </a:r>
            <a:r>
              <a:rPr dirty="0" sz="3350" spc="-200">
                <a:solidFill>
                  <a:srgbClr val="131511"/>
                </a:solidFill>
              </a:rPr>
              <a:t>software</a:t>
            </a:r>
            <a:r>
              <a:rPr dirty="0" sz="3350" spc="-155">
                <a:solidFill>
                  <a:srgbClr val="131511"/>
                </a:solidFill>
              </a:rPr>
              <a:t> </a:t>
            </a:r>
            <a:r>
              <a:rPr dirty="0" sz="3350" spc="-150">
                <a:solidFill>
                  <a:srgbClr val="131511"/>
                </a:solidFill>
              </a:rPr>
              <a:t>is</a:t>
            </a:r>
            <a:r>
              <a:rPr dirty="0" sz="3350" spc="-340">
                <a:solidFill>
                  <a:srgbClr val="131511"/>
                </a:solidFill>
              </a:rPr>
              <a:t> </a:t>
            </a:r>
            <a:r>
              <a:rPr dirty="0" sz="3350" spc="-225">
                <a:solidFill>
                  <a:srgbClr val="131511"/>
                </a:solidFill>
              </a:rPr>
              <a:t>deployed,</a:t>
            </a:r>
            <a:r>
              <a:rPr dirty="0" sz="3350" spc="-5">
                <a:solidFill>
                  <a:srgbClr val="131511"/>
                </a:solidFill>
              </a:rPr>
              <a:t> </a:t>
            </a:r>
            <a:r>
              <a:rPr dirty="0" sz="3350" spc="-90" b="0">
                <a:solidFill>
                  <a:srgbClr val="131511"/>
                </a:solidFill>
                <a:latin typeface="Arial"/>
                <a:cs typeface="Arial"/>
              </a:rPr>
              <a:t>there</a:t>
            </a:r>
            <a:r>
              <a:rPr dirty="0" sz="3350" spc="-254" b="0">
                <a:solidFill>
                  <a:srgbClr val="131511"/>
                </a:solidFill>
                <a:latin typeface="Arial"/>
                <a:cs typeface="Arial"/>
              </a:rPr>
              <a:t> </a:t>
            </a:r>
            <a:r>
              <a:rPr dirty="0" sz="3350" spc="-20" b="0">
                <a:solidFill>
                  <a:srgbClr val="131511"/>
                </a:solidFill>
                <a:latin typeface="Arial"/>
                <a:cs typeface="Arial"/>
              </a:rPr>
              <a:t>is</a:t>
            </a:r>
            <a:r>
              <a:rPr dirty="0" sz="3350" spc="-229" b="0">
                <a:solidFill>
                  <a:srgbClr val="131511"/>
                </a:solidFill>
                <a:latin typeface="Arial"/>
                <a:cs typeface="Arial"/>
              </a:rPr>
              <a:t> </a:t>
            </a:r>
            <a:r>
              <a:rPr dirty="0" sz="3350" spc="-40" b="0">
                <a:solidFill>
                  <a:srgbClr val="131511"/>
                </a:solidFill>
                <a:latin typeface="Arial"/>
                <a:cs typeface="Arial"/>
              </a:rPr>
              <a:t>effectively</a:t>
            </a:r>
            <a:r>
              <a:rPr dirty="0" sz="3350" spc="-50" b="0">
                <a:solidFill>
                  <a:srgbClr val="131511"/>
                </a:solidFill>
                <a:latin typeface="Arial"/>
                <a:cs typeface="Arial"/>
              </a:rPr>
              <a:t> </a:t>
            </a:r>
            <a:r>
              <a:rPr dirty="0" sz="3350" spc="-155" b="0">
                <a:solidFill>
                  <a:srgbClr val="131511"/>
                </a:solidFill>
                <a:latin typeface="Arial"/>
                <a:cs typeface="Arial"/>
              </a:rPr>
              <a:t>zero</a:t>
            </a:r>
            <a:r>
              <a:rPr dirty="0" sz="3350" spc="-100" b="0">
                <a:solidFill>
                  <a:srgbClr val="131511"/>
                </a:solidFill>
                <a:latin typeface="Arial"/>
                <a:cs typeface="Arial"/>
              </a:rPr>
              <a:t> </a:t>
            </a:r>
            <a:r>
              <a:rPr dirty="0" sz="3350" spc="-114" b="0">
                <a:solidFill>
                  <a:srgbClr val="131511"/>
                </a:solidFill>
                <a:latin typeface="Arial"/>
                <a:cs typeface="Arial"/>
              </a:rPr>
              <a:t>defensive</a:t>
            </a:r>
            <a:r>
              <a:rPr dirty="0" sz="3350" spc="35" b="0">
                <a:solidFill>
                  <a:srgbClr val="131511"/>
                </a:solidFill>
                <a:latin typeface="Arial"/>
                <a:cs typeface="Arial"/>
              </a:rPr>
              <a:t> </a:t>
            </a:r>
            <a:r>
              <a:rPr dirty="0" sz="3350" spc="-10" b="0">
                <a:solidFill>
                  <a:srgbClr val="131511"/>
                </a:solidFill>
                <a:latin typeface="Arial"/>
                <a:cs typeface="Arial"/>
              </a:rPr>
              <a:t>strategy. </a:t>
            </a:r>
            <a:r>
              <a:rPr dirty="0" sz="3350" spc="-165" b="0">
                <a:solidFill>
                  <a:srgbClr val="131511"/>
                </a:solidFill>
                <a:latin typeface="Arial"/>
                <a:cs typeface="Arial"/>
              </a:rPr>
              <a:t>The</a:t>
            </a:r>
            <a:r>
              <a:rPr dirty="0" sz="3350" spc="-185" b="0">
                <a:solidFill>
                  <a:srgbClr val="131511"/>
                </a:solidFill>
                <a:latin typeface="Arial"/>
                <a:cs typeface="Arial"/>
              </a:rPr>
              <a:t> </a:t>
            </a:r>
            <a:r>
              <a:rPr dirty="0" sz="3350" spc="-145" b="0">
                <a:solidFill>
                  <a:srgbClr val="131511"/>
                </a:solidFill>
                <a:latin typeface="Arial"/>
                <a:cs typeface="Arial"/>
              </a:rPr>
              <a:t>moment</a:t>
            </a:r>
            <a:r>
              <a:rPr dirty="0" sz="3350" spc="-90" b="0">
                <a:solidFill>
                  <a:srgbClr val="131511"/>
                </a:solidFill>
                <a:latin typeface="Arial"/>
                <a:cs typeface="Arial"/>
              </a:rPr>
              <a:t> </a:t>
            </a:r>
            <a:r>
              <a:rPr dirty="0" sz="3350" b="0">
                <a:solidFill>
                  <a:srgbClr val="131511"/>
                </a:solidFill>
                <a:latin typeface="Arial"/>
                <a:cs typeface="Arial"/>
              </a:rPr>
              <a:t>of</a:t>
            </a:r>
            <a:r>
              <a:rPr dirty="0" sz="3350" spc="-114" b="0">
                <a:solidFill>
                  <a:srgbClr val="131511"/>
                </a:solidFill>
                <a:latin typeface="Arial"/>
                <a:cs typeface="Arial"/>
              </a:rPr>
              <a:t> </a:t>
            </a:r>
            <a:r>
              <a:rPr dirty="0" sz="3350" spc="-190" b="0">
                <a:solidFill>
                  <a:srgbClr val="131511"/>
                </a:solidFill>
                <a:latin typeface="Arial"/>
                <a:cs typeface="Arial"/>
              </a:rPr>
              <a:t>maximum</a:t>
            </a:r>
            <a:r>
              <a:rPr dirty="0" sz="3350" spc="90" b="0">
                <a:solidFill>
                  <a:srgbClr val="131511"/>
                </a:solidFill>
                <a:latin typeface="Arial"/>
                <a:cs typeface="Arial"/>
              </a:rPr>
              <a:t> </a:t>
            </a:r>
            <a:r>
              <a:rPr dirty="0" sz="3350" spc="-165" b="0">
                <a:solidFill>
                  <a:srgbClr val="131511"/>
                </a:solidFill>
                <a:latin typeface="Arial"/>
                <a:cs typeface="Arial"/>
              </a:rPr>
              <a:t>exposure</a:t>
            </a:r>
            <a:r>
              <a:rPr dirty="0" sz="3350" spc="-70" b="0">
                <a:solidFill>
                  <a:srgbClr val="131511"/>
                </a:solidFill>
                <a:latin typeface="Arial"/>
                <a:cs typeface="Arial"/>
              </a:rPr>
              <a:t> </a:t>
            </a:r>
            <a:r>
              <a:rPr dirty="0" sz="3350" spc="-20" b="0">
                <a:solidFill>
                  <a:srgbClr val="131511"/>
                </a:solidFill>
                <a:latin typeface="Arial"/>
                <a:cs typeface="Arial"/>
              </a:rPr>
              <a:t>is</a:t>
            </a:r>
            <a:r>
              <a:rPr dirty="0" sz="3350" spc="-260" b="0">
                <a:solidFill>
                  <a:srgbClr val="131511"/>
                </a:solidFill>
                <a:latin typeface="Arial"/>
                <a:cs typeface="Arial"/>
              </a:rPr>
              <a:t> </a:t>
            </a:r>
            <a:r>
              <a:rPr dirty="0" sz="3350" spc="-25" b="0">
                <a:solidFill>
                  <a:srgbClr val="131511"/>
                </a:solidFill>
                <a:latin typeface="Arial"/>
                <a:cs typeface="Arial"/>
              </a:rPr>
              <a:t>the</a:t>
            </a:r>
            <a:r>
              <a:rPr dirty="0" sz="3350" spc="-310" b="0">
                <a:solidFill>
                  <a:srgbClr val="131511"/>
                </a:solidFill>
                <a:latin typeface="Arial"/>
                <a:cs typeface="Arial"/>
              </a:rPr>
              <a:t> </a:t>
            </a:r>
            <a:r>
              <a:rPr dirty="0" sz="3350" spc="-145" b="0">
                <a:solidFill>
                  <a:srgbClr val="131511"/>
                </a:solidFill>
                <a:latin typeface="Arial"/>
                <a:cs typeface="Arial"/>
              </a:rPr>
              <a:t>moment</a:t>
            </a:r>
            <a:r>
              <a:rPr dirty="0" sz="3350" spc="-70" b="0">
                <a:solidFill>
                  <a:srgbClr val="131511"/>
                </a:solidFill>
                <a:latin typeface="Arial"/>
                <a:cs typeface="Arial"/>
              </a:rPr>
              <a:t> </a:t>
            </a:r>
            <a:r>
              <a:rPr dirty="0" sz="3350" b="0">
                <a:solidFill>
                  <a:srgbClr val="131511"/>
                </a:solidFill>
                <a:latin typeface="Arial"/>
                <a:cs typeface="Arial"/>
              </a:rPr>
              <a:t>of</a:t>
            </a:r>
            <a:r>
              <a:rPr dirty="0" sz="3350" spc="-90" b="0">
                <a:solidFill>
                  <a:srgbClr val="131511"/>
                </a:solidFill>
                <a:latin typeface="Arial"/>
                <a:cs typeface="Arial"/>
              </a:rPr>
              <a:t> </a:t>
            </a:r>
            <a:r>
              <a:rPr dirty="0" sz="3350" spc="-180" b="0">
                <a:solidFill>
                  <a:srgbClr val="131511"/>
                </a:solidFill>
                <a:latin typeface="Arial"/>
                <a:cs typeface="Arial"/>
              </a:rPr>
              <a:t>minimum</a:t>
            </a:r>
            <a:r>
              <a:rPr dirty="0" sz="3350" spc="-95" b="0">
                <a:solidFill>
                  <a:srgbClr val="131511"/>
                </a:solidFill>
                <a:latin typeface="Arial"/>
                <a:cs typeface="Arial"/>
              </a:rPr>
              <a:t> </a:t>
            </a:r>
            <a:r>
              <a:rPr dirty="0" sz="3350" spc="-40" b="0">
                <a:solidFill>
                  <a:srgbClr val="131511"/>
                </a:solidFill>
                <a:latin typeface="Arial"/>
                <a:cs typeface="Arial"/>
              </a:rPr>
              <a:t>protection. </a:t>
            </a:r>
            <a:r>
              <a:rPr dirty="0" sz="3350" spc="-185">
                <a:solidFill>
                  <a:srgbClr val="131511"/>
                </a:solidFill>
              </a:rPr>
              <a:t>This</a:t>
            </a:r>
            <a:r>
              <a:rPr dirty="0" sz="3350" spc="-355">
                <a:solidFill>
                  <a:srgbClr val="131511"/>
                </a:solidFill>
              </a:rPr>
              <a:t> </a:t>
            </a:r>
            <a:r>
              <a:rPr dirty="0" sz="3350" spc="-40">
                <a:solidFill>
                  <a:srgbClr val="131511"/>
                </a:solidFill>
              </a:rPr>
              <a:t>is</a:t>
            </a:r>
            <a:r>
              <a:rPr dirty="0" sz="3350" spc="-445">
                <a:solidFill>
                  <a:srgbClr val="131511"/>
                </a:solidFill>
              </a:rPr>
              <a:t> </a:t>
            </a:r>
            <a:r>
              <a:rPr dirty="0" sz="3350" spc="-60">
                <a:solidFill>
                  <a:srgbClr val="131511"/>
                </a:solidFill>
              </a:rPr>
              <a:t>the</a:t>
            </a:r>
            <a:r>
              <a:rPr dirty="0" sz="3350" spc="-465">
                <a:solidFill>
                  <a:srgbClr val="131511"/>
                </a:solidFill>
              </a:rPr>
              <a:t> </a:t>
            </a:r>
            <a:r>
              <a:rPr dirty="0" sz="3350" spc="-170">
                <a:solidFill>
                  <a:srgbClr val="131511"/>
                </a:solidFill>
              </a:rPr>
              <a:t>industry's</a:t>
            </a:r>
            <a:r>
              <a:rPr dirty="0" sz="3350" spc="-160">
                <a:solidFill>
                  <a:srgbClr val="131511"/>
                </a:solidFill>
              </a:rPr>
              <a:t> </a:t>
            </a:r>
            <a:r>
              <a:rPr dirty="0" sz="3350" spc="-135">
                <a:solidFill>
                  <a:srgbClr val="131511"/>
                </a:solidFill>
              </a:rPr>
              <a:t>critical</a:t>
            </a:r>
            <a:r>
              <a:rPr dirty="0" sz="3350" spc="-185">
                <a:solidFill>
                  <a:srgbClr val="131511"/>
                </a:solidFill>
              </a:rPr>
              <a:t> </a:t>
            </a:r>
            <a:r>
              <a:rPr dirty="0" sz="3350" spc="-20">
                <a:solidFill>
                  <a:srgbClr val="131511"/>
                </a:solidFill>
              </a:rPr>
              <a:t>gap.</a:t>
            </a:r>
            <a:endParaRPr sz="3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532" y="1991782"/>
            <a:ext cx="1069901" cy="94469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94540" y="2476896"/>
            <a:ext cx="1120848" cy="112342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59817" y="3166268"/>
            <a:ext cx="280212" cy="58724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942532" y="3804575"/>
            <a:ext cx="5044440" cy="4289425"/>
            <a:chOff x="942532" y="3804575"/>
            <a:chExt cx="5044440" cy="4289425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55799" y="3804575"/>
              <a:ext cx="4330552" cy="380431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42532" y="7123774"/>
              <a:ext cx="1069901" cy="9702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94540" y="6970580"/>
              <a:ext cx="636845" cy="638307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24259" y="2323703"/>
            <a:ext cx="407581" cy="43404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769521" y="4034366"/>
            <a:ext cx="636845" cy="61277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094160" y="1940718"/>
            <a:ext cx="458529" cy="81703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119634" y="4034366"/>
            <a:ext cx="636845" cy="6383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769521" y="5438642"/>
            <a:ext cx="1986959" cy="6383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973311" y="7276968"/>
            <a:ext cx="1604852" cy="86809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3017131" y="1991782"/>
            <a:ext cx="3566337" cy="6102217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891584" y="2936477"/>
            <a:ext cx="0" cy="4187825"/>
          </a:xfrm>
          <a:custGeom>
            <a:avLst/>
            <a:gdLst/>
            <a:ahLst/>
            <a:cxnLst/>
            <a:rect l="l" t="t" r="r" b="b"/>
            <a:pathLst>
              <a:path w="0" h="4187825">
                <a:moveTo>
                  <a:pt x="0" y="4187294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592114" y="4774801"/>
            <a:ext cx="0" cy="536575"/>
          </a:xfrm>
          <a:custGeom>
            <a:avLst/>
            <a:gdLst/>
            <a:ahLst/>
            <a:cxnLst/>
            <a:rect l="l" t="t" r="r" b="b"/>
            <a:pathLst>
              <a:path w="0" h="536575">
                <a:moveTo>
                  <a:pt x="0" y="536177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948748" y="6562061"/>
            <a:ext cx="0" cy="561975"/>
          </a:xfrm>
          <a:custGeom>
            <a:avLst/>
            <a:gdLst/>
            <a:ahLst/>
            <a:cxnLst/>
            <a:rect l="l" t="t" r="r" b="b"/>
            <a:pathLst>
              <a:path w="0" h="561975">
                <a:moveTo>
                  <a:pt x="0" y="561710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948748" y="2936477"/>
            <a:ext cx="0" cy="868680"/>
          </a:xfrm>
          <a:custGeom>
            <a:avLst/>
            <a:gdLst/>
            <a:ahLst/>
            <a:cxnLst/>
            <a:rect l="l" t="t" r="r" b="b"/>
            <a:pathLst>
              <a:path w="0" h="868679">
                <a:moveTo>
                  <a:pt x="0" y="868097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394540" y="6562061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40">
                <a:moveTo>
                  <a:pt x="0" y="408516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381803" y="3140735"/>
            <a:ext cx="0" cy="459740"/>
          </a:xfrm>
          <a:custGeom>
            <a:avLst/>
            <a:gdLst/>
            <a:ahLst/>
            <a:cxnLst/>
            <a:rect l="l" t="t" r="r" b="b"/>
            <a:pathLst>
              <a:path w="0" h="459739">
                <a:moveTo>
                  <a:pt x="0" y="459581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024562" y="4749269"/>
            <a:ext cx="0" cy="587375"/>
          </a:xfrm>
          <a:custGeom>
            <a:avLst/>
            <a:gdLst/>
            <a:ahLst/>
            <a:cxnLst/>
            <a:rect l="l" t="t" r="r" b="b"/>
            <a:pathLst>
              <a:path w="0" h="587375">
                <a:moveTo>
                  <a:pt x="0" y="587242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686882" y="1966250"/>
            <a:ext cx="0" cy="6153785"/>
          </a:xfrm>
          <a:custGeom>
            <a:avLst/>
            <a:gdLst/>
            <a:ahLst/>
            <a:cxnLst/>
            <a:rect l="l" t="t" r="r" b="b"/>
            <a:pathLst>
              <a:path w="0" h="6153784">
                <a:moveTo>
                  <a:pt x="0" y="6153280"/>
                </a:moveTo>
                <a:lnTo>
                  <a:pt x="0" y="0"/>
                </a:lnTo>
              </a:path>
            </a:pathLst>
          </a:custGeom>
          <a:ln w="891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769521" y="4647140"/>
            <a:ext cx="0" cy="791845"/>
          </a:xfrm>
          <a:custGeom>
            <a:avLst/>
            <a:gdLst/>
            <a:ahLst/>
            <a:cxnLst/>
            <a:rect l="l" t="t" r="r" b="b"/>
            <a:pathLst>
              <a:path w="0" h="791845">
                <a:moveTo>
                  <a:pt x="0" y="791500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750263" y="1966250"/>
            <a:ext cx="0" cy="3472815"/>
          </a:xfrm>
          <a:custGeom>
            <a:avLst/>
            <a:gdLst/>
            <a:ahLst/>
            <a:cxnLst/>
            <a:rect l="l" t="t" r="r" b="b"/>
            <a:pathLst>
              <a:path w="0" h="3472815">
                <a:moveTo>
                  <a:pt x="0" y="3472390"/>
                </a:moveTo>
                <a:lnTo>
                  <a:pt x="0" y="0"/>
                </a:lnTo>
              </a:path>
            </a:pathLst>
          </a:custGeom>
          <a:ln w="1018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731006" y="4672672"/>
            <a:ext cx="0" cy="766445"/>
          </a:xfrm>
          <a:custGeom>
            <a:avLst/>
            <a:gdLst/>
            <a:ahLst/>
            <a:cxnLst/>
            <a:rect l="l" t="t" r="r" b="b"/>
            <a:pathLst>
              <a:path w="0" h="766445">
                <a:moveTo>
                  <a:pt x="0" y="765968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0813644" y="1966250"/>
            <a:ext cx="0" cy="6153785"/>
          </a:xfrm>
          <a:custGeom>
            <a:avLst/>
            <a:gdLst/>
            <a:ahLst/>
            <a:cxnLst/>
            <a:rect l="l" t="t" r="r" b="b"/>
            <a:pathLst>
              <a:path w="0" h="6153784">
                <a:moveTo>
                  <a:pt x="0" y="6153280"/>
                </a:moveTo>
                <a:lnTo>
                  <a:pt x="0" y="0"/>
                </a:lnTo>
              </a:path>
            </a:pathLst>
          </a:custGeom>
          <a:ln w="891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6621680" y="2962009"/>
            <a:ext cx="0" cy="4161790"/>
          </a:xfrm>
          <a:custGeom>
            <a:avLst/>
            <a:gdLst/>
            <a:ahLst/>
            <a:cxnLst/>
            <a:rect l="l" t="t" r="r" b="b"/>
            <a:pathLst>
              <a:path w="0" h="4161790">
                <a:moveTo>
                  <a:pt x="0" y="4161762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012433" y="2004548"/>
            <a:ext cx="7082155" cy="0"/>
          </a:xfrm>
          <a:custGeom>
            <a:avLst/>
            <a:gdLst/>
            <a:ahLst/>
            <a:cxnLst/>
            <a:rect l="l" t="t" r="r" b="b"/>
            <a:pathLst>
              <a:path w="7082155" h="0">
                <a:moveTo>
                  <a:pt x="0" y="0"/>
                </a:moveTo>
                <a:lnTo>
                  <a:pt x="7081727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031386" y="2464130"/>
            <a:ext cx="789940" cy="0"/>
          </a:xfrm>
          <a:custGeom>
            <a:avLst/>
            <a:gdLst/>
            <a:ahLst/>
            <a:cxnLst/>
            <a:rect l="l" t="t" r="r" b="b"/>
            <a:pathLst>
              <a:path w="789939" h="0">
                <a:moveTo>
                  <a:pt x="0" y="0"/>
                </a:moveTo>
                <a:lnTo>
                  <a:pt x="789689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8431840" y="2732219"/>
            <a:ext cx="662940" cy="0"/>
          </a:xfrm>
          <a:custGeom>
            <a:avLst/>
            <a:gdLst/>
            <a:ahLst/>
            <a:cxnLst/>
            <a:rect l="l" t="t" r="r" b="b"/>
            <a:pathLst>
              <a:path w="662940" h="0">
                <a:moveTo>
                  <a:pt x="0" y="0"/>
                </a:moveTo>
                <a:lnTo>
                  <a:pt x="662319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406366" y="404713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 h="0">
                <a:moveTo>
                  <a:pt x="0" y="0"/>
                </a:moveTo>
                <a:lnTo>
                  <a:pt x="713267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031386" y="7596119"/>
            <a:ext cx="739140" cy="0"/>
          </a:xfrm>
          <a:custGeom>
            <a:avLst/>
            <a:gdLst/>
            <a:ahLst/>
            <a:cxnLst/>
            <a:rect l="l" t="t" r="r" b="b"/>
            <a:pathLst>
              <a:path w="739139" h="0">
                <a:moveTo>
                  <a:pt x="0" y="0"/>
                </a:moveTo>
                <a:lnTo>
                  <a:pt x="738741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9578163" y="8068466"/>
            <a:ext cx="5859145" cy="0"/>
          </a:xfrm>
          <a:custGeom>
            <a:avLst/>
            <a:gdLst/>
            <a:ahLst/>
            <a:cxnLst/>
            <a:rect l="l" t="t" r="r" b="b"/>
            <a:pathLst>
              <a:path w="5859144" h="0">
                <a:moveTo>
                  <a:pt x="0" y="0"/>
                </a:moveTo>
                <a:lnTo>
                  <a:pt x="5858982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012433" y="8068466"/>
            <a:ext cx="5961380" cy="0"/>
          </a:xfrm>
          <a:custGeom>
            <a:avLst/>
            <a:gdLst/>
            <a:ahLst/>
            <a:cxnLst/>
            <a:rect l="l" t="t" r="r" b="b"/>
            <a:pathLst>
              <a:path w="5961380" h="0">
                <a:moveTo>
                  <a:pt x="0" y="0"/>
                </a:moveTo>
                <a:lnTo>
                  <a:pt x="5960878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333895" y="2770517"/>
            <a:ext cx="993775" cy="0"/>
          </a:xfrm>
          <a:custGeom>
            <a:avLst/>
            <a:gdLst/>
            <a:ahLst/>
            <a:cxnLst/>
            <a:rect l="l" t="t" r="r" b="b"/>
            <a:pathLst>
              <a:path w="993775" h="0">
                <a:moveTo>
                  <a:pt x="0" y="0"/>
                </a:moveTo>
                <a:lnTo>
                  <a:pt x="993479" y="0"/>
                </a:lnTo>
              </a:path>
            </a:pathLst>
          </a:custGeom>
          <a:ln w="12766">
            <a:solidFill>
              <a:srgbClr val="13161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705319" y="3036076"/>
            <a:ext cx="102235" cy="486409"/>
          </a:xfrm>
          <a:custGeom>
            <a:avLst/>
            <a:gdLst/>
            <a:ahLst/>
            <a:cxnLst/>
            <a:rect l="l" t="t" r="r" b="b"/>
            <a:pathLst>
              <a:path w="102235" h="486410">
                <a:moveTo>
                  <a:pt x="101895" y="486272"/>
                </a:moveTo>
                <a:lnTo>
                  <a:pt x="0" y="486272"/>
                </a:lnTo>
                <a:lnTo>
                  <a:pt x="0" y="0"/>
                </a:lnTo>
                <a:lnTo>
                  <a:pt x="101895" y="0"/>
                </a:lnTo>
                <a:lnTo>
                  <a:pt x="101895" y="486272"/>
                </a:lnTo>
                <a:close/>
              </a:path>
            </a:pathLst>
          </a:custGeom>
          <a:solidFill>
            <a:srgbClr val="F2F4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2187138" y="3504638"/>
            <a:ext cx="1158875" cy="262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 spc="-120">
                <a:solidFill>
                  <a:srgbClr val="8A8C89"/>
                </a:solidFill>
                <a:latin typeface="Arial"/>
                <a:cs typeface="Arial"/>
              </a:rPr>
              <a:t>,,,,,,,.......</a:t>
            </a:r>
            <a:r>
              <a:rPr dirty="0" sz="1550" spc="-120" b="1">
                <a:solidFill>
                  <a:srgbClr val="8A8C89"/>
                </a:solidFill>
                <a:latin typeface="Arial"/>
                <a:cs typeface="Arial"/>
              </a:rPr>
              <a:t>'</a:t>
            </a:r>
            <a:r>
              <a:rPr dirty="0" sz="1550" spc="-120">
                <a:solidFill>
                  <a:srgbClr val="8A8C89"/>
                </a:solidFill>
                <a:latin typeface="Arial"/>
                <a:cs typeface="Arial"/>
              </a:rPr>
              <a:t>.</a:t>
            </a:r>
            <a:r>
              <a:rPr dirty="0" sz="1550" spc="-120" b="1">
                <a:solidFill>
                  <a:srgbClr val="8A8C89"/>
                </a:solidFill>
                <a:latin typeface="Arial"/>
                <a:cs typeface="Arial"/>
              </a:rPr>
              <a:t>-</a:t>
            </a:r>
            <a:r>
              <a:rPr dirty="0" sz="1550" spc="155" b="1">
                <a:solidFill>
                  <a:srgbClr val="8A8C89"/>
                </a:solidFill>
                <a:latin typeface="Arial"/>
                <a:cs typeface="Arial"/>
              </a:rPr>
              <a:t>--</a:t>
            </a:r>
            <a:r>
              <a:rPr dirty="0" sz="1550" spc="225" b="1">
                <a:solidFill>
                  <a:srgbClr val="8A8C89"/>
                </a:solidFill>
                <a:latin typeface="Arial"/>
                <a:cs typeface="Arial"/>
              </a:rPr>
              <a:t>1"</a:t>
            </a:r>
            <a:endParaRPr sz="15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692618" y="2993992"/>
            <a:ext cx="1849755" cy="84264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2545"/>
              </a:lnSpc>
              <a:spcBef>
                <a:spcPts val="114"/>
              </a:spcBef>
              <a:tabLst>
                <a:tab pos="853440" algn="l"/>
                <a:tab pos="1471295" algn="l"/>
              </a:tabLst>
            </a:pPr>
            <a:r>
              <a:rPr dirty="0" sz="2900" spc="-50">
                <a:solidFill>
                  <a:srgbClr val="AAACAC"/>
                </a:solidFill>
                <a:latin typeface="Times New Roman"/>
                <a:cs typeface="Times New Roman"/>
              </a:rPr>
              <a:t>-</a:t>
            </a:r>
            <a:r>
              <a:rPr dirty="0" sz="2900">
                <a:solidFill>
                  <a:srgbClr val="AAACAC"/>
                </a:solidFill>
                <a:latin typeface="Times New Roman"/>
                <a:cs typeface="Times New Roman"/>
              </a:rPr>
              <a:t>	</a:t>
            </a:r>
            <a:r>
              <a:rPr dirty="0" sz="2900" spc="-50">
                <a:solidFill>
                  <a:srgbClr val="8A8C89"/>
                </a:solidFill>
                <a:latin typeface="Times New Roman"/>
                <a:cs typeface="Times New Roman"/>
              </a:rPr>
              <a:t>L</a:t>
            </a:r>
            <a:r>
              <a:rPr dirty="0" sz="2900">
                <a:solidFill>
                  <a:srgbClr val="8A8C89"/>
                </a:solidFill>
                <a:latin typeface="Times New Roman"/>
                <a:cs typeface="Times New Roman"/>
              </a:rPr>
              <a:t>	</a:t>
            </a:r>
            <a:r>
              <a:rPr dirty="0" sz="3150" spc="-50">
                <a:solidFill>
                  <a:srgbClr val="70706E"/>
                </a:solidFill>
                <a:latin typeface="Arial"/>
                <a:cs typeface="Arial"/>
              </a:rPr>
              <a:t>0</a:t>
            </a:r>
            <a:endParaRPr sz="3150">
              <a:latin typeface="Arial"/>
              <a:cs typeface="Arial"/>
            </a:endParaRPr>
          </a:p>
          <a:p>
            <a:pPr marL="841375">
              <a:lnSpc>
                <a:spcPts val="3865"/>
              </a:lnSpc>
              <a:tabLst>
                <a:tab pos="1468120" algn="l"/>
              </a:tabLst>
            </a:pPr>
            <a:r>
              <a:rPr dirty="0" sz="4250" spc="550" b="1">
                <a:solidFill>
                  <a:srgbClr val="8A8C89"/>
                </a:solidFill>
                <a:latin typeface="Times New Roman"/>
                <a:cs typeface="Times New Roman"/>
              </a:rPr>
              <a:t>r</a:t>
            </a:r>
            <a:r>
              <a:rPr dirty="0" sz="4250" b="1">
                <a:solidFill>
                  <a:srgbClr val="8A8C89"/>
                </a:solidFill>
                <a:latin typeface="Times New Roman"/>
                <a:cs typeface="Times New Roman"/>
              </a:rPr>
              <a:t>	</a:t>
            </a:r>
            <a:r>
              <a:rPr dirty="0" sz="950" spc="-10">
                <a:solidFill>
                  <a:srgbClr val="70706E"/>
                </a:solidFill>
                <a:latin typeface="Arial"/>
                <a:cs typeface="Arial"/>
              </a:rPr>
              <a:t>se</a:t>
            </a:r>
            <a:r>
              <a:rPr dirty="0" sz="950" spc="-10">
                <a:solidFill>
                  <a:srgbClr val="464644"/>
                </a:solidFill>
                <a:latin typeface="Arial"/>
                <a:cs typeface="Arial"/>
              </a:rPr>
              <a:t>n</a:t>
            </a:r>
            <a:r>
              <a:rPr dirty="0" sz="950" spc="-10">
                <a:solidFill>
                  <a:srgbClr val="70706E"/>
                </a:solidFill>
                <a:latin typeface="Arial"/>
                <a:cs typeface="Arial"/>
              </a:rPr>
              <a:t>at</a:t>
            </a:r>
            <a:r>
              <a:rPr dirty="0" sz="950" spc="-10">
                <a:solidFill>
                  <a:srgbClr val="464644"/>
                </a:solidFill>
                <a:latin typeface="Arial"/>
                <a:cs typeface="Arial"/>
              </a:rPr>
              <a:t>y</a:t>
            </a:r>
            <a:endParaRPr sz="9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722478" y="3140803"/>
            <a:ext cx="340360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200" spc="20">
                <a:solidFill>
                  <a:srgbClr val="8A8C89"/>
                </a:solidFill>
                <a:latin typeface="Arial"/>
                <a:cs typeface="Arial"/>
              </a:rPr>
              <a:t>-</a:t>
            </a:r>
            <a:endParaRPr sz="72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37585" y="6530213"/>
            <a:ext cx="226060" cy="447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50" spc="-50">
                <a:solidFill>
                  <a:srgbClr val="8A8C89"/>
                </a:solidFill>
                <a:latin typeface="Arial"/>
                <a:cs typeface="Arial"/>
              </a:rPr>
              <a:t>7</a:t>
            </a:r>
            <a:endParaRPr sz="27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15008" y="676937"/>
            <a:ext cx="16057880" cy="22021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500" spc="-815" b="1">
                <a:solidFill>
                  <a:srgbClr val="131613"/>
                </a:solidFill>
                <a:latin typeface="Arial"/>
                <a:cs typeface="Arial"/>
              </a:rPr>
              <a:t>DeployHub</a:t>
            </a:r>
            <a:r>
              <a:rPr dirty="0" sz="5500" spc="-450" b="1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5500" spc="-420" b="1">
                <a:solidFill>
                  <a:srgbClr val="131613"/>
                </a:solidFill>
                <a:latin typeface="Arial"/>
                <a:cs typeface="Arial"/>
              </a:rPr>
              <a:t>is</a:t>
            </a:r>
            <a:r>
              <a:rPr dirty="0" sz="5500" spc="-860" b="1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5500" spc="-530" b="1">
                <a:solidFill>
                  <a:srgbClr val="131613"/>
                </a:solidFill>
                <a:latin typeface="Arial"/>
                <a:cs typeface="Arial"/>
              </a:rPr>
              <a:t>the</a:t>
            </a:r>
            <a:r>
              <a:rPr dirty="0" sz="5500" spc="-819" b="1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5500" spc="-700" b="1">
                <a:solidFill>
                  <a:srgbClr val="131613"/>
                </a:solidFill>
                <a:latin typeface="Arial"/>
                <a:cs typeface="Arial"/>
              </a:rPr>
              <a:t>Defensive</a:t>
            </a:r>
            <a:r>
              <a:rPr dirty="0" sz="5500" spc="-440" b="1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5500" spc="-640" b="1">
                <a:solidFill>
                  <a:srgbClr val="131613"/>
                </a:solidFill>
                <a:latin typeface="Arial"/>
                <a:cs typeface="Arial"/>
              </a:rPr>
              <a:t>Strategy</a:t>
            </a:r>
            <a:r>
              <a:rPr dirty="0" sz="5500" spc="-425" b="1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5500" spc="-595" b="1">
                <a:solidFill>
                  <a:srgbClr val="131613"/>
                </a:solidFill>
                <a:latin typeface="Arial"/>
                <a:cs typeface="Arial"/>
              </a:rPr>
              <a:t>for</a:t>
            </a:r>
            <a:r>
              <a:rPr dirty="0" sz="5500" spc="-605" b="1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5500" spc="-675" b="1">
                <a:solidFill>
                  <a:srgbClr val="131613"/>
                </a:solidFill>
                <a:latin typeface="Arial"/>
                <a:cs typeface="Arial"/>
              </a:rPr>
              <a:t>Software</a:t>
            </a:r>
            <a:r>
              <a:rPr dirty="0" sz="5500" spc="-595" b="1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5500" spc="-470" b="1">
                <a:solidFill>
                  <a:srgbClr val="131613"/>
                </a:solidFill>
                <a:latin typeface="Arial"/>
                <a:cs typeface="Arial"/>
              </a:rPr>
              <a:t>in</a:t>
            </a:r>
            <a:r>
              <a:rPr dirty="0" sz="5500" spc="-880" b="1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5500" spc="-740" b="1">
                <a:solidFill>
                  <a:srgbClr val="131613"/>
                </a:solidFill>
                <a:latin typeface="Arial"/>
                <a:cs typeface="Arial"/>
              </a:rPr>
              <a:t>Production.</a:t>
            </a:r>
            <a:endParaRPr sz="5500">
              <a:latin typeface="Arial"/>
              <a:cs typeface="Arial"/>
            </a:endParaRPr>
          </a:p>
          <a:p>
            <a:pPr algn="ctr" marR="370205">
              <a:lnSpc>
                <a:spcPct val="100000"/>
              </a:lnSpc>
              <a:spcBef>
                <a:spcPts val="6009"/>
              </a:spcBef>
              <a:tabLst>
                <a:tab pos="6941184" algn="l"/>
              </a:tabLst>
            </a:pPr>
            <a:r>
              <a:rPr dirty="0" sz="3750" spc="-254" b="1">
                <a:solidFill>
                  <a:srgbClr val="131613"/>
                </a:solidFill>
                <a:latin typeface="Arial"/>
                <a:cs typeface="Arial"/>
              </a:rPr>
              <a:t>Build</a:t>
            </a:r>
            <a:r>
              <a:rPr dirty="0" sz="3750" spc="-160" b="1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3750" spc="-20" b="1">
                <a:solidFill>
                  <a:srgbClr val="131613"/>
                </a:solidFill>
                <a:latin typeface="Arial"/>
                <a:cs typeface="Arial"/>
              </a:rPr>
              <a:t>Time</a:t>
            </a:r>
            <a:r>
              <a:rPr dirty="0" sz="3750" b="1">
                <a:solidFill>
                  <a:srgbClr val="131613"/>
                </a:solidFill>
                <a:latin typeface="Arial"/>
                <a:cs typeface="Arial"/>
              </a:rPr>
              <a:t>	</a:t>
            </a:r>
            <a:r>
              <a:rPr dirty="0" sz="3750" spc="-105" b="1">
                <a:solidFill>
                  <a:srgbClr val="131613"/>
                </a:solidFill>
                <a:latin typeface="Arial"/>
                <a:cs typeface="Arial"/>
              </a:rPr>
              <a:t>Runtime</a:t>
            </a:r>
            <a:endParaRPr sz="37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955139" y="2993992"/>
            <a:ext cx="280670" cy="8756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550" spc="5">
                <a:solidFill>
                  <a:srgbClr val="8A8C89"/>
                </a:solidFill>
                <a:latin typeface="Arial"/>
                <a:cs typeface="Arial"/>
              </a:rPr>
              <a:t>•</a:t>
            </a:r>
            <a:endParaRPr sz="55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281163" y="3025907"/>
            <a:ext cx="269240" cy="8375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300" spc="5">
                <a:solidFill>
                  <a:srgbClr val="8A8C89"/>
                </a:solidFill>
                <a:latin typeface="Arial"/>
                <a:cs typeface="Arial"/>
              </a:rPr>
              <a:t>•</a:t>
            </a:r>
            <a:endParaRPr sz="53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969564" y="6166379"/>
            <a:ext cx="269240" cy="8375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300" spc="5">
                <a:solidFill>
                  <a:srgbClr val="8A8C89"/>
                </a:solidFill>
                <a:latin typeface="Arial"/>
                <a:cs typeface="Arial"/>
              </a:rPr>
              <a:t>•</a:t>
            </a:r>
            <a:endParaRPr sz="53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281163" y="6166379"/>
            <a:ext cx="269240" cy="8375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300" spc="5">
                <a:solidFill>
                  <a:srgbClr val="8A8C89"/>
                </a:solidFill>
                <a:latin typeface="Arial"/>
                <a:cs typeface="Arial"/>
              </a:rPr>
              <a:t>•</a:t>
            </a:r>
            <a:endParaRPr sz="53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21536" y="8381305"/>
            <a:ext cx="15997555" cy="99568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7780" marR="5080" indent="-5715">
              <a:lnSpc>
                <a:spcPts val="3720"/>
              </a:lnSpc>
              <a:spcBef>
                <a:spcPts val="390"/>
              </a:spcBef>
            </a:pPr>
            <a:r>
              <a:rPr dirty="0" sz="3250" spc="-225">
                <a:solidFill>
                  <a:srgbClr val="131613"/>
                </a:solidFill>
                <a:latin typeface="Arial"/>
                <a:cs typeface="Arial"/>
              </a:rPr>
              <a:t>DeployHub</a:t>
            </a:r>
            <a:r>
              <a:rPr dirty="0" sz="3250" spc="10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3250" spc="-30">
                <a:solidFill>
                  <a:srgbClr val="131613"/>
                </a:solidFill>
                <a:latin typeface="Arial"/>
                <a:cs typeface="Arial"/>
              </a:rPr>
              <a:t>is</a:t>
            </a:r>
            <a:r>
              <a:rPr dirty="0" sz="3250" spc="-315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3250" spc="-85">
                <a:solidFill>
                  <a:srgbClr val="131613"/>
                </a:solidFill>
                <a:latin typeface="Arial"/>
                <a:cs typeface="Arial"/>
              </a:rPr>
              <a:t>the</a:t>
            </a:r>
            <a:r>
              <a:rPr dirty="0" sz="3250" spc="-140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3250" spc="-65">
                <a:solidFill>
                  <a:srgbClr val="131613"/>
                </a:solidFill>
                <a:latin typeface="Arial"/>
                <a:cs typeface="Arial"/>
              </a:rPr>
              <a:t>first</a:t>
            </a:r>
            <a:r>
              <a:rPr dirty="0" sz="3250" spc="-250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3250" spc="-185" b="1">
                <a:solidFill>
                  <a:srgbClr val="131613"/>
                </a:solidFill>
                <a:latin typeface="Arial"/>
                <a:cs typeface="Arial"/>
              </a:rPr>
              <a:t>Post-</a:t>
            </a:r>
            <a:r>
              <a:rPr dirty="0" sz="3250" spc="-210" b="1">
                <a:solidFill>
                  <a:srgbClr val="131613"/>
                </a:solidFill>
                <a:latin typeface="Arial"/>
                <a:cs typeface="Arial"/>
              </a:rPr>
              <a:t>Deployment</a:t>
            </a:r>
            <a:r>
              <a:rPr dirty="0" sz="3250" spc="-475" b="1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3250" spc="-229" b="1">
                <a:solidFill>
                  <a:srgbClr val="131613"/>
                </a:solidFill>
                <a:latin typeface="Arial"/>
                <a:cs typeface="Arial"/>
              </a:rPr>
              <a:t>Defense</a:t>
            </a:r>
            <a:r>
              <a:rPr dirty="0" sz="3250" spc="-95" b="1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3250" spc="-229" b="1">
                <a:solidFill>
                  <a:srgbClr val="131613"/>
                </a:solidFill>
                <a:latin typeface="Arial"/>
                <a:cs typeface="Arial"/>
              </a:rPr>
              <a:t>Platform.</a:t>
            </a:r>
            <a:r>
              <a:rPr dirty="0" sz="3250" spc="40" b="1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3250" spc="-370">
                <a:solidFill>
                  <a:srgbClr val="131613"/>
                </a:solidFill>
                <a:latin typeface="Arial"/>
                <a:cs typeface="Arial"/>
              </a:rPr>
              <a:t>We</a:t>
            </a:r>
            <a:r>
              <a:rPr dirty="0" sz="3250" spc="-195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3250" spc="-120">
                <a:solidFill>
                  <a:srgbClr val="131613"/>
                </a:solidFill>
                <a:latin typeface="Arial"/>
                <a:cs typeface="Arial"/>
              </a:rPr>
              <a:t>pick</a:t>
            </a:r>
            <a:r>
              <a:rPr dirty="0" sz="3250" spc="-185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3250" spc="-75">
                <a:solidFill>
                  <a:srgbClr val="131613"/>
                </a:solidFill>
                <a:latin typeface="Arial"/>
                <a:cs typeface="Arial"/>
              </a:rPr>
              <a:t>up</a:t>
            </a:r>
            <a:r>
              <a:rPr dirty="0" sz="3250" spc="-250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3250" spc="-185">
                <a:solidFill>
                  <a:srgbClr val="131613"/>
                </a:solidFill>
                <a:latin typeface="Arial"/>
                <a:cs typeface="Arial"/>
              </a:rPr>
              <a:t>where</a:t>
            </a:r>
            <a:r>
              <a:rPr dirty="0" sz="3250" spc="-180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3250" spc="-55">
                <a:solidFill>
                  <a:srgbClr val="131613"/>
                </a:solidFill>
                <a:latin typeface="Arial"/>
                <a:cs typeface="Arial"/>
              </a:rPr>
              <a:t>the</a:t>
            </a:r>
            <a:r>
              <a:rPr dirty="0" sz="3250" spc="-204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3250" spc="-215">
                <a:solidFill>
                  <a:srgbClr val="131613"/>
                </a:solidFill>
                <a:latin typeface="Arial"/>
                <a:cs typeface="Arial"/>
              </a:rPr>
              <a:t>scanners</a:t>
            </a:r>
            <a:r>
              <a:rPr dirty="0" sz="3250" spc="55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3250" spc="-145">
                <a:solidFill>
                  <a:srgbClr val="131613"/>
                </a:solidFill>
                <a:latin typeface="Arial"/>
                <a:cs typeface="Arial"/>
              </a:rPr>
              <a:t>leave </a:t>
            </a:r>
            <a:r>
              <a:rPr dirty="0" sz="3250" spc="-70">
                <a:solidFill>
                  <a:srgbClr val="131613"/>
                </a:solidFill>
                <a:latin typeface="Arial"/>
                <a:cs typeface="Arial"/>
              </a:rPr>
              <a:t>off,</a:t>
            </a:r>
            <a:r>
              <a:rPr dirty="0" sz="3250" spc="-375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3250" spc="-170">
                <a:solidFill>
                  <a:srgbClr val="131613"/>
                </a:solidFill>
                <a:latin typeface="Arial"/>
                <a:cs typeface="Arial"/>
              </a:rPr>
              <a:t>providing</a:t>
            </a:r>
            <a:r>
              <a:rPr dirty="0" sz="3250" spc="-20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3250" spc="-160">
                <a:solidFill>
                  <a:srgbClr val="131613"/>
                </a:solidFill>
                <a:latin typeface="Arial"/>
                <a:cs typeface="Arial"/>
              </a:rPr>
              <a:t>continua,</a:t>
            </a:r>
            <a:r>
              <a:rPr dirty="0" sz="3250" spc="-229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3250" spc="-70">
                <a:solidFill>
                  <a:srgbClr val="131613"/>
                </a:solidFill>
                <a:latin typeface="Arial"/>
                <a:cs typeface="Arial"/>
              </a:rPr>
              <a:t>for</a:t>
            </a:r>
            <a:r>
              <a:rPr dirty="0" sz="3250" spc="-200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3250" spc="-85">
                <a:solidFill>
                  <a:srgbClr val="131613"/>
                </a:solidFill>
                <a:latin typeface="Arial"/>
                <a:cs typeface="Arial"/>
              </a:rPr>
              <a:t>the</a:t>
            </a:r>
            <a:r>
              <a:rPr dirty="0" sz="3250" spc="-114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3250" spc="-140">
                <a:solidFill>
                  <a:srgbClr val="131613"/>
                </a:solidFill>
                <a:latin typeface="Arial"/>
                <a:cs typeface="Arial"/>
              </a:rPr>
              <a:t>software</a:t>
            </a:r>
            <a:r>
              <a:rPr dirty="0" sz="3250" spc="10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3250" spc="-135">
                <a:solidFill>
                  <a:srgbClr val="131613"/>
                </a:solidFill>
                <a:latin typeface="Arial"/>
                <a:cs typeface="Arial"/>
              </a:rPr>
              <a:t>that's</a:t>
            </a:r>
            <a:r>
              <a:rPr dirty="0" sz="3250" spc="-145">
                <a:solidFill>
                  <a:srgbClr val="131613"/>
                </a:solidFill>
                <a:latin typeface="Arial"/>
                <a:cs typeface="Arial"/>
              </a:rPr>
              <a:t> actually</a:t>
            </a:r>
            <a:r>
              <a:rPr dirty="0" sz="3250" spc="-80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3250" spc="-185">
                <a:solidFill>
                  <a:srgbClr val="131613"/>
                </a:solidFill>
                <a:latin typeface="Arial"/>
                <a:cs typeface="Arial"/>
              </a:rPr>
              <a:t>running</a:t>
            </a:r>
            <a:r>
              <a:rPr dirty="0" sz="3250" spc="50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3250" spc="-200">
                <a:solidFill>
                  <a:srgbClr val="131613"/>
                </a:solidFill>
                <a:latin typeface="Arial"/>
                <a:cs typeface="Arial"/>
              </a:rPr>
              <a:t>your</a:t>
            </a:r>
            <a:r>
              <a:rPr dirty="0" sz="3250" spc="-90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3250" spc="-195">
                <a:solidFill>
                  <a:srgbClr val="131613"/>
                </a:solidFill>
                <a:latin typeface="Arial"/>
                <a:cs typeface="Arial"/>
              </a:rPr>
              <a:t>business.</a:t>
            </a:r>
            <a:r>
              <a:rPr dirty="0" sz="3250" spc="-30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3250" spc="-229" b="1">
                <a:solidFill>
                  <a:srgbClr val="131613"/>
                </a:solidFill>
                <a:latin typeface="Arial"/>
                <a:cs typeface="Arial"/>
              </a:rPr>
              <a:t>We</a:t>
            </a:r>
            <a:r>
              <a:rPr dirty="0" sz="3250" spc="-434" b="1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3250" spc="-195" b="1">
                <a:solidFill>
                  <a:srgbClr val="131613"/>
                </a:solidFill>
                <a:latin typeface="Arial"/>
                <a:cs typeface="Arial"/>
              </a:rPr>
              <a:t>protect</a:t>
            </a:r>
            <a:r>
              <a:rPr dirty="0" sz="3250" spc="-90" b="1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3250" spc="-110" b="1">
                <a:solidFill>
                  <a:srgbClr val="131613"/>
                </a:solidFill>
                <a:latin typeface="Arial"/>
                <a:cs typeface="Arial"/>
              </a:rPr>
              <a:t>the</a:t>
            </a:r>
            <a:r>
              <a:rPr dirty="0" sz="3250" spc="-450" b="1">
                <a:solidFill>
                  <a:srgbClr val="131613"/>
                </a:solidFill>
                <a:latin typeface="Arial"/>
                <a:cs typeface="Arial"/>
              </a:rPr>
              <a:t> </a:t>
            </a:r>
            <a:r>
              <a:rPr dirty="0" sz="3250" spc="-20" b="1">
                <a:solidFill>
                  <a:srgbClr val="131613"/>
                </a:solidFill>
                <a:latin typeface="Arial"/>
                <a:cs typeface="Arial"/>
              </a:rPr>
              <a:t>net.</a:t>
            </a:r>
            <a:endParaRPr sz="3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7922" y="2962010"/>
            <a:ext cx="866110" cy="35745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89080" y="3651382"/>
            <a:ext cx="636845" cy="8170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20468" y="3293930"/>
            <a:ext cx="509476" cy="76596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45942" y="4162028"/>
            <a:ext cx="484002" cy="40851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90142" y="4800335"/>
            <a:ext cx="1936012" cy="120001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34343" y="6970580"/>
            <a:ext cx="152842" cy="53617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826380" y="3268398"/>
            <a:ext cx="764215" cy="12766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896281" y="4391818"/>
            <a:ext cx="942532" cy="12766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323424" y="4825867"/>
            <a:ext cx="2878543" cy="893630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7107201" y="7596119"/>
            <a:ext cx="5782945" cy="0"/>
          </a:xfrm>
          <a:custGeom>
            <a:avLst/>
            <a:gdLst/>
            <a:ahLst/>
            <a:cxnLst/>
            <a:rect l="l" t="t" r="r" b="b"/>
            <a:pathLst>
              <a:path w="5782945" h="0">
                <a:moveTo>
                  <a:pt x="0" y="0"/>
                </a:moveTo>
                <a:lnTo>
                  <a:pt x="5782561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069294" y="7596119"/>
            <a:ext cx="1172210" cy="0"/>
          </a:xfrm>
          <a:custGeom>
            <a:avLst/>
            <a:gdLst/>
            <a:ahLst/>
            <a:cxnLst/>
            <a:rect l="l" t="t" r="r" b="b"/>
            <a:pathLst>
              <a:path w="1172210" h="0">
                <a:moveTo>
                  <a:pt x="0" y="0"/>
                </a:moveTo>
                <a:lnTo>
                  <a:pt x="1171796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368459" y="3600316"/>
            <a:ext cx="751840" cy="0"/>
          </a:xfrm>
          <a:custGeom>
            <a:avLst/>
            <a:gdLst/>
            <a:ahLst/>
            <a:cxnLst/>
            <a:rect l="l" t="t" r="r" b="b"/>
            <a:pathLst>
              <a:path w="751840" h="0">
                <a:moveTo>
                  <a:pt x="0" y="0"/>
                </a:moveTo>
                <a:lnTo>
                  <a:pt x="75147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368459" y="3766276"/>
            <a:ext cx="178435" cy="0"/>
          </a:xfrm>
          <a:custGeom>
            <a:avLst/>
            <a:gdLst/>
            <a:ahLst/>
            <a:cxnLst/>
            <a:rect l="l" t="t" r="r" b="b"/>
            <a:pathLst>
              <a:path w="178434" h="0">
                <a:moveTo>
                  <a:pt x="0" y="0"/>
                </a:moveTo>
                <a:lnTo>
                  <a:pt x="178316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683961" y="485445"/>
            <a:ext cx="8117840" cy="139700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386205" marR="5080" indent="-1374140">
              <a:lnSpc>
                <a:spcPts val="5130"/>
              </a:lnSpc>
              <a:spcBef>
                <a:spcPts val="720"/>
              </a:spcBef>
            </a:pPr>
            <a:r>
              <a:rPr dirty="0" sz="4700" spc="-210" b="1">
                <a:solidFill>
                  <a:srgbClr val="1F2123"/>
                </a:solidFill>
                <a:latin typeface="Arial"/>
                <a:cs typeface="Arial"/>
              </a:rPr>
              <a:t>Granular,</a:t>
            </a:r>
            <a:r>
              <a:rPr dirty="0" sz="4700" spc="-114" b="1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4700" spc="-140" b="1">
                <a:solidFill>
                  <a:srgbClr val="1F2123"/>
                </a:solidFill>
                <a:latin typeface="Arial"/>
                <a:cs typeface="Arial"/>
              </a:rPr>
              <a:t>Operational</a:t>
            </a:r>
            <a:r>
              <a:rPr dirty="0" sz="4700" spc="-114" b="1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4700" spc="-80" b="1">
                <a:solidFill>
                  <a:srgbClr val="1F2123"/>
                </a:solidFill>
                <a:latin typeface="Arial"/>
                <a:cs typeface="Arial"/>
              </a:rPr>
              <a:t>Defense </a:t>
            </a:r>
            <a:r>
              <a:rPr dirty="0" sz="4700" spc="-75" b="1">
                <a:solidFill>
                  <a:srgbClr val="1F2123"/>
                </a:solidFill>
                <a:latin typeface="Arial"/>
                <a:cs typeface="Arial"/>
              </a:rPr>
              <a:t>in</a:t>
            </a:r>
            <a:r>
              <a:rPr dirty="0" sz="4700" spc="-385" b="1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4700" b="1">
                <a:solidFill>
                  <a:srgbClr val="1F2123"/>
                </a:solidFill>
                <a:latin typeface="Arial"/>
                <a:cs typeface="Arial"/>
              </a:rPr>
              <a:t>a</a:t>
            </a:r>
            <a:r>
              <a:rPr dirty="0" sz="4700" spc="-290" b="1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4700" spc="-170" b="1">
                <a:solidFill>
                  <a:srgbClr val="1F2123"/>
                </a:solidFill>
                <a:latin typeface="Arial"/>
                <a:cs typeface="Arial"/>
              </a:rPr>
              <a:t>Single</a:t>
            </a:r>
            <a:r>
              <a:rPr dirty="0" sz="4700" spc="-295" b="1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4700" spc="-25" b="1">
                <a:solidFill>
                  <a:srgbClr val="1F2123"/>
                </a:solidFill>
                <a:latin typeface="Arial"/>
                <a:cs typeface="Arial"/>
              </a:rPr>
              <a:t>Platform.</a:t>
            </a:r>
            <a:endParaRPr sz="47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65840" y="2400365"/>
            <a:ext cx="72834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5605" algn="l"/>
              </a:tabLst>
            </a:pPr>
            <a:r>
              <a:rPr dirty="0" sz="1000" spc="290">
                <a:solidFill>
                  <a:srgbClr val="C66E69"/>
                </a:solidFill>
                <a:latin typeface="Arial"/>
                <a:cs typeface="Arial"/>
              </a:rPr>
              <a:t>•</a:t>
            </a:r>
            <a:r>
              <a:rPr dirty="0" sz="1000" spc="290">
                <a:solidFill>
                  <a:srgbClr val="D4B575"/>
                </a:solidFill>
                <a:latin typeface="Arial"/>
                <a:cs typeface="Arial"/>
              </a:rPr>
              <a:t>•</a:t>
            </a:r>
            <a:r>
              <a:rPr dirty="0" sz="1000" spc="290">
                <a:solidFill>
                  <a:srgbClr val="52A856"/>
                </a:solidFill>
                <a:latin typeface="Arial"/>
                <a:cs typeface="Arial"/>
              </a:rPr>
              <a:t>•</a:t>
            </a:r>
            <a:r>
              <a:rPr dirty="0" sz="1000">
                <a:solidFill>
                  <a:srgbClr val="52A856"/>
                </a:solidFill>
                <a:latin typeface="Arial"/>
                <a:cs typeface="Arial"/>
              </a:rPr>
              <a:t>	</a:t>
            </a:r>
            <a:r>
              <a:rPr dirty="0" sz="1000" spc="-10" b="1">
                <a:solidFill>
                  <a:srgbClr val="A8AAAF"/>
                </a:solidFill>
                <a:latin typeface="Arial"/>
                <a:cs typeface="Arial"/>
              </a:rPr>
              <a:t>OJ</a:t>
            </a:r>
            <a:r>
              <a:rPr dirty="0" sz="1000" spc="170" b="1">
                <a:solidFill>
                  <a:srgbClr val="A8AAAF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A8AAAF"/>
                </a:solidFill>
                <a:latin typeface="Arial"/>
                <a:cs typeface="Arial"/>
              </a:rPr>
              <a:t>&lt;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18331" y="2693987"/>
            <a:ext cx="880744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94640" algn="l"/>
              </a:tabLst>
            </a:pPr>
            <a:r>
              <a:rPr dirty="0" sz="900" spc="-50">
                <a:solidFill>
                  <a:srgbClr val="75879C"/>
                </a:solidFill>
                <a:latin typeface="Times New Roman"/>
                <a:cs typeface="Times New Roman"/>
              </a:rPr>
              <a:t>�</a:t>
            </a:r>
            <a:r>
              <a:rPr dirty="0" sz="900">
                <a:solidFill>
                  <a:srgbClr val="75879C"/>
                </a:solidFill>
                <a:latin typeface="Times New Roman"/>
                <a:cs typeface="Times New Roman"/>
              </a:rPr>
              <a:t>	</a:t>
            </a:r>
            <a:r>
              <a:rPr dirty="0" sz="900" spc="-10" b="1">
                <a:solidFill>
                  <a:srgbClr val="333334"/>
                </a:solidFill>
                <a:latin typeface="Times New Roman"/>
                <a:cs typeface="Times New Roman"/>
              </a:rPr>
              <a:t>Depl</a:t>
            </a:r>
            <a:r>
              <a:rPr dirty="0" sz="900" spc="-10" b="1">
                <a:solidFill>
                  <a:srgbClr val="505050"/>
                </a:solidFill>
                <a:latin typeface="Times New Roman"/>
                <a:cs typeface="Times New Roman"/>
              </a:rPr>
              <a:t>oyHu</a:t>
            </a:r>
            <a:r>
              <a:rPr dirty="0" sz="900" spc="-10" b="1">
                <a:solidFill>
                  <a:srgbClr val="333334"/>
                </a:solidFill>
                <a:latin typeface="Times New Roman"/>
                <a:cs typeface="Times New Roman"/>
              </a:rPr>
              <a:t>b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31380" y="2681221"/>
            <a:ext cx="81216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90195" algn="l"/>
              </a:tabLst>
            </a:pPr>
            <a:r>
              <a:rPr dirty="0" sz="1000" spc="-50" b="1">
                <a:solidFill>
                  <a:srgbClr val="A8AAAF"/>
                </a:solidFill>
                <a:latin typeface="Times New Roman"/>
                <a:cs typeface="Times New Roman"/>
              </a:rPr>
              <a:t>«</a:t>
            </a:r>
            <a:r>
              <a:rPr dirty="0" sz="1000" b="1">
                <a:solidFill>
                  <a:srgbClr val="A8AAAF"/>
                </a:solidFill>
                <a:latin typeface="Times New Roman"/>
                <a:cs typeface="Times New Roman"/>
              </a:rPr>
              <a:t>	</a:t>
            </a:r>
            <a:r>
              <a:rPr dirty="0" sz="900" spc="-10" b="1">
                <a:solidFill>
                  <a:srgbClr val="6E6E6E"/>
                </a:solidFill>
                <a:latin typeface="Times New Roman"/>
                <a:cs typeface="Times New Roman"/>
              </a:rPr>
              <a:t>Owlboatd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87489" y="2400366"/>
            <a:ext cx="139700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00" spc="-50">
                <a:solidFill>
                  <a:srgbClr val="8E8E90"/>
                </a:solidFill>
                <a:latin typeface="Arial"/>
                <a:cs typeface="Arial"/>
              </a:rPr>
              <a:t>"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31114" y="1928019"/>
            <a:ext cx="475615" cy="6540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100" spc="-195">
                <a:solidFill>
                  <a:srgbClr val="A8AAAF"/>
                </a:solidFill>
                <a:latin typeface="Times New Roman"/>
                <a:cs typeface="Times New Roman"/>
              </a:rPr>
              <a:t>.</a:t>
            </a:r>
            <a:r>
              <a:rPr dirty="0" sz="1850" spc="-195">
                <a:solidFill>
                  <a:srgbClr val="A8AAAF"/>
                </a:solidFill>
                <a:latin typeface="Times New Roman"/>
                <a:cs typeface="Times New Roman"/>
              </a:rPr>
              <a:t>......,...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809425" y="2555869"/>
            <a:ext cx="323215" cy="0"/>
          </a:xfrm>
          <a:custGeom>
            <a:avLst/>
            <a:gdLst/>
            <a:ahLst/>
            <a:cxnLst/>
            <a:rect l="l" t="t" r="r" b="b"/>
            <a:pathLst>
              <a:path w="323215" h="0">
                <a:moveTo>
                  <a:pt x="0" y="0"/>
                </a:moveTo>
                <a:lnTo>
                  <a:pt x="322785" y="0"/>
                </a:lnTo>
              </a:path>
            </a:pathLst>
          </a:custGeom>
          <a:ln w="34504">
            <a:solidFill>
              <a:srgbClr val="A7A9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2448184" y="2419515"/>
            <a:ext cx="501650" cy="494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210"/>
              </a:lnSpc>
              <a:spcBef>
                <a:spcPts val="105"/>
              </a:spcBef>
              <a:tabLst>
                <a:tab pos="204470" algn="l"/>
              </a:tabLst>
            </a:pPr>
            <a:r>
              <a:rPr dirty="0" sz="1050" spc="-25">
                <a:solidFill>
                  <a:srgbClr val="A8AAAF"/>
                </a:solidFill>
                <a:latin typeface="Arial"/>
                <a:cs typeface="Arial"/>
              </a:rPr>
              <a:t>l!l</a:t>
            </a:r>
            <a:r>
              <a:rPr dirty="0" sz="1050">
                <a:solidFill>
                  <a:srgbClr val="A8AAAF"/>
                </a:solidFill>
                <a:latin typeface="Arial"/>
                <a:cs typeface="Arial"/>
              </a:rPr>
              <a:t>	</a:t>
            </a:r>
            <a:r>
              <a:rPr dirty="0" sz="1050" spc="-290">
                <a:solidFill>
                  <a:srgbClr val="A8AAAF"/>
                </a:solidFill>
                <a:latin typeface="Arial"/>
                <a:cs typeface="Arial"/>
              </a:rPr>
              <a:t>+</a:t>
            </a:r>
            <a:r>
              <a:rPr dirty="0" sz="1050" spc="120">
                <a:solidFill>
                  <a:srgbClr val="A8AAAF"/>
                </a:solidFill>
                <a:latin typeface="Arial"/>
                <a:cs typeface="Arial"/>
              </a:rPr>
              <a:t>  </a:t>
            </a:r>
            <a:r>
              <a:rPr dirty="0" sz="1050" spc="-335">
                <a:solidFill>
                  <a:srgbClr val="A8AAAF"/>
                </a:solidFill>
                <a:latin typeface="Arial"/>
                <a:cs typeface="Arial"/>
              </a:rPr>
              <a:t>0</a:t>
            </a:r>
            <a:endParaRPr sz="1050">
              <a:latin typeface="Arial"/>
              <a:cs typeface="Arial"/>
            </a:endParaRPr>
          </a:p>
          <a:p>
            <a:pPr marL="130175">
              <a:lnSpc>
                <a:spcPts val="2470"/>
              </a:lnSpc>
              <a:tabLst>
                <a:tab pos="342265" algn="l"/>
              </a:tabLst>
            </a:pPr>
            <a:r>
              <a:rPr dirty="0" sz="1300" spc="-395">
                <a:solidFill>
                  <a:srgbClr val="A8AAAF"/>
                </a:solidFill>
                <a:latin typeface="Arial"/>
                <a:cs typeface="Arial"/>
              </a:rPr>
              <a:t>o</a:t>
            </a:r>
            <a:r>
              <a:rPr dirty="0" sz="1300">
                <a:solidFill>
                  <a:srgbClr val="A8AAAF"/>
                </a:solidFill>
                <a:latin typeface="Arial"/>
                <a:cs typeface="Arial"/>
              </a:rPr>
              <a:t>	</a:t>
            </a:r>
            <a:r>
              <a:rPr dirty="0" sz="2100" spc="-50">
                <a:solidFill>
                  <a:srgbClr val="505050"/>
                </a:solidFill>
                <a:latin typeface="Arial"/>
                <a:cs typeface="Arial"/>
              </a:rPr>
              <a:t>a</a:t>
            </a:r>
            <a:endParaRPr sz="21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41414" y="3211016"/>
            <a:ext cx="1424940" cy="65913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33655" marR="5080" indent="-21590">
              <a:lnSpc>
                <a:spcPct val="102200"/>
              </a:lnSpc>
              <a:spcBef>
                <a:spcPts val="55"/>
              </a:spcBef>
            </a:pPr>
            <a:r>
              <a:rPr dirty="0" sz="2050">
                <a:solidFill>
                  <a:srgbClr val="1F2123"/>
                </a:solidFill>
                <a:latin typeface="Arial"/>
                <a:cs typeface="Arial"/>
              </a:rPr>
              <a:t>Track</a:t>
            </a:r>
            <a:r>
              <a:rPr dirty="0" sz="2050" spc="-25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1F2123"/>
                </a:solidFill>
                <a:latin typeface="Arial"/>
                <a:cs typeface="Arial"/>
              </a:rPr>
              <a:t>every component</a:t>
            </a:r>
            <a:endParaRPr sz="20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71903" y="3447190"/>
            <a:ext cx="209232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345">
                <a:solidFill>
                  <a:srgbClr val="344F74"/>
                </a:solidFill>
                <a:latin typeface="Arial"/>
                <a:cs typeface="Arial"/>
              </a:rPr>
              <a:t>--------</a:t>
            </a:r>
            <a:r>
              <a:rPr dirty="0" sz="1000" spc="2145">
                <a:solidFill>
                  <a:srgbClr val="344F74"/>
                </a:solidFill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08701" y="3313145"/>
            <a:ext cx="175895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25">
                <a:solidFill>
                  <a:srgbClr val="A8AAAF"/>
                </a:solidFill>
                <a:latin typeface="Arial"/>
                <a:cs typeface="Arial"/>
              </a:rPr>
              <a:t>e-</a:t>
            </a:r>
            <a:endParaRPr sz="12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109886" y="2968458"/>
            <a:ext cx="123190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b="1">
                <a:solidFill>
                  <a:srgbClr val="505050"/>
                </a:solidFill>
                <a:latin typeface="Times New Roman"/>
                <a:cs typeface="Times New Roman"/>
              </a:rPr>
              <a:t>OeployH</a:t>
            </a:r>
            <a:r>
              <a:rPr dirty="0" sz="800" b="1">
                <a:solidFill>
                  <a:srgbClr val="6E6E6E"/>
                </a:solidFill>
                <a:latin typeface="Times New Roman"/>
                <a:cs typeface="Times New Roman"/>
              </a:rPr>
              <a:t>ub</a:t>
            </a:r>
            <a:r>
              <a:rPr dirty="0" sz="800" spc="60" b="1">
                <a:solidFill>
                  <a:srgbClr val="6E6E6E"/>
                </a:solidFill>
                <a:latin typeface="Times New Roman"/>
                <a:cs typeface="Times New Roman"/>
              </a:rPr>
              <a:t> </a:t>
            </a:r>
            <a:r>
              <a:rPr dirty="0" sz="850" spc="-55">
                <a:solidFill>
                  <a:srgbClr val="A8AAAF"/>
                </a:solidFill>
                <a:latin typeface="Arial"/>
                <a:cs typeface="Arial"/>
              </a:rPr>
              <a:t>UW!r1nterf11ce</a:t>
            </a:r>
            <a:endParaRPr sz="8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161750" y="2681222"/>
            <a:ext cx="861694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200" spc="-220">
                <a:solidFill>
                  <a:srgbClr val="7C7C7E"/>
                </a:solidFill>
                <a:latin typeface="Arial"/>
                <a:cs typeface="Arial"/>
              </a:rPr>
              <a:t>-</a:t>
            </a:r>
            <a:r>
              <a:rPr dirty="0" sz="7200" spc="-185">
                <a:solidFill>
                  <a:srgbClr val="505050"/>
                </a:solidFill>
                <a:latin typeface="Arial"/>
                <a:cs typeface="Arial"/>
              </a:rPr>
              <a:t>·</a:t>
            </a:r>
            <a:r>
              <a:rPr dirty="0" sz="7200" spc="-185">
                <a:solidFill>
                  <a:srgbClr val="7C7C7E"/>
                </a:solidFill>
                <a:latin typeface="Arial"/>
                <a:cs typeface="Arial"/>
              </a:rPr>
              <a:t>-</a:t>
            </a:r>
            <a:endParaRPr sz="7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172608" y="3096121"/>
            <a:ext cx="200660" cy="7073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450" spc="-1445">
                <a:solidFill>
                  <a:srgbClr val="A8AAAF"/>
                </a:solidFill>
                <a:latin typeface="Arial"/>
                <a:cs typeface="Arial"/>
              </a:rPr>
              <a:t>-</a:t>
            </a:r>
            <a:endParaRPr sz="44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186715" y="3472722"/>
            <a:ext cx="123189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00" spc="-50">
                <a:solidFill>
                  <a:srgbClr val="D8A06B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06668" y="3006757"/>
            <a:ext cx="254635" cy="8451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baseline="1038" sz="8025" spc="-780">
                <a:solidFill>
                  <a:srgbClr val="A8AAAF"/>
                </a:solidFill>
                <a:latin typeface="Times New Roman"/>
                <a:cs typeface="Times New Roman"/>
              </a:rPr>
              <a:t>-</a:t>
            </a:r>
            <a:r>
              <a:rPr dirty="0" sz="450" spc="-60">
                <a:solidFill>
                  <a:srgbClr val="A8AAAF"/>
                </a:solidFill>
                <a:latin typeface="Arial"/>
                <a:cs typeface="Arial"/>
              </a:rPr>
              <a:t>$))1</a:t>
            </a:r>
            <a:endParaRPr sz="45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294228" y="3996067"/>
            <a:ext cx="165735" cy="0"/>
          </a:xfrm>
          <a:custGeom>
            <a:avLst/>
            <a:gdLst/>
            <a:ahLst/>
            <a:cxnLst/>
            <a:rect l="l" t="t" r="r" b="b"/>
            <a:pathLst>
              <a:path w="165735" h="0">
                <a:moveTo>
                  <a:pt x="0" y="0"/>
                </a:moveTo>
                <a:lnTo>
                  <a:pt x="165579" y="0"/>
                </a:lnTo>
              </a:path>
            </a:pathLst>
          </a:custGeom>
          <a:ln w="12766">
            <a:solidFill>
              <a:srgbClr val="A8AA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6128736" y="3166334"/>
            <a:ext cx="401320" cy="1005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400" spc="-980">
                <a:solidFill>
                  <a:srgbClr val="D8A06B"/>
                </a:solidFill>
                <a:latin typeface="Arial"/>
                <a:cs typeface="Arial"/>
              </a:rPr>
              <a:t>.</a:t>
            </a:r>
            <a:r>
              <a:rPr dirty="0" sz="3300" spc="-320">
                <a:solidFill>
                  <a:srgbClr val="A8AAAF"/>
                </a:solidFill>
                <a:latin typeface="Arial"/>
                <a:cs typeface="Arial"/>
              </a:rPr>
              <a:t>·-</a:t>
            </a:r>
            <a:r>
              <a:rPr dirty="0" sz="3300" spc="-570">
                <a:solidFill>
                  <a:srgbClr val="A8AAAF"/>
                </a:solidFill>
                <a:latin typeface="Arial"/>
                <a:cs typeface="Arial"/>
              </a:rPr>
              <a:t>·</a:t>
            </a:r>
            <a:endParaRPr sz="33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563735" y="3881172"/>
            <a:ext cx="178435" cy="0"/>
          </a:xfrm>
          <a:custGeom>
            <a:avLst/>
            <a:gdLst/>
            <a:ahLst/>
            <a:cxnLst/>
            <a:rect l="l" t="t" r="r" b="b"/>
            <a:pathLst>
              <a:path w="178434" h="0">
                <a:moveTo>
                  <a:pt x="0" y="0"/>
                </a:moveTo>
                <a:lnTo>
                  <a:pt x="178316" y="0"/>
                </a:lnTo>
              </a:path>
            </a:pathLst>
          </a:custGeom>
          <a:ln w="12766">
            <a:solidFill>
              <a:srgbClr val="A8AA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6551035" y="3568469"/>
            <a:ext cx="234950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-270">
                <a:solidFill>
                  <a:srgbClr val="A8AAAF"/>
                </a:solidFill>
                <a:latin typeface="Times New Roman"/>
                <a:cs typeface="Times New Roman"/>
              </a:rPr>
              <a:t>.....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110573" y="3440807"/>
            <a:ext cx="492125" cy="9829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250" spc="-300">
                <a:solidFill>
                  <a:srgbClr val="D8A06B"/>
                </a:solidFill>
                <a:latin typeface="Arial"/>
                <a:cs typeface="Arial"/>
              </a:rPr>
              <a:t>·</a:t>
            </a:r>
            <a:r>
              <a:rPr dirty="0" sz="6250" spc="-300">
                <a:solidFill>
                  <a:srgbClr val="A8AAAF"/>
                </a:solidFill>
                <a:latin typeface="Arial"/>
                <a:cs typeface="Arial"/>
              </a:rPr>
              <a:t>-</a:t>
            </a:r>
            <a:endParaRPr sz="62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181933" y="3683364"/>
            <a:ext cx="257175" cy="3905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40">
                <a:solidFill>
                  <a:srgbClr val="A8AAAF"/>
                </a:solidFill>
                <a:latin typeface="Times New Roman"/>
                <a:cs typeface="Times New Roman"/>
              </a:rPr>
              <a:t>1,</a:t>
            </a:r>
            <a:r>
              <a:rPr dirty="0" sz="1250" spc="40">
                <a:solidFill>
                  <a:srgbClr val="8E8E90"/>
                </a:solidFill>
                <a:latin typeface="Times New Roman"/>
                <a:cs typeface="Times New Roman"/>
              </a:rPr>
              <a:t>,</a:t>
            </a:r>
            <a:r>
              <a:rPr dirty="0" sz="1250" spc="40">
                <a:solidFill>
                  <a:srgbClr val="A8AAAF"/>
                </a:solidFill>
                <a:latin typeface="Times New Roman"/>
                <a:cs typeface="Times New Roman"/>
              </a:rPr>
              <a:t>,</a:t>
            </a:r>
            <a:endParaRPr sz="1250">
              <a:latin typeface="Times New Roman"/>
              <a:cs typeface="Times New Roman"/>
            </a:endParaRPr>
          </a:p>
          <a:p>
            <a:pPr marL="64135">
              <a:lnSpc>
                <a:spcPct val="100000"/>
              </a:lnSpc>
              <a:spcBef>
                <a:spcPts val="710"/>
              </a:spcBef>
            </a:pPr>
            <a:r>
              <a:rPr dirty="0" sz="550" spc="-25">
                <a:solidFill>
                  <a:srgbClr val="A8AAAF"/>
                </a:solidFill>
                <a:latin typeface="Arial"/>
                <a:cs typeface="Arial"/>
              </a:rPr>
              <a:t>t)U</a:t>
            </a:r>
            <a:endParaRPr sz="55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360114" y="4225857"/>
            <a:ext cx="403860" cy="0"/>
          </a:xfrm>
          <a:custGeom>
            <a:avLst/>
            <a:gdLst/>
            <a:ahLst/>
            <a:cxnLst/>
            <a:rect l="l" t="t" r="r" b="b"/>
            <a:pathLst>
              <a:path w="403859" h="0">
                <a:moveTo>
                  <a:pt x="0" y="0"/>
                </a:moveTo>
                <a:lnTo>
                  <a:pt x="127369" y="0"/>
                </a:lnTo>
              </a:path>
              <a:path w="403859" h="0">
                <a:moveTo>
                  <a:pt x="149195" y="0"/>
                </a:moveTo>
                <a:lnTo>
                  <a:pt x="403565" y="0"/>
                </a:lnTo>
              </a:path>
            </a:pathLst>
          </a:custGeom>
          <a:ln w="12751">
            <a:solidFill>
              <a:srgbClr val="A8AA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6191110" y="4149328"/>
            <a:ext cx="49149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8275" indent="-155575">
              <a:lnSpc>
                <a:spcPts val="805"/>
              </a:lnSpc>
              <a:buClr>
                <a:srgbClr val="D8A06B"/>
              </a:buClr>
              <a:buSzPct val="240000"/>
              <a:buFont typeface="Arial"/>
              <a:buChar char="■"/>
              <a:tabLst>
                <a:tab pos="168275" algn="l"/>
              </a:tabLst>
            </a:pPr>
            <a:r>
              <a:rPr dirty="0" sz="500" spc="110" b="1">
                <a:solidFill>
                  <a:srgbClr val="A8AAAF"/>
                </a:solidFill>
                <a:latin typeface="Arial"/>
                <a:cs typeface="Arial"/>
              </a:rPr>
              <a:t>Mr.llA-</a:t>
            </a:r>
            <a:endParaRPr sz="5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233460" y="4136562"/>
            <a:ext cx="19050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75" b="1">
                <a:solidFill>
                  <a:srgbClr val="B6B8BD"/>
                </a:solidFill>
                <a:latin typeface="Arial"/>
                <a:cs typeface="Arial"/>
              </a:rPr>
              <a:t>t&gt;!\</a:t>
            </a:r>
            <a:endParaRPr sz="6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186715" y="4149328"/>
            <a:ext cx="297180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10"/>
              </a:spcBef>
              <a:buClr>
                <a:srgbClr val="D8A06B"/>
              </a:buClr>
              <a:buSzPct val="154838"/>
              <a:buChar char="•"/>
              <a:tabLst>
                <a:tab pos="184785" algn="l"/>
              </a:tabLst>
            </a:pPr>
            <a:r>
              <a:rPr dirty="0" u="heavy" sz="1550" spc="175">
                <a:solidFill>
                  <a:srgbClr val="A8AAAF"/>
                </a:solidFill>
                <a:uFill>
                  <a:solidFill>
                    <a:srgbClr val="A8AAAF"/>
                  </a:solidFill>
                </a:uFill>
                <a:latin typeface="Arial"/>
                <a:cs typeface="Arial"/>
              </a:rPr>
              <a:t>"</a:t>
            </a:r>
            <a:endParaRPr sz="155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570142" y="4391817"/>
            <a:ext cx="178435" cy="0"/>
          </a:xfrm>
          <a:custGeom>
            <a:avLst/>
            <a:gdLst/>
            <a:ahLst/>
            <a:cxnLst/>
            <a:rect l="l" t="t" r="r" b="b"/>
            <a:pathLst>
              <a:path w="178434" h="0">
                <a:moveTo>
                  <a:pt x="0" y="0"/>
                </a:moveTo>
                <a:lnTo>
                  <a:pt x="178316" y="0"/>
                </a:lnTo>
              </a:path>
            </a:pathLst>
          </a:custGeom>
          <a:ln w="12766">
            <a:solidFill>
              <a:srgbClr val="A8AA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6557441" y="3989751"/>
            <a:ext cx="239395" cy="49275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50" spc="-365">
                <a:solidFill>
                  <a:srgbClr val="A8AAAF"/>
                </a:solidFill>
                <a:latin typeface="Times New Roman"/>
                <a:cs typeface="Times New Roman"/>
              </a:rPr>
              <a:t>....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224352" y="4257840"/>
            <a:ext cx="115570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-190">
                <a:solidFill>
                  <a:srgbClr val="A8AAAF"/>
                </a:solidFill>
                <a:latin typeface="Arial"/>
                <a:cs typeface="Arial"/>
              </a:rPr>
              <a:t>"''</a:t>
            </a:r>
            <a:endParaRPr sz="17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111369" y="3951452"/>
            <a:ext cx="489584" cy="9829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250" spc="-310">
                <a:solidFill>
                  <a:srgbClr val="D8A06B"/>
                </a:solidFill>
                <a:latin typeface="Times New Roman"/>
                <a:cs typeface="Times New Roman"/>
              </a:rPr>
              <a:t>·</a:t>
            </a:r>
            <a:r>
              <a:rPr dirty="0" sz="6250" spc="-310">
                <a:solidFill>
                  <a:srgbClr val="A8AAAF"/>
                </a:solidFill>
                <a:latin typeface="Times New Roman"/>
                <a:cs typeface="Times New Roman"/>
              </a:rPr>
              <a:t>-</a:t>
            </a:r>
            <a:endParaRPr sz="62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228932" y="4474864"/>
            <a:ext cx="9652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25">
                <a:solidFill>
                  <a:srgbClr val="A8AAAF"/>
                </a:solidFill>
                <a:latin typeface="Arial"/>
                <a:cs typeface="Arial"/>
              </a:rPr>
              <a:t>Hll</a:t>
            </a:r>
            <a:endParaRPr sz="5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1014491" y="3045056"/>
            <a:ext cx="99250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725" b="1">
                <a:solidFill>
                  <a:srgbClr val="A8AAAF"/>
                </a:solidFill>
                <a:latin typeface="Times New Roman"/>
                <a:cs typeface="Times New Roman"/>
              </a:rPr>
              <a:t>0..-</a:t>
            </a:r>
            <a:r>
              <a:rPr dirty="0" sz="650" spc="765" b="1">
                <a:solidFill>
                  <a:srgbClr val="A8AAAF"/>
                </a:solidFill>
                <a:latin typeface="Times New Roman"/>
                <a:cs typeface="Times New Roman"/>
              </a:rPr>
              <a:t>•</a:t>
            </a:r>
            <a:r>
              <a:rPr dirty="0" sz="650" spc="760" b="1">
                <a:solidFill>
                  <a:srgbClr val="A8AAAF"/>
                </a:solidFill>
                <a:latin typeface="Times New Roman"/>
                <a:cs typeface="Times New Roman"/>
              </a:rPr>
              <a:t> </a:t>
            </a:r>
            <a:r>
              <a:rPr dirty="0" sz="650" spc="735">
                <a:solidFill>
                  <a:srgbClr val="A8AAAF"/>
                </a:solidFill>
                <a:latin typeface="Times New Roman"/>
                <a:cs typeface="Times New Roman"/>
              </a:rPr>
              <a:t>-</a:t>
            </a:r>
            <a:r>
              <a:rPr dirty="0" sz="650" spc="685">
                <a:solidFill>
                  <a:srgbClr val="A8AAAF"/>
                </a:solidFill>
                <a:latin typeface="Times New Roman"/>
                <a:cs typeface="Times New Roman"/>
              </a:rPr>
              <a:t>-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2196127" y="3045056"/>
            <a:ext cx="20637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160">
                <a:solidFill>
                  <a:srgbClr val="A8AAAF"/>
                </a:solidFill>
                <a:latin typeface="Times New Roman"/>
                <a:cs typeface="Times New Roman"/>
              </a:rPr>
              <a:t>.</a:t>
            </a:r>
            <a:r>
              <a:rPr dirty="0" sz="650" spc="160">
                <a:solidFill>
                  <a:srgbClr val="2B60D4"/>
                </a:solidFill>
                <a:latin typeface="Times New Roman"/>
                <a:cs typeface="Times New Roman"/>
              </a:rPr>
              <a:t>-</a:t>
            </a:r>
            <a:r>
              <a:rPr dirty="0" sz="650" spc="495">
                <a:solidFill>
                  <a:srgbClr val="A8AAAF"/>
                </a:solidFill>
                <a:latin typeface="Times New Roman"/>
                <a:cs typeface="Times New Roman"/>
              </a:rPr>
              <a:t>.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980149" y="4717422"/>
            <a:ext cx="1990089" cy="65913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2095" marR="5080" indent="-240029">
              <a:lnSpc>
                <a:spcPct val="102200"/>
              </a:lnSpc>
              <a:spcBef>
                <a:spcPts val="55"/>
              </a:spcBef>
            </a:pPr>
            <a:r>
              <a:rPr dirty="0" sz="2050" spc="85">
                <a:solidFill>
                  <a:srgbClr val="1F2123"/>
                </a:solidFill>
                <a:latin typeface="Arial"/>
                <a:cs typeface="Arial"/>
              </a:rPr>
              <a:t>Map</a:t>
            </a:r>
            <a:r>
              <a:rPr dirty="0" sz="2050" spc="-15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1F2123"/>
                </a:solidFill>
                <a:latin typeface="Arial"/>
                <a:cs typeface="Arial"/>
              </a:rPr>
              <a:t>all</a:t>
            </a:r>
            <a:r>
              <a:rPr dirty="0" sz="2050" spc="-15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2050" spc="45">
                <a:solidFill>
                  <a:srgbClr val="1F2123"/>
                </a:solidFill>
                <a:latin typeface="Arial"/>
                <a:cs typeface="Arial"/>
              </a:rPr>
              <a:t>domains </a:t>
            </a:r>
            <a:r>
              <a:rPr dirty="0" sz="2050">
                <a:solidFill>
                  <a:srgbClr val="1F2123"/>
                </a:solidFill>
                <a:latin typeface="Arial"/>
                <a:cs typeface="Arial"/>
              </a:rPr>
              <a:t>and</a:t>
            </a:r>
            <a:r>
              <a:rPr dirty="0" sz="2050" spc="-5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2050" spc="55">
                <a:solidFill>
                  <a:srgbClr val="1F2123"/>
                </a:solidFill>
                <a:latin typeface="Arial"/>
                <a:cs typeface="Arial"/>
              </a:rPr>
              <a:t>endpoints</a:t>
            </a:r>
            <a:endParaRPr sz="20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070125" y="4908913"/>
            <a:ext cx="2082800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1175">
                <a:solidFill>
                  <a:srgbClr val="75879C"/>
                </a:solidFill>
                <a:latin typeface="Arial"/>
                <a:cs typeface="Arial"/>
              </a:rPr>
              <a:t>--------</a:t>
            </a:r>
            <a:r>
              <a:rPr dirty="0" sz="1450" spc="1914">
                <a:solidFill>
                  <a:srgbClr val="75879C"/>
                </a:solidFill>
                <a:latin typeface="Arial"/>
                <a:cs typeface="Arial"/>
              </a:rPr>
              <a:t>o</a:t>
            </a:r>
            <a:endParaRPr sz="14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194191" y="6013184"/>
            <a:ext cx="89535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805">
                <a:solidFill>
                  <a:srgbClr val="7C7C7E"/>
                </a:solidFill>
                <a:latin typeface="Arial"/>
                <a:cs typeface="Arial"/>
              </a:rPr>
              <a:t>_,,_</a:t>
            </a:r>
            <a:endParaRPr sz="21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439096" y="6140847"/>
            <a:ext cx="172720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00" spc="-145">
                <a:solidFill>
                  <a:srgbClr val="C6C8CA"/>
                </a:solidFill>
                <a:latin typeface="Arial"/>
                <a:cs typeface="Arial"/>
              </a:rPr>
              <a:t>..</a:t>
            </a:r>
            <a:endParaRPr sz="27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162043" y="6281275"/>
            <a:ext cx="172085" cy="622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900" spc="-1195">
                <a:solidFill>
                  <a:srgbClr val="8E8E90"/>
                </a:solidFill>
                <a:latin typeface="Arial"/>
                <a:cs typeface="Arial"/>
              </a:rPr>
              <a:t>-</a:t>
            </a:r>
            <a:endParaRPr sz="39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821200" y="6377021"/>
            <a:ext cx="276225" cy="49275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50">
                <a:solidFill>
                  <a:srgbClr val="8E8E90"/>
                </a:solidFill>
                <a:latin typeface="Arial"/>
                <a:cs typeface="Arial"/>
              </a:rPr>
              <a:t>-</a:t>
            </a:r>
            <a:r>
              <a:rPr dirty="0" sz="3050" spc="-819">
                <a:solidFill>
                  <a:srgbClr val="A8AAAF"/>
                </a:solidFill>
                <a:latin typeface="Arial"/>
                <a:cs typeface="Arial"/>
              </a:rPr>
              <a:t>·</a:t>
            </a:r>
            <a:endParaRPr sz="30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243048" y="6242976"/>
            <a:ext cx="307975" cy="7454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3300" spc="-1130">
                <a:solidFill>
                  <a:srgbClr val="A8AAAF"/>
                </a:solidFill>
                <a:latin typeface="Times New Roman"/>
                <a:cs typeface="Times New Roman"/>
              </a:rPr>
              <a:t>.</a:t>
            </a:r>
            <a:r>
              <a:rPr dirty="0" baseline="5910" sz="7050" spc="-1695">
                <a:solidFill>
                  <a:srgbClr val="A8AAAF"/>
                </a:solidFill>
                <a:latin typeface="Times New Roman"/>
                <a:cs typeface="Times New Roman"/>
              </a:rPr>
              <a:t>-</a:t>
            </a:r>
            <a:r>
              <a:rPr dirty="0" sz="3300" spc="-400">
                <a:solidFill>
                  <a:srgbClr val="A8AAAF"/>
                </a:solidFill>
                <a:latin typeface="Times New Roman"/>
                <a:cs typeface="Times New Roman"/>
              </a:rPr>
              <a:t>...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818263" y="6498299"/>
            <a:ext cx="361315" cy="5772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600" spc="95">
                <a:solidFill>
                  <a:srgbClr val="9C90C4"/>
                </a:solidFill>
                <a:latin typeface="Arial"/>
                <a:cs typeface="Arial"/>
              </a:rPr>
              <a:t>·-</a:t>
            </a:r>
            <a:endParaRPr sz="36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210663" y="6638726"/>
            <a:ext cx="116839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500" spc="-25">
                <a:solidFill>
                  <a:srgbClr val="B6B8BD"/>
                </a:solidFill>
                <a:latin typeface="Arial"/>
                <a:cs typeface="Arial"/>
              </a:rPr>
              <a:t>..</a:t>
            </a:r>
            <a:endParaRPr sz="15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290265" y="6945113"/>
            <a:ext cx="179705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25" b="1">
                <a:solidFill>
                  <a:srgbClr val="A8AAAF"/>
                </a:solidFill>
                <a:latin typeface="Arial"/>
                <a:cs typeface="Arial"/>
              </a:rPr>
              <a:t>uu</a:t>
            </a:r>
            <a:endParaRPr sz="9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826390" y="6760005"/>
            <a:ext cx="290195" cy="49275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50" spc="265">
                <a:solidFill>
                  <a:srgbClr val="9C90C4"/>
                </a:solidFill>
                <a:latin typeface="Arial"/>
                <a:cs typeface="Arial"/>
              </a:rPr>
              <a:t>·</a:t>
            </a:r>
            <a:r>
              <a:rPr dirty="0" sz="3050" spc="-315">
                <a:solidFill>
                  <a:srgbClr val="9C90C4"/>
                </a:solidFill>
                <a:latin typeface="Arial"/>
                <a:cs typeface="Arial"/>
              </a:rPr>
              <a:t>-</a:t>
            </a:r>
            <a:endParaRPr sz="30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182728" y="6677025"/>
            <a:ext cx="259079" cy="6896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755"/>
              </a:lnSpc>
              <a:spcBef>
                <a:spcPts val="105"/>
              </a:spcBef>
            </a:pPr>
            <a:r>
              <a:rPr dirty="0" sz="1500" b="1">
                <a:solidFill>
                  <a:srgbClr val="A8AAAF"/>
                </a:solidFill>
                <a:latin typeface="Times New Roman"/>
                <a:cs typeface="Times New Roman"/>
              </a:rPr>
              <a:t>e-</a:t>
            </a:r>
            <a:r>
              <a:rPr dirty="0" sz="1500" spc="-50" b="1">
                <a:solidFill>
                  <a:srgbClr val="A8AAAF"/>
                </a:solidFill>
                <a:latin typeface="Times New Roman"/>
                <a:cs typeface="Times New Roman"/>
              </a:rPr>
              <a:t>-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</a:pPr>
            <a:r>
              <a:rPr dirty="0" sz="1500" spc="55" b="1">
                <a:solidFill>
                  <a:srgbClr val="A8AAAF"/>
                </a:solidFill>
                <a:latin typeface="Times New Roman"/>
                <a:cs typeface="Times New Roman"/>
              </a:rPr>
              <a:t>e-</a:t>
            </a:r>
            <a:r>
              <a:rPr dirty="0" sz="1500" b="1">
                <a:solidFill>
                  <a:srgbClr val="A8AAAF"/>
                </a:solidFill>
                <a:latin typeface="Times New Roman"/>
                <a:cs typeface="Times New Roman"/>
              </a:rPr>
              <a:t>-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55"/>
              </a:lnSpc>
            </a:pPr>
            <a:r>
              <a:rPr dirty="0" sz="1500" spc="55" b="1">
                <a:solidFill>
                  <a:srgbClr val="A8AAAF"/>
                </a:solidFill>
                <a:latin typeface="Times New Roman"/>
                <a:cs typeface="Times New Roman"/>
              </a:rPr>
              <a:t>e-</a:t>
            </a:r>
            <a:r>
              <a:rPr dirty="0" sz="1500" b="1">
                <a:solidFill>
                  <a:srgbClr val="A8AAAF"/>
                </a:solidFill>
                <a:latin typeface="Times New Roman"/>
                <a:cs typeface="Times New Roman"/>
              </a:rPr>
              <a:t>-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260042" y="6855751"/>
            <a:ext cx="281940" cy="5314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300" spc="-610">
                <a:solidFill>
                  <a:srgbClr val="A8AAAF"/>
                </a:solidFill>
                <a:latin typeface="Arial"/>
                <a:cs typeface="Arial"/>
              </a:rPr>
              <a:t>..</a:t>
            </a:r>
            <a:r>
              <a:rPr dirty="0" sz="2050" spc="-610">
                <a:solidFill>
                  <a:srgbClr val="B6B8BD"/>
                </a:solidFill>
                <a:latin typeface="Arial"/>
                <a:cs typeface="Arial"/>
              </a:rPr>
              <a:t>�</a:t>
            </a:r>
            <a:endParaRPr sz="20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827867" y="6977029"/>
            <a:ext cx="329565" cy="4775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50" spc="-204">
                <a:solidFill>
                  <a:srgbClr val="9C90C4"/>
                </a:solidFill>
                <a:latin typeface="Arial"/>
                <a:cs typeface="Arial"/>
              </a:rPr>
              <a:t>·-</a:t>
            </a:r>
            <a:r>
              <a:rPr dirty="0" sz="2950" spc="-130">
                <a:solidFill>
                  <a:srgbClr val="9C90C4"/>
                </a:solidFill>
                <a:latin typeface="Arial"/>
                <a:cs typeface="Arial"/>
              </a:rPr>
              <a:t>-</a:t>
            </a:r>
            <a:endParaRPr sz="29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221337" y="6868517"/>
            <a:ext cx="79375" cy="5029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ts val="1875"/>
              </a:lnSpc>
              <a:spcBef>
                <a:spcPts val="105"/>
              </a:spcBef>
            </a:pPr>
            <a:r>
              <a:rPr dirty="0" sz="1700" spc="10">
                <a:solidFill>
                  <a:srgbClr val="C6C8CA"/>
                </a:solidFill>
                <a:latin typeface="Arial"/>
                <a:cs typeface="Arial"/>
              </a:rPr>
              <a:t>-</a:t>
            </a:r>
            <a:endParaRPr sz="1700">
              <a:latin typeface="Arial"/>
              <a:cs typeface="Arial"/>
            </a:endParaRPr>
          </a:p>
          <a:p>
            <a:pPr>
              <a:lnSpc>
                <a:spcPts val="1875"/>
              </a:lnSpc>
            </a:pPr>
            <a:r>
              <a:rPr dirty="0" sz="1700" spc="-50">
                <a:solidFill>
                  <a:srgbClr val="C6C8CA"/>
                </a:solidFill>
                <a:latin typeface="Arial"/>
                <a:cs typeface="Arial"/>
              </a:rPr>
              <a:t>-</a:t>
            </a:r>
            <a:endParaRPr sz="17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011622" y="6223827"/>
            <a:ext cx="5196840" cy="539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3350" spc="495">
                <a:solidFill>
                  <a:srgbClr val="75879C"/>
                </a:solidFill>
                <a:latin typeface="Courier New"/>
                <a:cs typeface="Courier New"/>
              </a:rPr>
              <a:t>------</a:t>
            </a:r>
            <a:r>
              <a:rPr dirty="0" sz="3350">
                <a:solidFill>
                  <a:srgbClr val="75879C"/>
                </a:solidFill>
                <a:latin typeface="Courier New"/>
                <a:cs typeface="Courier New"/>
              </a:rPr>
              <a:t>-</a:t>
            </a:r>
            <a:r>
              <a:rPr dirty="0" baseline="12698" sz="2625" spc="457">
                <a:solidFill>
                  <a:srgbClr val="C6C8CA"/>
                </a:solidFill>
                <a:latin typeface="Arial"/>
                <a:cs typeface="Arial"/>
              </a:rPr>
              <a:t>'</a:t>
            </a:r>
            <a:r>
              <a:rPr dirty="0" sz="3350" spc="305">
                <a:solidFill>
                  <a:srgbClr val="75879C"/>
                </a:solidFill>
                <a:latin typeface="Courier New"/>
                <a:cs typeface="Courier New"/>
              </a:rPr>
              <a:t>-</a:t>
            </a:r>
            <a:r>
              <a:rPr dirty="0" sz="3350" spc="495">
                <a:solidFill>
                  <a:srgbClr val="75879C"/>
                </a:solidFill>
                <a:latin typeface="Courier New"/>
                <a:cs typeface="Courier New"/>
              </a:rPr>
              <a:t>-------</a:t>
            </a:r>
            <a:r>
              <a:rPr dirty="0" sz="3350" spc="445">
                <a:solidFill>
                  <a:srgbClr val="75879C"/>
                </a:solidFill>
                <a:latin typeface="Courier New"/>
                <a:cs typeface="Courier New"/>
              </a:rPr>
              <a:t>0</a:t>
            </a:r>
            <a:endParaRPr sz="3350">
              <a:latin typeface="Courier New"/>
              <a:cs typeface="Courier New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551223" y="3255697"/>
            <a:ext cx="715010" cy="90931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400">
              <a:lnSpc>
                <a:spcPts val="894"/>
              </a:lnSpc>
              <a:spcBef>
                <a:spcPts val="105"/>
              </a:spcBef>
            </a:pPr>
            <a:r>
              <a:rPr dirty="0" sz="800" spc="550" b="1">
                <a:solidFill>
                  <a:srgbClr val="6E6E6E"/>
                </a:solidFill>
                <a:latin typeface="Arial"/>
                <a:cs typeface="Arial"/>
              </a:rPr>
              <a:t>Dau•�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6055"/>
              </a:lnSpc>
            </a:pPr>
            <a:r>
              <a:rPr dirty="0" sz="5100" spc="90">
                <a:solidFill>
                  <a:srgbClr val="4664B8"/>
                </a:solidFill>
                <a:latin typeface="Arial"/>
                <a:cs typeface="Arial"/>
              </a:rPr>
              <a:t>0</a:t>
            </a:r>
            <a:endParaRPr sz="51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9400952" y="3153568"/>
            <a:ext cx="592455" cy="8070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100" spc="-225">
                <a:solidFill>
                  <a:srgbClr val="75879C"/>
                </a:solidFill>
                <a:latin typeface="Arial"/>
                <a:cs typeface="Arial"/>
              </a:rPr>
              <a:t>·</a:t>
            </a:r>
            <a:r>
              <a:rPr dirty="0" sz="5100" spc="-225">
                <a:solidFill>
                  <a:srgbClr val="A8AAAF"/>
                </a:solidFill>
                <a:latin typeface="Arial"/>
                <a:cs typeface="Arial"/>
              </a:rPr>
              <a:t>-</a:t>
            </a:r>
            <a:r>
              <a:rPr dirty="0" sz="5100" spc="-160">
                <a:solidFill>
                  <a:srgbClr val="A8AAAF"/>
                </a:solidFill>
                <a:latin typeface="Arial"/>
                <a:cs typeface="Arial"/>
              </a:rPr>
              <a:t>-</a:t>
            </a:r>
            <a:endParaRPr sz="51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9420897" y="3568468"/>
            <a:ext cx="325755" cy="600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750" spc="-50">
                <a:solidFill>
                  <a:srgbClr val="956067"/>
                </a:solidFill>
                <a:latin typeface="Arial"/>
                <a:cs typeface="Arial"/>
              </a:rPr>
              <a:t>·</a:t>
            </a:r>
            <a:r>
              <a:rPr dirty="0" sz="3750" spc="-50">
                <a:solidFill>
                  <a:srgbClr val="A8AAAF"/>
                </a:solidFill>
                <a:latin typeface="Arial"/>
                <a:cs typeface="Arial"/>
              </a:rPr>
              <a:t>-</a:t>
            </a:r>
            <a:endParaRPr sz="375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564436" y="4385502"/>
            <a:ext cx="947419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455">
                <a:solidFill>
                  <a:srgbClr val="6E6E6E"/>
                </a:solidFill>
                <a:latin typeface="Arial"/>
                <a:cs typeface="Arial"/>
              </a:rPr>
              <a:t>Emil-</a:t>
            </a:r>
            <a:r>
              <a:rPr dirty="0" sz="750" spc="605">
                <a:solidFill>
                  <a:srgbClr val="6E6E6E"/>
                </a:solidFill>
                <a:latin typeface="Arial"/>
                <a:cs typeface="Arial"/>
              </a:rPr>
              <a:t>IMP</a:t>
            </a:r>
            <a:endParaRPr sz="75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837228" y="6193188"/>
            <a:ext cx="2140585" cy="6896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88290">
              <a:lnSpc>
                <a:spcPct val="106200"/>
              </a:lnSpc>
              <a:spcBef>
                <a:spcPts val="95"/>
              </a:spcBef>
            </a:pPr>
            <a:r>
              <a:rPr dirty="0" sz="2050">
                <a:solidFill>
                  <a:srgbClr val="1F2123"/>
                </a:solidFill>
                <a:latin typeface="Arial"/>
                <a:cs typeface="Arial"/>
              </a:rPr>
              <a:t>View</a:t>
            </a:r>
            <a:r>
              <a:rPr dirty="0" sz="2050" spc="105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1F2123"/>
                </a:solidFill>
                <a:latin typeface="Arial"/>
                <a:cs typeface="Arial"/>
              </a:rPr>
              <a:t>the</a:t>
            </a:r>
            <a:r>
              <a:rPr dirty="0" sz="2050" spc="27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2050" spc="40">
                <a:solidFill>
                  <a:srgbClr val="333334"/>
                </a:solidFill>
                <a:latin typeface="Arial"/>
                <a:cs typeface="Arial"/>
              </a:rPr>
              <a:t>entire </a:t>
            </a:r>
            <a:r>
              <a:rPr dirty="0" sz="2050">
                <a:solidFill>
                  <a:srgbClr val="1F2123"/>
                </a:solidFill>
                <a:latin typeface="Arial"/>
                <a:cs typeface="Arial"/>
              </a:rPr>
              <a:t>environment</a:t>
            </a:r>
            <a:r>
              <a:rPr dirty="0" sz="2050" spc="455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2050" spc="60">
                <a:solidFill>
                  <a:srgbClr val="1F2123"/>
                </a:solidFill>
                <a:latin typeface="Arial"/>
                <a:cs typeface="Arial"/>
              </a:rPr>
              <a:t>map</a:t>
            </a:r>
            <a:endParaRPr sz="205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0281150" y="3447189"/>
            <a:ext cx="179070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25">
                <a:solidFill>
                  <a:srgbClr val="A8AAAF"/>
                </a:solidFill>
                <a:latin typeface="Times New Roman"/>
                <a:cs typeface="Times New Roman"/>
              </a:rPr>
              <a:t>,.,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0778691" y="2821648"/>
            <a:ext cx="1281430" cy="1052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148715" algn="l"/>
              </a:tabLst>
            </a:pPr>
            <a:r>
              <a:rPr dirty="0" sz="6700" spc="-985">
                <a:solidFill>
                  <a:srgbClr val="B6B8BD"/>
                </a:solidFill>
                <a:latin typeface="Times New Roman"/>
                <a:cs typeface="Times New Roman"/>
              </a:rPr>
              <a:t>-</a:t>
            </a:r>
            <a:r>
              <a:rPr dirty="0" sz="6700">
                <a:solidFill>
                  <a:srgbClr val="B6B8BD"/>
                </a:solidFill>
                <a:latin typeface="Times New Roman"/>
                <a:cs typeface="Times New Roman"/>
              </a:rPr>
              <a:t>	</a:t>
            </a:r>
            <a:r>
              <a:rPr dirty="0" sz="4850" spc="-730">
                <a:solidFill>
                  <a:srgbClr val="B6B8BD"/>
                </a:solidFill>
                <a:latin typeface="Arial"/>
                <a:cs typeface="Arial"/>
              </a:rPr>
              <a:t>-</a:t>
            </a:r>
            <a:endParaRPr sz="485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0760669" y="3198250"/>
            <a:ext cx="354330" cy="7073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450" spc="-640">
                <a:solidFill>
                  <a:srgbClr val="A8AAAF"/>
                </a:solidFill>
                <a:latin typeface="Arial"/>
                <a:cs typeface="Arial"/>
              </a:rPr>
              <a:t>·-</a:t>
            </a:r>
            <a:r>
              <a:rPr dirty="0" sz="4450" spc="-690">
                <a:solidFill>
                  <a:srgbClr val="A8AAAF"/>
                </a:solidFill>
                <a:latin typeface="Arial"/>
                <a:cs typeface="Arial"/>
              </a:rPr>
              <a:t>-</a:t>
            </a:r>
            <a:endParaRPr sz="445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2679607" y="3415274"/>
            <a:ext cx="197485" cy="447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50" spc="-345">
                <a:solidFill>
                  <a:srgbClr val="A8AAAF"/>
                </a:solidFill>
                <a:latin typeface="Arial"/>
                <a:cs typeface="Arial"/>
              </a:rPr>
              <a:t>...</a:t>
            </a:r>
            <a:endParaRPr sz="275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9431240" y="3255698"/>
            <a:ext cx="3447415" cy="7918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15975" algn="l"/>
                <a:tab pos="1350010" algn="l"/>
                <a:tab pos="2510790" algn="l"/>
                <a:tab pos="3270250" algn="l"/>
              </a:tabLst>
            </a:pPr>
            <a:r>
              <a:rPr dirty="0" sz="3050" spc="-25">
                <a:solidFill>
                  <a:srgbClr val="D8A06B"/>
                </a:solidFill>
                <a:latin typeface="Arial"/>
                <a:cs typeface="Arial"/>
              </a:rPr>
              <a:t>·</a:t>
            </a:r>
            <a:r>
              <a:rPr dirty="0" sz="3050" spc="-25">
                <a:solidFill>
                  <a:srgbClr val="A8AAAF"/>
                </a:solidFill>
                <a:latin typeface="Arial"/>
                <a:cs typeface="Arial"/>
              </a:rPr>
              <a:t>-</a:t>
            </a:r>
            <a:r>
              <a:rPr dirty="0" sz="3050">
                <a:solidFill>
                  <a:srgbClr val="A8AAAF"/>
                </a:solidFill>
                <a:latin typeface="Arial"/>
                <a:cs typeface="Arial"/>
              </a:rPr>
              <a:t>	</a:t>
            </a:r>
            <a:r>
              <a:rPr dirty="0" baseline="-2267" sz="7350" spc="-1177">
                <a:solidFill>
                  <a:srgbClr val="A8AAAF"/>
                </a:solidFill>
                <a:latin typeface="Arial"/>
                <a:cs typeface="Arial"/>
              </a:rPr>
              <a:t>.</a:t>
            </a:r>
            <a:r>
              <a:rPr dirty="0" baseline="-3333" sz="7500" spc="-2220">
                <a:solidFill>
                  <a:srgbClr val="A8AAAF"/>
                </a:solidFill>
                <a:latin typeface="Arial"/>
                <a:cs typeface="Arial"/>
              </a:rPr>
              <a:t>-</a:t>
            </a:r>
            <a:r>
              <a:rPr dirty="0" baseline="-2267" sz="7350" spc="-937">
                <a:solidFill>
                  <a:srgbClr val="A8AAAF"/>
                </a:solidFill>
                <a:latin typeface="Arial"/>
                <a:cs typeface="Arial"/>
              </a:rPr>
              <a:t>.</a:t>
            </a:r>
            <a:r>
              <a:rPr dirty="0" baseline="-2267" sz="7350">
                <a:solidFill>
                  <a:srgbClr val="A8AAAF"/>
                </a:solidFill>
                <a:latin typeface="Arial"/>
                <a:cs typeface="Arial"/>
              </a:rPr>
              <a:t>	</a:t>
            </a:r>
            <a:r>
              <a:rPr dirty="0" sz="3900" spc="-535">
                <a:solidFill>
                  <a:srgbClr val="9EBCA0"/>
                </a:solidFill>
                <a:latin typeface="Arial"/>
                <a:cs typeface="Arial"/>
              </a:rPr>
              <a:t>·-</a:t>
            </a:r>
            <a:r>
              <a:rPr dirty="0" sz="3900" spc="-595">
                <a:solidFill>
                  <a:srgbClr val="9EBCA0"/>
                </a:solidFill>
                <a:latin typeface="Arial"/>
                <a:cs typeface="Arial"/>
              </a:rPr>
              <a:t>-</a:t>
            </a:r>
            <a:r>
              <a:rPr dirty="0" sz="3900">
                <a:solidFill>
                  <a:srgbClr val="9EBCA0"/>
                </a:solidFill>
                <a:latin typeface="Arial"/>
                <a:cs typeface="Arial"/>
              </a:rPr>
              <a:t>	</a:t>
            </a:r>
            <a:r>
              <a:rPr dirty="0" sz="3350" spc="-509">
                <a:solidFill>
                  <a:srgbClr val="344F91"/>
                </a:solidFill>
                <a:latin typeface="Times New Roman"/>
                <a:cs typeface="Times New Roman"/>
              </a:rPr>
              <a:t>-</a:t>
            </a:r>
            <a:r>
              <a:rPr dirty="0" sz="3350">
                <a:solidFill>
                  <a:srgbClr val="344F91"/>
                </a:solidFill>
                <a:latin typeface="Times New Roman"/>
                <a:cs typeface="Times New Roman"/>
              </a:rPr>
              <a:t>	</a:t>
            </a:r>
            <a:r>
              <a:rPr dirty="0" sz="4150" spc="-540">
                <a:solidFill>
                  <a:srgbClr val="A8AAAF"/>
                </a:solidFill>
                <a:latin typeface="Arial"/>
                <a:cs typeface="Arial"/>
              </a:rPr>
              <a:t>..</a:t>
            </a:r>
            <a:endParaRPr sz="415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0816075" y="3970602"/>
            <a:ext cx="953135" cy="295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1185">
                <a:solidFill>
                  <a:srgbClr val="A8AAAF"/>
                </a:solidFill>
                <a:latin typeface="Arial"/>
                <a:cs typeface="Arial"/>
              </a:rPr>
              <a:t>·--</a:t>
            </a:r>
            <a:r>
              <a:rPr dirty="0" sz="700" spc="1135">
                <a:solidFill>
                  <a:srgbClr val="A8AAAF"/>
                </a:solidFill>
                <a:latin typeface="Arial"/>
                <a:cs typeface="Arial"/>
              </a:rPr>
              <a:t>-</a:t>
            </a:r>
            <a:endParaRPr sz="7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620"/>
              </a:spcBef>
            </a:pPr>
            <a:r>
              <a:rPr dirty="0" u="heavy" sz="550" spc="935">
                <a:solidFill>
                  <a:srgbClr val="B59797"/>
                </a:solidFill>
                <a:uFill>
                  <a:solidFill>
                    <a:srgbClr val="B59797"/>
                  </a:solidFill>
                </a:uFill>
                <a:latin typeface="Arial"/>
                <a:cs typeface="Arial"/>
              </a:rPr>
              <a:t>·-</a:t>
            </a:r>
            <a:r>
              <a:rPr dirty="0" sz="550" spc="555">
                <a:solidFill>
                  <a:srgbClr val="B59797"/>
                </a:solidFill>
                <a:latin typeface="Arial"/>
                <a:cs typeface="Arial"/>
              </a:rPr>
              <a:t> </a:t>
            </a:r>
            <a:r>
              <a:rPr dirty="0" u="heavy" sz="550" spc="885">
                <a:solidFill>
                  <a:srgbClr val="A8AAAF"/>
                </a:solidFill>
                <a:uFill>
                  <a:solidFill>
                    <a:srgbClr val="A8AAAF"/>
                  </a:solidFill>
                </a:uFill>
                <a:latin typeface="Arial"/>
                <a:cs typeface="Arial"/>
              </a:rPr>
              <a:t>-</a:t>
            </a:r>
            <a:endParaRPr sz="55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2754140" y="3970602"/>
            <a:ext cx="411480" cy="295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969">
                <a:solidFill>
                  <a:srgbClr val="A8AAAF"/>
                </a:solidFill>
                <a:latin typeface="Arial"/>
                <a:cs typeface="Arial"/>
              </a:rPr>
              <a:t>If</a:t>
            </a:r>
            <a:endParaRPr sz="700">
              <a:latin typeface="Arial"/>
              <a:cs typeface="Arial"/>
            </a:endParaRPr>
          </a:p>
          <a:p>
            <a:pPr marL="26034">
              <a:lnSpc>
                <a:spcPct val="100000"/>
              </a:lnSpc>
              <a:spcBef>
                <a:spcPts val="620"/>
              </a:spcBef>
            </a:pPr>
            <a:r>
              <a:rPr dirty="0" sz="550" spc="1450">
                <a:solidFill>
                  <a:srgbClr val="A8AAAF"/>
                </a:solidFill>
                <a:latin typeface="Arial"/>
                <a:cs typeface="Arial"/>
              </a:rPr>
              <a:t>0</a:t>
            </a:r>
            <a:endParaRPr sz="55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9554398" y="5694031"/>
            <a:ext cx="57912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2700">
                <a:solidFill>
                  <a:srgbClr val="A8AAAF"/>
                </a:solidFill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0997779" y="5681266"/>
            <a:ext cx="562610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2045">
                <a:solidFill>
                  <a:srgbClr val="A8AAAF"/>
                </a:solidFill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1715908" y="5419560"/>
            <a:ext cx="1353820" cy="539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00" spc="3105">
                <a:solidFill>
                  <a:srgbClr val="A8AAAF"/>
                </a:solidFill>
                <a:latin typeface="Arial"/>
                <a:cs typeface="Arial"/>
              </a:rPr>
              <a:t>.</a:t>
            </a:r>
            <a:r>
              <a:rPr dirty="0" sz="3350" spc="3105">
                <a:solidFill>
                  <a:srgbClr val="A8AAAF"/>
                </a:solidFill>
                <a:latin typeface="Arial"/>
                <a:cs typeface="Arial"/>
              </a:rPr>
              <a:t>-</a:t>
            </a:r>
            <a:endParaRPr sz="335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9285110" y="5808926"/>
            <a:ext cx="35814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0">
                <a:solidFill>
                  <a:srgbClr val="A8AAAF"/>
                </a:solidFill>
                <a:latin typeface="Arial"/>
                <a:cs typeface="Arial"/>
              </a:rPr>
              <a:t>®</a:t>
            </a:r>
            <a:endParaRPr sz="11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9562800" y="5489774"/>
            <a:ext cx="194310" cy="622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900" spc="-50">
                <a:solidFill>
                  <a:srgbClr val="A8AAAF"/>
                </a:solidFill>
                <a:latin typeface="Arial"/>
                <a:cs typeface="Arial"/>
              </a:rPr>
              <a:t>-</a:t>
            </a:r>
            <a:endParaRPr sz="39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0913111" y="5355729"/>
            <a:ext cx="257175" cy="8451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350" spc="-50">
                <a:solidFill>
                  <a:srgbClr val="A8AAAF"/>
                </a:solidFill>
                <a:latin typeface="Times New Roman"/>
                <a:cs typeface="Times New Roman"/>
              </a:rPr>
              <a:t>-</a:t>
            </a:r>
            <a:endParaRPr sz="535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1522802" y="5751479"/>
            <a:ext cx="14668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B6B8BD"/>
                </a:solidFill>
                <a:latin typeface="Arial"/>
                <a:cs typeface="Arial"/>
              </a:rPr>
              <a:t>-</a:t>
            </a:r>
            <a:r>
              <a:rPr dirty="0" sz="1050" spc="-50">
                <a:solidFill>
                  <a:srgbClr val="B6B8BD"/>
                </a:solidFill>
                <a:latin typeface="Arial"/>
                <a:cs typeface="Arial"/>
              </a:rPr>
              <a:t>0</a:t>
            </a:r>
            <a:endParaRPr sz="105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1942725" y="5789777"/>
            <a:ext cx="15875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>
                <a:solidFill>
                  <a:srgbClr val="A8AAAF"/>
                </a:solidFill>
                <a:latin typeface="Arial"/>
                <a:cs typeface="Arial"/>
              </a:rPr>
              <a:t>-</a:t>
            </a:r>
            <a:r>
              <a:rPr dirty="0" sz="1150" spc="-50">
                <a:solidFill>
                  <a:srgbClr val="A8AAAF"/>
                </a:solidFill>
                <a:latin typeface="Arial"/>
                <a:cs typeface="Arial"/>
              </a:rPr>
              <a:t>0</a:t>
            </a:r>
            <a:endParaRPr sz="115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9195601" y="5662116"/>
            <a:ext cx="170815" cy="539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350" spc="-50">
                <a:solidFill>
                  <a:srgbClr val="A8AAAF"/>
                </a:solidFill>
                <a:latin typeface="Arial"/>
                <a:cs typeface="Arial"/>
              </a:rPr>
              <a:t>-</a:t>
            </a:r>
            <a:endParaRPr sz="335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1951330" y="5566370"/>
            <a:ext cx="187960" cy="6540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100" spc="-1120">
                <a:solidFill>
                  <a:srgbClr val="A8AAAF"/>
                </a:solidFill>
                <a:latin typeface="Times New Roman"/>
                <a:cs typeface="Times New Roman"/>
              </a:rPr>
              <a:t>-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0467123" y="5681266"/>
            <a:ext cx="194310" cy="622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900" spc="-50">
                <a:solidFill>
                  <a:srgbClr val="A8AAAF"/>
                </a:solidFill>
                <a:latin typeface="Arial"/>
                <a:cs typeface="Arial"/>
              </a:rPr>
              <a:t>-</a:t>
            </a:r>
            <a:endParaRPr sz="390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9536255" y="5649350"/>
            <a:ext cx="224790" cy="539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50" spc="-635">
                <a:solidFill>
                  <a:srgbClr val="A8AAAF"/>
                </a:solidFill>
                <a:latin typeface="Arial"/>
                <a:cs typeface="Arial"/>
              </a:rPr>
              <a:t>0</a:t>
            </a:r>
            <a:r>
              <a:rPr dirty="0" baseline="-19900" sz="5025" spc="-22">
                <a:solidFill>
                  <a:srgbClr val="A8AAAF"/>
                </a:solidFill>
                <a:latin typeface="Arial"/>
                <a:cs typeface="Arial"/>
              </a:rPr>
              <a:t>-</a:t>
            </a:r>
            <a:endParaRPr baseline="-19900" sz="5025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1515214" y="5425943"/>
            <a:ext cx="344805" cy="7454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-21276" sz="7050" spc="-89">
                <a:solidFill>
                  <a:srgbClr val="A8AAAF"/>
                </a:solidFill>
                <a:latin typeface="Times New Roman"/>
                <a:cs typeface="Times New Roman"/>
              </a:rPr>
              <a:t>-</a:t>
            </a:r>
            <a:r>
              <a:rPr dirty="0" baseline="-12345" sz="1350" spc="-450">
                <a:solidFill>
                  <a:srgbClr val="A8AAAF"/>
                </a:solidFill>
                <a:latin typeface="Arial"/>
                <a:cs typeface="Arial"/>
              </a:rPr>
              <a:t>)</a:t>
            </a:r>
            <a:r>
              <a:rPr dirty="0" sz="2700" spc="-1165">
                <a:solidFill>
                  <a:srgbClr val="A8AAAF"/>
                </a:solidFill>
                <a:latin typeface="Arial"/>
                <a:cs typeface="Arial"/>
              </a:rPr>
              <a:t>-</a:t>
            </a:r>
            <a:r>
              <a:rPr dirty="0" baseline="-12345" sz="1350" spc="-1214">
                <a:solidFill>
                  <a:srgbClr val="A8AAAF"/>
                </a:solidFill>
                <a:latin typeface="Arial"/>
                <a:cs typeface="Arial"/>
              </a:rPr>
              <a:t>€</a:t>
            </a:r>
            <a:r>
              <a:rPr dirty="0" sz="2700" spc="-180">
                <a:solidFill>
                  <a:srgbClr val="A8AAAF"/>
                </a:solidFill>
                <a:latin typeface="Arial"/>
                <a:cs typeface="Arial"/>
              </a:rPr>
              <a:t>·</a:t>
            </a:r>
            <a:endParaRPr sz="27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1944489" y="6032334"/>
            <a:ext cx="14668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B6B8BD"/>
                </a:solidFill>
                <a:latin typeface="Arial"/>
                <a:cs typeface="Arial"/>
              </a:rPr>
              <a:t>·0</a:t>
            </a:r>
            <a:endParaRPr sz="105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1906394" y="5847225"/>
            <a:ext cx="210820" cy="622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900" spc="105">
                <a:solidFill>
                  <a:srgbClr val="A8AAAF"/>
                </a:solidFill>
                <a:latin typeface="Arial"/>
                <a:cs typeface="Arial"/>
              </a:rPr>
              <a:t>-</a:t>
            </a:r>
            <a:endParaRPr sz="390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9276650" y="5770629"/>
            <a:ext cx="327025" cy="6540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-17615" sz="6150" spc="-1439">
                <a:solidFill>
                  <a:srgbClr val="A8AAAF"/>
                </a:solidFill>
                <a:latin typeface="Times New Roman"/>
                <a:cs typeface="Times New Roman"/>
              </a:rPr>
              <a:t>-</a:t>
            </a:r>
            <a:r>
              <a:rPr dirty="0" sz="1550" spc="60">
                <a:solidFill>
                  <a:srgbClr val="A8AAAF"/>
                </a:solidFill>
                <a:latin typeface="Arial"/>
                <a:cs typeface="Arial"/>
              </a:rPr>
              <a:t>o</a:t>
            </a:r>
            <a:r>
              <a:rPr dirty="0" sz="1550" spc="60">
                <a:solidFill>
                  <a:srgbClr val="C6C8CA"/>
                </a:solidFill>
                <a:latin typeface="Arial"/>
                <a:cs typeface="Arial"/>
              </a:rPr>
              <a:t>-</a:t>
            </a:r>
            <a:endParaRPr sz="155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9654467" y="6262125"/>
            <a:ext cx="10922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10">
                <a:solidFill>
                  <a:srgbClr val="A8AAAF"/>
                </a:solidFill>
                <a:latin typeface="Arial"/>
                <a:cs typeface="Arial"/>
              </a:rPr>
              <a:t>0</a:t>
            </a:r>
            <a:endParaRPr sz="105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1896166" y="6274891"/>
            <a:ext cx="8826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70">
                <a:solidFill>
                  <a:srgbClr val="A8AAAF"/>
                </a:solidFill>
                <a:latin typeface="Arial"/>
                <a:cs typeface="Arial"/>
              </a:rPr>
              <a:t>0</a:t>
            </a:r>
            <a:endParaRPr sz="1050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1424635" y="5994036"/>
            <a:ext cx="235585" cy="539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19900" sz="5025" spc="-1537">
                <a:solidFill>
                  <a:srgbClr val="A8AAAF"/>
                </a:solidFill>
                <a:latin typeface="Arial"/>
                <a:cs typeface="Arial"/>
              </a:rPr>
              <a:t>-</a:t>
            </a:r>
            <a:r>
              <a:rPr dirty="0" sz="1050" spc="10">
                <a:solidFill>
                  <a:srgbClr val="A8AAAF"/>
                </a:solidFill>
                <a:latin typeface="Arial"/>
                <a:cs typeface="Arial"/>
              </a:rPr>
              <a:t>0</a:t>
            </a:r>
            <a:endParaRPr sz="105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1917034" y="6108931"/>
            <a:ext cx="184785" cy="539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350" spc="80">
                <a:solidFill>
                  <a:srgbClr val="A8AAAF"/>
                </a:solidFill>
                <a:latin typeface="Times New Roman"/>
                <a:cs typeface="Times New Roman"/>
              </a:rPr>
              <a:t>-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0422972" y="5815310"/>
            <a:ext cx="265430" cy="8134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14300">
              <a:lnSpc>
                <a:spcPts val="1565"/>
              </a:lnSpc>
              <a:spcBef>
                <a:spcPts val="105"/>
              </a:spcBef>
            </a:pPr>
            <a:r>
              <a:rPr dirty="0" sz="1550" spc="-50">
                <a:solidFill>
                  <a:srgbClr val="75879C"/>
                </a:solidFill>
                <a:latin typeface="Arial"/>
                <a:cs typeface="Arial"/>
              </a:rPr>
              <a:t>0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ts val="4625"/>
              </a:lnSpc>
            </a:pPr>
            <a:r>
              <a:rPr dirty="0" baseline="-16260" sz="6150" spc="-2010">
                <a:solidFill>
                  <a:srgbClr val="A8AAAF"/>
                </a:solidFill>
                <a:latin typeface="Times New Roman"/>
                <a:cs typeface="Times New Roman"/>
              </a:rPr>
              <a:t>-</a:t>
            </a:r>
            <a:r>
              <a:rPr dirty="0" sz="1150" spc="25">
                <a:solidFill>
                  <a:srgbClr val="A8AAAF"/>
                </a:solidFill>
                <a:latin typeface="Arial"/>
                <a:cs typeface="Arial"/>
              </a:rPr>
              <a:t>0</a:t>
            </a:r>
            <a:endParaRPr sz="115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0919753" y="6498299"/>
            <a:ext cx="15240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55">
                <a:solidFill>
                  <a:srgbClr val="A8AAAF"/>
                </a:solidFill>
                <a:latin typeface="Arial"/>
                <a:cs typeface="Arial"/>
              </a:rPr>
              <a:t>0</a:t>
            </a:r>
            <a:endParaRPr sz="1600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9565047" y="6466383"/>
            <a:ext cx="394970" cy="539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3350" spc="-550">
                <a:solidFill>
                  <a:srgbClr val="A8AAAF"/>
                </a:solidFill>
                <a:latin typeface="Arial"/>
                <a:cs typeface="Arial"/>
              </a:rPr>
              <a:t>-</a:t>
            </a:r>
            <a:r>
              <a:rPr dirty="0" baseline="53140" sz="1725" spc="82">
                <a:solidFill>
                  <a:srgbClr val="A8AAAF"/>
                </a:solidFill>
                <a:latin typeface="Arial"/>
                <a:cs typeface="Arial"/>
              </a:rPr>
              <a:t>0</a:t>
            </a:r>
            <a:r>
              <a:rPr dirty="0" sz="3350" spc="55">
                <a:solidFill>
                  <a:srgbClr val="A8AAAF"/>
                </a:solidFill>
                <a:latin typeface="Arial"/>
                <a:cs typeface="Arial"/>
              </a:rPr>
              <a:t>-</a:t>
            </a:r>
            <a:endParaRPr sz="3350">
              <a:latin typeface="Arial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0021403" y="6357871"/>
            <a:ext cx="233679" cy="622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-19943" sz="5850" spc="-1387">
                <a:solidFill>
                  <a:srgbClr val="A8AAAF"/>
                </a:solidFill>
                <a:latin typeface="Arial"/>
                <a:cs typeface="Arial"/>
              </a:rPr>
              <a:t>-</a:t>
            </a:r>
            <a:r>
              <a:rPr dirty="0" sz="1050" spc="10">
                <a:solidFill>
                  <a:srgbClr val="A8AAAF"/>
                </a:solidFill>
                <a:latin typeface="Arial"/>
                <a:cs typeface="Arial"/>
              </a:rPr>
              <a:t>0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10823755" y="6370637"/>
            <a:ext cx="339725" cy="622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900" spc="-65">
                <a:solidFill>
                  <a:srgbClr val="A8AAAF"/>
                </a:solidFill>
                <a:latin typeface="Arial"/>
                <a:cs typeface="Arial"/>
              </a:rPr>
              <a:t>-</a:t>
            </a:r>
            <a:r>
              <a:rPr dirty="0" sz="3900" spc="-50">
                <a:solidFill>
                  <a:srgbClr val="A8AAAF"/>
                </a:solidFill>
                <a:latin typeface="Arial"/>
                <a:cs typeface="Arial"/>
              </a:rPr>
              <a:t>-</a:t>
            </a:r>
            <a:endParaRPr sz="3900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11285949" y="6191911"/>
            <a:ext cx="264795" cy="7454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-16548" sz="7050" spc="-1214">
                <a:solidFill>
                  <a:srgbClr val="A8AAAF"/>
                </a:solidFill>
                <a:latin typeface="Times New Roman"/>
                <a:cs typeface="Times New Roman"/>
              </a:rPr>
              <a:t>-</a:t>
            </a:r>
            <a:r>
              <a:rPr dirty="0" sz="1150" spc="25">
                <a:solidFill>
                  <a:srgbClr val="A8AAAF"/>
                </a:solidFill>
                <a:latin typeface="Arial"/>
                <a:cs typeface="Arial"/>
              </a:rPr>
              <a:t>0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0350468" y="6581278"/>
            <a:ext cx="342265" cy="539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18242" sz="5025" spc="-517">
                <a:solidFill>
                  <a:srgbClr val="A8AAAF"/>
                </a:solidFill>
                <a:latin typeface="Times New Roman"/>
                <a:cs typeface="Times New Roman"/>
              </a:rPr>
              <a:t>-</a:t>
            </a:r>
            <a:r>
              <a:rPr dirty="0" sz="1650" spc="-25">
                <a:solidFill>
                  <a:srgbClr val="A8AAAF"/>
                </a:solidFill>
                <a:latin typeface="Times New Roman"/>
                <a:cs typeface="Times New Roman"/>
              </a:rPr>
              <a:t>o·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0953370" y="6811070"/>
            <a:ext cx="346710" cy="539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3350" spc="-550">
                <a:solidFill>
                  <a:srgbClr val="A8AAAF"/>
                </a:solidFill>
                <a:latin typeface="Arial"/>
                <a:cs typeface="Arial"/>
              </a:rPr>
              <a:t>-</a:t>
            </a:r>
            <a:r>
              <a:rPr dirty="0" baseline="48309" sz="1725" spc="-37">
                <a:solidFill>
                  <a:srgbClr val="A8AAAF"/>
                </a:solidFill>
                <a:latin typeface="Arial"/>
                <a:cs typeface="Arial"/>
              </a:rPr>
              <a:t>0</a:t>
            </a:r>
            <a:r>
              <a:rPr dirty="0" sz="3350" spc="-25">
                <a:solidFill>
                  <a:srgbClr val="A8AAAF"/>
                </a:solidFill>
                <a:latin typeface="Arial"/>
                <a:cs typeface="Arial"/>
              </a:rPr>
              <a:t>-</a:t>
            </a:r>
            <a:endParaRPr sz="335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3526227" y="8104281"/>
            <a:ext cx="10355580" cy="81724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74320" marR="5080" indent="-262255">
              <a:lnSpc>
                <a:spcPct val="108200"/>
              </a:lnSpc>
              <a:spcBef>
                <a:spcPts val="95"/>
              </a:spcBef>
            </a:pPr>
            <a:r>
              <a:rPr dirty="0" sz="2400" spc="-30">
                <a:solidFill>
                  <a:srgbClr val="1F2123"/>
                </a:solidFill>
                <a:latin typeface="Arial"/>
                <a:cs typeface="Arial"/>
              </a:rPr>
              <a:t>Our</a:t>
            </a:r>
            <a:r>
              <a:rPr dirty="0" sz="2400" spc="-8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2400" spc="50">
                <a:solidFill>
                  <a:srgbClr val="1F2123"/>
                </a:solidFill>
                <a:latin typeface="Arial"/>
                <a:cs typeface="Arial"/>
              </a:rPr>
              <a:t>platform</a:t>
            </a:r>
            <a:r>
              <a:rPr dirty="0" sz="2400" spc="-15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F2123"/>
                </a:solidFill>
                <a:latin typeface="Arial"/>
                <a:cs typeface="Arial"/>
              </a:rPr>
              <a:t>provides</a:t>
            </a:r>
            <a:r>
              <a:rPr dirty="0" sz="2400" spc="225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F2123"/>
                </a:solidFill>
                <a:latin typeface="Arial"/>
                <a:cs typeface="Arial"/>
              </a:rPr>
              <a:t>a</a:t>
            </a:r>
            <a:r>
              <a:rPr dirty="0" sz="2400" spc="5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F2123"/>
                </a:solidFill>
                <a:latin typeface="Arial"/>
                <a:cs typeface="Arial"/>
              </a:rPr>
              <a:t>single</a:t>
            </a:r>
            <a:r>
              <a:rPr dirty="0" sz="2400" spc="65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F2123"/>
                </a:solidFill>
                <a:latin typeface="Arial"/>
                <a:cs typeface="Arial"/>
              </a:rPr>
              <a:t>source</a:t>
            </a:r>
            <a:r>
              <a:rPr dirty="0" sz="2400" spc="-7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2400" spc="75">
                <a:solidFill>
                  <a:srgbClr val="1F2123"/>
                </a:solidFill>
                <a:latin typeface="Arial"/>
                <a:cs typeface="Arial"/>
              </a:rPr>
              <a:t>of</a:t>
            </a:r>
            <a:r>
              <a:rPr dirty="0" sz="2400" spc="8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2400" spc="105">
                <a:solidFill>
                  <a:srgbClr val="1F2123"/>
                </a:solidFill>
                <a:latin typeface="Arial"/>
                <a:cs typeface="Arial"/>
              </a:rPr>
              <a:t>trut</a:t>
            </a:r>
            <a:r>
              <a:rPr dirty="0" sz="2400" spc="105">
                <a:latin typeface="Arial"/>
                <a:cs typeface="Arial"/>
              </a:rPr>
              <a:t>h</a:t>
            </a:r>
            <a:r>
              <a:rPr dirty="0" sz="2400" spc="-145">
                <a:latin typeface="Arial"/>
                <a:cs typeface="Arial"/>
              </a:rPr>
              <a:t> </a:t>
            </a:r>
            <a:r>
              <a:rPr dirty="0" sz="2400" spc="70">
                <a:solidFill>
                  <a:srgbClr val="1F2123"/>
                </a:solidFill>
                <a:latin typeface="Arial"/>
                <a:cs typeface="Arial"/>
              </a:rPr>
              <a:t>for</a:t>
            </a:r>
            <a:r>
              <a:rPr dirty="0" sz="2400" spc="-5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F2123"/>
                </a:solidFill>
                <a:latin typeface="Arial"/>
                <a:cs typeface="Arial"/>
              </a:rPr>
              <a:t>every</a:t>
            </a:r>
            <a:r>
              <a:rPr dirty="0" sz="2400" spc="105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F2123"/>
                </a:solidFill>
                <a:latin typeface="Arial"/>
                <a:cs typeface="Arial"/>
              </a:rPr>
              <a:t>component</a:t>
            </a:r>
            <a:r>
              <a:rPr dirty="0" sz="2400" spc="145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1F2123"/>
                </a:solidFill>
                <a:latin typeface="Arial"/>
                <a:cs typeface="Arial"/>
              </a:rPr>
              <a:t>running </a:t>
            </a:r>
            <a:r>
              <a:rPr dirty="0" sz="2400">
                <a:solidFill>
                  <a:srgbClr val="1F2123"/>
                </a:solidFill>
                <a:latin typeface="Arial"/>
                <a:cs typeface="Arial"/>
              </a:rPr>
              <a:t>in</a:t>
            </a:r>
            <a:r>
              <a:rPr dirty="0" sz="2400" spc="12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F2123"/>
                </a:solidFill>
                <a:latin typeface="Arial"/>
                <a:cs typeface="Arial"/>
              </a:rPr>
              <a:t>your</a:t>
            </a:r>
            <a:r>
              <a:rPr dirty="0" sz="2400" spc="85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2400" spc="60">
                <a:solidFill>
                  <a:srgbClr val="1F2123"/>
                </a:solidFill>
                <a:latin typeface="Arial"/>
                <a:cs typeface="Arial"/>
              </a:rPr>
              <a:t>p</a:t>
            </a:r>
            <a:r>
              <a:rPr dirty="0" sz="2400" spc="60">
                <a:latin typeface="Arial"/>
                <a:cs typeface="Arial"/>
              </a:rPr>
              <a:t>r</a:t>
            </a:r>
            <a:r>
              <a:rPr dirty="0" sz="2400" spc="60">
                <a:solidFill>
                  <a:srgbClr val="1F2123"/>
                </a:solidFill>
                <a:latin typeface="Arial"/>
                <a:cs typeface="Arial"/>
              </a:rPr>
              <a:t>oduction</a:t>
            </a:r>
            <a:r>
              <a:rPr dirty="0" sz="2400" spc="-8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F2123"/>
                </a:solidFill>
                <a:latin typeface="Arial"/>
                <a:cs typeface="Arial"/>
              </a:rPr>
              <a:t>environment,</a:t>
            </a:r>
            <a:r>
              <a:rPr dirty="0" sz="2400" spc="254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F2123"/>
                </a:solidFill>
                <a:latin typeface="Arial"/>
                <a:cs typeface="Arial"/>
              </a:rPr>
              <a:t>enabl</a:t>
            </a:r>
            <a:r>
              <a:rPr dirty="0" sz="2400">
                <a:latin typeface="Arial"/>
                <a:cs typeface="Arial"/>
              </a:rPr>
              <a:t>i</a:t>
            </a:r>
            <a:r>
              <a:rPr dirty="0" sz="2400">
                <a:solidFill>
                  <a:srgbClr val="1F2123"/>
                </a:solidFill>
                <a:latin typeface="Arial"/>
                <a:cs typeface="Arial"/>
              </a:rPr>
              <a:t>ng</a:t>
            </a:r>
            <a:r>
              <a:rPr dirty="0" sz="2400" spc="55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F2123"/>
                </a:solidFill>
                <a:latin typeface="Arial"/>
                <a:cs typeface="Arial"/>
              </a:rPr>
              <a:t>precise,</a:t>
            </a:r>
            <a:r>
              <a:rPr dirty="0" sz="2400" spc="180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F2123"/>
                </a:solidFill>
                <a:latin typeface="Arial"/>
                <a:cs typeface="Arial"/>
              </a:rPr>
              <a:t>targeted</a:t>
            </a:r>
            <a:r>
              <a:rPr dirty="0" sz="2400" spc="45">
                <a:solidFill>
                  <a:srgbClr val="1F2123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1F2123"/>
                </a:solidFill>
                <a:latin typeface="Arial"/>
                <a:cs typeface="Arial"/>
              </a:rPr>
              <a:t>remediation.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48217" y="2502429"/>
            <a:ext cx="6979920" cy="4979035"/>
            <a:chOff x="1248217" y="2502429"/>
            <a:chExt cx="6979920" cy="49790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8217" y="2502429"/>
              <a:ext cx="6572250" cy="497879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4639" y="2885413"/>
              <a:ext cx="917058" cy="171066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25927" y="6613128"/>
              <a:ext cx="560424" cy="45958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718876" y="5923754"/>
              <a:ext cx="127635" cy="485140"/>
            </a:xfrm>
            <a:custGeom>
              <a:avLst/>
              <a:gdLst/>
              <a:ahLst/>
              <a:cxnLst/>
              <a:rect l="l" t="t" r="r" b="b"/>
              <a:pathLst>
                <a:path w="127635" h="485139">
                  <a:moveTo>
                    <a:pt x="0" y="459581"/>
                  </a:moveTo>
                  <a:lnTo>
                    <a:pt x="0" y="0"/>
                  </a:lnTo>
                </a:path>
                <a:path w="127635" h="485139">
                  <a:moveTo>
                    <a:pt x="127369" y="485113"/>
                  </a:moveTo>
                  <a:lnTo>
                    <a:pt x="127369" y="0"/>
                  </a:lnTo>
                </a:path>
              </a:pathLst>
            </a:custGeom>
            <a:ln w="12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820468" y="5055656"/>
              <a:ext cx="407670" cy="0"/>
            </a:xfrm>
            <a:custGeom>
              <a:avLst/>
              <a:gdLst/>
              <a:ahLst/>
              <a:cxnLst/>
              <a:rect l="l" t="t" r="r" b="b"/>
              <a:pathLst>
                <a:path w="407670" h="0">
                  <a:moveTo>
                    <a:pt x="0" y="0"/>
                  </a:moveTo>
                  <a:lnTo>
                    <a:pt x="407581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387413" y="5745028"/>
              <a:ext cx="840740" cy="919480"/>
            </a:xfrm>
            <a:custGeom>
              <a:avLst/>
              <a:gdLst/>
              <a:ahLst/>
              <a:cxnLst/>
              <a:rect l="l" t="t" r="r" b="b"/>
              <a:pathLst>
                <a:path w="840740" h="919479">
                  <a:moveTo>
                    <a:pt x="433055" y="0"/>
                  </a:moveTo>
                  <a:lnTo>
                    <a:pt x="840636" y="0"/>
                  </a:lnTo>
                </a:path>
                <a:path w="840740" h="919479">
                  <a:moveTo>
                    <a:pt x="0" y="919162"/>
                  </a:moveTo>
                  <a:lnTo>
                    <a:pt x="534950" y="919162"/>
                  </a:lnTo>
                </a:path>
              </a:pathLst>
            </a:custGeom>
            <a:ln w="12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514782" y="6983344"/>
              <a:ext cx="433070" cy="0"/>
            </a:xfrm>
            <a:custGeom>
              <a:avLst/>
              <a:gdLst/>
              <a:ahLst/>
              <a:cxnLst/>
              <a:rect l="l" t="t" r="r" b="b"/>
              <a:pathLst>
                <a:path w="433070" h="0">
                  <a:moveTo>
                    <a:pt x="0" y="0"/>
                  </a:moveTo>
                  <a:lnTo>
                    <a:pt x="433055" y="0"/>
                  </a:lnTo>
                </a:path>
              </a:pathLst>
            </a:custGeom>
            <a:ln w="382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763607" y="7200368"/>
              <a:ext cx="1936114" cy="0"/>
            </a:xfrm>
            <a:custGeom>
              <a:avLst/>
              <a:gdLst/>
              <a:ahLst/>
              <a:cxnLst/>
              <a:rect l="l" t="t" r="r" b="b"/>
              <a:pathLst>
                <a:path w="1936115" h="0">
                  <a:moveTo>
                    <a:pt x="1528430" y="0"/>
                  </a:moveTo>
                  <a:lnTo>
                    <a:pt x="1936011" y="0"/>
                  </a:lnTo>
                </a:path>
                <a:path w="1936115" h="0">
                  <a:moveTo>
                    <a:pt x="0" y="0"/>
                  </a:moveTo>
                  <a:lnTo>
                    <a:pt x="407581" y="0"/>
                  </a:lnTo>
                </a:path>
              </a:pathLst>
            </a:custGeom>
            <a:ln w="12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053660" y="4825933"/>
            <a:ext cx="683260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87375" algn="l"/>
              </a:tabLst>
            </a:pPr>
            <a:r>
              <a:rPr dirty="0" sz="1800" spc="-275">
                <a:solidFill>
                  <a:srgbClr val="97A1B6"/>
                </a:solidFill>
                <a:latin typeface="Times New Roman"/>
                <a:cs typeface="Times New Roman"/>
              </a:rPr>
              <a:t>..,.,_,,..._</a:t>
            </a:r>
            <a:r>
              <a:rPr dirty="0" sz="1800">
                <a:solidFill>
                  <a:srgbClr val="97A1B6"/>
                </a:solidFill>
                <a:latin typeface="Times New Roman"/>
                <a:cs typeface="Times New Roman"/>
              </a:rPr>
              <a:t>	</a:t>
            </a:r>
            <a:r>
              <a:rPr dirty="0" sz="1800" spc="-700" b="1">
                <a:solidFill>
                  <a:srgbClr val="BC3D4F"/>
                </a:solidFill>
                <a:latin typeface="Times New Roman"/>
                <a:cs typeface="Times New Roman"/>
              </a:rPr>
              <a:t>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30931" y="4915296"/>
            <a:ext cx="58356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>
                <a:solidFill>
                  <a:srgbClr val="872A34"/>
                </a:solidFill>
                <a:latin typeface="Arial"/>
                <a:cs typeface="Arial"/>
              </a:rPr>
              <a:t>THREA</a:t>
            </a:r>
            <a:r>
              <a:rPr dirty="0" sz="1100" spc="-10">
                <a:solidFill>
                  <a:srgbClr val="87545B"/>
                </a:solidFill>
                <a:latin typeface="Arial"/>
                <a:cs typeface="Arial"/>
              </a:rPr>
              <a:t>T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79427" y="2719519"/>
            <a:ext cx="193675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620">
                <a:solidFill>
                  <a:srgbClr val="9A87A0"/>
                </a:solidFill>
                <a:latin typeface="Arial"/>
                <a:cs typeface="Arial"/>
              </a:rPr>
              <a:t>�</a:t>
            </a:r>
            <a:r>
              <a:rPr dirty="0" sz="1100" spc="620">
                <a:solidFill>
                  <a:srgbClr val="973D46"/>
                </a:solidFill>
                <a:latin typeface="Arial"/>
                <a:cs typeface="Arial"/>
              </a:rPr>
              <a:t>THREA</a:t>
            </a:r>
            <a:r>
              <a:rPr dirty="0" sz="1100" spc="620">
                <a:solidFill>
                  <a:srgbClr val="754249"/>
                </a:solidFill>
                <a:latin typeface="Arial"/>
                <a:cs typeface="Arial"/>
              </a:rPr>
              <a:t>T</a:t>
            </a:r>
            <a:r>
              <a:rPr dirty="0" sz="1100" spc="620">
                <a:solidFill>
                  <a:srgbClr val="97A1B6"/>
                </a:solidFill>
                <a:latin typeface="Arial"/>
                <a:cs typeface="Arial"/>
              </a:rPr>
              <a:t>/"'V"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14324" y="5745096"/>
            <a:ext cx="158178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b="1">
                <a:solidFill>
                  <a:srgbClr val="183D77"/>
                </a:solidFill>
                <a:latin typeface="Arial"/>
                <a:cs typeface="Arial"/>
              </a:rPr>
              <a:t>Digital</a:t>
            </a:r>
            <a:r>
              <a:rPr dirty="0" sz="2100" spc="85" b="1">
                <a:solidFill>
                  <a:srgbClr val="183D77"/>
                </a:solidFill>
                <a:latin typeface="Arial"/>
                <a:cs typeface="Arial"/>
              </a:rPr>
              <a:t> </a:t>
            </a:r>
            <a:r>
              <a:rPr dirty="0" sz="2100" spc="45" b="1">
                <a:solidFill>
                  <a:srgbClr val="183D77"/>
                </a:solidFill>
                <a:latin typeface="Arial"/>
                <a:cs typeface="Arial"/>
              </a:rPr>
              <a:t>Twin</a:t>
            </a:r>
            <a:endParaRPr sz="2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36805" y="6300423"/>
            <a:ext cx="791845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80" b="1">
                <a:solidFill>
                  <a:srgbClr val="BC3D4F"/>
                </a:solidFill>
                <a:latin typeface="Arial"/>
                <a:cs typeface="Arial"/>
              </a:rPr>
              <a:t>A</a:t>
            </a:r>
            <a:r>
              <a:rPr dirty="0" sz="1650" spc="-160" b="1">
                <a:solidFill>
                  <a:srgbClr val="BC3D4F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973D46"/>
                </a:solidFill>
                <a:latin typeface="Arial"/>
                <a:cs typeface="Arial"/>
              </a:rPr>
              <a:t>THREAT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9611214" y="1187583"/>
            <a:ext cx="3970020" cy="883285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600" spc="60"/>
              <a:t>Our</a:t>
            </a:r>
            <a:r>
              <a:rPr dirty="0" sz="5600" spc="40"/>
              <a:t> </a:t>
            </a:r>
            <a:r>
              <a:rPr dirty="0" sz="5600" spc="70"/>
              <a:t>Vision:</a:t>
            </a:r>
            <a:endParaRPr sz="5600"/>
          </a:p>
        </p:txBody>
      </p:sp>
      <p:sp>
        <p:nvSpPr>
          <p:cNvPr id="17" name="object 17"/>
          <p:cNvSpPr txBox="1"/>
          <p:nvPr/>
        </p:nvSpPr>
        <p:spPr>
          <a:xfrm>
            <a:off x="9616919" y="1991849"/>
            <a:ext cx="5452110" cy="8832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600" spc="180" b="1">
                <a:solidFill>
                  <a:srgbClr val="111313"/>
                </a:solidFill>
                <a:latin typeface="Arial"/>
                <a:cs typeface="Arial"/>
              </a:rPr>
              <a:t>Self-</a:t>
            </a:r>
            <a:r>
              <a:rPr dirty="0" sz="5600" spc="220" b="1">
                <a:solidFill>
                  <a:srgbClr val="111313"/>
                </a:solidFill>
                <a:latin typeface="Arial"/>
                <a:cs typeface="Arial"/>
              </a:rPr>
              <a:t>Defending</a:t>
            </a:r>
            <a:endParaRPr sz="5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604183" y="2808882"/>
            <a:ext cx="6804025" cy="53924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600" spc="180" b="1">
                <a:solidFill>
                  <a:srgbClr val="111313"/>
                </a:solidFill>
                <a:latin typeface="Arial"/>
                <a:cs typeface="Arial"/>
              </a:rPr>
              <a:t>Software.</a:t>
            </a:r>
            <a:endParaRPr sz="5600">
              <a:latin typeface="Arial"/>
              <a:cs typeface="Arial"/>
            </a:endParaRPr>
          </a:p>
          <a:p>
            <a:pPr marL="14604" marR="5080" indent="5715">
              <a:lnSpc>
                <a:spcPct val="125000"/>
              </a:lnSpc>
              <a:spcBef>
                <a:spcPts val="3110"/>
              </a:spcBef>
            </a:pPr>
            <a:r>
              <a:rPr dirty="0" sz="2700">
                <a:solidFill>
                  <a:srgbClr val="111313"/>
                </a:solidFill>
                <a:latin typeface="Arial"/>
                <a:cs typeface="Arial"/>
              </a:rPr>
              <a:t>We</a:t>
            </a:r>
            <a:r>
              <a:rPr dirty="0" sz="2700" spc="-9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2700" spc="70">
                <a:solidFill>
                  <a:srgbClr val="111313"/>
                </a:solidFill>
                <a:latin typeface="Arial"/>
                <a:cs typeface="Arial"/>
              </a:rPr>
              <a:t>are</a:t>
            </a:r>
            <a:r>
              <a:rPr dirty="0" sz="2700" spc="-8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2700" spc="100">
                <a:solidFill>
                  <a:srgbClr val="111313"/>
                </a:solidFill>
                <a:latin typeface="Arial"/>
                <a:cs typeface="Arial"/>
              </a:rPr>
              <a:t>creating</a:t>
            </a:r>
            <a:r>
              <a:rPr dirty="0" sz="2700" spc="-9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2700" spc="90">
                <a:solidFill>
                  <a:srgbClr val="111313"/>
                </a:solidFill>
                <a:latin typeface="Arial"/>
                <a:cs typeface="Arial"/>
              </a:rPr>
              <a:t>a</a:t>
            </a:r>
            <a:r>
              <a:rPr dirty="0" sz="2700" spc="-55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2700" spc="110">
                <a:solidFill>
                  <a:srgbClr val="111313"/>
                </a:solidFill>
                <a:latin typeface="Arial"/>
                <a:cs typeface="Arial"/>
              </a:rPr>
              <a:t>future</a:t>
            </a:r>
            <a:r>
              <a:rPr dirty="0" sz="2700" spc="95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2700" spc="80">
                <a:solidFill>
                  <a:srgbClr val="111313"/>
                </a:solidFill>
                <a:latin typeface="Arial"/>
                <a:cs typeface="Arial"/>
              </a:rPr>
              <a:t>where</a:t>
            </a:r>
            <a:r>
              <a:rPr dirty="0" sz="2700" spc="10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2700" spc="95">
                <a:solidFill>
                  <a:srgbClr val="111313"/>
                </a:solidFill>
                <a:latin typeface="Arial"/>
                <a:cs typeface="Arial"/>
              </a:rPr>
              <a:t>software </a:t>
            </a:r>
            <a:r>
              <a:rPr dirty="0" sz="2700" spc="120">
                <a:solidFill>
                  <a:srgbClr val="111313"/>
                </a:solidFill>
                <a:latin typeface="Arial"/>
                <a:cs typeface="Arial"/>
              </a:rPr>
              <a:t>protects</a:t>
            </a:r>
            <a:r>
              <a:rPr dirty="0" sz="2700" spc="3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2700" spc="100">
                <a:solidFill>
                  <a:srgbClr val="111313"/>
                </a:solidFill>
                <a:latin typeface="Arial"/>
                <a:cs typeface="Arial"/>
              </a:rPr>
              <a:t>itself</a:t>
            </a:r>
            <a:r>
              <a:rPr dirty="0" sz="2700" spc="100">
                <a:solidFill>
                  <a:srgbClr val="343433"/>
                </a:solidFill>
                <a:latin typeface="Arial"/>
                <a:cs typeface="Arial"/>
              </a:rPr>
              <a:t>.</a:t>
            </a:r>
            <a:r>
              <a:rPr dirty="0" sz="2700" spc="-140">
                <a:solidFill>
                  <a:srgbClr val="343433"/>
                </a:solidFill>
                <a:latin typeface="Arial"/>
                <a:cs typeface="Arial"/>
              </a:rPr>
              <a:t> </a:t>
            </a:r>
            <a:r>
              <a:rPr dirty="0" sz="2700" spc="60">
                <a:solidFill>
                  <a:srgbClr val="111313"/>
                </a:solidFill>
                <a:latin typeface="Arial"/>
                <a:cs typeface="Arial"/>
              </a:rPr>
              <a:t>By</a:t>
            </a:r>
            <a:r>
              <a:rPr dirty="0" sz="2700" spc="15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2700" spc="90">
                <a:solidFill>
                  <a:srgbClr val="111313"/>
                </a:solidFill>
                <a:latin typeface="Arial"/>
                <a:cs typeface="Arial"/>
              </a:rPr>
              <a:t>creating</a:t>
            </a:r>
            <a:r>
              <a:rPr dirty="0" sz="2700" spc="5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2700" spc="90">
                <a:solidFill>
                  <a:srgbClr val="111313"/>
                </a:solidFill>
                <a:latin typeface="Arial"/>
                <a:cs typeface="Arial"/>
              </a:rPr>
              <a:t>a</a:t>
            </a:r>
            <a:r>
              <a:rPr dirty="0" sz="2700" spc="-5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2700" b="1">
                <a:solidFill>
                  <a:srgbClr val="134FB6"/>
                </a:solidFill>
                <a:latin typeface="Arial"/>
                <a:cs typeface="Arial"/>
              </a:rPr>
              <a:t>digital</a:t>
            </a:r>
            <a:r>
              <a:rPr dirty="0" sz="2700" spc="-85" b="1">
                <a:solidFill>
                  <a:srgbClr val="134FB6"/>
                </a:solidFill>
                <a:latin typeface="Arial"/>
                <a:cs typeface="Arial"/>
              </a:rPr>
              <a:t> </a:t>
            </a:r>
            <a:r>
              <a:rPr dirty="0" sz="2700" spc="55" b="1">
                <a:solidFill>
                  <a:srgbClr val="134FB6"/>
                </a:solidFill>
                <a:latin typeface="Arial"/>
                <a:cs typeface="Arial"/>
              </a:rPr>
              <a:t>twin </a:t>
            </a:r>
            <a:r>
              <a:rPr dirty="0" sz="2700" spc="95">
                <a:solidFill>
                  <a:srgbClr val="111313"/>
                </a:solidFill>
                <a:latin typeface="Arial"/>
                <a:cs typeface="Arial"/>
              </a:rPr>
              <a:t>of</a:t>
            </a:r>
            <a:r>
              <a:rPr dirty="0" sz="2700" spc="55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2700" spc="105">
                <a:solidFill>
                  <a:srgbClr val="111313"/>
                </a:solidFill>
                <a:latin typeface="Arial"/>
                <a:cs typeface="Arial"/>
              </a:rPr>
              <a:t>the</a:t>
            </a:r>
            <a:r>
              <a:rPr dirty="0" sz="2700" spc="35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2700" spc="105">
                <a:solidFill>
                  <a:srgbClr val="111313"/>
                </a:solidFill>
                <a:latin typeface="Arial"/>
                <a:cs typeface="Arial"/>
              </a:rPr>
              <a:t>production </a:t>
            </a:r>
            <a:r>
              <a:rPr dirty="0" sz="2700" spc="60">
                <a:solidFill>
                  <a:srgbClr val="111313"/>
                </a:solidFill>
                <a:latin typeface="Arial"/>
                <a:cs typeface="Arial"/>
              </a:rPr>
              <a:t>environment,</a:t>
            </a:r>
            <a:r>
              <a:rPr dirty="0" sz="2700" spc="295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2700" spc="100">
                <a:solidFill>
                  <a:srgbClr val="111313"/>
                </a:solidFill>
                <a:latin typeface="Arial"/>
                <a:cs typeface="Arial"/>
              </a:rPr>
              <a:t>we</a:t>
            </a:r>
            <a:r>
              <a:rPr dirty="0" sz="2700" spc="15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2700" spc="-10">
                <a:solidFill>
                  <a:srgbClr val="111313"/>
                </a:solidFill>
                <a:latin typeface="Arial"/>
                <a:cs typeface="Arial"/>
              </a:rPr>
              <a:t>enable </a:t>
            </a:r>
            <a:r>
              <a:rPr dirty="0" sz="2700" b="1">
                <a:solidFill>
                  <a:srgbClr val="134FB6"/>
                </a:solidFill>
                <a:latin typeface="Arial"/>
                <a:cs typeface="Arial"/>
              </a:rPr>
              <a:t>Al-driven</a:t>
            </a:r>
            <a:r>
              <a:rPr dirty="0" sz="2700" spc="185" b="1">
                <a:solidFill>
                  <a:srgbClr val="134FB6"/>
                </a:solidFill>
                <a:latin typeface="Arial"/>
                <a:cs typeface="Arial"/>
              </a:rPr>
              <a:t> </a:t>
            </a:r>
            <a:r>
              <a:rPr dirty="0" sz="2700" spc="70" b="1">
                <a:solidFill>
                  <a:srgbClr val="134FB6"/>
                </a:solidFill>
                <a:latin typeface="Arial"/>
                <a:cs typeface="Arial"/>
              </a:rPr>
              <a:t>auto-</a:t>
            </a:r>
            <a:r>
              <a:rPr dirty="0" sz="2700" spc="75" b="1">
                <a:solidFill>
                  <a:srgbClr val="134FB6"/>
                </a:solidFill>
                <a:latin typeface="Arial"/>
                <a:cs typeface="Arial"/>
              </a:rPr>
              <a:t>remediation</a:t>
            </a:r>
            <a:r>
              <a:rPr dirty="0" sz="2700" spc="-225" b="1">
                <a:solidFill>
                  <a:srgbClr val="134FB6"/>
                </a:solidFill>
                <a:latin typeface="Arial"/>
                <a:cs typeface="Arial"/>
              </a:rPr>
              <a:t> </a:t>
            </a:r>
            <a:r>
              <a:rPr dirty="0" sz="2700" spc="65">
                <a:solidFill>
                  <a:srgbClr val="111313"/>
                </a:solidFill>
                <a:latin typeface="Arial"/>
                <a:cs typeface="Arial"/>
              </a:rPr>
              <a:t>across</a:t>
            </a:r>
            <a:r>
              <a:rPr dirty="0" sz="2700" spc="30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2700" spc="80">
                <a:solidFill>
                  <a:srgbClr val="111313"/>
                </a:solidFill>
                <a:latin typeface="Arial"/>
                <a:cs typeface="Arial"/>
              </a:rPr>
              <a:t>edge </a:t>
            </a:r>
            <a:r>
              <a:rPr dirty="0" sz="2700" spc="100">
                <a:solidFill>
                  <a:srgbClr val="111313"/>
                </a:solidFill>
                <a:latin typeface="Arial"/>
                <a:cs typeface="Arial"/>
              </a:rPr>
              <a:t>and</a:t>
            </a:r>
            <a:r>
              <a:rPr dirty="0" sz="2700" spc="-65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2700" spc="90">
                <a:solidFill>
                  <a:srgbClr val="111313"/>
                </a:solidFill>
                <a:latin typeface="Arial"/>
                <a:cs typeface="Arial"/>
              </a:rPr>
              <a:t>cloud-native</a:t>
            </a:r>
            <a:r>
              <a:rPr dirty="0" sz="2700" spc="275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2700" spc="75">
                <a:solidFill>
                  <a:srgbClr val="111313"/>
                </a:solidFill>
                <a:latin typeface="Arial"/>
                <a:cs typeface="Arial"/>
              </a:rPr>
              <a:t>deployments.</a:t>
            </a:r>
            <a:r>
              <a:rPr dirty="0" sz="2700" spc="13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111313"/>
                </a:solidFill>
                <a:latin typeface="Arial"/>
                <a:cs typeface="Arial"/>
              </a:rPr>
              <a:t>We</a:t>
            </a:r>
            <a:r>
              <a:rPr dirty="0" sz="2700" spc="-75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2700" spc="125">
                <a:solidFill>
                  <a:srgbClr val="111313"/>
                </a:solidFill>
                <a:latin typeface="Arial"/>
                <a:cs typeface="Arial"/>
              </a:rPr>
              <a:t>swiftly </a:t>
            </a:r>
            <a:r>
              <a:rPr dirty="0" sz="2700" spc="75">
                <a:solidFill>
                  <a:srgbClr val="111313"/>
                </a:solidFill>
                <a:latin typeface="Arial"/>
                <a:cs typeface="Arial"/>
              </a:rPr>
              <a:t>neutralize</a:t>
            </a:r>
            <a:r>
              <a:rPr dirty="0" sz="2700" spc="-35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2700" spc="105">
                <a:solidFill>
                  <a:srgbClr val="111313"/>
                </a:solidFill>
                <a:latin typeface="Arial"/>
                <a:cs typeface="Arial"/>
              </a:rPr>
              <a:t>threats</a:t>
            </a:r>
            <a:r>
              <a:rPr dirty="0" sz="2700" spc="2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2700" spc="95">
                <a:solidFill>
                  <a:srgbClr val="111313"/>
                </a:solidFill>
                <a:latin typeface="Arial"/>
                <a:cs typeface="Arial"/>
              </a:rPr>
              <a:t>so</a:t>
            </a:r>
            <a:r>
              <a:rPr dirty="0" sz="2700" spc="5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2700" spc="65">
                <a:solidFill>
                  <a:srgbClr val="111313"/>
                </a:solidFill>
                <a:latin typeface="Arial"/>
                <a:cs typeface="Arial"/>
              </a:rPr>
              <a:t>your</a:t>
            </a:r>
            <a:r>
              <a:rPr dirty="0" sz="270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2700" spc="65">
                <a:solidFill>
                  <a:srgbClr val="111313"/>
                </a:solidFill>
                <a:latin typeface="Arial"/>
                <a:cs typeface="Arial"/>
              </a:rPr>
              <a:t>developers </a:t>
            </a:r>
            <a:r>
              <a:rPr dirty="0" sz="2700" spc="50">
                <a:solidFill>
                  <a:srgbClr val="111313"/>
                </a:solidFill>
                <a:latin typeface="Arial"/>
                <a:cs typeface="Arial"/>
              </a:rPr>
              <a:t>aren't</a:t>
            </a:r>
            <a:r>
              <a:rPr dirty="0" sz="2700" spc="155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2700" spc="75">
                <a:solidFill>
                  <a:srgbClr val="111313"/>
                </a:solidFill>
                <a:latin typeface="Arial"/>
                <a:cs typeface="Arial"/>
              </a:rPr>
              <a:t>waking</a:t>
            </a:r>
            <a:r>
              <a:rPr dirty="0" sz="2700" spc="85">
                <a:solidFill>
                  <a:srgbClr val="111313"/>
                </a:solidFill>
                <a:latin typeface="Arial"/>
                <a:cs typeface="Arial"/>
              </a:rPr>
              <a:t> up</a:t>
            </a:r>
            <a:r>
              <a:rPr dirty="0" sz="2700" spc="5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2700" spc="65">
                <a:solidFill>
                  <a:srgbClr val="111313"/>
                </a:solidFill>
                <a:latin typeface="Arial"/>
                <a:cs typeface="Arial"/>
              </a:rPr>
              <a:t>at</a:t>
            </a:r>
            <a:r>
              <a:rPr dirty="0" sz="2700" spc="195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2700" spc="105">
                <a:solidFill>
                  <a:srgbClr val="111313"/>
                </a:solidFill>
                <a:latin typeface="Arial"/>
                <a:cs typeface="Arial"/>
              </a:rPr>
              <a:t>2</a:t>
            </a:r>
            <a:r>
              <a:rPr dirty="0" sz="2700" spc="-7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2700" spc="100">
                <a:solidFill>
                  <a:srgbClr val="111313"/>
                </a:solidFill>
                <a:latin typeface="Arial"/>
                <a:cs typeface="Arial"/>
              </a:rPr>
              <a:t>AM</a:t>
            </a:r>
            <a:r>
              <a:rPr dirty="0" sz="2700" spc="-4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2700" spc="50">
                <a:solidFill>
                  <a:srgbClr val="111313"/>
                </a:solidFill>
                <a:latin typeface="Arial"/>
                <a:cs typeface="Arial"/>
              </a:rPr>
              <a:t>to</a:t>
            </a:r>
            <a:r>
              <a:rPr dirty="0" sz="2700" spc="25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2700" spc="70">
                <a:solidFill>
                  <a:srgbClr val="111313"/>
                </a:solidFill>
                <a:latin typeface="Arial"/>
                <a:cs typeface="Arial"/>
              </a:rPr>
              <a:t>deal</a:t>
            </a:r>
            <a:r>
              <a:rPr dirty="0" sz="2700" spc="25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2700" spc="125">
                <a:solidFill>
                  <a:srgbClr val="111313"/>
                </a:solidFill>
                <a:latin typeface="Arial"/>
                <a:cs typeface="Arial"/>
              </a:rPr>
              <a:t>with</a:t>
            </a:r>
            <a:r>
              <a:rPr dirty="0" sz="2700" spc="-5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2700" spc="105">
                <a:solidFill>
                  <a:srgbClr val="111313"/>
                </a:solidFill>
                <a:latin typeface="Arial"/>
                <a:cs typeface="Arial"/>
              </a:rPr>
              <a:t>the </a:t>
            </a:r>
            <a:r>
              <a:rPr dirty="0" sz="2700" spc="100">
                <a:solidFill>
                  <a:srgbClr val="111313"/>
                </a:solidFill>
                <a:latin typeface="Arial"/>
                <a:cs typeface="Arial"/>
              </a:rPr>
              <a:t>latest</a:t>
            </a:r>
            <a:r>
              <a:rPr dirty="0" sz="2700" spc="1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dirty="0" sz="2700" spc="-20">
                <a:solidFill>
                  <a:srgbClr val="111313"/>
                </a:solidFill>
                <a:latin typeface="Arial"/>
                <a:cs typeface="Arial"/>
              </a:rPr>
              <a:t>CVE.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1174" y="2017316"/>
            <a:ext cx="2088854" cy="206811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18573" y="2017316"/>
            <a:ext cx="2088854" cy="20681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685970" y="2017316"/>
            <a:ext cx="2088854" cy="209364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1042908" y="5591835"/>
            <a:ext cx="0" cy="434340"/>
          </a:xfrm>
          <a:custGeom>
            <a:avLst/>
            <a:gdLst/>
            <a:ahLst/>
            <a:cxnLst/>
            <a:rect l="l" t="t" r="r" b="b"/>
            <a:pathLst>
              <a:path w="0" h="434339">
                <a:moveTo>
                  <a:pt x="0" y="434048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042908" y="4519478"/>
            <a:ext cx="0" cy="817244"/>
          </a:xfrm>
          <a:custGeom>
            <a:avLst/>
            <a:gdLst/>
            <a:ahLst/>
            <a:cxnLst/>
            <a:rect l="l" t="t" r="r" b="b"/>
            <a:pathLst>
              <a:path w="0" h="817245">
                <a:moveTo>
                  <a:pt x="0" y="817033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055646" y="1710927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408516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824403" y="325867"/>
            <a:ext cx="11813540" cy="860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450" spc="55">
                <a:solidFill>
                  <a:srgbClr val="16181C"/>
                </a:solidFill>
                <a:latin typeface="Arial"/>
                <a:cs typeface="Arial"/>
              </a:rPr>
              <a:t>The</a:t>
            </a:r>
            <a:r>
              <a:rPr dirty="0" sz="5450" spc="-370">
                <a:solidFill>
                  <a:srgbClr val="16181C"/>
                </a:solidFill>
                <a:latin typeface="Arial"/>
                <a:cs typeface="Arial"/>
              </a:rPr>
              <a:t> </a:t>
            </a:r>
            <a:r>
              <a:rPr dirty="0" sz="5450" spc="50">
                <a:solidFill>
                  <a:srgbClr val="16181C"/>
                </a:solidFill>
                <a:latin typeface="Arial"/>
                <a:cs typeface="Arial"/>
              </a:rPr>
              <a:t>Pedigree</a:t>
            </a:r>
            <a:r>
              <a:rPr dirty="0" sz="5450" spc="-100">
                <a:solidFill>
                  <a:srgbClr val="16181C"/>
                </a:solidFill>
                <a:latin typeface="Arial"/>
                <a:cs typeface="Arial"/>
              </a:rPr>
              <a:t> </a:t>
            </a:r>
            <a:r>
              <a:rPr dirty="0" sz="5450">
                <a:solidFill>
                  <a:srgbClr val="16181C"/>
                </a:solidFill>
                <a:latin typeface="Arial"/>
                <a:cs typeface="Arial"/>
              </a:rPr>
              <a:t>to</a:t>
            </a:r>
            <a:r>
              <a:rPr dirty="0" sz="5450" spc="140">
                <a:solidFill>
                  <a:srgbClr val="16181C"/>
                </a:solidFill>
                <a:latin typeface="Arial"/>
                <a:cs typeface="Arial"/>
              </a:rPr>
              <a:t> </a:t>
            </a:r>
            <a:r>
              <a:rPr dirty="0" sz="5450" spc="50">
                <a:solidFill>
                  <a:srgbClr val="16181C"/>
                </a:solidFill>
                <a:latin typeface="Arial"/>
                <a:cs typeface="Arial"/>
              </a:rPr>
              <a:t>Redefine</a:t>
            </a:r>
            <a:r>
              <a:rPr dirty="0" sz="5450" spc="-105">
                <a:solidFill>
                  <a:srgbClr val="16181C"/>
                </a:solidFill>
                <a:latin typeface="Arial"/>
                <a:cs typeface="Arial"/>
              </a:rPr>
              <a:t> </a:t>
            </a:r>
            <a:r>
              <a:rPr dirty="0" sz="5450" spc="114">
                <a:solidFill>
                  <a:srgbClr val="16181C"/>
                </a:solidFill>
                <a:latin typeface="Arial"/>
                <a:cs typeface="Arial"/>
              </a:rPr>
              <a:t>an</a:t>
            </a:r>
            <a:r>
              <a:rPr dirty="0" sz="5450" spc="-615">
                <a:solidFill>
                  <a:srgbClr val="16181C"/>
                </a:solidFill>
                <a:latin typeface="Arial"/>
                <a:cs typeface="Arial"/>
              </a:rPr>
              <a:t> </a:t>
            </a:r>
            <a:r>
              <a:rPr dirty="0" sz="5450" spc="204">
                <a:solidFill>
                  <a:srgbClr val="16181C"/>
                </a:solidFill>
                <a:latin typeface="Arial"/>
                <a:cs typeface="Arial"/>
              </a:rPr>
              <a:t>Industry</a:t>
            </a:r>
            <a:endParaRPr sz="54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52848" y="4104459"/>
            <a:ext cx="3665854" cy="1437640"/>
          </a:xfrm>
          <a:prstGeom prst="rect">
            <a:avLst/>
          </a:prstGeom>
        </p:spPr>
        <p:txBody>
          <a:bodyPr wrap="square" lIns="0" tIns="206375" rIns="0" bIns="0" rtlCol="0" vert="horz">
            <a:spAutoFit/>
          </a:bodyPr>
          <a:lstStyle/>
          <a:p>
            <a:pPr marL="254635">
              <a:lnSpc>
                <a:spcPct val="100000"/>
              </a:lnSpc>
              <a:spcBef>
                <a:spcPts val="1625"/>
              </a:spcBef>
            </a:pPr>
            <a:r>
              <a:rPr dirty="0" sz="2850" spc="70">
                <a:solidFill>
                  <a:srgbClr val="16181C"/>
                </a:solidFill>
                <a:latin typeface="Arial"/>
                <a:cs typeface="Arial"/>
              </a:rPr>
              <a:t>Tracy</a:t>
            </a:r>
            <a:r>
              <a:rPr dirty="0" sz="2850" spc="-90">
                <a:solidFill>
                  <a:srgbClr val="16181C"/>
                </a:solidFill>
                <a:latin typeface="Arial"/>
                <a:cs typeface="Arial"/>
              </a:rPr>
              <a:t> </a:t>
            </a:r>
            <a:r>
              <a:rPr dirty="0" sz="2850" spc="80">
                <a:solidFill>
                  <a:srgbClr val="16181C"/>
                </a:solidFill>
                <a:latin typeface="Arial"/>
                <a:cs typeface="Arial"/>
              </a:rPr>
              <a:t>[Last</a:t>
            </a:r>
            <a:r>
              <a:rPr dirty="0" sz="2850" spc="-210">
                <a:solidFill>
                  <a:srgbClr val="16181C"/>
                </a:solidFill>
                <a:latin typeface="Arial"/>
                <a:cs typeface="Arial"/>
              </a:rPr>
              <a:t> </a:t>
            </a:r>
            <a:r>
              <a:rPr dirty="0" sz="2850" spc="50">
                <a:solidFill>
                  <a:srgbClr val="16181C"/>
                </a:solidFill>
                <a:latin typeface="Arial"/>
                <a:cs typeface="Arial"/>
              </a:rPr>
              <a:t>Name]</a:t>
            </a:r>
            <a:endParaRPr sz="2850">
              <a:latin typeface="Arial"/>
              <a:cs typeface="Arial"/>
            </a:endParaRPr>
          </a:p>
          <a:p>
            <a:pPr marL="294640" marR="5080" indent="-282575">
              <a:lnSpc>
                <a:spcPct val="106200"/>
              </a:lnSpc>
              <a:spcBef>
                <a:spcPts val="944"/>
              </a:spcBef>
            </a:pPr>
            <a:r>
              <a:rPr dirty="0" sz="2050" spc="50">
                <a:solidFill>
                  <a:srgbClr val="2F3131"/>
                </a:solidFill>
                <a:latin typeface="Arial"/>
                <a:cs typeface="Arial"/>
              </a:rPr>
              <a:t>Founder</a:t>
            </a:r>
            <a:r>
              <a:rPr dirty="0" sz="2050" spc="25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2F3131"/>
                </a:solidFill>
                <a:latin typeface="Arial"/>
                <a:cs typeface="Arial"/>
              </a:rPr>
              <a:t>o</a:t>
            </a:r>
            <a:r>
              <a:rPr dirty="0" sz="2050" spc="50">
                <a:solidFill>
                  <a:srgbClr val="16181C"/>
                </a:solidFill>
                <a:latin typeface="Arial"/>
                <a:cs typeface="Arial"/>
              </a:rPr>
              <a:t>f</a:t>
            </a:r>
            <a:r>
              <a:rPr dirty="0" sz="2050" spc="215">
                <a:solidFill>
                  <a:srgbClr val="16181C"/>
                </a:solidFill>
                <a:latin typeface="Arial"/>
                <a:cs typeface="Arial"/>
              </a:rPr>
              <a:t> </a:t>
            </a:r>
            <a:r>
              <a:rPr dirty="0" sz="2050" spc="60">
                <a:solidFill>
                  <a:srgbClr val="2F3131"/>
                </a:solidFill>
                <a:latin typeface="Arial"/>
                <a:cs typeface="Arial"/>
              </a:rPr>
              <a:t>OpenMake.</a:t>
            </a:r>
            <a:r>
              <a:rPr dirty="0" sz="2050" spc="-10">
                <a:solidFill>
                  <a:srgbClr val="2F3131"/>
                </a:solidFill>
                <a:latin typeface="Arial"/>
                <a:cs typeface="Arial"/>
              </a:rPr>
              <a:t> Boa</a:t>
            </a:r>
            <a:r>
              <a:rPr dirty="0" sz="2050" spc="-10">
                <a:solidFill>
                  <a:srgbClr val="16181C"/>
                </a:solidFill>
                <a:latin typeface="Arial"/>
                <a:cs typeface="Arial"/>
              </a:rPr>
              <a:t>r</a:t>
            </a:r>
            <a:r>
              <a:rPr dirty="0" sz="2050" spc="-10">
                <a:solidFill>
                  <a:srgbClr val="2F3131"/>
                </a:solidFill>
                <a:latin typeface="Arial"/>
                <a:cs typeface="Arial"/>
              </a:rPr>
              <a:t>d </a:t>
            </a:r>
            <a:r>
              <a:rPr dirty="0" sz="2050" spc="65">
                <a:solidFill>
                  <a:srgbClr val="2F3131"/>
                </a:solidFill>
                <a:latin typeface="Arial"/>
                <a:cs typeface="Arial"/>
              </a:rPr>
              <a:t>Member, </a:t>
            </a:r>
            <a:r>
              <a:rPr dirty="0" sz="2050">
                <a:solidFill>
                  <a:srgbClr val="2F3131"/>
                </a:solidFill>
                <a:latin typeface="Arial"/>
                <a:cs typeface="Arial"/>
              </a:rPr>
              <a:t>CD</a:t>
            </a:r>
            <a:r>
              <a:rPr dirty="0" sz="2050" spc="-50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2F3131"/>
                </a:solidFill>
                <a:latin typeface="Arial"/>
                <a:cs typeface="Arial"/>
              </a:rPr>
              <a:t>Foundation.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92433" y="4104459"/>
            <a:ext cx="3112135" cy="1106170"/>
          </a:xfrm>
          <a:prstGeom prst="rect">
            <a:avLst/>
          </a:prstGeom>
        </p:spPr>
        <p:txBody>
          <a:bodyPr wrap="square" lIns="0" tIns="2063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625"/>
              </a:spcBef>
            </a:pPr>
            <a:r>
              <a:rPr dirty="0" sz="2850" spc="65">
                <a:solidFill>
                  <a:srgbClr val="16181C"/>
                </a:solidFill>
                <a:latin typeface="Arial"/>
                <a:cs typeface="Arial"/>
              </a:rPr>
              <a:t>Steve</a:t>
            </a:r>
            <a:r>
              <a:rPr dirty="0" sz="2850" spc="-190">
                <a:solidFill>
                  <a:srgbClr val="16181C"/>
                </a:solidFill>
                <a:latin typeface="Arial"/>
                <a:cs typeface="Arial"/>
              </a:rPr>
              <a:t> </a:t>
            </a:r>
            <a:r>
              <a:rPr dirty="0" sz="2850" spc="105">
                <a:solidFill>
                  <a:srgbClr val="16181C"/>
                </a:solidFill>
                <a:latin typeface="Arial"/>
                <a:cs typeface="Arial"/>
              </a:rPr>
              <a:t>[Last</a:t>
            </a:r>
            <a:r>
              <a:rPr dirty="0" sz="2850" spc="-225">
                <a:solidFill>
                  <a:srgbClr val="16181C"/>
                </a:solidFill>
                <a:latin typeface="Arial"/>
                <a:cs typeface="Arial"/>
              </a:rPr>
              <a:t> </a:t>
            </a:r>
            <a:r>
              <a:rPr dirty="0" sz="2850" spc="50">
                <a:solidFill>
                  <a:srgbClr val="16181C"/>
                </a:solidFill>
                <a:latin typeface="Arial"/>
                <a:cs typeface="Arial"/>
              </a:rPr>
              <a:t>Name]</a:t>
            </a:r>
            <a:endParaRPr sz="2850">
              <a:latin typeface="Arial"/>
              <a:cs typeface="Arial"/>
            </a:endParaRPr>
          </a:p>
          <a:p>
            <a:pPr algn="ctr" marL="29845">
              <a:lnSpc>
                <a:spcPct val="100000"/>
              </a:lnSpc>
              <a:spcBef>
                <a:spcPts val="1095"/>
              </a:spcBef>
            </a:pPr>
            <a:r>
              <a:rPr dirty="0" sz="2050" spc="70">
                <a:solidFill>
                  <a:srgbClr val="2F3131"/>
                </a:solidFill>
                <a:latin typeface="Arial"/>
                <a:cs typeface="Arial"/>
              </a:rPr>
              <a:t>Leader</a:t>
            </a:r>
            <a:r>
              <a:rPr dirty="0" sz="2050" spc="-15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2050" spc="55">
                <a:solidFill>
                  <a:srgbClr val="2F3131"/>
                </a:solidFill>
                <a:latin typeface="Arial"/>
                <a:cs typeface="Arial"/>
              </a:rPr>
              <a:t>at</a:t>
            </a:r>
            <a:r>
              <a:rPr dirty="0" sz="2050" spc="95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2F3131"/>
                </a:solidFill>
                <a:latin typeface="Arial"/>
                <a:cs typeface="Arial"/>
              </a:rPr>
              <a:t>CloudBees</a:t>
            </a:r>
            <a:r>
              <a:rPr dirty="0" sz="2050" spc="50">
                <a:solidFill>
                  <a:srgbClr val="4F4F50"/>
                </a:solidFill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200978" y="4104459"/>
            <a:ext cx="3032760" cy="1106170"/>
          </a:xfrm>
          <a:prstGeom prst="rect">
            <a:avLst/>
          </a:prstGeom>
        </p:spPr>
        <p:txBody>
          <a:bodyPr wrap="square" lIns="0" tIns="206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dirty="0" sz="2850" spc="60">
                <a:solidFill>
                  <a:srgbClr val="16181C"/>
                </a:solidFill>
                <a:latin typeface="Arial"/>
                <a:cs typeface="Arial"/>
              </a:rPr>
              <a:t>Brian</a:t>
            </a:r>
            <a:r>
              <a:rPr dirty="0" sz="2850" spc="-150">
                <a:solidFill>
                  <a:srgbClr val="16181C"/>
                </a:solidFill>
                <a:latin typeface="Arial"/>
                <a:cs typeface="Arial"/>
              </a:rPr>
              <a:t> </a:t>
            </a:r>
            <a:r>
              <a:rPr dirty="0" sz="2850" spc="105">
                <a:solidFill>
                  <a:srgbClr val="16181C"/>
                </a:solidFill>
                <a:latin typeface="Arial"/>
                <a:cs typeface="Arial"/>
              </a:rPr>
              <a:t>[Last</a:t>
            </a:r>
            <a:r>
              <a:rPr dirty="0" sz="2850" spc="-229">
                <a:solidFill>
                  <a:srgbClr val="16181C"/>
                </a:solidFill>
                <a:latin typeface="Arial"/>
                <a:cs typeface="Arial"/>
              </a:rPr>
              <a:t> </a:t>
            </a:r>
            <a:r>
              <a:rPr dirty="0" sz="2850" spc="50">
                <a:solidFill>
                  <a:srgbClr val="16181C"/>
                </a:solidFill>
                <a:latin typeface="Arial"/>
                <a:cs typeface="Arial"/>
              </a:rPr>
              <a:t>Name]</a:t>
            </a:r>
            <a:endParaRPr sz="2850">
              <a:latin typeface="Arial"/>
              <a:cs typeface="Arial"/>
            </a:endParaRPr>
          </a:p>
          <a:p>
            <a:pPr marL="85090">
              <a:lnSpc>
                <a:spcPct val="100000"/>
              </a:lnSpc>
              <a:spcBef>
                <a:spcPts val="1095"/>
              </a:spcBef>
            </a:pPr>
            <a:r>
              <a:rPr dirty="0" sz="2050" spc="55">
                <a:solidFill>
                  <a:srgbClr val="2F3131"/>
                </a:solidFill>
                <a:latin typeface="Arial"/>
                <a:cs typeface="Arial"/>
              </a:rPr>
              <a:t>[Role/Accomplishment</a:t>
            </a:r>
            <a:r>
              <a:rPr dirty="0" sz="2050" spc="55">
                <a:solidFill>
                  <a:srgbClr val="4F4F50"/>
                </a:solidFill>
                <a:latin typeface="Arial"/>
                <a:cs typeface="Arial"/>
              </a:rPr>
              <a:t>]</a:t>
            </a:r>
            <a:endParaRPr sz="20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86077" y="6523831"/>
            <a:ext cx="2737485" cy="990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300" spc="-50">
                <a:solidFill>
                  <a:srgbClr val="838585"/>
                </a:solidFill>
                <a:latin typeface="Arial"/>
                <a:cs typeface="Arial"/>
              </a:rPr>
              <a:t>QI</a:t>
            </a:r>
            <a:r>
              <a:rPr dirty="0" sz="3100" spc="-50">
                <a:solidFill>
                  <a:srgbClr val="838585"/>
                </a:solidFill>
                <a:latin typeface="Arial"/>
                <a:cs typeface="Arial"/>
              </a:rPr>
              <a:t>OpenMake</a:t>
            </a:r>
            <a:endParaRPr sz="3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27190" y="6408935"/>
            <a:ext cx="5369560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4200" spc="-595">
                <a:solidFill>
                  <a:srgbClr val="838585"/>
                </a:solidFill>
                <a:latin typeface="Arial"/>
                <a:cs typeface="Arial"/>
              </a:rPr>
              <a:t>C\:,</a:t>
            </a:r>
            <a:r>
              <a:rPr dirty="0" sz="4200" spc="-490">
                <a:solidFill>
                  <a:srgbClr val="838585"/>
                </a:solidFill>
                <a:latin typeface="Arial"/>
                <a:cs typeface="Arial"/>
              </a:rPr>
              <a:t> </a:t>
            </a:r>
            <a:r>
              <a:rPr dirty="0" sz="3100">
                <a:solidFill>
                  <a:srgbClr val="838585"/>
                </a:solidFill>
                <a:latin typeface="Arial"/>
                <a:cs typeface="Arial"/>
              </a:rPr>
              <a:t>CloudBees</a:t>
            </a:r>
            <a:r>
              <a:rPr dirty="0" sz="3100" spc="-85">
                <a:solidFill>
                  <a:srgbClr val="838585"/>
                </a:solidFill>
                <a:latin typeface="Arial"/>
                <a:cs typeface="Arial"/>
              </a:rPr>
              <a:t> </a:t>
            </a:r>
            <a:r>
              <a:rPr dirty="0" baseline="12345" sz="10800" spc="982">
                <a:solidFill>
                  <a:srgbClr val="838585"/>
                </a:solidFill>
                <a:latin typeface="Arial"/>
                <a:cs typeface="Arial"/>
              </a:rPr>
              <a:t>□</a:t>
            </a:r>
            <a:r>
              <a:rPr dirty="0" baseline="52287" sz="2550" spc="967">
                <a:solidFill>
                  <a:srgbClr val="838585"/>
                </a:solidFill>
                <a:latin typeface="Arial"/>
                <a:cs typeface="Arial"/>
              </a:rPr>
              <a:t>T</a:t>
            </a:r>
            <a:r>
              <a:rPr dirty="0" baseline="52287" sz="2550" spc="-345">
                <a:solidFill>
                  <a:srgbClr val="838585"/>
                </a:solidFill>
                <a:latin typeface="Arial"/>
                <a:cs typeface="Arial"/>
              </a:rPr>
              <a:t>H</a:t>
            </a:r>
            <a:r>
              <a:rPr dirty="0" sz="3100" spc="100" b="1">
                <a:solidFill>
                  <a:srgbClr val="838585"/>
                </a:solidFill>
                <a:latin typeface="Arial"/>
                <a:cs typeface="Arial"/>
              </a:rPr>
              <a:t>L</a:t>
            </a:r>
            <a:r>
              <a:rPr dirty="0" baseline="52287" sz="2550" spc="-232">
                <a:solidFill>
                  <a:srgbClr val="838585"/>
                </a:solidFill>
                <a:latin typeface="Arial"/>
                <a:cs typeface="Arial"/>
              </a:rPr>
              <a:t>E</a:t>
            </a:r>
            <a:r>
              <a:rPr dirty="0" sz="3100" spc="640" b="1">
                <a:solidFill>
                  <a:srgbClr val="838585"/>
                </a:solidFill>
                <a:latin typeface="Arial"/>
                <a:cs typeface="Arial"/>
              </a:rPr>
              <a:t>INUX</a:t>
            </a:r>
            <a:endParaRPr sz="3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210549" y="7321715"/>
            <a:ext cx="1358900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45">
                <a:solidFill>
                  <a:srgbClr val="838585"/>
                </a:solidFill>
                <a:latin typeface="Arial"/>
                <a:cs typeface="Arial"/>
              </a:rPr>
              <a:t>FOUNDATION</a:t>
            </a:r>
            <a:endParaRPr sz="16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477122" y="6664259"/>
            <a:ext cx="1567815" cy="7918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0" spc="300">
                <a:solidFill>
                  <a:srgbClr val="979997"/>
                </a:solidFill>
                <a:latin typeface="Arial"/>
                <a:cs typeface="Arial"/>
              </a:rPr>
              <a:t>OCD</a:t>
            </a:r>
            <a:endParaRPr sz="5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503194" y="7334481"/>
            <a:ext cx="1525905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70">
                <a:solidFill>
                  <a:srgbClr val="838585"/>
                </a:solidFill>
                <a:latin typeface="Arial"/>
                <a:cs typeface="Arial"/>
              </a:rPr>
              <a:t>FOUNDATION</a:t>
            </a:r>
            <a:endParaRPr sz="16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18722" y="8151514"/>
            <a:ext cx="12315190" cy="1036955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971550" marR="5080" indent="-959485">
              <a:lnSpc>
                <a:spcPts val="3920"/>
              </a:lnSpc>
              <a:spcBef>
                <a:spcPts val="320"/>
              </a:spcBef>
            </a:pPr>
            <a:r>
              <a:rPr dirty="0" sz="3350" spc="-85">
                <a:solidFill>
                  <a:srgbClr val="16181C"/>
                </a:solidFill>
                <a:latin typeface="Arial"/>
                <a:cs typeface="Arial"/>
              </a:rPr>
              <a:t>We</a:t>
            </a:r>
            <a:r>
              <a:rPr dirty="0" sz="3350" spc="-160">
                <a:solidFill>
                  <a:srgbClr val="16181C"/>
                </a:solidFill>
                <a:latin typeface="Arial"/>
                <a:cs typeface="Arial"/>
              </a:rPr>
              <a:t> </a:t>
            </a:r>
            <a:r>
              <a:rPr dirty="0" sz="3350">
                <a:solidFill>
                  <a:srgbClr val="16181C"/>
                </a:solidFill>
                <a:latin typeface="Arial"/>
                <a:cs typeface="Arial"/>
              </a:rPr>
              <a:t>have</a:t>
            </a:r>
            <a:r>
              <a:rPr dirty="0" sz="3350" spc="-114">
                <a:solidFill>
                  <a:srgbClr val="16181C"/>
                </a:solidFill>
                <a:latin typeface="Arial"/>
                <a:cs typeface="Arial"/>
              </a:rPr>
              <a:t> </a:t>
            </a:r>
            <a:r>
              <a:rPr dirty="0" sz="3350" spc="70">
                <a:solidFill>
                  <a:srgbClr val="16181C"/>
                </a:solidFill>
                <a:latin typeface="Arial"/>
                <a:cs typeface="Arial"/>
              </a:rPr>
              <a:t>a</a:t>
            </a:r>
            <a:r>
              <a:rPr dirty="0" sz="3350" spc="-175">
                <a:solidFill>
                  <a:srgbClr val="16181C"/>
                </a:solidFill>
                <a:latin typeface="Arial"/>
                <a:cs typeface="Arial"/>
              </a:rPr>
              <a:t> </a:t>
            </a:r>
            <a:r>
              <a:rPr dirty="0" sz="3350" spc="114">
                <a:solidFill>
                  <a:srgbClr val="16181C"/>
                </a:solidFill>
                <a:latin typeface="Arial"/>
                <a:cs typeface="Arial"/>
              </a:rPr>
              <a:t>track</a:t>
            </a:r>
            <a:r>
              <a:rPr dirty="0" sz="3350" spc="-105">
                <a:solidFill>
                  <a:srgbClr val="16181C"/>
                </a:solidFill>
                <a:latin typeface="Arial"/>
                <a:cs typeface="Arial"/>
              </a:rPr>
              <a:t> </a:t>
            </a:r>
            <a:r>
              <a:rPr dirty="0" sz="3350" spc="70">
                <a:solidFill>
                  <a:srgbClr val="16181C"/>
                </a:solidFill>
                <a:latin typeface="Arial"/>
                <a:cs typeface="Arial"/>
              </a:rPr>
              <a:t>record</a:t>
            </a:r>
            <a:r>
              <a:rPr dirty="0" sz="3350" spc="-60">
                <a:solidFill>
                  <a:srgbClr val="16181C"/>
                </a:solidFill>
                <a:latin typeface="Arial"/>
                <a:cs typeface="Arial"/>
              </a:rPr>
              <a:t> </a:t>
            </a:r>
            <a:r>
              <a:rPr dirty="0" sz="3350" spc="120">
                <a:solidFill>
                  <a:srgbClr val="16181C"/>
                </a:solidFill>
                <a:latin typeface="Arial"/>
                <a:cs typeface="Arial"/>
              </a:rPr>
              <a:t>of</a:t>
            </a:r>
            <a:r>
              <a:rPr dirty="0" sz="3350" spc="-50">
                <a:solidFill>
                  <a:srgbClr val="16181C"/>
                </a:solidFill>
                <a:latin typeface="Arial"/>
                <a:cs typeface="Arial"/>
              </a:rPr>
              <a:t> </a:t>
            </a:r>
            <a:r>
              <a:rPr dirty="0" sz="3350" spc="80">
                <a:solidFill>
                  <a:srgbClr val="16181C"/>
                </a:solidFill>
                <a:latin typeface="Arial"/>
                <a:cs typeface="Arial"/>
              </a:rPr>
              <a:t>building</a:t>
            </a:r>
            <a:r>
              <a:rPr dirty="0" sz="3350" spc="-50">
                <a:solidFill>
                  <a:srgbClr val="16181C"/>
                </a:solidFill>
                <a:latin typeface="Arial"/>
                <a:cs typeface="Arial"/>
              </a:rPr>
              <a:t> </a:t>
            </a:r>
            <a:r>
              <a:rPr dirty="0" sz="3350" spc="70">
                <a:solidFill>
                  <a:srgbClr val="16181C"/>
                </a:solidFill>
                <a:latin typeface="Arial"/>
                <a:cs typeface="Arial"/>
              </a:rPr>
              <a:t>foundational</a:t>
            </a:r>
            <a:r>
              <a:rPr dirty="0" sz="3350" spc="35">
                <a:solidFill>
                  <a:srgbClr val="16181C"/>
                </a:solidFill>
                <a:latin typeface="Arial"/>
                <a:cs typeface="Arial"/>
              </a:rPr>
              <a:t> </a:t>
            </a:r>
            <a:r>
              <a:rPr dirty="0" sz="3350" spc="50">
                <a:solidFill>
                  <a:srgbClr val="16181C"/>
                </a:solidFill>
                <a:latin typeface="Arial"/>
                <a:cs typeface="Arial"/>
              </a:rPr>
              <a:t>companies</a:t>
            </a:r>
            <a:r>
              <a:rPr dirty="0" sz="3350" spc="30">
                <a:solidFill>
                  <a:srgbClr val="16181C"/>
                </a:solidFill>
                <a:latin typeface="Arial"/>
                <a:cs typeface="Arial"/>
              </a:rPr>
              <a:t> </a:t>
            </a:r>
            <a:r>
              <a:rPr dirty="0" sz="3350" spc="60">
                <a:solidFill>
                  <a:srgbClr val="16181C"/>
                </a:solidFill>
                <a:latin typeface="Arial"/>
                <a:cs typeface="Arial"/>
              </a:rPr>
              <a:t>and </a:t>
            </a:r>
            <a:r>
              <a:rPr dirty="0" sz="3350" spc="95">
                <a:solidFill>
                  <a:srgbClr val="16181C"/>
                </a:solidFill>
                <a:latin typeface="Arial"/>
                <a:cs typeface="Arial"/>
              </a:rPr>
              <a:t>defining</a:t>
            </a:r>
            <a:r>
              <a:rPr dirty="0" sz="3350" spc="-114">
                <a:solidFill>
                  <a:srgbClr val="16181C"/>
                </a:solidFill>
                <a:latin typeface="Arial"/>
                <a:cs typeface="Arial"/>
              </a:rPr>
              <a:t> </a:t>
            </a:r>
            <a:r>
              <a:rPr dirty="0" sz="3350" spc="150">
                <a:solidFill>
                  <a:srgbClr val="16181C"/>
                </a:solidFill>
                <a:latin typeface="Arial"/>
                <a:cs typeface="Arial"/>
              </a:rPr>
              <a:t>the</a:t>
            </a:r>
            <a:r>
              <a:rPr dirty="0" sz="3350" spc="-190">
                <a:solidFill>
                  <a:srgbClr val="16181C"/>
                </a:solidFill>
                <a:latin typeface="Arial"/>
                <a:cs typeface="Arial"/>
              </a:rPr>
              <a:t> </a:t>
            </a:r>
            <a:r>
              <a:rPr dirty="0" sz="3350" spc="65">
                <a:solidFill>
                  <a:srgbClr val="16181C"/>
                </a:solidFill>
                <a:latin typeface="Arial"/>
                <a:cs typeface="Arial"/>
              </a:rPr>
              <a:t>standards</a:t>
            </a:r>
            <a:r>
              <a:rPr dirty="0" sz="3350" spc="-70">
                <a:solidFill>
                  <a:srgbClr val="16181C"/>
                </a:solidFill>
                <a:latin typeface="Arial"/>
                <a:cs typeface="Arial"/>
              </a:rPr>
              <a:t> </a:t>
            </a:r>
            <a:r>
              <a:rPr dirty="0" sz="3350" spc="145">
                <a:solidFill>
                  <a:srgbClr val="16181C"/>
                </a:solidFill>
                <a:latin typeface="Arial"/>
                <a:cs typeface="Arial"/>
              </a:rPr>
              <a:t>that</a:t>
            </a:r>
            <a:r>
              <a:rPr dirty="0" sz="3350" spc="-60">
                <a:solidFill>
                  <a:srgbClr val="16181C"/>
                </a:solidFill>
                <a:latin typeface="Arial"/>
                <a:cs typeface="Arial"/>
              </a:rPr>
              <a:t> </a:t>
            </a:r>
            <a:r>
              <a:rPr dirty="0" sz="3350" spc="60">
                <a:solidFill>
                  <a:srgbClr val="16181C"/>
                </a:solidFill>
                <a:latin typeface="Arial"/>
                <a:cs typeface="Arial"/>
              </a:rPr>
              <a:t>govern</a:t>
            </a:r>
            <a:r>
              <a:rPr dirty="0" sz="3350" spc="-65">
                <a:solidFill>
                  <a:srgbClr val="16181C"/>
                </a:solidFill>
                <a:latin typeface="Arial"/>
                <a:cs typeface="Arial"/>
              </a:rPr>
              <a:t> </a:t>
            </a:r>
            <a:r>
              <a:rPr dirty="0" sz="3350" spc="90">
                <a:solidFill>
                  <a:srgbClr val="16181C"/>
                </a:solidFill>
                <a:latin typeface="Arial"/>
                <a:cs typeface="Arial"/>
              </a:rPr>
              <a:t>software</a:t>
            </a:r>
            <a:r>
              <a:rPr dirty="0" sz="3350" spc="-40">
                <a:solidFill>
                  <a:srgbClr val="16181C"/>
                </a:solidFill>
                <a:latin typeface="Arial"/>
                <a:cs typeface="Arial"/>
              </a:rPr>
              <a:t> </a:t>
            </a:r>
            <a:r>
              <a:rPr dirty="0" sz="3350" spc="50">
                <a:solidFill>
                  <a:srgbClr val="16181C"/>
                </a:solidFill>
                <a:latin typeface="Arial"/>
                <a:cs typeface="Arial"/>
              </a:rPr>
              <a:t>delivery.</a:t>
            </a:r>
            <a:endParaRPr sz="3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151172" y="3217332"/>
            <a:ext cx="4184650" cy="3989704"/>
            <a:chOff x="11151172" y="3217332"/>
            <a:chExt cx="4184650" cy="398970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7540" y="4187560"/>
              <a:ext cx="484002" cy="63830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08489" y="3217332"/>
              <a:ext cx="4126762" cy="395750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151172" y="4825866"/>
              <a:ext cx="114935" cy="1251585"/>
            </a:xfrm>
            <a:custGeom>
              <a:avLst/>
              <a:gdLst/>
              <a:ahLst/>
              <a:cxnLst/>
              <a:rect l="l" t="t" r="r" b="b"/>
              <a:pathLst>
                <a:path w="114934" h="1251585">
                  <a:moveTo>
                    <a:pt x="0" y="0"/>
                  </a:moveTo>
                  <a:lnTo>
                    <a:pt x="114632" y="0"/>
                  </a:lnTo>
                  <a:lnTo>
                    <a:pt x="114632" y="1251081"/>
                  </a:lnTo>
                  <a:lnTo>
                    <a:pt x="0" y="1251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711142" y="4800334"/>
              <a:ext cx="0" cy="1251585"/>
            </a:xfrm>
            <a:custGeom>
              <a:avLst/>
              <a:gdLst/>
              <a:ahLst/>
              <a:cxnLst/>
              <a:rect l="l" t="t" r="r" b="b"/>
              <a:pathLst>
                <a:path w="0" h="1251585">
                  <a:moveTo>
                    <a:pt x="0" y="1251081"/>
                  </a:moveTo>
                  <a:lnTo>
                    <a:pt x="0" y="0"/>
                  </a:lnTo>
                </a:path>
              </a:pathLst>
            </a:custGeom>
            <a:ln w="89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2303864" y="7091856"/>
              <a:ext cx="1325245" cy="114935"/>
            </a:xfrm>
            <a:custGeom>
              <a:avLst/>
              <a:gdLst/>
              <a:ahLst/>
              <a:cxnLst/>
              <a:rect l="l" t="t" r="r" b="b"/>
              <a:pathLst>
                <a:path w="1325244" h="114934">
                  <a:moveTo>
                    <a:pt x="0" y="0"/>
                  </a:moveTo>
                  <a:lnTo>
                    <a:pt x="1324640" y="0"/>
                  </a:lnTo>
                  <a:lnTo>
                    <a:pt x="1324640" y="114895"/>
                  </a:lnTo>
                  <a:lnTo>
                    <a:pt x="0" y="1148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70732" y="638637"/>
            <a:ext cx="10058400" cy="1647189"/>
          </a:xfrm>
          <a:prstGeom prst="rect"/>
        </p:spPr>
        <p:txBody>
          <a:bodyPr wrap="square" lIns="0" tIns="89535" rIns="0" bIns="0" rtlCol="0" vert="horz">
            <a:spAutoFit/>
          </a:bodyPr>
          <a:lstStyle/>
          <a:p>
            <a:pPr marL="12700" marR="5080" indent="20320">
              <a:lnSpc>
                <a:spcPts val="6130"/>
              </a:lnSpc>
              <a:spcBef>
                <a:spcPts val="705"/>
              </a:spcBef>
            </a:pPr>
            <a:r>
              <a:rPr dirty="0">
                <a:solidFill>
                  <a:srgbClr val="1C1F23"/>
                </a:solidFill>
              </a:rPr>
              <a:t>A</a:t>
            </a:r>
            <a:r>
              <a:rPr dirty="0" spc="-175">
                <a:solidFill>
                  <a:srgbClr val="1C1F23"/>
                </a:solidFill>
              </a:rPr>
              <a:t> </a:t>
            </a:r>
            <a:r>
              <a:rPr dirty="0" spc="50">
                <a:solidFill>
                  <a:srgbClr val="1C1F23"/>
                </a:solidFill>
              </a:rPr>
              <a:t>Targeted</a:t>
            </a:r>
            <a:r>
              <a:rPr dirty="0" spc="-80">
                <a:solidFill>
                  <a:srgbClr val="1C1F23"/>
                </a:solidFill>
              </a:rPr>
              <a:t> </a:t>
            </a:r>
            <a:r>
              <a:rPr dirty="0" spc="110">
                <a:solidFill>
                  <a:srgbClr val="1C1F23"/>
                </a:solidFill>
              </a:rPr>
              <a:t>Land-and-</a:t>
            </a:r>
            <a:r>
              <a:rPr dirty="0" spc="114">
                <a:solidFill>
                  <a:srgbClr val="1C1F23"/>
                </a:solidFill>
              </a:rPr>
              <a:t>Expand </a:t>
            </a:r>
            <a:r>
              <a:rPr dirty="0" spc="120">
                <a:solidFill>
                  <a:srgbClr val="1C1F23"/>
                </a:solidFill>
              </a:rPr>
              <a:t>Go-</a:t>
            </a:r>
            <a:r>
              <a:rPr dirty="0" spc="105">
                <a:solidFill>
                  <a:srgbClr val="1C1F23"/>
                </a:solidFill>
              </a:rPr>
              <a:t>To-</a:t>
            </a:r>
            <a:r>
              <a:rPr dirty="0" spc="95">
                <a:solidFill>
                  <a:srgbClr val="1C1F23"/>
                </a:solidFill>
              </a:rPr>
              <a:t>Market.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501881" y="2387600"/>
            <a:ext cx="2910205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00">
                <a:solidFill>
                  <a:srgbClr val="1C1F23"/>
                </a:solidFill>
                <a:latin typeface="Arial"/>
                <a:cs typeface="Arial"/>
              </a:rPr>
              <a:t>Full</a:t>
            </a:r>
            <a:r>
              <a:rPr dirty="0" sz="2400" spc="-140">
                <a:solidFill>
                  <a:srgbClr val="1C1F23"/>
                </a:solidFill>
                <a:latin typeface="Arial"/>
                <a:cs typeface="Arial"/>
              </a:rPr>
              <a:t> </a:t>
            </a:r>
            <a:r>
              <a:rPr dirty="0" sz="2400" spc="55">
                <a:solidFill>
                  <a:srgbClr val="1C1F23"/>
                </a:solidFill>
                <a:latin typeface="Arial"/>
                <a:cs typeface="Arial"/>
              </a:rPr>
              <a:t>Market</a:t>
            </a:r>
            <a:r>
              <a:rPr dirty="0" sz="2400" spc="-55">
                <a:solidFill>
                  <a:srgbClr val="1C1F23"/>
                </a:solidFill>
                <a:latin typeface="Arial"/>
                <a:cs typeface="Arial"/>
              </a:rPr>
              <a:t> </a:t>
            </a:r>
            <a:r>
              <a:rPr dirty="0" sz="2400" spc="40">
                <a:solidFill>
                  <a:srgbClr val="1C1F23"/>
                </a:solidFill>
                <a:latin typeface="Arial"/>
                <a:cs typeface="Arial"/>
              </a:rPr>
              <a:t>Adoption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4744" y="2720006"/>
            <a:ext cx="7271384" cy="1914525"/>
          </a:xfrm>
          <a:prstGeom prst="rect">
            <a:avLst/>
          </a:prstGeom>
        </p:spPr>
        <p:txBody>
          <a:bodyPr wrap="square" lIns="0" tIns="186055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465"/>
              </a:spcBef>
            </a:pPr>
            <a:r>
              <a:rPr dirty="0" sz="2650" spc="-75" b="1">
                <a:solidFill>
                  <a:srgbClr val="0C0C0C"/>
                </a:solidFill>
                <a:latin typeface="Arial"/>
                <a:cs typeface="Arial"/>
              </a:rPr>
              <a:t>Initial</a:t>
            </a:r>
            <a:r>
              <a:rPr dirty="0" sz="2650" spc="-140" b="1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2650" spc="-85" b="1">
                <a:solidFill>
                  <a:srgbClr val="0C0C0C"/>
                </a:solidFill>
                <a:latin typeface="Arial"/>
                <a:cs typeface="Arial"/>
              </a:rPr>
              <a:t>Target</a:t>
            </a:r>
            <a:r>
              <a:rPr dirty="0" sz="2650" spc="-60" b="1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2650" spc="-10" b="1">
                <a:solidFill>
                  <a:srgbClr val="0C0C0C"/>
                </a:solidFill>
                <a:latin typeface="Arial"/>
                <a:cs typeface="Arial"/>
              </a:rPr>
              <a:t>Audience:</a:t>
            </a:r>
            <a:endParaRPr sz="2650">
              <a:latin typeface="Arial"/>
              <a:cs typeface="Arial"/>
            </a:endParaRPr>
          </a:p>
          <a:p>
            <a:pPr marL="20955" marR="5080" indent="-8890">
              <a:lnSpc>
                <a:spcPct val="100499"/>
              </a:lnSpc>
              <a:spcBef>
                <a:spcPts val="1280"/>
              </a:spcBef>
            </a:pPr>
            <a:r>
              <a:rPr dirty="0" sz="2500">
                <a:solidFill>
                  <a:srgbClr val="1C1F23"/>
                </a:solidFill>
                <a:latin typeface="Arial"/>
                <a:cs typeface="Arial"/>
              </a:rPr>
              <a:t>Government</a:t>
            </a:r>
            <a:r>
              <a:rPr dirty="0" sz="2500" spc="380">
                <a:solidFill>
                  <a:srgbClr val="1C1F23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1C1F23"/>
                </a:solidFill>
                <a:latin typeface="Arial"/>
                <a:cs typeface="Arial"/>
              </a:rPr>
              <a:t>and</a:t>
            </a:r>
            <a:r>
              <a:rPr dirty="0" sz="2500" spc="85">
                <a:solidFill>
                  <a:srgbClr val="1C1F23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0C0C0C"/>
                </a:solidFill>
                <a:latin typeface="Arial"/>
                <a:cs typeface="Arial"/>
              </a:rPr>
              <a:t>Private</a:t>
            </a:r>
            <a:r>
              <a:rPr dirty="0" sz="2500" spc="7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1C1F23"/>
                </a:solidFill>
                <a:latin typeface="Arial"/>
                <a:cs typeface="Arial"/>
              </a:rPr>
              <a:t>Sector</a:t>
            </a:r>
            <a:r>
              <a:rPr dirty="0" sz="2500" spc="330">
                <a:solidFill>
                  <a:srgbClr val="1C1F23"/>
                </a:solidFill>
                <a:latin typeface="Arial"/>
                <a:cs typeface="Arial"/>
              </a:rPr>
              <a:t> </a:t>
            </a:r>
            <a:r>
              <a:rPr dirty="0" sz="2500" spc="-10">
                <a:solidFill>
                  <a:srgbClr val="1C1F23"/>
                </a:solidFill>
                <a:latin typeface="Arial"/>
                <a:cs typeface="Arial"/>
              </a:rPr>
              <a:t>organizations</a:t>
            </a:r>
            <a:r>
              <a:rPr dirty="0" sz="2500" spc="625">
                <a:solidFill>
                  <a:srgbClr val="1C1F23"/>
                </a:solidFill>
                <a:latin typeface="Arial"/>
                <a:cs typeface="Arial"/>
              </a:rPr>
              <a:t> </a:t>
            </a:r>
            <a:r>
              <a:rPr dirty="0" sz="2500" spc="114">
                <a:solidFill>
                  <a:srgbClr val="1C1F23"/>
                </a:solidFill>
                <a:latin typeface="Arial"/>
                <a:cs typeface="Arial"/>
              </a:rPr>
              <a:t>with</a:t>
            </a:r>
            <a:r>
              <a:rPr dirty="0" sz="2500" spc="-165">
                <a:solidFill>
                  <a:srgbClr val="1C1F23"/>
                </a:solidFill>
                <a:latin typeface="Arial"/>
                <a:cs typeface="Arial"/>
              </a:rPr>
              <a:t> </a:t>
            </a:r>
            <a:r>
              <a:rPr dirty="0" sz="2500" spc="50">
                <a:solidFill>
                  <a:srgbClr val="1C1F23"/>
                </a:solidFill>
                <a:latin typeface="Arial"/>
                <a:cs typeface="Arial"/>
              </a:rPr>
              <a:t>mandatory</a:t>
            </a:r>
            <a:r>
              <a:rPr dirty="0" sz="2500" spc="215">
                <a:solidFill>
                  <a:srgbClr val="1C1F23"/>
                </a:solidFill>
                <a:latin typeface="Arial"/>
                <a:cs typeface="Arial"/>
              </a:rPr>
              <a:t> </a:t>
            </a:r>
            <a:r>
              <a:rPr dirty="0" sz="2500" spc="-10">
                <a:solidFill>
                  <a:srgbClr val="1C1F23"/>
                </a:solidFill>
                <a:latin typeface="Arial"/>
                <a:cs typeface="Arial"/>
              </a:rPr>
              <a:t>SBOM</a:t>
            </a:r>
            <a:r>
              <a:rPr dirty="0" sz="2500" spc="60">
                <a:solidFill>
                  <a:srgbClr val="1C1F23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1C1F23"/>
                </a:solidFill>
                <a:latin typeface="Arial"/>
                <a:cs typeface="Arial"/>
              </a:rPr>
              <a:t>(Software</a:t>
            </a:r>
            <a:r>
              <a:rPr dirty="0" sz="2500" spc="204">
                <a:solidFill>
                  <a:srgbClr val="1C1F23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1C1F23"/>
                </a:solidFill>
                <a:latin typeface="Arial"/>
                <a:cs typeface="Arial"/>
              </a:rPr>
              <a:t>Bill</a:t>
            </a:r>
            <a:r>
              <a:rPr dirty="0" sz="2500" spc="-170">
                <a:solidFill>
                  <a:srgbClr val="1C1F23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1C1F23"/>
                </a:solidFill>
                <a:latin typeface="Arial"/>
                <a:cs typeface="Arial"/>
              </a:rPr>
              <a:t>of</a:t>
            </a:r>
            <a:r>
              <a:rPr dirty="0" sz="2500" spc="220">
                <a:solidFill>
                  <a:srgbClr val="1C1F23"/>
                </a:solidFill>
                <a:latin typeface="Arial"/>
                <a:cs typeface="Arial"/>
              </a:rPr>
              <a:t> </a:t>
            </a:r>
            <a:r>
              <a:rPr dirty="0" sz="2500" spc="-10">
                <a:solidFill>
                  <a:srgbClr val="1C1F23"/>
                </a:solidFill>
                <a:latin typeface="Arial"/>
                <a:cs typeface="Arial"/>
              </a:rPr>
              <a:t>Materials) </a:t>
            </a:r>
            <a:r>
              <a:rPr dirty="0" sz="2500">
                <a:solidFill>
                  <a:srgbClr val="1C1F23"/>
                </a:solidFill>
                <a:latin typeface="Arial"/>
                <a:cs typeface="Arial"/>
              </a:rPr>
              <a:t>management</a:t>
            </a:r>
            <a:r>
              <a:rPr dirty="0" sz="2500" spc="345">
                <a:solidFill>
                  <a:srgbClr val="1C1F23"/>
                </a:solidFill>
                <a:latin typeface="Arial"/>
                <a:cs typeface="Arial"/>
              </a:rPr>
              <a:t> </a:t>
            </a:r>
            <a:r>
              <a:rPr dirty="0" sz="2500" spc="75">
                <a:solidFill>
                  <a:srgbClr val="1C1F23"/>
                </a:solidFill>
                <a:latin typeface="Arial"/>
                <a:cs typeface="Arial"/>
              </a:rPr>
              <a:t>and</a:t>
            </a:r>
            <a:r>
              <a:rPr dirty="0" sz="2500" spc="-60">
                <a:solidFill>
                  <a:srgbClr val="1C1F23"/>
                </a:solidFill>
                <a:latin typeface="Arial"/>
                <a:cs typeface="Arial"/>
              </a:rPr>
              <a:t> </a:t>
            </a:r>
            <a:r>
              <a:rPr dirty="0" sz="2500" spc="70">
                <a:solidFill>
                  <a:srgbClr val="1C1F23"/>
                </a:solidFill>
                <a:latin typeface="Arial"/>
                <a:cs typeface="Arial"/>
              </a:rPr>
              <a:t>auto-</a:t>
            </a:r>
            <a:r>
              <a:rPr dirty="0" sz="2500" spc="75">
                <a:solidFill>
                  <a:srgbClr val="1C1F23"/>
                </a:solidFill>
                <a:latin typeface="Arial"/>
                <a:cs typeface="Arial"/>
              </a:rPr>
              <a:t>remediation</a:t>
            </a:r>
            <a:r>
              <a:rPr dirty="0" sz="2500" spc="-300">
                <a:solidFill>
                  <a:srgbClr val="1C1F23"/>
                </a:solidFill>
                <a:latin typeface="Arial"/>
                <a:cs typeface="Arial"/>
              </a:rPr>
              <a:t> </a:t>
            </a:r>
            <a:r>
              <a:rPr dirty="0" sz="2500" spc="-10">
                <a:solidFill>
                  <a:srgbClr val="1C1F23"/>
                </a:solidFill>
                <a:latin typeface="Arial"/>
                <a:cs typeface="Arial"/>
              </a:rPr>
              <a:t>requirements.</a:t>
            </a:r>
            <a:endParaRPr sz="2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8565" y="5480836"/>
            <a:ext cx="7682865" cy="2732405"/>
          </a:xfrm>
          <a:prstGeom prst="rect">
            <a:avLst/>
          </a:prstGeom>
        </p:spPr>
        <p:txBody>
          <a:bodyPr wrap="square" lIns="0" tIns="157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2650" spc="-155" b="1">
                <a:solidFill>
                  <a:srgbClr val="0C0C0C"/>
                </a:solidFill>
                <a:latin typeface="Arial"/>
                <a:cs typeface="Arial"/>
              </a:rPr>
              <a:t>Key</a:t>
            </a:r>
            <a:r>
              <a:rPr dirty="0" sz="2650" spc="-215" b="1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2650" spc="-80" b="1">
                <a:solidFill>
                  <a:srgbClr val="0C0C0C"/>
                </a:solidFill>
                <a:latin typeface="Arial"/>
                <a:cs typeface="Arial"/>
              </a:rPr>
              <a:t>Target </a:t>
            </a:r>
            <a:r>
              <a:rPr dirty="0" sz="2650" spc="-10" b="1">
                <a:solidFill>
                  <a:srgbClr val="0C0C0C"/>
                </a:solidFill>
                <a:latin typeface="Arial"/>
                <a:cs typeface="Arial"/>
              </a:rPr>
              <a:t>Example:</a:t>
            </a:r>
            <a:endParaRPr sz="2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2500" spc="55">
                <a:solidFill>
                  <a:srgbClr val="0C0C0C"/>
                </a:solidFill>
                <a:latin typeface="Arial"/>
                <a:cs typeface="Arial"/>
              </a:rPr>
              <a:t>High</a:t>
            </a:r>
            <a:r>
              <a:rPr dirty="0" sz="2500" spc="55">
                <a:solidFill>
                  <a:srgbClr val="333331"/>
                </a:solidFill>
                <a:latin typeface="Arial"/>
                <a:cs typeface="Arial"/>
              </a:rPr>
              <a:t>-</a:t>
            </a:r>
            <a:r>
              <a:rPr dirty="0" sz="2500" spc="60">
                <a:solidFill>
                  <a:srgbClr val="333331"/>
                </a:solidFill>
                <a:latin typeface="Arial"/>
                <a:cs typeface="Arial"/>
              </a:rPr>
              <a:t>complia</a:t>
            </a:r>
            <a:r>
              <a:rPr dirty="0" sz="2500" spc="60">
                <a:solidFill>
                  <a:srgbClr val="0C0C0C"/>
                </a:solidFill>
                <a:latin typeface="Arial"/>
                <a:cs typeface="Arial"/>
              </a:rPr>
              <a:t>nce</a:t>
            </a:r>
            <a:r>
              <a:rPr dirty="0" sz="2500" spc="114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1C1F23"/>
                </a:solidFill>
                <a:latin typeface="Arial"/>
                <a:cs typeface="Arial"/>
              </a:rPr>
              <a:t>environments</a:t>
            </a:r>
            <a:r>
              <a:rPr dirty="0" sz="2500" spc="290">
                <a:solidFill>
                  <a:srgbClr val="1C1F23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1C1F23"/>
                </a:solidFill>
                <a:latin typeface="Arial"/>
                <a:cs typeface="Arial"/>
              </a:rPr>
              <a:t>like</a:t>
            </a:r>
            <a:r>
              <a:rPr dirty="0" sz="2500" spc="-100">
                <a:solidFill>
                  <a:srgbClr val="1C1F23"/>
                </a:solidFill>
                <a:latin typeface="Arial"/>
                <a:cs typeface="Arial"/>
              </a:rPr>
              <a:t> </a:t>
            </a:r>
            <a:r>
              <a:rPr dirty="0" sz="2650" spc="-75" b="1">
                <a:solidFill>
                  <a:srgbClr val="184BB1"/>
                </a:solidFill>
                <a:latin typeface="Arial"/>
                <a:cs typeface="Arial"/>
              </a:rPr>
              <a:t>Platform</a:t>
            </a:r>
            <a:r>
              <a:rPr dirty="0" sz="2650" spc="-5" b="1">
                <a:solidFill>
                  <a:srgbClr val="184BB1"/>
                </a:solidFill>
                <a:latin typeface="Arial"/>
                <a:cs typeface="Arial"/>
              </a:rPr>
              <a:t> </a:t>
            </a:r>
            <a:r>
              <a:rPr dirty="0" sz="2650" spc="-20" b="1">
                <a:solidFill>
                  <a:srgbClr val="184BB1"/>
                </a:solidFill>
                <a:latin typeface="Arial"/>
                <a:cs typeface="Arial"/>
              </a:rPr>
              <a:t>One</a:t>
            </a:r>
            <a:r>
              <a:rPr dirty="0" sz="2650" spc="-20" b="1">
                <a:solidFill>
                  <a:srgbClr val="1C1F23"/>
                </a:solidFill>
                <a:latin typeface="Arial"/>
                <a:cs typeface="Arial"/>
              </a:rPr>
              <a:t>.</a:t>
            </a:r>
            <a:endParaRPr sz="2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90"/>
              </a:spcBef>
            </a:pPr>
            <a:endParaRPr sz="25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</a:pPr>
            <a:r>
              <a:rPr dirty="0" sz="2650" spc="-114" b="1">
                <a:solidFill>
                  <a:srgbClr val="0C0C0C"/>
                </a:solidFill>
                <a:latin typeface="Arial"/>
                <a:cs typeface="Arial"/>
              </a:rPr>
              <a:t>Pricing</a:t>
            </a:r>
            <a:r>
              <a:rPr dirty="0" sz="2650" spc="-130" b="1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2650" spc="-10" b="1">
                <a:solidFill>
                  <a:srgbClr val="0C0C0C"/>
                </a:solidFill>
                <a:latin typeface="Arial"/>
                <a:cs typeface="Arial"/>
              </a:rPr>
              <a:t>Model:</a:t>
            </a:r>
            <a:endParaRPr sz="265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  <a:spcBef>
                <a:spcPts val="1140"/>
              </a:spcBef>
            </a:pPr>
            <a:r>
              <a:rPr dirty="0" sz="2500" spc="70">
                <a:solidFill>
                  <a:srgbClr val="1C1F23"/>
                </a:solidFill>
                <a:latin typeface="Arial"/>
                <a:cs typeface="Arial"/>
              </a:rPr>
              <a:t>Straightforward</a:t>
            </a:r>
            <a:r>
              <a:rPr dirty="0" sz="2500" spc="-120">
                <a:solidFill>
                  <a:srgbClr val="1C1F23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1C1F23"/>
                </a:solidFill>
                <a:latin typeface="Arial"/>
                <a:cs typeface="Arial"/>
              </a:rPr>
              <a:t>and</a:t>
            </a:r>
            <a:r>
              <a:rPr dirty="0" sz="2500" spc="30">
                <a:solidFill>
                  <a:srgbClr val="1C1F23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1C1F23"/>
                </a:solidFill>
                <a:latin typeface="Arial"/>
                <a:cs typeface="Arial"/>
              </a:rPr>
              <a:t>scalable:</a:t>
            </a:r>
            <a:r>
              <a:rPr dirty="0" sz="2500" spc="60">
                <a:solidFill>
                  <a:srgbClr val="1C1F23"/>
                </a:solidFill>
                <a:latin typeface="Arial"/>
                <a:cs typeface="Arial"/>
              </a:rPr>
              <a:t> </a:t>
            </a:r>
            <a:r>
              <a:rPr dirty="0" sz="2650" spc="-25" b="1">
                <a:solidFill>
                  <a:srgbClr val="184BB1"/>
                </a:solidFill>
                <a:latin typeface="Arial"/>
                <a:cs typeface="Arial"/>
              </a:rPr>
              <a:t>$125</a:t>
            </a:r>
            <a:r>
              <a:rPr dirty="0" sz="2650" spc="-175" b="1">
                <a:solidFill>
                  <a:srgbClr val="184BB1"/>
                </a:solidFill>
                <a:latin typeface="Arial"/>
                <a:cs typeface="Arial"/>
              </a:rPr>
              <a:t> </a:t>
            </a:r>
            <a:r>
              <a:rPr dirty="0" sz="2650" spc="-25" b="1">
                <a:solidFill>
                  <a:srgbClr val="184BB1"/>
                </a:solidFill>
                <a:latin typeface="Arial"/>
                <a:cs typeface="Arial"/>
              </a:rPr>
              <a:t>per</a:t>
            </a:r>
            <a:r>
              <a:rPr dirty="0" sz="2650" spc="-135" b="1">
                <a:solidFill>
                  <a:srgbClr val="184BB1"/>
                </a:solidFill>
                <a:latin typeface="Arial"/>
                <a:cs typeface="Arial"/>
              </a:rPr>
              <a:t> </a:t>
            </a:r>
            <a:r>
              <a:rPr dirty="0" sz="2650" spc="-10" b="1">
                <a:solidFill>
                  <a:srgbClr val="184BB1"/>
                </a:solidFill>
                <a:latin typeface="Arial"/>
                <a:cs typeface="Arial"/>
              </a:rPr>
              <a:t>user/month</a:t>
            </a:r>
            <a:r>
              <a:rPr dirty="0" sz="2650" spc="-10" b="1">
                <a:solidFill>
                  <a:srgbClr val="333331"/>
                </a:solidFill>
                <a:latin typeface="Arial"/>
                <a:cs typeface="Arial"/>
              </a:rPr>
              <a:t>.</a:t>
            </a:r>
            <a:endParaRPr sz="26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631537" y="3581234"/>
            <a:ext cx="2645410" cy="4013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50" spc="-110" b="1">
                <a:solidFill>
                  <a:srgbClr val="1C1F23"/>
                </a:solidFill>
                <a:latin typeface="Arial"/>
                <a:cs typeface="Arial"/>
              </a:rPr>
              <a:t>Broader</a:t>
            </a:r>
            <a:r>
              <a:rPr dirty="0" sz="2450" spc="-40" b="1">
                <a:solidFill>
                  <a:srgbClr val="1C1F23"/>
                </a:solidFill>
                <a:latin typeface="Arial"/>
                <a:cs typeface="Arial"/>
              </a:rPr>
              <a:t> </a:t>
            </a:r>
            <a:r>
              <a:rPr dirty="0" sz="2450" spc="-80" b="1">
                <a:solidFill>
                  <a:srgbClr val="1C1F23"/>
                </a:solidFill>
                <a:latin typeface="Arial"/>
                <a:cs typeface="Arial"/>
              </a:rPr>
              <a:t>Enterprise</a:t>
            </a:r>
            <a:endParaRPr sz="2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5799" y="2553493"/>
            <a:ext cx="2063380" cy="24000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50793" y="3983301"/>
            <a:ext cx="993479" cy="99575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66179" y="3983301"/>
            <a:ext cx="1452008" cy="97022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732221" y="5413108"/>
            <a:ext cx="1910714" cy="0"/>
          </a:xfrm>
          <a:custGeom>
            <a:avLst/>
            <a:gdLst/>
            <a:ahLst/>
            <a:cxnLst/>
            <a:rect l="l" t="t" r="r" b="b"/>
            <a:pathLst>
              <a:path w="1910714" h="0">
                <a:moveTo>
                  <a:pt x="0" y="0"/>
                </a:moveTo>
                <a:lnTo>
                  <a:pt x="1910537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681273" y="5783326"/>
            <a:ext cx="2012950" cy="0"/>
          </a:xfrm>
          <a:custGeom>
            <a:avLst/>
            <a:gdLst/>
            <a:ahLst/>
            <a:cxnLst/>
            <a:rect l="l" t="t" r="r" b="b"/>
            <a:pathLst>
              <a:path w="2012950" h="0">
                <a:moveTo>
                  <a:pt x="0" y="0"/>
                </a:moveTo>
                <a:lnTo>
                  <a:pt x="2012433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1619225" y="6140527"/>
            <a:ext cx="2087880" cy="33020"/>
            <a:chOff x="1619225" y="6140527"/>
            <a:chExt cx="2087880" cy="33020"/>
          </a:xfrm>
        </p:grpSpPr>
        <p:sp>
          <p:nvSpPr>
            <p:cNvPr id="8" name="object 8"/>
            <p:cNvSpPr/>
            <p:nvPr/>
          </p:nvSpPr>
          <p:spPr>
            <a:xfrm>
              <a:off x="1681273" y="6153545"/>
              <a:ext cx="2012950" cy="0"/>
            </a:xfrm>
            <a:custGeom>
              <a:avLst/>
              <a:gdLst/>
              <a:ahLst/>
              <a:cxnLst/>
              <a:rect l="l" t="t" r="r" b="b"/>
              <a:pathLst>
                <a:path w="2012950" h="0">
                  <a:moveTo>
                    <a:pt x="0" y="0"/>
                  </a:moveTo>
                  <a:lnTo>
                    <a:pt x="2012433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625893" y="6166311"/>
              <a:ext cx="51435" cy="0"/>
            </a:xfrm>
            <a:custGeom>
              <a:avLst/>
              <a:gdLst/>
              <a:ahLst/>
              <a:cxnLst/>
              <a:rect l="l" t="t" r="r" b="b"/>
              <a:pathLst>
                <a:path w="51435" h="0">
                  <a:moveTo>
                    <a:pt x="0" y="0"/>
                  </a:moveTo>
                  <a:lnTo>
                    <a:pt x="50947" y="0"/>
                  </a:lnTo>
                </a:path>
              </a:pathLst>
            </a:custGeom>
            <a:ln w="12766">
              <a:solidFill>
                <a:srgbClr val="343B3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722201" y="504592"/>
            <a:ext cx="15335250" cy="73787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650" spc="145">
                <a:solidFill>
                  <a:srgbClr val="1C1D1F"/>
                </a:solidFill>
              </a:rPr>
              <a:t>Mature</a:t>
            </a:r>
            <a:r>
              <a:rPr dirty="0" sz="4650" spc="-75">
                <a:solidFill>
                  <a:srgbClr val="1C1D1F"/>
                </a:solidFill>
              </a:rPr>
              <a:t> </a:t>
            </a:r>
            <a:r>
              <a:rPr dirty="0" sz="4650">
                <a:solidFill>
                  <a:srgbClr val="1C1D1F"/>
                </a:solidFill>
              </a:rPr>
              <a:t>Technology</a:t>
            </a:r>
            <a:r>
              <a:rPr dirty="0" sz="4650" spc="310">
                <a:solidFill>
                  <a:srgbClr val="1C1D1F"/>
                </a:solidFill>
              </a:rPr>
              <a:t> </a:t>
            </a:r>
            <a:r>
              <a:rPr dirty="0" sz="4650" spc="135">
                <a:solidFill>
                  <a:srgbClr val="1C1D1F"/>
                </a:solidFill>
              </a:rPr>
              <a:t>with</a:t>
            </a:r>
            <a:r>
              <a:rPr dirty="0" sz="4650" spc="-145">
                <a:solidFill>
                  <a:srgbClr val="1C1D1F"/>
                </a:solidFill>
              </a:rPr>
              <a:t> </a:t>
            </a:r>
            <a:r>
              <a:rPr dirty="0" sz="4650" spc="100">
                <a:solidFill>
                  <a:srgbClr val="1C1D1F"/>
                </a:solidFill>
              </a:rPr>
              <a:t>a</a:t>
            </a:r>
            <a:r>
              <a:rPr dirty="0" sz="4650" spc="-215">
                <a:solidFill>
                  <a:srgbClr val="1C1D1F"/>
                </a:solidFill>
              </a:rPr>
              <a:t> </a:t>
            </a:r>
            <a:r>
              <a:rPr dirty="0" sz="4650" spc="65">
                <a:solidFill>
                  <a:srgbClr val="1C1D1F"/>
                </a:solidFill>
              </a:rPr>
              <a:t>Powerful</a:t>
            </a:r>
            <a:r>
              <a:rPr dirty="0" sz="4650" spc="-114">
                <a:solidFill>
                  <a:srgbClr val="1C1D1F"/>
                </a:solidFill>
              </a:rPr>
              <a:t> </a:t>
            </a:r>
            <a:r>
              <a:rPr dirty="0" sz="4650" spc="50">
                <a:solidFill>
                  <a:srgbClr val="1C1D1F"/>
                </a:solidFill>
              </a:rPr>
              <a:t>Community</a:t>
            </a:r>
            <a:r>
              <a:rPr dirty="0" sz="4650" spc="170">
                <a:solidFill>
                  <a:srgbClr val="1C1D1F"/>
                </a:solidFill>
              </a:rPr>
              <a:t> </a:t>
            </a:r>
            <a:r>
              <a:rPr dirty="0" sz="4650" spc="140">
                <a:solidFill>
                  <a:srgbClr val="1C1D1F"/>
                </a:solidFill>
              </a:rPr>
              <a:t>Moat</a:t>
            </a:r>
            <a:endParaRPr sz="4650"/>
          </a:p>
        </p:txBody>
      </p:sp>
      <p:sp>
        <p:nvSpPr>
          <p:cNvPr id="11" name="object 11"/>
          <p:cNvSpPr txBox="1"/>
          <p:nvPr/>
        </p:nvSpPr>
        <p:spPr>
          <a:xfrm>
            <a:off x="3270947" y="1832272"/>
            <a:ext cx="10815320" cy="4622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8328025" algn="l"/>
              </a:tabLst>
            </a:pPr>
            <a:r>
              <a:rPr dirty="0" sz="2850" spc="65">
                <a:solidFill>
                  <a:srgbClr val="1C1D1F"/>
                </a:solidFill>
                <a:latin typeface="Arial"/>
                <a:cs typeface="Arial"/>
              </a:rPr>
              <a:t>Product</a:t>
            </a:r>
            <a:r>
              <a:rPr dirty="0" sz="2850" spc="20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850" spc="90">
                <a:solidFill>
                  <a:srgbClr val="1C1D1F"/>
                </a:solidFill>
                <a:latin typeface="Arial"/>
                <a:cs typeface="Arial"/>
              </a:rPr>
              <a:t>Maturity</a:t>
            </a:r>
            <a:r>
              <a:rPr dirty="0" sz="2850">
                <a:solidFill>
                  <a:srgbClr val="1C1D1F"/>
                </a:solidFill>
                <a:latin typeface="Arial"/>
                <a:cs typeface="Arial"/>
              </a:rPr>
              <a:t>	</a:t>
            </a:r>
            <a:r>
              <a:rPr dirty="0" sz="2850" spc="60">
                <a:solidFill>
                  <a:srgbClr val="1C1D1F"/>
                </a:solidFill>
                <a:latin typeface="Arial"/>
                <a:cs typeface="Arial"/>
              </a:rPr>
              <a:t>Strategic</a:t>
            </a:r>
            <a:r>
              <a:rPr dirty="0" sz="2850" spc="130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850" spc="70">
                <a:solidFill>
                  <a:srgbClr val="1C1D1F"/>
                </a:solidFill>
                <a:latin typeface="Arial"/>
                <a:cs typeface="Arial"/>
              </a:rPr>
              <a:t>Moat</a:t>
            </a:r>
            <a:endParaRPr sz="28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89414" y="5035199"/>
            <a:ext cx="624205" cy="297815"/>
          </a:xfrm>
          <a:prstGeom prst="rect">
            <a:avLst/>
          </a:prstGeom>
          <a:solidFill>
            <a:srgbClr val="0A50D6"/>
          </a:solidFill>
        </p:spPr>
        <p:txBody>
          <a:bodyPr wrap="square" lIns="0" tIns="25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dirty="0" sz="1750" spc="90">
                <a:solidFill>
                  <a:srgbClr val="BCE6F6"/>
                </a:solidFill>
                <a:latin typeface="Arial"/>
                <a:cs typeface="Arial"/>
              </a:rPr>
              <a:t>TRL7</a:t>
            </a:r>
            <a:endParaRPr sz="17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25893" y="5757794"/>
            <a:ext cx="51435" cy="0"/>
          </a:xfrm>
          <a:custGeom>
            <a:avLst/>
            <a:gdLst/>
            <a:ahLst/>
            <a:cxnLst/>
            <a:rect l="l" t="t" r="r" b="b"/>
            <a:pathLst>
              <a:path w="51435" h="0">
                <a:moveTo>
                  <a:pt x="0" y="0"/>
                </a:moveTo>
                <a:lnTo>
                  <a:pt x="50947" y="0"/>
                </a:lnTo>
              </a:path>
            </a:pathLst>
          </a:custGeom>
          <a:ln w="12766">
            <a:solidFill>
              <a:srgbClr val="343B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601967" y="5432325"/>
            <a:ext cx="163195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55">
                <a:solidFill>
                  <a:srgbClr val="1C1D1F"/>
                </a:solidFill>
                <a:latin typeface="Arial"/>
                <a:cs typeface="Arial"/>
              </a:rPr>
              <a:t>8</a:t>
            </a:r>
            <a:endParaRPr sz="17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625589" y="5757794"/>
            <a:ext cx="38735" cy="0"/>
          </a:xfrm>
          <a:custGeom>
            <a:avLst/>
            <a:gdLst/>
            <a:ahLst/>
            <a:cxnLst/>
            <a:rect l="l" t="t" r="r" b="b"/>
            <a:pathLst>
              <a:path w="38735" h="0">
                <a:moveTo>
                  <a:pt x="0" y="0"/>
                </a:moveTo>
                <a:lnTo>
                  <a:pt x="38210" y="0"/>
                </a:lnTo>
              </a:path>
            </a:pathLst>
          </a:custGeom>
          <a:ln w="12766">
            <a:solidFill>
              <a:srgbClr val="343B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613193" y="5285515"/>
            <a:ext cx="167005" cy="985519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L="12700" marR="5080">
              <a:lnSpc>
                <a:spcPct val="74500"/>
              </a:lnSpc>
              <a:spcBef>
                <a:spcPts val="1220"/>
              </a:spcBef>
            </a:pPr>
            <a:r>
              <a:rPr dirty="0" sz="3600" spc="60">
                <a:solidFill>
                  <a:srgbClr val="343B3F"/>
                </a:solidFill>
                <a:latin typeface="Arial"/>
                <a:cs typeface="Arial"/>
              </a:rPr>
              <a:t>I I</a:t>
            </a:r>
            <a:endParaRPr sz="3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01743" y="5840842"/>
            <a:ext cx="163195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55">
                <a:solidFill>
                  <a:srgbClr val="1C1D1F"/>
                </a:solidFill>
                <a:latin typeface="Arial"/>
                <a:cs typeface="Arial"/>
              </a:rPr>
              <a:t>9</a:t>
            </a:r>
            <a:endParaRPr sz="17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625589" y="6166311"/>
            <a:ext cx="38735" cy="0"/>
          </a:xfrm>
          <a:custGeom>
            <a:avLst/>
            <a:gdLst/>
            <a:ahLst/>
            <a:cxnLst/>
            <a:rect l="l" t="t" r="r" b="b"/>
            <a:pathLst>
              <a:path w="38735" h="0">
                <a:moveTo>
                  <a:pt x="0" y="0"/>
                </a:moveTo>
                <a:lnTo>
                  <a:pt x="38210" y="0"/>
                </a:lnTo>
              </a:path>
            </a:pathLst>
          </a:custGeom>
          <a:ln w="12766">
            <a:solidFill>
              <a:srgbClr val="343B3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612889" y="5285515"/>
            <a:ext cx="167005" cy="985519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L="12700" marR="5080">
              <a:lnSpc>
                <a:spcPct val="74500"/>
              </a:lnSpc>
              <a:spcBef>
                <a:spcPts val="1220"/>
              </a:spcBef>
            </a:pPr>
            <a:r>
              <a:rPr dirty="0" sz="3600" spc="60">
                <a:solidFill>
                  <a:srgbClr val="343B3F"/>
                </a:solidFill>
                <a:latin typeface="Arial"/>
                <a:cs typeface="Arial"/>
              </a:rPr>
              <a:t>I I</a:t>
            </a:r>
            <a:endParaRPr sz="3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81722" y="3913154"/>
            <a:ext cx="3464560" cy="111442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21590" marR="5080" indent="-9525">
              <a:lnSpc>
                <a:spcPts val="2810"/>
              </a:lnSpc>
              <a:spcBef>
                <a:spcPts val="315"/>
              </a:spcBef>
            </a:pPr>
            <a:r>
              <a:rPr dirty="0" sz="2450" spc="-120" b="1">
                <a:solidFill>
                  <a:srgbClr val="1C1D1F"/>
                </a:solidFill>
                <a:latin typeface="Arial"/>
                <a:cs typeface="Arial"/>
              </a:rPr>
              <a:t>TRL</a:t>
            </a:r>
            <a:r>
              <a:rPr dirty="0" sz="2450" spc="-220" b="1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50" b="1">
                <a:solidFill>
                  <a:srgbClr val="1C1D1F"/>
                </a:solidFill>
                <a:latin typeface="Arial"/>
                <a:cs typeface="Arial"/>
              </a:rPr>
              <a:t>7:</a:t>
            </a:r>
            <a:r>
              <a:rPr dirty="0" sz="2450" spc="-275" b="1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C1D1F"/>
                </a:solidFill>
                <a:latin typeface="Arial"/>
                <a:cs typeface="Arial"/>
              </a:rPr>
              <a:t>System</a:t>
            </a:r>
            <a:r>
              <a:rPr dirty="0" sz="2400" spc="170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 spc="60">
                <a:solidFill>
                  <a:srgbClr val="1C1D1F"/>
                </a:solidFill>
                <a:latin typeface="Arial"/>
                <a:cs typeface="Arial"/>
              </a:rPr>
              <a:t>prototype </a:t>
            </a:r>
            <a:r>
              <a:rPr dirty="0" sz="2400">
                <a:solidFill>
                  <a:srgbClr val="1C1D1F"/>
                </a:solidFill>
                <a:latin typeface="Arial"/>
                <a:cs typeface="Arial"/>
              </a:rPr>
              <a:t>demonstration</a:t>
            </a:r>
            <a:r>
              <a:rPr dirty="0" sz="2400" spc="355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C1D1F"/>
                </a:solidFill>
                <a:latin typeface="Arial"/>
                <a:cs typeface="Arial"/>
              </a:rPr>
              <a:t>in</a:t>
            </a:r>
            <a:r>
              <a:rPr dirty="0" sz="2400" spc="245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 spc="50">
                <a:solidFill>
                  <a:srgbClr val="1C1D1F"/>
                </a:solidFill>
                <a:latin typeface="Arial"/>
                <a:cs typeface="Arial"/>
              </a:rPr>
              <a:t>an </a:t>
            </a:r>
            <a:r>
              <a:rPr dirty="0" sz="2400">
                <a:solidFill>
                  <a:srgbClr val="1C1D1F"/>
                </a:solidFill>
                <a:latin typeface="Arial"/>
                <a:cs typeface="Arial"/>
              </a:rPr>
              <a:t>operational</a:t>
            </a:r>
            <a:r>
              <a:rPr dirty="0" sz="2400" spc="300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1C1D1F"/>
                </a:solidFill>
                <a:latin typeface="Arial"/>
                <a:cs typeface="Arial"/>
              </a:rPr>
              <a:t>environment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6163" y="6472767"/>
            <a:ext cx="7275830" cy="75057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218815" marR="5080" indent="-3206750">
              <a:lnSpc>
                <a:spcPts val="2810"/>
              </a:lnSpc>
              <a:spcBef>
                <a:spcPts val="265"/>
              </a:spcBef>
            </a:pPr>
            <a:r>
              <a:rPr dirty="0" sz="2400">
                <a:solidFill>
                  <a:srgbClr val="1C1D1F"/>
                </a:solidFill>
                <a:latin typeface="Arial"/>
                <a:cs typeface="Arial"/>
              </a:rPr>
              <a:t>We</a:t>
            </a:r>
            <a:r>
              <a:rPr dirty="0" sz="2400" spc="-100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C1D1F"/>
                </a:solidFill>
                <a:latin typeface="Arial"/>
                <a:cs typeface="Arial"/>
              </a:rPr>
              <a:t>are</a:t>
            </a:r>
            <a:r>
              <a:rPr dirty="0" sz="2400" spc="-120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 spc="50">
                <a:solidFill>
                  <a:srgbClr val="1C1D1F"/>
                </a:solidFill>
                <a:latin typeface="Arial"/>
                <a:cs typeface="Arial"/>
              </a:rPr>
              <a:t>currently</a:t>
            </a:r>
            <a:r>
              <a:rPr dirty="0" sz="2400" spc="-30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1C1D1F"/>
                </a:solidFill>
                <a:latin typeface="Arial"/>
                <a:cs typeface="Arial"/>
              </a:rPr>
              <a:t>Pre-</a:t>
            </a:r>
            <a:r>
              <a:rPr dirty="0" sz="2400">
                <a:solidFill>
                  <a:srgbClr val="1C1D1F"/>
                </a:solidFill>
                <a:latin typeface="Arial"/>
                <a:cs typeface="Arial"/>
              </a:rPr>
              <a:t>Revenue,</a:t>
            </a:r>
            <a:r>
              <a:rPr dirty="0" sz="2400" spc="215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 spc="95">
                <a:solidFill>
                  <a:srgbClr val="1C1D1F"/>
                </a:solidFill>
                <a:latin typeface="Arial"/>
                <a:cs typeface="Arial"/>
              </a:rPr>
              <a:t>but</a:t>
            </a:r>
            <a:r>
              <a:rPr dirty="0" sz="2400" spc="-85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 spc="95">
                <a:solidFill>
                  <a:srgbClr val="1C1D1F"/>
                </a:solidFill>
                <a:latin typeface="Arial"/>
                <a:cs typeface="Arial"/>
              </a:rPr>
              <a:t>the</a:t>
            </a:r>
            <a:r>
              <a:rPr dirty="0" sz="2400" spc="-130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 spc="65">
                <a:solidFill>
                  <a:srgbClr val="1C1D1F"/>
                </a:solidFill>
                <a:latin typeface="Arial"/>
                <a:cs typeface="Arial"/>
              </a:rPr>
              <a:t>platform</a:t>
            </a:r>
            <a:r>
              <a:rPr dirty="0" sz="2400" spc="-65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 spc="50">
                <a:solidFill>
                  <a:srgbClr val="1C1D1F"/>
                </a:solidFill>
                <a:latin typeface="Arial"/>
                <a:cs typeface="Arial"/>
              </a:rPr>
              <a:t>is</a:t>
            </a:r>
            <a:r>
              <a:rPr dirty="0" sz="2400" spc="-40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 spc="60">
                <a:solidFill>
                  <a:srgbClr val="1C1D1F"/>
                </a:solidFill>
                <a:latin typeface="Arial"/>
                <a:cs typeface="Arial"/>
              </a:rPr>
              <a:t>at </a:t>
            </a:r>
            <a:r>
              <a:rPr dirty="0" sz="2400" spc="-95">
                <a:solidFill>
                  <a:srgbClr val="1C1D1F"/>
                </a:solidFill>
                <a:latin typeface="Arial"/>
                <a:cs typeface="Arial"/>
              </a:rPr>
              <a:t>TRL</a:t>
            </a:r>
            <a:r>
              <a:rPr dirty="0" sz="2400" spc="-85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1C1D1F"/>
                </a:solidFill>
                <a:latin typeface="Arial"/>
                <a:cs typeface="Arial"/>
              </a:rPr>
              <a:t>7.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14932" y="3862089"/>
            <a:ext cx="278765" cy="4622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50" spc="-805">
                <a:solidFill>
                  <a:srgbClr val="1D5BBF"/>
                </a:solidFill>
                <a:latin typeface="Arial"/>
                <a:cs typeface="Arial"/>
              </a:rPr>
              <a:t>�</a:t>
            </a:r>
            <a:endParaRPr sz="28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498002" y="4117413"/>
            <a:ext cx="2062480" cy="6616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150" spc="-10" b="1">
                <a:solidFill>
                  <a:srgbClr val="1C1D1F"/>
                </a:solidFill>
                <a:latin typeface="Arial"/>
                <a:cs typeface="Arial"/>
              </a:rPr>
              <a:t>Ortelius</a:t>
            </a:r>
            <a:endParaRPr sz="41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499513" y="4002517"/>
            <a:ext cx="1553210" cy="9194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7940">
              <a:lnSpc>
                <a:spcPts val="1735"/>
              </a:lnSpc>
              <a:spcBef>
                <a:spcPts val="110"/>
              </a:spcBef>
            </a:pPr>
            <a:r>
              <a:rPr dirty="0" sz="1750" spc="60">
                <a:solidFill>
                  <a:srgbClr val="56676E"/>
                </a:solidFill>
                <a:latin typeface="Arial"/>
                <a:cs typeface="Arial"/>
              </a:rPr>
              <a:t>T</a:t>
            </a:r>
            <a:r>
              <a:rPr dirty="0" sz="1750" spc="60">
                <a:solidFill>
                  <a:srgbClr val="343B3F"/>
                </a:solidFill>
                <a:latin typeface="Arial"/>
                <a:cs typeface="Arial"/>
              </a:rPr>
              <a:t>H</a:t>
            </a:r>
            <a:r>
              <a:rPr dirty="0" sz="1750" spc="60">
                <a:solidFill>
                  <a:srgbClr val="56676E"/>
                </a:solidFill>
                <a:latin typeface="Arial"/>
                <a:cs typeface="Arial"/>
              </a:rPr>
              <a:t>E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ts val="3454"/>
              </a:lnSpc>
            </a:pPr>
            <a:r>
              <a:rPr dirty="0" sz="3400" spc="330" b="1">
                <a:solidFill>
                  <a:srgbClr val="083654"/>
                </a:solidFill>
                <a:latin typeface="Arial"/>
                <a:cs typeface="Arial"/>
              </a:rPr>
              <a:t>LINUX</a:t>
            </a:r>
            <a:endParaRPr sz="3400">
              <a:latin typeface="Arial"/>
              <a:cs typeface="Arial"/>
            </a:endParaRPr>
          </a:p>
          <a:p>
            <a:pPr marL="14604">
              <a:lnSpc>
                <a:spcPts val="1839"/>
              </a:lnSpc>
            </a:pPr>
            <a:r>
              <a:rPr dirty="0" sz="1750" spc="-10">
                <a:solidFill>
                  <a:srgbClr val="42565E"/>
                </a:solidFill>
                <a:latin typeface="Arial"/>
                <a:cs typeface="Arial"/>
              </a:rPr>
              <a:t>FO</a:t>
            </a:r>
            <a:r>
              <a:rPr dirty="0" sz="1750" spc="-10">
                <a:solidFill>
                  <a:srgbClr val="343B3F"/>
                </a:solidFill>
                <a:latin typeface="Arial"/>
                <a:cs typeface="Arial"/>
              </a:rPr>
              <a:t>U</a:t>
            </a:r>
            <a:r>
              <a:rPr dirty="0" sz="1750" spc="-10">
                <a:solidFill>
                  <a:srgbClr val="42565E"/>
                </a:solidFill>
                <a:latin typeface="Arial"/>
                <a:cs typeface="Arial"/>
              </a:rPr>
              <a:t>N</a:t>
            </a:r>
            <a:r>
              <a:rPr dirty="0" sz="1750" spc="-10">
                <a:solidFill>
                  <a:srgbClr val="343B3F"/>
                </a:solidFill>
                <a:latin typeface="Arial"/>
                <a:cs typeface="Arial"/>
              </a:rPr>
              <a:t>D</a:t>
            </a:r>
            <a:r>
              <a:rPr dirty="0" sz="1750" spc="-10">
                <a:solidFill>
                  <a:srgbClr val="42565E"/>
                </a:solidFill>
                <a:latin typeface="Arial"/>
                <a:cs typeface="Arial"/>
              </a:rPr>
              <a:t>AT</a:t>
            </a:r>
            <a:r>
              <a:rPr dirty="0" sz="1750" spc="-10">
                <a:solidFill>
                  <a:srgbClr val="343B3F"/>
                </a:solidFill>
                <a:latin typeface="Arial"/>
                <a:cs typeface="Arial"/>
              </a:rPr>
              <a:t>ION</a:t>
            </a:r>
            <a:endParaRPr sz="17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436157" y="6479150"/>
            <a:ext cx="6729730" cy="74549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076960" marR="5080" indent="-1064895">
              <a:lnSpc>
                <a:spcPts val="2710"/>
              </a:lnSpc>
              <a:spcBef>
                <a:spcPts val="395"/>
              </a:spcBef>
            </a:pPr>
            <a:r>
              <a:rPr dirty="0" sz="2400">
                <a:solidFill>
                  <a:srgbClr val="1C1D1F"/>
                </a:solidFill>
                <a:latin typeface="Arial"/>
                <a:cs typeface="Arial"/>
              </a:rPr>
              <a:t>Our</a:t>
            </a:r>
            <a:r>
              <a:rPr dirty="0" sz="2400" spc="195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C1D1F"/>
                </a:solidFill>
                <a:latin typeface="Arial"/>
                <a:cs typeface="Arial"/>
              </a:rPr>
              <a:t>open</a:t>
            </a:r>
            <a:r>
              <a:rPr dirty="0" sz="2400">
                <a:solidFill>
                  <a:srgbClr val="343B3F"/>
                </a:solidFill>
                <a:latin typeface="Arial"/>
                <a:cs typeface="Arial"/>
              </a:rPr>
              <a:t>-</a:t>
            </a:r>
            <a:r>
              <a:rPr dirty="0" sz="2400">
                <a:solidFill>
                  <a:srgbClr val="1C1D1F"/>
                </a:solidFill>
                <a:latin typeface="Arial"/>
                <a:cs typeface="Arial"/>
              </a:rPr>
              <a:t>source</a:t>
            </a:r>
            <a:r>
              <a:rPr dirty="0" sz="2400" spc="55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C1D1F"/>
                </a:solidFill>
                <a:latin typeface="Arial"/>
                <a:cs typeface="Arial"/>
              </a:rPr>
              <a:t>core,</a:t>
            </a:r>
            <a:r>
              <a:rPr dirty="0" sz="2400" spc="-65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50" spc="-10" b="1">
                <a:solidFill>
                  <a:srgbClr val="1846AA"/>
                </a:solidFill>
                <a:latin typeface="Arial"/>
                <a:cs typeface="Arial"/>
              </a:rPr>
              <a:t>Ortelius</a:t>
            </a:r>
            <a:r>
              <a:rPr dirty="0" sz="2450" spc="-10" b="1">
                <a:solidFill>
                  <a:srgbClr val="343B3F"/>
                </a:solidFill>
                <a:latin typeface="Arial"/>
                <a:cs typeface="Arial"/>
              </a:rPr>
              <a:t>,</a:t>
            </a:r>
            <a:r>
              <a:rPr dirty="0" sz="2450" spc="-229" b="1">
                <a:solidFill>
                  <a:srgbClr val="343B3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C1D1F"/>
                </a:solidFill>
                <a:latin typeface="Arial"/>
                <a:cs typeface="Arial"/>
              </a:rPr>
              <a:t>is</a:t>
            </a:r>
            <a:r>
              <a:rPr dirty="0" sz="2400" spc="250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 spc="75">
                <a:solidFill>
                  <a:srgbClr val="1C1D1F"/>
                </a:solidFill>
                <a:latin typeface="Arial"/>
                <a:cs typeface="Arial"/>
              </a:rPr>
              <a:t>an</a:t>
            </a:r>
            <a:r>
              <a:rPr dirty="0" sz="2400" spc="-65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1C1D1F"/>
                </a:solidFill>
                <a:latin typeface="Arial"/>
                <a:cs typeface="Arial"/>
              </a:rPr>
              <a:t>incubating </a:t>
            </a:r>
            <a:r>
              <a:rPr dirty="0" sz="2400" spc="55">
                <a:solidFill>
                  <a:srgbClr val="1C1D1F"/>
                </a:solidFill>
                <a:latin typeface="Arial"/>
                <a:cs typeface="Arial"/>
              </a:rPr>
              <a:t>project</a:t>
            </a:r>
            <a:r>
              <a:rPr dirty="0" sz="2400" spc="125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C1D1F"/>
                </a:solidFill>
                <a:latin typeface="Arial"/>
                <a:cs typeface="Arial"/>
              </a:rPr>
              <a:t>at</a:t>
            </a:r>
            <a:r>
              <a:rPr dirty="0" sz="2400" spc="25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50" spc="-10" b="1">
                <a:solidFill>
                  <a:srgbClr val="1846AA"/>
                </a:solidFill>
                <a:latin typeface="Arial"/>
                <a:cs typeface="Arial"/>
              </a:rPr>
              <a:t>The</a:t>
            </a:r>
            <a:r>
              <a:rPr dirty="0" sz="2450" spc="-245" b="1">
                <a:solidFill>
                  <a:srgbClr val="1846AA"/>
                </a:solidFill>
                <a:latin typeface="Arial"/>
                <a:cs typeface="Arial"/>
              </a:rPr>
              <a:t> </a:t>
            </a:r>
            <a:r>
              <a:rPr dirty="0" sz="2450" spc="-75" b="1">
                <a:solidFill>
                  <a:srgbClr val="1846AA"/>
                </a:solidFill>
                <a:latin typeface="Arial"/>
                <a:cs typeface="Arial"/>
              </a:rPr>
              <a:t>Linux</a:t>
            </a:r>
            <a:r>
              <a:rPr dirty="0" sz="2450" spc="-145" b="1">
                <a:solidFill>
                  <a:srgbClr val="1846AA"/>
                </a:solidFill>
                <a:latin typeface="Arial"/>
                <a:cs typeface="Arial"/>
              </a:rPr>
              <a:t> </a:t>
            </a:r>
            <a:r>
              <a:rPr dirty="0" sz="2450" spc="-10" b="1">
                <a:solidFill>
                  <a:srgbClr val="1846AA"/>
                </a:solidFill>
                <a:latin typeface="Arial"/>
                <a:cs typeface="Arial"/>
              </a:rPr>
              <a:t>Foundation</a:t>
            </a:r>
            <a:r>
              <a:rPr dirty="0" sz="2450" spc="-10" b="1">
                <a:solidFill>
                  <a:srgbClr val="343B3F"/>
                </a:solidFill>
                <a:latin typeface="Arial"/>
                <a:cs typeface="Arial"/>
              </a:rPr>
              <a:t>.</a:t>
            </a:r>
            <a:endParaRPr sz="24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23964" y="7740444"/>
            <a:ext cx="11871325" cy="1398270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dirty="0" sz="2900" spc="75" b="1">
                <a:solidFill>
                  <a:srgbClr val="1C1D1F"/>
                </a:solidFill>
                <a:latin typeface="Arial"/>
                <a:cs typeface="Arial"/>
              </a:rPr>
              <a:t>Why</a:t>
            </a:r>
            <a:r>
              <a:rPr dirty="0" sz="2900" spc="-20" b="1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1C1D1F"/>
                </a:solidFill>
                <a:latin typeface="Arial"/>
                <a:cs typeface="Arial"/>
              </a:rPr>
              <a:t>this</a:t>
            </a:r>
            <a:r>
              <a:rPr dirty="0" sz="2900" spc="-220" b="1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900" spc="85" b="1">
                <a:solidFill>
                  <a:srgbClr val="1C1D1F"/>
                </a:solidFill>
                <a:latin typeface="Arial"/>
                <a:cs typeface="Arial"/>
              </a:rPr>
              <a:t>Matters</a:t>
            </a:r>
            <a:endParaRPr sz="2900">
              <a:latin typeface="Arial"/>
              <a:cs typeface="Arial"/>
            </a:endParaRPr>
          </a:p>
          <a:p>
            <a:pPr algn="ctr" marL="12700" marR="5080">
              <a:lnSpc>
                <a:spcPts val="2810"/>
              </a:lnSpc>
              <a:spcBef>
                <a:spcPts val="890"/>
              </a:spcBef>
            </a:pPr>
            <a:r>
              <a:rPr dirty="0" sz="2400">
                <a:solidFill>
                  <a:srgbClr val="1C1D1F"/>
                </a:solidFill>
                <a:latin typeface="Arial"/>
                <a:cs typeface="Arial"/>
              </a:rPr>
              <a:t>We</a:t>
            </a:r>
            <a:r>
              <a:rPr dirty="0" sz="2400" spc="-15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 spc="50">
                <a:solidFill>
                  <a:srgbClr val="1C1D1F"/>
                </a:solidFill>
                <a:latin typeface="Arial"/>
                <a:cs typeface="Arial"/>
              </a:rPr>
              <a:t>are</a:t>
            </a:r>
            <a:r>
              <a:rPr dirty="0" sz="2400" spc="-105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C1D1F"/>
                </a:solidFill>
                <a:latin typeface="Arial"/>
                <a:cs typeface="Arial"/>
              </a:rPr>
              <a:t>leverag</a:t>
            </a:r>
            <a:r>
              <a:rPr dirty="0" sz="2400">
                <a:solidFill>
                  <a:srgbClr val="343B3F"/>
                </a:solidFill>
                <a:latin typeface="Arial"/>
                <a:cs typeface="Arial"/>
              </a:rPr>
              <a:t>i</a:t>
            </a:r>
            <a:r>
              <a:rPr dirty="0" sz="2400">
                <a:solidFill>
                  <a:srgbClr val="1C1D1F"/>
                </a:solidFill>
                <a:latin typeface="Arial"/>
                <a:cs typeface="Arial"/>
              </a:rPr>
              <a:t>ng</a:t>
            </a:r>
            <a:r>
              <a:rPr dirty="0" sz="2400" spc="80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C1D1F"/>
                </a:solidFill>
                <a:latin typeface="Arial"/>
                <a:cs typeface="Arial"/>
              </a:rPr>
              <a:t>the</a:t>
            </a:r>
            <a:r>
              <a:rPr dirty="0" sz="2400" spc="235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 spc="55">
                <a:solidFill>
                  <a:srgbClr val="1C1D1F"/>
                </a:solidFill>
                <a:latin typeface="Arial"/>
                <a:cs typeface="Arial"/>
              </a:rPr>
              <a:t>open-source</a:t>
            </a:r>
            <a:r>
              <a:rPr dirty="0" sz="2400" spc="215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 spc="50">
                <a:solidFill>
                  <a:srgbClr val="1C1D1F"/>
                </a:solidFill>
                <a:latin typeface="Arial"/>
                <a:cs typeface="Arial"/>
              </a:rPr>
              <a:t>community</a:t>
            </a:r>
            <a:r>
              <a:rPr dirty="0" sz="2400" spc="350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C1D1F"/>
                </a:solidFill>
                <a:latin typeface="Arial"/>
                <a:cs typeface="Arial"/>
              </a:rPr>
              <a:t>to</a:t>
            </a:r>
            <a:r>
              <a:rPr dirty="0" sz="2400" spc="245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 spc="65">
                <a:solidFill>
                  <a:srgbClr val="1C1D1F"/>
                </a:solidFill>
                <a:latin typeface="Arial"/>
                <a:cs typeface="Arial"/>
              </a:rPr>
              <a:t>build</a:t>
            </a:r>
            <a:r>
              <a:rPr dirty="0" sz="2400" spc="5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C1D1F"/>
                </a:solidFill>
                <a:latin typeface="Arial"/>
                <a:cs typeface="Arial"/>
              </a:rPr>
              <a:t>a</a:t>
            </a:r>
            <a:r>
              <a:rPr dirty="0" sz="2400" spc="50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C1D1F"/>
                </a:solidFill>
                <a:latin typeface="Arial"/>
                <a:cs typeface="Arial"/>
              </a:rPr>
              <a:t>defensive</a:t>
            </a:r>
            <a:r>
              <a:rPr dirty="0" sz="2400" spc="60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 spc="85">
                <a:solidFill>
                  <a:srgbClr val="1C1D1F"/>
                </a:solidFill>
                <a:latin typeface="Arial"/>
                <a:cs typeface="Arial"/>
              </a:rPr>
              <a:t>moat</a:t>
            </a:r>
            <a:r>
              <a:rPr dirty="0" sz="2400" spc="90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 spc="60">
                <a:solidFill>
                  <a:srgbClr val="1C1D1F"/>
                </a:solidFill>
                <a:latin typeface="Arial"/>
                <a:cs typeface="Arial"/>
              </a:rPr>
              <a:t>and</a:t>
            </a:r>
            <a:r>
              <a:rPr dirty="0" sz="2400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 spc="50">
                <a:solidFill>
                  <a:srgbClr val="1C1D1F"/>
                </a:solidFill>
                <a:latin typeface="Arial"/>
                <a:cs typeface="Arial"/>
              </a:rPr>
              <a:t>create </a:t>
            </a:r>
            <a:r>
              <a:rPr dirty="0" sz="2400">
                <a:solidFill>
                  <a:srgbClr val="1C1D1F"/>
                </a:solidFill>
                <a:latin typeface="Arial"/>
                <a:cs typeface="Arial"/>
              </a:rPr>
              <a:t>a</a:t>
            </a:r>
            <a:r>
              <a:rPr dirty="0" sz="2400" spc="20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 spc="65">
                <a:solidFill>
                  <a:srgbClr val="1C1D1F"/>
                </a:solidFill>
                <a:latin typeface="Arial"/>
                <a:cs typeface="Arial"/>
              </a:rPr>
              <a:t>frictionless</a:t>
            </a:r>
            <a:r>
              <a:rPr dirty="0" sz="2400" spc="160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 spc="50">
                <a:solidFill>
                  <a:srgbClr val="1C1D1F"/>
                </a:solidFill>
                <a:latin typeface="Arial"/>
                <a:cs typeface="Arial"/>
              </a:rPr>
              <a:t>on-</a:t>
            </a:r>
            <a:r>
              <a:rPr dirty="0" sz="2400" spc="60">
                <a:solidFill>
                  <a:srgbClr val="1C1D1F"/>
                </a:solidFill>
                <a:latin typeface="Arial"/>
                <a:cs typeface="Arial"/>
              </a:rPr>
              <a:t>ramp</a:t>
            </a:r>
            <a:r>
              <a:rPr dirty="0" sz="2400" spc="235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 spc="70">
                <a:solidFill>
                  <a:srgbClr val="1C1D1F"/>
                </a:solidFill>
                <a:latin typeface="Arial"/>
                <a:cs typeface="Arial"/>
              </a:rPr>
              <a:t>for</a:t>
            </a:r>
            <a:r>
              <a:rPr dirty="0" sz="2400" spc="155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C1D1F"/>
                </a:solidFill>
                <a:latin typeface="Arial"/>
                <a:cs typeface="Arial"/>
              </a:rPr>
              <a:t>enterprise</a:t>
            </a:r>
            <a:r>
              <a:rPr dirty="0" sz="2400" spc="270">
                <a:solidFill>
                  <a:srgbClr val="1C1D1F"/>
                </a:solidFill>
                <a:latin typeface="Arial"/>
                <a:cs typeface="Arial"/>
              </a:rPr>
              <a:t> </a:t>
            </a:r>
            <a:r>
              <a:rPr dirty="0" sz="2400" spc="50">
                <a:solidFill>
                  <a:srgbClr val="1C1D1F"/>
                </a:solidFill>
                <a:latin typeface="Arial"/>
                <a:cs typeface="Arial"/>
              </a:rPr>
              <a:t>adoption.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7170" y="2298170"/>
            <a:ext cx="1961485" cy="176172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24259" y="2170508"/>
            <a:ext cx="1477482" cy="196598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81341" y="2170508"/>
            <a:ext cx="1146322" cy="86809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361027" y="2196041"/>
            <a:ext cx="0" cy="1940560"/>
          </a:xfrm>
          <a:custGeom>
            <a:avLst/>
            <a:gdLst/>
            <a:ahLst/>
            <a:cxnLst/>
            <a:rect l="l" t="t" r="r" b="b"/>
            <a:pathLst>
              <a:path w="0" h="1940560">
                <a:moveTo>
                  <a:pt x="0" y="1940453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851248" y="3038606"/>
            <a:ext cx="0" cy="1097915"/>
          </a:xfrm>
          <a:custGeom>
            <a:avLst/>
            <a:gdLst/>
            <a:ahLst/>
            <a:cxnLst/>
            <a:rect l="l" t="t" r="r" b="b"/>
            <a:pathLst>
              <a:path w="0" h="1097914">
                <a:moveTo>
                  <a:pt x="0" y="1097888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3322817" y="2247105"/>
            <a:ext cx="459105" cy="0"/>
          </a:xfrm>
          <a:custGeom>
            <a:avLst/>
            <a:gdLst/>
            <a:ahLst/>
            <a:cxnLst/>
            <a:rect l="l" t="t" r="r" b="b"/>
            <a:pathLst>
              <a:path w="459105" h="0">
                <a:moveTo>
                  <a:pt x="0" y="0"/>
                </a:moveTo>
                <a:lnTo>
                  <a:pt x="458529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273084" y="3166267"/>
            <a:ext cx="1146810" cy="0"/>
          </a:xfrm>
          <a:custGeom>
            <a:avLst/>
            <a:gdLst/>
            <a:ahLst/>
            <a:cxnLst/>
            <a:rect l="l" t="t" r="r" b="b"/>
            <a:pathLst>
              <a:path w="1146810" h="0">
                <a:moveTo>
                  <a:pt x="0" y="0"/>
                </a:moveTo>
                <a:lnTo>
                  <a:pt x="1146322" y="0"/>
                </a:lnTo>
              </a:path>
            </a:pathLst>
          </a:custGeom>
          <a:ln w="893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648064" y="3166267"/>
            <a:ext cx="1146810" cy="0"/>
          </a:xfrm>
          <a:custGeom>
            <a:avLst/>
            <a:gdLst/>
            <a:ahLst/>
            <a:cxnLst/>
            <a:rect l="l" t="t" r="r" b="b"/>
            <a:pathLst>
              <a:path w="1146809" h="0">
                <a:moveTo>
                  <a:pt x="0" y="0"/>
                </a:moveTo>
                <a:lnTo>
                  <a:pt x="1146322" y="0"/>
                </a:lnTo>
              </a:path>
            </a:pathLst>
          </a:custGeom>
          <a:ln w="893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3552081" y="3217332"/>
            <a:ext cx="1121410" cy="128270"/>
          </a:xfrm>
          <a:custGeom>
            <a:avLst/>
            <a:gdLst/>
            <a:ahLst/>
            <a:cxnLst/>
            <a:rect l="l" t="t" r="r" b="b"/>
            <a:pathLst>
              <a:path w="1121409" h="128270">
                <a:moveTo>
                  <a:pt x="0" y="0"/>
                </a:moveTo>
                <a:lnTo>
                  <a:pt x="1120849" y="0"/>
                </a:lnTo>
                <a:lnTo>
                  <a:pt x="1120849" y="127661"/>
                </a:lnTo>
                <a:lnTo>
                  <a:pt x="0" y="12766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322817" y="4098196"/>
            <a:ext cx="1579880" cy="0"/>
          </a:xfrm>
          <a:custGeom>
            <a:avLst/>
            <a:gdLst/>
            <a:ahLst/>
            <a:cxnLst/>
            <a:rect l="l" t="t" r="r" b="b"/>
            <a:pathLst>
              <a:path w="1579880" h="0">
                <a:moveTo>
                  <a:pt x="0" y="0"/>
                </a:moveTo>
                <a:lnTo>
                  <a:pt x="1579378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961113" y="166291"/>
            <a:ext cx="14168119" cy="1577975"/>
          </a:xfrm>
          <a:prstGeom prst="rect"/>
        </p:spPr>
        <p:txBody>
          <a:bodyPr wrap="square" lIns="0" tIns="96520" rIns="0" bIns="0" rtlCol="0" vert="horz">
            <a:spAutoFit/>
          </a:bodyPr>
          <a:lstStyle/>
          <a:p>
            <a:pPr marL="12700" marR="5080" indent="4445">
              <a:lnSpc>
                <a:spcPts val="5830"/>
              </a:lnSpc>
              <a:spcBef>
                <a:spcPts val="760"/>
              </a:spcBef>
            </a:pPr>
            <a:r>
              <a:rPr dirty="0" sz="5300" spc="245">
                <a:solidFill>
                  <a:srgbClr val="1A1F26"/>
                </a:solidFill>
              </a:rPr>
              <a:t>The</a:t>
            </a:r>
            <a:r>
              <a:rPr dirty="0" sz="5300" spc="-235">
                <a:solidFill>
                  <a:srgbClr val="1A1F26"/>
                </a:solidFill>
              </a:rPr>
              <a:t> </a:t>
            </a:r>
            <a:r>
              <a:rPr dirty="0" sz="5300" spc="170">
                <a:solidFill>
                  <a:srgbClr val="1A1F26"/>
                </a:solidFill>
              </a:rPr>
              <a:t>Immediate</a:t>
            </a:r>
            <a:r>
              <a:rPr dirty="0" sz="5300" spc="25">
                <a:solidFill>
                  <a:srgbClr val="1A1F26"/>
                </a:solidFill>
              </a:rPr>
              <a:t> </a:t>
            </a:r>
            <a:r>
              <a:rPr dirty="0" sz="5300" spc="95">
                <a:solidFill>
                  <a:srgbClr val="1A1F26"/>
                </a:solidFill>
              </a:rPr>
              <a:t>Catalyst:</a:t>
            </a:r>
            <a:r>
              <a:rPr dirty="0" sz="5300" spc="-340">
                <a:solidFill>
                  <a:srgbClr val="1A1F26"/>
                </a:solidFill>
              </a:rPr>
              <a:t> </a:t>
            </a:r>
            <a:r>
              <a:rPr dirty="0" sz="5300">
                <a:solidFill>
                  <a:srgbClr val="1A1F26"/>
                </a:solidFill>
              </a:rPr>
              <a:t>Unlocking</a:t>
            </a:r>
            <a:r>
              <a:rPr dirty="0" sz="5300" spc="-50">
                <a:solidFill>
                  <a:srgbClr val="1A1F26"/>
                </a:solidFill>
              </a:rPr>
              <a:t> </a:t>
            </a:r>
            <a:r>
              <a:rPr dirty="0" sz="5300">
                <a:solidFill>
                  <a:srgbClr val="1A1F26"/>
                </a:solidFill>
              </a:rPr>
              <a:t>a</a:t>
            </a:r>
            <a:r>
              <a:rPr dirty="0" sz="5300" spc="-75">
                <a:solidFill>
                  <a:srgbClr val="1A1F26"/>
                </a:solidFill>
              </a:rPr>
              <a:t> </a:t>
            </a:r>
            <a:r>
              <a:rPr dirty="0" sz="5300" spc="65">
                <a:solidFill>
                  <a:srgbClr val="1A1F26"/>
                </a:solidFill>
              </a:rPr>
              <a:t>Major </a:t>
            </a:r>
            <a:r>
              <a:rPr dirty="0" sz="5300">
                <a:solidFill>
                  <a:srgbClr val="1A1F26"/>
                </a:solidFill>
              </a:rPr>
              <a:t>Government</a:t>
            </a:r>
            <a:r>
              <a:rPr dirty="0" sz="5300" spc="515">
                <a:solidFill>
                  <a:srgbClr val="1A1F26"/>
                </a:solidFill>
              </a:rPr>
              <a:t> </a:t>
            </a:r>
            <a:r>
              <a:rPr dirty="0" sz="5300" spc="85">
                <a:solidFill>
                  <a:srgbClr val="1A1F26"/>
                </a:solidFill>
              </a:rPr>
              <a:t>Contract.</a:t>
            </a:r>
            <a:endParaRPr sz="5300"/>
          </a:p>
        </p:txBody>
      </p:sp>
      <p:sp>
        <p:nvSpPr>
          <p:cNvPr id="13" name="object 13"/>
          <p:cNvSpPr txBox="1"/>
          <p:nvPr/>
        </p:nvSpPr>
        <p:spPr>
          <a:xfrm>
            <a:off x="1873586" y="4340820"/>
            <a:ext cx="2755900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00" spc="95">
                <a:solidFill>
                  <a:srgbClr val="0A0A08"/>
                </a:solidFill>
                <a:latin typeface="Arial"/>
                <a:cs typeface="Arial"/>
              </a:rPr>
              <a:t>[Investor</a:t>
            </a:r>
            <a:r>
              <a:rPr dirty="0" sz="2800" spc="9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55">
                <a:solidFill>
                  <a:srgbClr val="0A0A08"/>
                </a:solidFill>
                <a:latin typeface="Arial"/>
                <a:cs typeface="Arial"/>
              </a:rPr>
              <a:t>Funds]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393526" y="3587550"/>
            <a:ext cx="382270" cy="0"/>
          </a:xfrm>
          <a:custGeom>
            <a:avLst/>
            <a:gdLst/>
            <a:ahLst/>
            <a:cxnLst/>
            <a:rect l="l" t="t" r="r" b="b"/>
            <a:pathLst>
              <a:path w="382270" h="0">
                <a:moveTo>
                  <a:pt x="0" y="0"/>
                </a:moveTo>
                <a:lnTo>
                  <a:pt x="382107" y="0"/>
                </a:lnTo>
              </a:path>
            </a:pathLst>
          </a:custGeom>
          <a:ln w="12766">
            <a:solidFill>
              <a:srgbClr val="1152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621960" y="4353586"/>
            <a:ext cx="4261485" cy="87566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5080" indent="659765">
              <a:lnSpc>
                <a:spcPts val="3320"/>
              </a:lnSpc>
              <a:spcBef>
                <a:spcPts val="254"/>
              </a:spcBef>
            </a:pPr>
            <a:r>
              <a:rPr dirty="0" sz="2800" spc="55">
                <a:solidFill>
                  <a:srgbClr val="0A0A08"/>
                </a:solidFill>
                <a:latin typeface="Arial"/>
                <a:cs typeface="Arial"/>
              </a:rPr>
              <a:t>Secure</a:t>
            </a:r>
            <a:r>
              <a:rPr dirty="0" sz="2800" spc="8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65">
                <a:solidFill>
                  <a:srgbClr val="0A0A08"/>
                </a:solidFill>
                <a:latin typeface="Arial"/>
                <a:cs typeface="Arial"/>
              </a:rPr>
              <a:t>Customer </a:t>
            </a:r>
            <a:r>
              <a:rPr dirty="0" sz="2800" spc="85">
                <a:solidFill>
                  <a:srgbClr val="0A0A08"/>
                </a:solidFill>
                <a:latin typeface="Arial"/>
                <a:cs typeface="Arial"/>
              </a:rPr>
              <a:t>Memorandum</a:t>
            </a:r>
            <a:r>
              <a:rPr dirty="0" sz="2800" spc="14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65">
                <a:solidFill>
                  <a:srgbClr val="0A0A08"/>
                </a:solidFill>
                <a:latin typeface="Arial"/>
                <a:cs typeface="Arial"/>
              </a:rPr>
              <a:t>of</a:t>
            </a:r>
            <a:r>
              <a:rPr dirty="0" sz="2800" spc="22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95">
                <a:solidFill>
                  <a:srgbClr val="0A0A08"/>
                </a:solidFill>
                <a:latin typeface="Arial"/>
                <a:cs typeface="Arial"/>
              </a:rPr>
              <a:t>Support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768505" y="3587550"/>
            <a:ext cx="382270" cy="0"/>
          </a:xfrm>
          <a:custGeom>
            <a:avLst/>
            <a:gdLst/>
            <a:ahLst/>
            <a:cxnLst/>
            <a:rect l="l" t="t" r="r" b="b"/>
            <a:pathLst>
              <a:path w="382270" h="0">
                <a:moveTo>
                  <a:pt x="0" y="0"/>
                </a:moveTo>
                <a:lnTo>
                  <a:pt x="382107" y="0"/>
                </a:lnTo>
              </a:path>
            </a:pathLst>
          </a:custGeom>
          <a:ln w="12766">
            <a:solidFill>
              <a:srgbClr val="1152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380825" y="2655689"/>
            <a:ext cx="5877560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387340" algn="l"/>
              </a:tabLst>
            </a:pPr>
            <a:r>
              <a:rPr dirty="0" sz="7200" spc="-515">
                <a:solidFill>
                  <a:srgbClr val="1152BF"/>
                </a:solidFill>
                <a:latin typeface="Arial"/>
                <a:cs typeface="Arial"/>
              </a:rPr>
              <a:t>&gt;</a:t>
            </a:r>
            <a:r>
              <a:rPr dirty="0" sz="7200">
                <a:solidFill>
                  <a:srgbClr val="1152BF"/>
                </a:solidFill>
                <a:latin typeface="Arial"/>
                <a:cs typeface="Arial"/>
              </a:rPr>
              <a:t>	</a:t>
            </a:r>
            <a:r>
              <a:rPr dirty="0" sz="7200" spc="-525">
                <a:solidFill>
                  <a:srgbClr val="1152BF"/>
                </a:solidFill>
                <a:latin typeface="Arial"/>
                <a:cs typeface="Arial"/>
              </a:rPr>
              <a:t>&gt;</a:t>
            </a:r>
            <a:endParaRPr sz="7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508800" y="3332294"/>
            <a:ext cx="692150" cy="7766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900" spc="-355">
                <a:solidFill>
                  <a:srgbClr val="1152BF"/>
                </a:solidFill>
                <a:latin typeface="Courier New"/>
                <a:cs typeface="Courier New"/>
              </a:rPr>
              <a:t>=@</a:t>
            </a:r>
            <a:endParaRPr sz="49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110146" y="4353586"/>
            <a:ext cx="4024629" cy="8890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669925" marR="5080" indent="-657860">
              <a:lnSpc>
                <a:spcPct val="101699"/>
              </a:lnSpc>
              <a:spcBef>
                <a:spcPts val="55"/>
              </a:spcBef>
            </a:pPr>
            <a:r>
              <a:rPr dirty="0" sz="2800" spc="85">
                <a:solidFill>
                  <a:srgbClr val="0A0A08"/>
                </a:solidFill>
                <a:latin typeface="Arial"/>
                <a:cs typeface="Arial"/>
              </a:rPr>
              <a:t>Unlock</a:t>
            </a:r>
            <a:r>
              <a:rPr dirty="0" sz="2800" spc="19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110">
                <a:solidFill>
                  <a:srgbClr val="0A0A08"/>
                </a:solidFill>
                <a:latin typeface="Arial"/>
                <a:cs typeface="Arial"/>
              </a:rPr>
              <a:t>Direct-</a:t>
            </a:r>
            <a:r>
              <a:rPr dirty="0" sz="2800" spc="100">
                <a:solidFill>
                  <a:srgbClr val="0A0A08"/>
                </a:solidFill>
                <a:latin typeface="Arial"/>
                <a:cs typeface="Arial"/>
              </a:rPr>
              <a:t>to-</a:t>
            </a:r>
            <a:r>
              <a:rPr dirty="0" sz="2800" spc="140">
                <a:solidFill>
                  <a:srgbClr val="0A0A08"/>
                </a:solidFill>
                <a:latin typeface="Arial"/>
                <a:cs typeface="Arial"/>
              </a:rPr>
              <a:t>Phase </a:t>
            </a:r>
            <a:r>
              <a:rPr dirty="0" sz="2800">
                <a:solidFill>
                  <a:srgbClr val="0A0A08"/>
                </a:solidFill>
                <a:latin typeface="Arial"/>
                <a:cs typeface="Arial"/>
              </a:rPr>
              <a:t>II</a:t>
            </a:r>
            <a:r>
              <a:rPr dirty="0" sz="2800" spc="-6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-85">
                <a:solidFill>
                  <a:srgbClr val="0A0A08"/>
                </a:solidFill>
                <a:latin typeface="Arial"/>
                <a:cs typeface="Arial"/>
              </a:rPr>
              <a:t>SBIR</a:t>
            </a:r>
            <a:r>
              <a:rPr dirty="0" sz="2800" spc="-3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100">
                <a:solidFill>
                  <a:srgbClr val="0A0A08"/>
                </a:solidFill>
                <a:latin typeface="Arial"/>
                <a:cs typeface="Arial"/>
              </a:rPr>
              <a:t>Contract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72373" y="6089782"/>
            <a:ext cx="14688185" cy="3046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50" b="1">
                <a:solidFill>
                  <a:srgbClr val="0A0A08"/>
                </a:solidFill>
                <a:latin typeface="Arial"/>
                <a:cs typeface="Arial"/>
              </a:rPr>
              <a:t>The</a:t>
            </a:r>
            <a:r>
              <a:rPr dirty="0" sz="3000" spc="-300" b="1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000" spc="-65" b="1">
                <a:solidFill>
                  <a:srgbClr val="0A0A08"/>
                </a:solidFill>
                <a:latin typeface="Arial"/>
                <a:cs typeface="Arial"/>
              </a:rPr>
              <a:t>Goal:</a:t>
            </a:r>
            <a:r>
              <a:rPr dirty="0" sz="3000" spc="-165" b="1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95">
                <a:solidFill>
                  <a:srgbClr val="0A0A08"/>
                </a:solidFill>
                <a:latin typeface="Arial"/>
                <a:cs typeface="Arial"/>
              </a:rPr>
              <a:t>Secure</a:t>
            </a:r>
            <a:r>
              <a:rPr dirty="0" sz="2800" spc="7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0A0A08"/>
                </a:solidFill>
                <a:latin typeface="Arial"/>
                <a:cs typeface="Arial"/>
              </a:rPr>
              <a:t>a</a:t>
            </a:r>
            <a:r>
              <a:rPr dirty="0" sz="2800" spc="-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120">
                <a:solidFill>
                  <a:srgbClr val="0A0A08"/>
                </a:solidFill>
                <a:latin typeface="Arial"/>
                <a:cs typeface="Arial"/>
              </a:rPr>
              <a:t>Customer</a:t>
            </a:r>
            <a:r>
              <a:rPr dirty="0" sz="2800" spc="26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120">
                <a:solidFill>
                  <a:srgbClr val="0A0A08"/>
                </a:solidFill>
                <a:latin typeface="Arial"/>
                <a:cs typeface="Arial"/>
              </a:rPr>
              <a:t>Memorandum</a:t>
            </a:r>
            <a:r>
              <a:rPr dirty="0" sz="2800" spc="204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90">
                <a:solidFill>
                  <a:srgbClr val="0A0A08"/>
                </a:solidFill>
                <a:latin typeface="Arial"/>
                <a:cs typeface="Arial"/>
              </a:rPr>
              <a:t>of</a:t>
            </a:r>
            <a:r>
              <a:rPr dirty="0" sz="2800" spc="28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130">
                <a:solidFill>
                  <a:srgbClr val="0A0A08"/>
                </a:solidFill>
                <a:latin typeface="Arial"/>
                <a:cs typeface="Arial"/>
              </a:rPr>
              <a:t>Support.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2800">
              <a:latin typeface="Arial"/>
              <a:cs typeface="Arial"/>
            </a:endParaRPr>
          </a:p>
          <a:p>
            <a:pPr marL="13335" marR="5080" indent="-1270">
              <a:lnSpc>
                <a:spcPts val="3320"/>
              </a:lnSpc>
              <a:spcBef>
                <a:spcPts val="5"/>
              </a:spcBef>
            </a:pPr>
            <a:r>
              <a:rPr dirty="0" sz="3000" spc="50" b="1">
                <a:solidFill>
                  <a:srgbClr val="0A0A08"/>
                </a:solidFill>
                <a:latin typeface="Arial"/>
                <a:cs typeface="Arial"/>
              </a:rPr>
              <a:t>The</a:t>
            </a:r>
            <a:r>
              <a:rPr dirty="0" sz="3000" spc="-355" b="1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000" spc="-20" b="1">
                <a:solidFill>
                  <a:srgbClr val="0A0A08"/>
                </a:solidFill>
                <a:latin typeface="Arial"/>
                <a:cs typeface="Arial"/>
              </a:rPr>
              <a:t>Unlock:</a:t>
            </a:r>
            <a:r>
              <a:rPr dirty="0" sz="3000" spc="-10" b="1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114">
                <a:solidFill>
                  <a:srgbClr val="0A0A08"/>
                </a:solidFill>
                <a:latin typeface="Arial"/>
                <a:cs typeface="Arial"/>
              </a:rPr>
              <a:t>This</a:t>
            </a:r>
            <a:r>
              <a:rPr dirty="0" sz="2800" spc="8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90">
                <a:solidFill>
                  <a:srgbClr val="0A0A08"/>
                </a:solidFill>
                <a:latin typeface="Arial"/>
                <a:cs typeface="Arial"/>
              </a:rPr>
              <a:t>single</a:t>
            </a:r>
            <a:r>
              <a:rPr dirty="0" sz="2800" spc="9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145">
                <a:solidFill>
                  <a:srgbClr val="0A0A08"/>
                </a:solidFill>
                <a:latin typeface="Arial"/>
                <a:cs typeface="Arial"/>
              </a:rPr>
              <a:t>document</a:t>
            </a:r>
            <a:r>
              <a:rPr dirty="0" sz="2800" spc="18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135">
                <a:solidFill>
                  <a:srgbClr val="0A0A08"/>
                </a:solidFill>
                <a:latin typeface="Arial"/>
                <a:cs typeface="Arial"/>
              </a:rPr>
              <a:t>unlocks</a:t>
            </a:r>
            <a:r>
              <a:rPr dirty="0" sz="2800" spc="10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140">
                <a:solidFill>
                  <a:srgbClr val="0A0A08"/>
                </a:solidFill>
                <a:latin typeface="Arial"/>
                <a:cs typeface="Arial"/>
              </a:rPr>
              <a:t>a</a:t>
            </a:r>
            <a:r>
              <a:rPr dirty="0" sz="2800" spc="-7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000" b="1">
                <a:solidFill>
                  <a:srgbClr val="0A0A08"/>
                </a:solidFill>
                <a:latin typeface="Arial"/>
                <a:cs typeface="Arial"/>
              </a:rPr>
              <a:t>Direct-to-Phase</a:t>
            </a:r>
            <a:r>
              <a:rPr dirty="0" sz="3000" spc="-425" b="1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000" b="1">
                <a:solidFill>
                  <a:srgbClr val="0A0A08"/>
                </a:solidFill>
                <a:latin typeface="Arial"/>
                <a:cs typeface="Arial"/>
              </a:rPr>
              <a:t>II</a:t>
            </a:r>
            <a:r>
              <a:rPr dirty="0" sz="3000" spc="-110" b="1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000" spc="-165" b="1">
                <a:solidFill>
                  <a:srgbClr val="0A0A08"/>
                </a:solidFill>
                <a:latin typeface="Arial"/>
                <a:cs typeface="Arial"/>
              </a:rPr>
              <a:t>SBIR</a:t>
            </a:r>
            <a:r>
              <a:rPr dirty="0" sz="3000" spc="185" b="1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60">
                <a:solidFill>
                  <a:srgbClr val="0A0A08"/>
                </a:solidFill>
                <a:latin typeface="Arial"/>
                <a:cs typeface="Arial"/>
              </a:rPr>
              <a:t>(Small</a:t>
            </a:r>
            <a:r>
              <a:rPr dirty="0" sz="2800" spc="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85">
                <a:solidFill>
                  <a:srgbClr val="0A0A08"/>
                </a:solidFill>
                <a:latin typeface="Arial"/>
                <a:cs typeface="Arial"/>
              </a:rPr>
              <a:t>Business </a:t>
            </a:r>
            <a:r>
              <a:rPr dirty="0" sz="2800" spc="110">
                <a:solidFill>
                  <a:srgbClr val="0A0A08"/>
                </a:solidFill>
                <a:latin typeface="Arial"/>
                <a:cs typeface="Arial"/>
              </a:rPr>
              <a:t>Innovation</a:t>
            </a:r>
            <a:r>
              <a:rPr dirty="0" sz="2800" spc="9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50">
                <a:solidFill>
                  <a:srgbClr val="0A0A08"/>
                </a:solidFill>
                <a:latin typeface="Arial"/>
                <a:cs typeface="Arial"/>
              </a:rPr>
              <a:t>Research)</a:t>
            </a:r>
            <a:r>
              <a:rPr dirty="0" sz="2800" spc="32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155">
                <a:solidFill>
                  <a:srgbClr val="0A0A08"/>
                </a:solidFill>
                <a:latin typeface="Arial"/>
                <a:cs typeface="Arial"/>
              </a:rPr>
              <a:t>contract</a:t>
            </a:r>
            <a:r>
              <a:rPr dirty="0" sz="2800" spc="31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180">
                <a:solidFill>
                  <a:srgbClr val="0A0A08"/>
                </a:solidFill>
                <a:latin typeface="Arial"/>
                <a:cs typeface="Arial"/>
              </a:rPr>
              <a:t>with</a:t>
            </a:r>
            <a:r>
              <a:rPr dirty="0" sz="2800" spc="2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000" spc="-10" b="1">
                <a:solidFill>
                  <a:srgbClr val="0A0A08"/>
                </a:solidFill>
                <a:latin typeface="Arial"/>
                <a:cs typeface="Arial"/>
              </a:rPr>
              <a:t>AFWERX.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2800">
              <a:latin typeface="Arial"/>
              <a:cs typeface="Arial"/>
            </a:endParaRPr>
          </a:p>
          <a:p>
            <a:pPr marL="20320" marR="660400" indent="-8255">
              <a:lnSpc>
                <a:spcPts val="3320"/>
              </a:lnSpc>
            </a:pPr>
            <a:r>
              <a:rPr dirty="0" sz="3000" spc="50" b="1">
                <a:solidFill>
                  <a:srgbClr val="0A0A08"/>
                </a:solidFill>
                <a:latin typeface="Arial"/>
                <a:cs typeface="Arial"/>
              </a:rPr>
              <a:t>The</a:t>
            </a:r>
            <a:r>
              <a:rPr dirty="0" sz="3000" spc="-265" b="1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000" spc="-10" b="1">
                <a:solidFill>
                  <a:srgbClr val="0A0A08"/>
                </a:solidFill>
                <a:latin typeface="Arial"/>
                <a:cs typeface="Arial"/>
              </a:rPr>
              <a:t>Status:</a:t>
            </a:r>
            <a:r>
              <a:rPr dirty="0" sz="3000" spc="-140" b="1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80">
                <a:solidFill>
                  <a:srgbClr val="0A0A08"/>
                </a:solidFill>
                <a:latin typeface="Arial"/>
                <a:cs typeface="Arial"/>
              </a:rPr>
              <a:t>We</a:t>
            </a:r>
            <a:r>
              <a:rPr dirty="0" sz="2800" spc="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100">
                <a:solidFill>
                  <a:srgbClr val="0A0A08"/>
                </a:solidFill>
                <a:latin typeface="Arial"/>
                <a:cs typeface="Arial"/>
              </a:rPr>
              <a:t>have</a:t>
            </a:r>
            <a:r>
              <a:rPr dirty="0" sz="2800" spc="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75">
                <a:solidFill>
                  <a:srgbClr val="0A0A08"/>
                </a:solidFill>
                <a:latin typeface="Arial"/>
                <a:cs typeface="Arial"/>
              </a:rPr>
              <a:t>already</a:t>
            </a:r>
            <a:r>
              <a:rPr dirty="0" sz="2800" spc="10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160">
                <a:solidFill>
                  <a:srgbClr val="0A0A08"/>
                </a:solidFill>
                <a:latin typeface="Arial"/>
                <a:cs typeface="Arial"/>
              </a:rPr>
              <a:t>identified</a:t>
            </a:r>
            <a:r>
              <a:rPr dirty="0" sz="2800" spc="-2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190">
                <a:solidFill>
                  <a:srgbClr val="0A0A08"/>
                </a:solidFill>
                <a:latin typeface="Arial"/>
                <a:cs typeface="Arial"/>
              </a:rPr>
              <a:t>the</a:t>
            </a:r>
            <a:r>
              <a:rPr dirty="0" sz="2800" spc="-1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000" spc="-135" b="1">
                <a:solidFill>
                  <a:srgbClr val="0A0A08"/>
                </a:solidFill>
                <a:latin typeface="Arial"/>
                <a:cs typeface="Arial"/>
              </a:rPr>
              <a:t>AFRL</a:t>
            </a:r>
            <a:r>
              <a:rPr dirty="0" sz="3000" spc="40" b="1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50">
                <a:solidFill>
                  <a:srgbClr val="0A0A08"/>
                </a:solidFill>
                <a:latin typeface="Arial"/>
                <a:cs typeface="Arial"/>
              </a:rPr>
              <a:t>(Air</a:t>
            </a:r>
            <a:r>
              <a:rPr dirty="0" sz="2800" spc="8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95">
                <a:solidFill>
                  <a:srgbClr val="0A0A08"/>
                </a:solidFill>
                <a:latin typeface="Arial"/>
                <a:cs typeface="Arial"/>
              </a:rPr>
              <a:t>Force</a:t>
            </a:r>
            <a:r>
              <a:rPr dirty="0" sz="2800" spc="-2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70">
                <a:solidFill>
                  <a:srgbClr val="0A0A08"/>
                </a:solidFill>
                <a:latin typeface="Arial"/>
                <a:cs typeface="Arial"/>
              </a:rPr>
              <a:t>Research</a:t>
            </a:r>
            <a:r>
              <a:rPr dirty="0" sz="2800" spc="5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105">
                <a:solidFill>
                  <a:srgbClr val="0A0A08"/>
                </a:solidFill>
                <a:latin typeface="Arial"/>
                <a:cs typeface="Arial"/>
              </a:rPr>
              <a:t>Laboratory) </a:t>
            </a:r>
            <a:r>
              <a:rPr dirty="0" sz="2800" spc="120">
                <a:solidFill>
                  <a:srgbClr val="0A0A08"/>
                </a:solidFill>
                <a:latin typeface="Arial"/>
                <a:cs typeface="Arial"/>
              </a:rPr>
              <a:t>end-</a:t>
            </a:r>
            <a:r>
              <a:rPr dirty="0" sz="2800" spc="105">
                <a:solidFill>
                  <a:srgbClr val="0A0A08"/>
                </a:solidFill>
                <a:latin typeface="Arial"/>
                <a:cs typeface="Arial"/>
              </a:rPr>
              <a:t>user.</a:t>
            </a:r>
            <a:r>
              <a:rPr dirty="0" sz="2800" spc="13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80">
                <a:solidFill>
                  <a:srgbClr val="0A0A08"/>
                </a:solidFill>
                <a:latin typeface="Arial"/>
                <a:cs typeface="Arial"/>
              </a:rPr>
              <a:t>We</a:t>
            </a:r>
            <a:r>
              <a:rPr dirty="0" sz="2800" spc="2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105">
                <a:solidFill>
                  <a:srgbClr val="0A0A08"/>
                </a:solidFill>
                <a:latin typeface="Arial"/>
                <a:cs typeface="Arial"/>
              </a:rPr>
              <a:t>just</a:t>
            </a:r>
            <a:r>
              <a:rPr dirty="0" sz="2800" spc="13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120">
                <a:solidFill>
                  <a:srgbClr val="0A0A08"/>
                </a:solidFill>
                <a:latin typeface="Arial"/>
                <a:cs typeface="Arial"/>
              </a:rPr>
              <a:t>need</a:t>
            </a:r>
            <a:r>
              <a:rPr dirty="0" sz="2800" spc="-1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100">
                <a:solidFill>
                  <a:srgbClr val="0A0A08"/>
                </a:solidFill>
                <a:latin typeface="Arial"/>
                <a:cs typeface="Arial"/>
              </a:rPr>
              <a:t>to</a:t>
            </a:r>
            <a:r>
              <a:rPr dirty="0" sz="2800" spc="31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100">
                <a:solidFill>
                  <a:srgbClr val="0A0A08"/>
                </a:solidFill>
                <a:latin typeface="Arial"/>
                <a:cs typeface="Arial"/>
              </a:rPr>
              <a:t>finalize</a:t>
            </a:r>
            <a:r>
              <a:rPr dirty="0" sz="2800" spc="3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125">
                <a:solidFill>
                  <a:srgbClr val="0A0A08"/>
                </a:solidFill>
                <a:latin typeface="Arial"/>
                <a:cs typeface="Arial"/>
              </a:rPr>
              <a:t>the</a:t>
            </a:r>
            <a:r>
              <a:rPr dirty="0" sz="2800" spc="21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800" spc="135">
                <a:solidFill>
                  <a:srgbClr val="0A0A08"/>
                </a:solidFill>
                <a:latin typeface="Arial"/>
                <a:cs typeface="Arial"/>
              </a:rPr>
              <a:t>paperwork.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1075" y="1557733"/>
            <a:ext cx="917058" cy="71490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02121" y="5489707"/>
            <a:ext cx="1222744" cy="18893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77709" y="5642900"/>
            <a:ext cx="1146322" cy="155746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51401" y="6893983"/>
            <a:ext cx="407581" cy="63830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11825" y="5642900"/>
            <a:ext cx="1222744" cy="158300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12885" y="5642900"/>
            <a:ext cx="1222744" cy="158300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788473" y="5642900"/>
            <a:ext cx="1248217" cy="158300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138588" y="6893983"/>
            <a:ext cx="407581" cy="63830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673536" y="5642900"/>
            <a:ext cx="1248217" cy="158300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074598" y="5642900"/>
            <a:ext cx="1248217" cy="158300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475665" y="5642900"/>
            <a:ext cx="1222744" cy="158300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697310" y="1353542"/>
            <a:ext cx="5718175" cy="10826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900" spc="420" b="1">
                <a:solidFill>
                  <a:srgbClr val="1D2128"/>
                </a:solidFill>
                <a:latin typeface="Arial"/>
                <a:cs typeface="Arial"/>
              </a:rPr>
              <a:t>e</a:t>
            </a:r>
            <a:r>
              <a:rPr dirty="0" sz="6900" spc="-195" b="1">
                <a:solidFill>
                  <a:srgbClr val="1D2128"/>
                </a:solidFill>
                <a:latin typeface="Arial"/>
                <a:cs typeface="Arial"/>
              </a:rPr>
              <a:t> </a:t>
            </a:r>
            <a:r>
              <a:rPr dirty="0" sz="6900" spc="305" b="1">
                <a:solidFill>
                  <a:srgbClr val="1D2128"/>
                </a:solidFill>
                <a:latin typeface="Arial"/>
                <a:cs typeface="Arial"/>
              </a:rPr>
              <a:t>are</a:t>
            </a:r>
            <a:r>
              <a:rPr dirty="0" sz="6900" spc="-360" b="1">
                <a:solidFill>
                  <a:srgbClr val="1D2128"/>
                </a:solidFill>
                <a:latin typeface="Arial"/>
                <a:cs typeface="Arial"/>
              </a:rPr>
              <a:t> </a:t>
            </a:r>
            <a:r>
              <a:rPr dirty="0" sz="6900" spc="120" b="1">
                <a:solidFill>
                  <a:srgbClr val="1D2128"/>
                </a:solidFill>
                <a:latin typeface="Arial"/>
                <a:cs typeface="Arial"/>
              </a:rPr>
              <a:t>Raising</a:t>
            </a:r>
            <a:endParaRPr sz="6900">
              <a:latin typeface="Arial"/>
              <a:cs typeface="Arial"/>
            </a:endParaRP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11237361" y="1315244"/>
            <a:ext cx="2588260" cy="112839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200" spc="195">
                <a:solidFill>
                  <a:srgbClr val="1D2128"/>
                </a:solidFill>
              </a:rPr>
              <a:t>3M</a:t>
            </a:r>
            <a:r>
              <a:rPr dirty="0" sz="7200" spc="580">
                <a:solidFill>
                  <a:srgbClr val="1D2128"/>
                </a:solidFill>
              </a:rPr>
              <a:t> </a:t>
            </a:r>
            <a:r>
              <a:rPr dirty="0" sz="6900" spc="280">
                <a:solidFill>
                  <a:srgbClr val="1D2128"/>
                </a:solidFill>
              </a:rPr>
              <a:t>to</a:t>
            </a:r>
            <a:endParaRPr sz="6900"/>
          </a:p>
        </p:txBody>
      </p: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 indent="1464310">
              <a:lnSpc>
                <a:spcPts val="8540"/>
              </a:lnSpc>
            </a:pPr>
            <a:r>
              <a:rPr dirty="0" spc="60"/>
              <a:t>Build</a:t>
            </a:r>
            <a:r>
              <a:rPr dirty="0" spc="-170"/>
              <a:t> </a:t>
            </a:r>
            <a:r>
              <a:rPr dirty="0" spc="65"/>
              <a:t>the</a:t>
            </a:r>
            <a:r>
              <a:rPr dirty="0" spc="545"/>
              <a:t> </a:t>
            </a:r>
            <a:r>
              <a:rPr dirty="0" spc="170"/>
              <a:t>Future</a:t>
            </a:r>
            <a:r>
              <a:rPr dirty="0" spc="-210"/>
              <a:t> </a:t>
            </a:r>
            <a:r>
              <a:rPr dirty="0" spc="195"/>
              <a:t>of </a:t>
            </a:r>
            <a:r>
              <a:rPr dirty="0" spc="140"/>
              <a:t>Defensive</a:t>
            </a:r>
            <a:r>
              <a:rPr dirty="0" spc="70"/>
              <a:t> </a:t>
            </a:r>
            <a:r>
              <a:rPr dirty="0" spc="185"/>
              <a:t>Cybersecurity.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417305" y="7647251"/>
            <a:ext cx="2663190" cy="5772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600" spc="100">
                <a:solidFill>
                  <a:srgbClr val="1D2128"/>
                </a:solidFill>
                <a:latin typeface="Arial"/>
                <a:cs typeface="Arial"/>
              </a:rPr>
              <a:t>Seed</a:t>
            </a:r>
            <a:r>
              <a:rPr dirty="0" sz="3600" spc="-40">
                <a:solidFill>
                  <a:srgbClr val="1D2128"/>
                </a:solidFill>
                <a:latin typeface="Arial"/>
                <a:cs typeface="Arial"/>
              </a:rPr>
              <a:t> </a:t>
            </a:r>
            <a:r>
              <a:rPr dirty="0" sz="3600" spc="45">
                <a:solidFill>
                  <a:srgbClr val="1D2128"/>
                </a:solidFill>
                <a:latin typeface="Arial"/>
                <a:cs typeface="Arial"/>
              </a:rPr>
              <a:t>Round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58798" y="549274"/>
            <a:ext cx="14507844" cy="77660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900">
                <a:solidFill>
                  <a:srgbClr val="1A1C21"/>
                </a:solidFill>
              </a:rPr>
              <a:t>Fueling</a:t>
            </a:r>
            <a:r>
              <a:rPr dirty="0" sz="4900" spc="-90">
                <a:solidFill>
                  <a:srgbClr val="1A1C21"/>
                </a:solidFill>
              </a:rPr>
              <a:t> </a:t>
            </a:r>
            <a:r>
              <a:rPr dirty="0" sz="4900" spc="80">
                <a:solidFill>
                  <a:srgbClr val="1A1C21"/>
                </a:solidFill>
              </a:rPr>
              <a:t>Growth</a:t>
            </a:r>
            <a:r>
              <a:rPr dirty="0" sz="4900" spc="-10">
                <a:solidFill>
                  <a:srgbClr val="1A1C21"/>
                </a:solidFill>
              </a:rPr>
              <a:t> </a:t>
            </a:r>
            <a:r>
              <a:rPr dirty="0" sz="4900" spc="140">
                <a:solidFill>
                  <a:srgbClr val="1A1C21"/>
                </a:solidFill>
              </a:rPr>
              <a:t>and</a:t>
            </a:r>
            <a:r>
              <a:rPr dirty="0" sz="4900" spc="-225">
                <a:solidFill>
                  <a:srgbClr val="1A1C21"/>
                </a:solidFill>
              </a:rPr>
              <a:t> </a:t>
            </a:r>
            <a:r>
              <a:rPr dirty="0" sz="4900">
                <a:solidFill>
                  <a:srgbClr val="1A1C21"/>
                </a:solidFill>
              </a:rPr>
              <a:t>Targeting</a:t>
            </a:r>
            <a:r>
              <a:rPr dirty="0" sz="4900" spc="185">
                <a:solidFill>
                  <a:srgbClr val="1A1C21"/>
                </a:solidFill>
              </a:rPr>
              <a:t> </a:t>
            </a:r>
            <a:r>
              <a:rPr dirty="0" sz="4900" spc="190">
                <a:solidFill>
                  <a:srgbClr val="1A1C21"/>
                </a:solidFill>
              </a:rPr>
              <a:t>a</a:t>
            </a:r>
            <a:r>
              <a:rPr dirty="0" sz="4900" spc="-150">
                <a:solidFill>
                  <a:srgbClr val="1A1C21"/>
                </a:solidFill>
              </a:rPr>
              <a:t> </a:t>
            </a:r>
            <a:r>
              <a:rPr dirty="0" sz="4900" spc="385">
                <a:solidFill>
                  <a:srgbClr val="1A1C21"/>
                </a:solidFill>
              </a:rPr>
              <a:t>$100M</a:t>
            </a:r>
            <a:r>
              <a:rPr dirty="0" sz="4900" spc="-185">
                <a:solidFill>
                  <a:srgbClr val="1A1C21"/>
                </a:solidFill>
              </a:rPr>
              <a:t> </a:t>
            </a:r>
            <a:r>
              <a:rPr dirty="0" sz="4900">
                <a:solidFill>
                  <a:srgbClr val="1A1C21"/>
                </a:solidFill>
              </a:rPr>
              <a:t>Series</a:t>
            </a:r>
            <a:r>
              <a:rPr dirty="0" sz="4900" spc="-65">
                <a:solidFill>
                  <a:srgbClr val="1A1C21"/>
                </a:solidFill>
              </a:rPr>
              <a:t> </a:t>
            </a:r>
            <a:r>
              <a:rPr dirty="0" sz="4900" spc="55">
                <a:solidFill>
                  <a:srgbClr val="1A1C21"/>
                </a:solidFill>
              </a:rPr>
              <a:t>A</a:t>
            </a:r>
            <a:endParaRPr sz="4900"/>
          </a:p>
        </p:txBody>
      </p:sp>
      <p:sp>
        <p:nvSpPr>
          <p:cNvPr id="3" name="object 3"/>
          <p:cNvSpPr txBox="1"/>
          <p:nvPr/>
        </p:nvSpPr>
        <p:spPr>
          <a:xfrm>
            <a:off x="870885" y="1838656"/>
            <a:ext cx="2690495" cy="5772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600" spc="-120" b="1">
                <a:solidFill>
                  <a:srgbClr val="0A0A08"/>
                </a:solidFill>
                <a:latin typeface="Arial"/>
                <a:cs typeface="Arial"/>
              </a:rPr>
              <a:t>Use</a:t>
            </a:r>
            <a:r>
              <a:rPr dirty="0" sz="3600" spc="-254" b="1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600" spc="-75" b="1">
                <a:solidFill>
                  <a:srgbClr val="0A0A08"/>
                </a:solidFill>
                <a:latin typeface="Arial"/>
                <a:cs typeface="Arial"/>
              </a:rPr>
              <a:t>of</a:t>
            </a:r>
            <a:r>
              <a:rPr dirty="0" sz="3600" spc="-150" b="1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600" spc="-180" b="1">
                <a:solidFill>
                  <a:srgbClr val="0A0A08"/>
                </a:solidFill>
                <a:latin typeface="Arial"/>
                <a:cs typeface="Arial"/>
              </a:rPr>
              <a:t>Funds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94" y="3089671"/>
            <a:ext cx="127635" cy="0"/>
          </a:xfrm>
          <a:custGeom>
            <a:avLst/>
            <a:gdLst/>
            <a:ahLst/>
            <a:cxnLst/>
            <a:rect l="l" t="t" r="r" b="b"/>
            <a:pathLst>
              <a:path w="127634" h="0">
                <a:moveTo>
                  <a:pt x="0" y="0"/>
                </a:moveTo>
                <a:lnTo>
                  <a:pt x="127369" y="0"/>
                </a:lnTo>
              </a:path>
            </a:pathLst>
          </a:custGeom>
          <a:ln w="12766">
            <a:solidFill>
              <a:srgbClr val="0E4B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33695" y="2949243"/>
            <a:ext cx="306070" cy="0"/>
          </a:xfrm>
          <a:custGeom>
            <a:avLst/>
            <a:gdLst/>
            <a:ahLst/>
            <a:cxnLst/>
            <a:rect l="l" t="t" r="r" b="b"/>
            <a:pathLst>
              <a:path w="306069" h="0">
                <a:moveTo>
                  <a:pt x="0" y="0"/>
                </a:moveTo>
                <a:lnTo>
                  <a:pt x="305685" y="0"/>
                </a:lnTo>
              </a:path>
            </a:pathLst>
          </a:custGeom>
          <a:ln w="12766">
            <a:solidFill>
              <a:srgbClr val="0E4B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309089" y="3089671"/>
            <a:ext cx="114935" cy="0"/>
          </a:xfrm>
          <a:custGeom>
            <a:avLst/>
            <a:gdLst/>
            <a:ahLst/>
            <a:cxnLst/>
            <a:rect l="l" t="t" r="r" b="b"/>
            <a:pathLst>
              <a:path w="114934" h="0">
                <a:moveTo>
                  <a:pt x="0" y="0"/>
                </a:moveTo>
                <a:lnTo>
                  <a:pt x="114632" y="0"/>
                </a:lnTo>
              </a:path>
            </a:pathLst>
          </a:custGeom>
          <a:ln w="12766">
            <a:solidFill>
              <a:srgbClr val="0E4B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7103" y="3268464"/>
            <a:ext cx="673735" cy="7454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700" spc="-745">
                <a:solidFill>
                  <a:srgbClr val="0E4BCD"/>
                </a:solidFill>
                <a:latin typeface="Arial"/>
                <a:cs typeface="Arial"/>
              </a:rPr>
              <a:t>g:]&gt;</a:t>
            </a:r>
            <a:endParaRPr sz="4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5694" y="2649305"/>
            <a:ext cx="14738350" cy="132524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  <a:tabLst>
                <a:tab pos="942975" algn="l"/>
              </a:tabLst>
            </a:pPr>
            <a:r>
              <a:rPr dirty="0" sz="3150" spc="245">
                <a:solidFill>
                  <a:srgbClr val="0E4BCD"/>
                </a:solidFill>
                <a:latin typeface="Arial"/>
                <a:cs typeface="Arial"/>
              </a:rPr>
              <a:t>,</a:t>
            </a:r>
            <a:r>
              <a:rPr dirty="0" baseline="19400" sz="4725" spc="367">
                <a:solidFill>
                  <a:srgbClr val="0E4BCD"/>
                </a:solidFill>
                <a:latin typeface="Arial"/>
                <a:cs typeface="Arial"/>
              </a:rPr>
              <a:t>0</a:t>
            </a:r>
            <a:r>
              <a:rPr dirty="0" sz="3150" spc="245">
                <a:solidFill>
                  <a:srgbClr val="0E4BCD"/>
                </a:solidFill>
                <a:latin typeface="Arial"/>
                <a:cs typeface="Arial"/>
              </a:rPr>
              <a:t>,</a:t>
            </a:r>
            <a:r>
              <a:rPr dirty="0" sz="3150">
                <a:solidFill>
                  <a:srgbClr val="0E4BCD"/>
                </a:solidFill>
                <a:latin typeface="Arial"/>
                <a:cs typeface="Arial"/>
              </a:rPr>
              <a:t>	</a:t>
            </a:r>
            <a:r>
              <a:rPr dirty="0" sz="3150">
                <a:solidFill>
                  <a:srgbClr val="0A0A08"/>
                </a:solidFill>
                <a:latin typeface="Arial"/>
                <a:cs typeface="Arial"/>
              </a:rPr>
              <a:t>Hire</a:t>
            </a:r>
            <a:r>
              <a:rPr dirty="0" sz="3150" spc="-2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350" b="1">
                <a:solidFill>
                  <a:srgbClr val="0A0A08"/>
                </a:solidFill>
                <a:latin typeface="Arial"/>
                <a:cs typeface="Arial"/>
              </a:rPr>
              <a:t>3</a:t>
            </a:r>
            <a:r>
              <a:rPr dirty="0" sz="3350" spc="-229" b="1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350" spc="-100" b="1">
                <a:solidFill>
                  <a:srgbClr val="0A0A08"/>
                </a:solidFill>
                <a:latin typeface="Arial"/>
                <a:cs typeface="Arial"/>
              </a:rPr>
              <a:t>developers</a:t>
            </a:r>
            <a:r>
              <a:rPr dirty="0" sz="3350" spc="55" b="1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150">
                <a:solidFill>
                  <a:srgbClr val="0A0A08"/>
                </a:solidFill>
                <a:latin typeface="Arial"/>
                <a:cs typeface="Arial"/>
              </a:rPr>
              <a:t>to</a:t>
            </a:r>
            <a:r>
              <a:rPr dirty="0" sz="3150" spc="42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150" spc="75">
                <a:solidFill>
                  <a:srgbClr val="0A0A08"/>
                </a:solidFill>
                <a:latin typeface="Arial"/>
                <a:cs typeface="Arial"/>
              </a:rPr>
              <a:t>build</a:t>
            </a:r>
            <a:r>
              <a:rPr dirty="0" sz="3150" spc="-114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150" spc="80">
                <a:solidFill>
                  <a:srgbClr val="0A0A08"/>
                </a:solidFill>
                <a:latin typeface="Arial"/>
                <a:cs typeface="Arial"/>
              </a:rPr>
              <a:t>out</a:t>
            </a:r>
            <a:r>
              <a:rPr dirty="0" sz="3150" spc="11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150">
                <a:solidFill>
                  <a:srgbClr val="0A0A08"/>
                </a:solidFill>
                <a:latin typeface="Arial"/>
                <a:cs typeface="Arial"/>
              </a:rPr>
              <a:t>our</a:t>
            </a:r>
            <a:r>
              <a:rPr dirty="0" sz="3150" spc="-4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150" spc="80">
                <a:solidFill>
                  <a:srgbClr val="0A0A08"/>
                </a:solidFill>
                <a:latin typeface="Arial"/>
                <a:cs typeface="Arial"/>
              </a:rPr>
              <a:t>Al</a:t>
            </a:r>
            <a:r>
              <a:rPr dirty="0" sz="3150" spc="-15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150" spc="55">
                <a:solidFill>
                  <a:srgbClr val="1A1C21"/>
                </a:solidFill>
                <a:latin typeface="Arial"/>
                <a:cs typeface="Arial"/>
              </a:rPr>
              <a:t>a</a:t>
            </a:r>
            <a:r>
              <a:rPr dirty="0" sz="3150" spc="55">
                <a:solidFill>
                  <a:srgbClr val="0A0A08"/>
                </a:solidFill>
                <a:latin typeface="Arial"/>
                <a:cs typeface="Arial"/>
              </a:rPr>
              <a:t>utomated</a:t>
            </a:r>
            <a:r>
              <a:rPr dirty="0" sz="3150" spc="13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150">
                <a:solidFill>
                  <a:srgbClr val="0A0A08"/>
                </a:solidFill>
                <a:latin typeface="Arial"/>
                <a:cs typeface="Arial"/>
              </a:rPr>
              <a:t>response</a:t>
            </a:r>
            <a:r>
              <a:rPr dirty="0" sz="3150" spc="13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150" spc="50">
                <a:solidFill>
                  <a:srgbClr val="0A0A08"/>
                </a:solidFill>
                <a:latin typeface="Arial"/>
                <a:cs typeface="Arial"/>
              </a:rPr>
              <a:t>capabilit</a:t>
            </a:r>
            <a:r>
              <a:rPr dirty="0" sz="3150" spc="50">
                <a:solidFill>
                  <a:srgbClr val="1A1C21"/>
                </a:solidFill>
                <a:latin typeface="Arial"/>
                <a:cs typeface="Arial"/>
              </a:rPr>
              <a:t>i</a:t>
            </a:r>
            <a:r>
              <a:rPr dirty="0" sz="3150" spc="50">
                <a:solidFill>
                  <a:srgbClr val="0A0A08"/>
                </a:solidFill>
                <a:latin typeface="Arial"/>
                <a:cs typeface="Arial"/>
              </a:rPr>
              <a:t>es.</a:t>
            </a:r>
            <a:endParaRPr sz="3150">
              <a:latin typeface="Arial"/>
              <a:cs typeface="Arial"/>
            </a:endParaRPr>
          </a:p>
          <a:p>
            <a:pPr marL="944244">
              <a:lnSpc>
                <a:spcPct val="100000"/>
              </a:lnSpc>
              <a:spcBef>
                <a:spcPts val="2415"/>
              </a:spcBef>
            </a:pPr>
            <a:r>
              <a:rPr dirty="0" sz="3150">
                <a:solidFill>
                  <a:srgbClr val="0A0A08"/>
                </a:solidFill>
                <a:latin typeface="Arial"/>
                <a:cs typeface="Arial"/>
              </a:rPr>
              <a:t>Scale</a:t>
            </a:r>
            <a:r>
              <a:rPr dirty="0" sz="3150" spc="13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150">
                <a:solidFill>
                  <a:srgbClr val="0A0A08"/>
                </a:solidFill>
                <a:latin typeface="Arial"/>
                <a:cs typeface="Arial"/>
              </a:rPr>
              <a:t>our</a:t>
            </a:r>
            <a:r>
              <a:rPr dirty="0" sz="3150" spc="-8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150">
                <a:solidFill>
                  <a:srgbClr val="0A0A08"/>
                </a:solidFill>
                <a:latin typeface="Arial"/>
                <a:cs typeface="Arial"/>
              </a:rPr>
              <a:t>Go-To-Market</a:t>
            </a:r>
            <a:r>
              <a:rPr dirty="0" sz="3150" spc="46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150" spc="50">
                <a:solidFill>
                  <a:srgbClr val="0A0A08"/>
                </a:solidFill>
                <a:latin typeface="Arial"/>
                <a:cs typeface="Arial"/>
              </a:rPr>
              <a:t>team</a:t>
            </a:r>
            <a:r>
              <a:rPr dirty="0" sz="3150" spc="-4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150">
                <a:solidFill>
                  <a:srgbClr val="0A0A08"/>
                </a:solidFill>
                <a:latin typeface="Arial"/>
                <a:cs typeface="Arial"/>
              </a:rPr>
              <a:t>to</a:t>
            </a:r>
            <a:r>
              <a:rPr dirty="0" sz="3150" spc="229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150" spc="65">
                <a:solidFill>
                  <a:srgbClr val="0A0A08"/>
                </a:solidFill>
                <a:latin typeface="Arial"/>
                <a:cs typeface="Arial"/>
              </a:rPr>
              <a:t>e</a:t>
            </a:r>
            <a:r>
              <a:rPr dirty="0" sz="3150" spc="65">
                <a:solidFill>
                  <a:srgbClr val="1A1C21"/>
                </a:solidFill>
                <a:latin typeface="Arial"/>
                <a:cs typeface="Arial"/>
              </a:rPr>
              <a:t>x</a:t>
            </a:r>
            <a:r>
              <a:rPr dirty="0" sz="3150" spc="65">
                <a:solidFill>
                  <a:srgbClr val="0A0A08"/>
                </a:solidFill>
                <a:latin typeface="Arial"/>
                <a:cs typeface="Arial"/>
              </a:rPr>
              <a:t>ecute</a:t>
            </a:r>
            <a:r>
              <a:rPr dirty="0" sz="3150" spc="-3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150" spc="85">
                <a:solidFill>
                  <a:srgbClr val="0A0A08"/>
                </a:solidFill>
                <a:latin typeface="Arial"/>
                <a:cs typeface="Arial"/>
              </a:rPr>
              <a:t>on</a:t>
            </a:r>
            <a:r>
              <a:rPr dirty="0" sz="3150" spc="-5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150" spc="110">
                <a:solidFill>
                  <a:srgbClr val="0A0A08"/>
                </a:solidFill>
                <a:latin typeface="Arial"/>
                <a:cs typeface="Arial"/>
              </a:rPr>
              <a:t>the</a:t>
            </a:r>
            <a:r>
              <a:rPr dirty="0" sz="3150" spc="-10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150" spc="75">
                <a:solidFill>
                  <a:srgbClr val="0A0A08"/>
                </a:solidFill>
                <a:latin typeface="Arial"/>
                <a:cs typeface="Arial"/>
              </a:rPr>
              <a:t>land-</a:t>
            </a:r>
            <a:r>
              <a:rPr dirty="0" sz="3150" spc="85">
                <a:solidFill>
                  <a:srgbClr val="0A0A08"/>
                </a:solidFill>
                <a:latin typeface="Arial"/>
                <a:cs typeface="Arial"/>
              </a:rPr>
              <a:t>and-</a:t>
            </a:r>
            <a:r>
              <a:rPr dirty="0" sz="3150" spc="95">
                <a:solidFill>
                  <a:srgbClr val="0A0A08"/>
                </a:solidFill>
                <a:latin typeface="Arial"/>
                <a:cs typeface="Arial"/>
              </a:rPr>
              <a:t>expand</a:t>
            </a:r>
            <a:r>
              <a:rPr dirty="0" sz="3150" spc="-7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3150" spc="70">
                <a:solidFill>
                  <a:srgbClr val="0A0A08"/>
                </a:solidFill>
                <a:latin typeface="Arial"/>
                <a:cs typeface="Arial"/>
              </a:rPr>
              <a:t>strategy</a:t>
            </a:r>
            <a:r>
              <a:rPr dirty="0" sz="3150" spc="70">
                <a:solidFill>
                  <a:srgbClr val="1A1C21"/>
                </a:solidFill>
                <a:latin typeface="Arial"/>
                <a:cs typeface="Arial"/>
              </a:rPr>
              <a:t>.</a:t>
            </a:r>
            <a:endParaRPr sz="3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4630" y="5106789"/>
            <a:ext cx="3365500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90">
                <a:solidFill>
                  <a:srgbClr val="1A1C21"/>
                </a:solidFill>
                <a:latin typeface="Arial"/>
                <a:cs typeface="Arial"/>
              </a:rPr>
              <a:t>Sec</a:t>
            </a:r>
            <a:r>
              <a:rPr dirty="0" sz="2900" spc="-90">
                <a:solidFill>
                  <a:srgbClr val="0A0A08"/>
                </a:solidFill>
                <a:latin typeface="Arial"/>
                <a:cs typeface="Arial"/>
              </a:rPr>
              <a:t>u</a:t>
            </a:r>
            <a:r>
              <a:rPr dirty="0" sz="2900" spc="-90">
                <a:solidFill>
                  <a:srgbClr val="1A1C21"/>
                </a:solidFill>
                <a:latin typeface="Arial"/>
                <a:cs typeface="Arial"/>
              </a:rPr>
              <a:t>re</a:t>
            </a:r>
            <a:r>
              <a:rPr dirty="0" sz="2900" spc="-175">
                <a:solidFill>
                  <a:srgbClr val="1A1C21"/>
                </a:solidFill>
                <a:latin typeface="Arial"/>
                <a:cs typeface="Arial"/>
              </a:rPr>
              <a:t> </a:t>
            </a:r>
            <a:r>
              <a:rPr dirty="0" sz="2900" spc="-60">
                <a:solidFill>
                  <a:srgbClr val="1A1C21"/>
                </a:solidFill>
                <a:latin typeface="Arial"/>
                <a:cs typeface="Arial"/>
              </a:rPr>
              <a:t>S</a:t>
            </a:r>
            <a:r>
              <a:rPr dirty="0" sz="2900" spc="-60">
                <a:solidFill>
                  <a:srgbClr val="0A0A08"/>
                </a:solidFill>
                <a:latin typeface="Arial"/>
                <a:cs typeface="Arial"/>
              </a:rPr>
              <a:t>BIR</a:t>
            </a:r>
            <a:r>
              <a:rPr dirty="0" sz="2900" spc="-60">
                <a:solidFill>
                  <a:srgbClr val="1A1C21"/>
                </a:solidFill>
                <a:latin typeface="Arial"/>
                <a:cs typeface="Arial"/>
              </a:rPr>
              <a:t>Co</a:t>
            </a:r>
            <a:r>
              <a:rPr dirty="0" sz="2900" spc="-60">
                <a:solidFill>
                  <a:srgbClr val="0A0A08"/>
                </a:solidFill>
                <a:latin typeface="Arial"/>
                <a:cs typeface="Arial"/>
              </a:rPr>
              <a:t>nt</a:t>
            </a:r>
            <a:r>
              <a:rPr dirty="0" sz="2900" spc="-60">
                <a:solidFill>
                  <a:srgbClr val="1A1C21"/>
                </a:solidFill>
                <a:latin typeface="Arial"/>
                <a:cs typeface="Arial"/>
              </a:rPr>
              <a:t>rac</a:t>
            </a:r>
            <a:r>
              <a:rPr dirty="0" sz="2900" spc="-60">
                <a:solidFill>
                  <a:srgbClr val="0A0A08"/>
                </a:solidFill>
                <a:latin typeface="Arial"/>
                <a:cs typeface="Arial"/>
              </a:rPr>
              <a:t>t</a:t>
            </a:r>
            <a:endParaRPr sz="2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9571" y="6089782"/>
            <a:ext cx="1285875" cy="5772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600" spc="-200" b="1">
                <a:solidFill>
                  <a:srgbClr val="1A1C21"/>
                </a:solidFill>
                <a:latin typeface="Arial"/>
                <a:cs typeface="Arial"/>
              </a:rPr>
              <a:t>Year</a:t>
            </a:r>
            <a:r>
              <a:rPr dirty="0" sz="3600" spc="-220" b="1">
                <a:solidFill>
                  <a:srgbClr val="1A1C21"/>
                </a:solidFill>
                <a:latin typeface="Arial"/>
                <a:cs typeface="Arial"/>
              </a:rPr>
              <a:t> </a:t>
            </a:r>
            <a:r>
              <a:rPr dirty="0" sz="3600" spc="30" b="1">
                <a:solidFill>
                  <a:srgbClr val="1A1C21"/>
                </a:solidFill>
                <a:latin typeface="Arial"/>
                <a:cs typeface="Arial"/>
              </a:rPr>
              <a:t>1</a:t>
            </a:r>
            <a:endParaRPr sz="3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07394" y="6089782"/>
            <a:ext cx="1305560" cy="5772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600" spc="-195" b="1">
                <a:solidFill>
                  <a:srgbClr val="1A1C21"/>
                </a:solidFill>
                <a:latin typeface="Arial"/>
                <a:cs typeface="Arial"/>
              </a:rPr>
              <a:t>Year</a:t>
            </a:r>
            <a:r>
              <a:rPr dirty="0" sz="3600" spc="-45" b="1">
                <a:solidFill>
                  <a:srgbClr val="1A1C21"/>
                </a:solidFill>
                <a:latin typeface="Arial"/>
                <a:cs typeface="Arial"/>
              </a:rPr>
              <a:t> </a:t>
            </a:r>
            <a:r>
              <a:rPr dirty="0" sz="3600" spc="-50" b="1">
                <a:solidFill>
                  <a:srgbClr val="1A1C21"/>
                </a:solidFill>
                <a:latin typeface="Arial"/>
                <a:cs typeface="Arial"/>
              </a:rPr>
              <a:t>2</a:t>
            </a:r>
            <a:endParaRPr sz="36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9065" y="7251433"/>
            <a:ext cx="12595225" cy="0"/>
          </a:xfrm>
          <a:custGeom>
            <a:avLst/>
            <a:gdLst/>
            <a:ahLst/>
            <a:cxnLst/>
            <a:rect l="l" t="t" r="r" b="b"/>
            <a:pathLst>
              <a:path w="12595225" h="0">
                <a:moveTo>
                  <a:pt x="0" y="0"/>
                </a:moveTo>
                <a:lnTo>
                  <a:pt x="12594693" y="0"/>
                </a:lnTo>
              </a:path>
            </a:pathLst>
          </a:custGeom>
          <a:ln w="12766">
            <a:solidFill>
              <a:srgbClr val="1A1C2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6365" y="6351489"/>
            <a:ext cx="1196340" cy="1090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950" spc="430" b="1">
                <a:solidFill>
                  <a:srgbClr val="0550ED"/>
                </a:solidFill>
                <a:latin typeface="Courier New"/>
                <a:cs typeface="Courier New"/>
              </a:rPr>
              <a:t>-</a:t>
            </a:r>
            <a:r>
              <a:rPr dirty="0" sz="6950" spc="-2365" b="1">
                <a:solidFill>
                  <a:srgbClr val="1A1C21"/>
                </a:solidFill>
                <a:latin typeface="Courier New"/>
                <a:cs typeface="Courier New"/>
              </a:rPr>
              <a:t>�</a:t>
            </a:r>
            <a:endParaRPr sz="695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61872" y="7000477"/>
            <a:ext cx="4103370" cy="0"/>
          </a:xfrm>
          <a:custGeom>
            <a:avLst/>
            <a:gdLst/>
            <a:ahLst/>
            <a:cxnLst/>
            <a:rect l="l" t="t" r="r" b="b"/>
            <a:pathLst>
              <a:path w="4103370" h="0">
                <a:moveTo>
                  <a:pt x="0" y="0"/>
                </a:moveTo>
                <a:lnTo>
                  <a:pt x="4102761" y="0"/>
                </a:lnTo>
              </a:path>
            </a:pathLst>
          </a:custGeom>
          <a:ln w="80554">
            <a:solidFill>
              <a:srgbClr val="191B2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353999" y="6351489"/>
            <a:ext cx="1196340" cy="1090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950" spc="-935" b="1">
                <a:solidFill>
                  <a:srgbClr val="1A1C21"/>
                </a:solidFill>
                <a:latin typeface="Courier New"/>
                <a:cs typeface="Courier New"/>
              </a:rPr>
              <a:t>�</a:t>
            </a:r>
            <a:r>
              <a:rPr dirty="0" sz="6950" spc="-935" b="1">
                <a:solidFill>
                  <a:srgbClr val="0550ED"/>
                </a:solidFill>
                <a:latin typeface="Courier New"/>
                <a:cs typeface="Courier New"/>
              </a:rPr>
              <a:t>•</a:t>
            </a:r>
            <a:endParaRPr sz="695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539507" y="7000477"/>
            <a:ext cx="4689475" cy="0"/>
          </a:xfrm>
          <a:custGeom>
            <a:avLst/>
            <a:gdLst/>
            <a:ahLst/>
            <a:cxnLst/>
            <a:rect l="l" t="t" r="r" b="b"/>
            <a:pathLst>
              <a:path w="4689475" h="0">
                <a:moveTo>
                  <a:pt x="0" y="0"/>
                </a:moveTo>
                <a:lnTo>
                  <a:pt x="4689164" y="0"/>
                </a:lnTo>
              </a:path>
            </a:pathLst>
          </a:custGeom>
          <a:ln w="80554">
            <a:solidFill>
              <a:srgbClr val="191B2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1192638" y="5425942"/>
            <a:ext cx="5436235" cy="242443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53490" marR="262890" indent="22860">
              <a:lnSpc>
                <a:spcPts val="4620"/>
              </a:lnSpc>
              <a:spcBef>
                <a:spcPts val="625"/>
              </a:spcBef>
            </a:pPr>
            <a:r>
              <a:rPr dirty="0" sz="4200" b="1">
                <a:solidFill>
                  <a:srgbClr val="1A1C21"/>
                </a:solidFill>
                <a:latin typeface="Arial"/>
                <a:cs typeface="Arial"/>
              </a:rPr>
              <a:t>Achieve</a:t>
            </a:r>
            <a:r>
              <a:rPr dirty="0" sz="4200" spc="135" b="1">
                <a:solidFill>
                  <a:srgbClr val="1A1C21"/>
                </a:solidFill>
                <a:latin typeface="Arial"/>
                <a:cs typeface="Arial"/>
              </a:rPr>
              <a:t> </a:t>
            </a:r>
            <a:r>
              <a:rPr dirty="0" sz="4200" spc="180" b="1">
                <a:solidFill>
                  <a:srgbClr val="1A1C21"/>
                </a:solidFill>
                <a:latin typeface="Arial"/>
                <a:cs typeface="Arial"/>
              </a:rPr>
              <a:t>the </a:t>
            </a:r>
            <a:r>
              <a:rPr dirty="0" sz="4200" spc="135" b="1">
                <a:solidFill>
                  <a:srgbClr val="1A1C21"/>
                </a:solidFill>
                <a:latin typeface="Arial"/>
                <a:cs typeface="Arial"/>
              </a:rPr>
              <a:t>key</a:t>
            </a:r>
            <a:r>
              <a:rPr dirty="0" sz="4200" spc="-365" b="1">
                <a:solidFill>
                  <a:srgbClr val="1A1C21"/>
                </a:solidFill>
                <a:latin typeface="Arial"/>
                <a:cs typeface="Arial"/>
              </a:rPr>
              <a:t> </a:t>
            </a:r>
            <a:r>
              <a:rPr dirty="0" sz="4200" spc="100" b="1">
                <a:solidFill>
                  <a:srgbClr val="1A1C21"/>
                </a:solidFill>
                <a:latin typeface="Arial"/>
                <a:cs typeface="Arial"/>
              </a:rPr>
              <a:t>metrics</a:t>
            </a:r>
            <a:r>
              <a:rPr dirty="0" sz="4200" spc="-229" b="1">
                <a:solidFill>
                  <a:srgbClr val="1A1C21"/>
                </a:solidFill>
                <a:latin typeface="Arial"/>
                <a:cs typeface="Arial"/>
              </a:rPr>
              <a:t> </a:t>
            </a:r>
            <a:r>
              <a:rPr dirty="0" sz="4200" spc="60" b="1">
                <a:solidFill>
                  <a:srgbClr val="1A1C21"/>
                </a:solidFill>
                <a:latin typeface="Arial"/>
                <a:cs typeface="Arial"/>
              </a:rPr>
              <a:t>for</a:t>
            </a:r>
            <a:endParaRPr sz="4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775"/>
              </a:spcBef>
            </a:pPr>
            <a:r>
              <a:rPr dirty="0" baseline="25579" sz="10425" spc="540" b="1">
                <a:solidFill>
                  <a:srgbClr val="1A1C21"/>
                </a:solidFill>
                <a:latin typeface="Courier New"/>
                <a:cs typeface="Courier New"/>
              </a:rPr>
              <a:t>�</a:t>
            </a:r>
            <a:r>
              <a:rPr dirty="0" baseline="25579" sz="10425" spc="540" b="1">
                <a:solidFill>
                  <a:srgbClr val="0550ED"/>
                </a:solidFill>
                <a:latin typeface="Courier New"/>
                <a:cs typeface="Courier New"/>
              </a:rPr>
              <a:t>e</a:t>
            </a:r>
            <a:r>
              <a:rPr dirty="0" baseline="25579" sz="10425" spc="-5257" b="1">
                <a:solidFill>
                  <a:srgbClr val="1A1C21"/>
                </a:solidFill>
                <a:latin typeface="Courier New"/>
                <a:cs typeface="Courier New"/>
              </a:rPr>
              <a:t>a</a:t>
            </a:r>
            <a:r>
              <a:rPr dirty="0" sz="4200" spc="345" b="1">
                <a:solidFill>
                  <a:srgbClr val="0E4BCD"/>
                </a:solidFill>
                <a:latin typeface="Arial"/>
                <a:cs typeface="Arial"/>
              </a:rPr>
              <a:t>$100M</a:t>
            </a:r>
            <a:r>
              <a:rPr dirty="0" sz="4200" spc="-150" b="1">
                <a:solidFill>
                  <a:srgbClr val="0E4BCD"/>
                </a:solidFill>
                <a:latin typeface="Arial"/>
                <a:cs typeface="Arial"/>
              </a:rPr>
              <a:t> </a:t>
            </a:r>
            <a:r>
              <a:rPr dirty="0" sz="4200" b="1">
                <a:solidFill>
                  <a:srgbClr val="0E4BCD"/>
                </a:solidFill>
                <a:latin typeface="Arial"/>
                <a:cs typeface="Arial"/>
              </a:rPr>
              <a:t>Series</a:t>
            </a:r>
            <a:r>
              <a:rPr dirty="0" sz="4200" spc="75" b="1">
                <a:solidFill>
                  <a:srgbClr val="0E4BCD"/>
                </a:solidFill>
                <a:latin typeface="Arial"/>
                <a:cs typeface="Arial"/>
              </a:rPr>
              <a:t> </a:t>
            </a:r>
            <a:r>
              <a:rPr dirty="0" sz="4200" spc="-2700" b="1">
                <a:solidFill>
                  <a:srgbClr val="0E4BCD"/>
                </a:solidFill>
                <a:latin typeface="Arial"/>
                <a:cs typeface="Arial"/>
              </a:rPr>
              <a:t>A</a:t>
            </a:r>
            <a:endParaRPr sz="4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434173" y="7685550"/>
            <a:ext cx="1720214" cy="6692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200" spc="-10" b="1">
                <a:solidFill>
                  <a:srgbClr val="1A1C21"/>
                </a:solidFill>
                <a:latin typeface="Arial"/>
                <a:cs typeface="Arial"/>
              </a:rPr>
              <a:t>round.</a:t>
            </a:r>
            <a:endParaRPr sz="4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02453" y="5106789"/>
            <a:ext cx="1720850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100">
                <a:solidFill>
                  <a:srgbClr val="1A1C21"/>
                </a:solidFill>
                <a:latin typeface="Arial"/>
                <a:cs typeface="Arial"/>
              </a:rPr>
              <a:t>Sca</a:t>
            </a:r>
            <a:r>
              <a:rPr dirty="0" sz="2900" spc="-100">
                <a:solidFill>
                  <a:srgbClr val="0A0A08"/>
                </a:solidFill>
                <a:latin typeface="Arial"/>
                <a:cs typeface="Arial"/>
              </a:rPr>
              <a:t>l</a:t>
            </a:r>
            <a:r>
              <a:rPr dirty="0" sz="2900" spc="-100">
                <a:solidFill>
                  <a:srgbClr val="1A1C21"/>
                </a:solidFill>
                <a:latin typeface="Arial"/>
                <a:cs typeface="Arial"/>
              </a:rPr>
              <a:t>e</a:t>
            </a:r>
            <a:r>
              <a:rPr dirty="0" sz="2900" spc="-195">
                <a:solidFill>
                  <a:srgbClr val="1A1C21"/>
                </a:solidFill>
                <a:latin typeface="Arial"/>
                <a:cs typeface="Arial"/>
              </a:rPr>
              <a:t> </a:t>
            </a:r>
            <a:r>
              <a:rPr dirty="0" sz="2900" spc="-145">
                <a:solidFill>
                  <a:srgbClr val="0A0A08"/>
                </a:solidFill>
                <a:latin typeface="Arial"/>
                <a:cs typeface="Arial"/>
              </a:rPr>
              <a:t>GTM</a:t>
            </a:r>
            <a:endParaRPr sz="2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74069" y="7404695"/>
            <a:ext cx="4344035" cy="878205"/>
          </a:xfrm>
          <a:prstGeom prst="rect">
            <a:avLst/>
          </a:prstGeom>
        </p:spPr>
        <p:txBody>
          <a:bodyPr wrap="square" lIns="0" tIns="55879" rIns="0" bIns="0" rtlCol="0" vert="horz">
            <a:spAutoFit/>
          </a:bodyPr>
          <a:lstStyle/>
          <a:p>
            <a:pPr marL="13970" marR="5080" indent="-1905">
              <a:lnSpc>
                <a:spcPts val="3220"/>
              </a:lnSpc>
              <a:spcBef>
                <a:spcPts val="439"/>
              </a:spcBef>
            </a:pPr>
            <a:r>
              <a:rPr dirty="0" sz="2900" spc="-70">
                <a:solidFill>
                  <a:srgbClr val="0A0A08"/>
                </a:solidFill>
                <a:latin typeface="Arial"/>
                <a:cs typeface="Arial"/>
              </a:rPr>
              <a:t>Fir</a:t>
            </a:r>
            <a:r>
              <a:rPr dirty="0" sz="2900" spc="-70">
                <a:solidFill>
                  <a:srgbClr val="1A1C21"/>
                </a:solidFill>
                <a:latin typeface="Arial"/>
                <a:cs typeface="Arial"/>
              </a:rPr>
              <a:t>s</a:t>
            </a:r>
            <a:r>
              <a:rPr dirty="0" sz="2900" spc="-70">
                <a:solidFill>
                  <a:srgbClr val="0A0A08"/>
                </a:solidFill>
                <a:latin typeface="Arial"/>
                <a:cs typeface="Arial"/>
              </a:rPr>
              <a:t>t</a:t>
            </a:r>
            <a:r>
              <a:rPr dirty="0" sz="2900" spc="-50">
                <a:solidFill>
                  <a:srgbClr val="0A0A08"/>
                </a:solidFill>
                <a:latin typeface="Arial"/>
                <a:cs typeface="Arial"/>
              </a:rPr>
              <a:t> Ent</a:t>
            </a:r>
            <a:r>
              <a:rPr dirty="0" sz="2900" spc="-50">
                <a:solidFill>
                  <a:srgbClr val="1A1C21"/>
                </a:solidFill>
                <a:latin typeface="Arial"/>
                <a:cs typeface="Arial"/>
              </a:rPr>
              <a:t>er</a:t>
            </a:r>
            <a:r>
              <a:rPr dirty="0" sz="2900" spc="-50">
                <a:solidFill>
                  <a:srgbClr val="0A0A08"/>
                </a:solidFill>
                <a:latin typeface="Arial"/>
                <a:cs typeface="Arial"/>
              </a:rPr>
              <a:t>pri</a:t>
            </a:r>
            <a:r>
              <a:rPr dirty="0" sz="2900" spc="-50">
                <a:solidFill>
                  <a:srgbClr val="1A1C21"/>
                </a:solidFill>
                <a:latin typeface="Arial"/>
                <a:cs typeface="Arial"/>
              </a:rPr>
              <a:t>s</a:t>
            </a:r>
            <a:r>
              <a:rPr dirty="0" sz="2900" spc="-50">
                <a:solidFill>
                  <a:srgbClr val="0A0A08"/>
                </a:solidFill>
                <a:latin typeface="Arial"/>
                <a:cs typeface="Arial"/>
              </a:rPr>
              <a:t>e</a:t>
            </a:r>
            <a:r>
              <a:rPr dirty="0" sz="2900" spc="-315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00" spc="-10">
                <a:solidFill>
                  <a:srgbClr val="1A1C21"/>
                </a:solidFill>
                <a:latin typeface="Arial"/>
                <a:cs typeface="Arial"/>
              </a:rPr>
              <a:t>C</a:t>
            </a:r>
            <a:r>
              <a:rPr dirty="0" sz="2900" spc="-10">
                <a:solidFill>
                  <a:srgbClr val="0A0A08"/>
                </a:solidFill>
                <a:latin typeface="Arial"/>
                <a:cs typeface="Arial"/>
              </a:rPr>
              <a:t>ustom</a:t>
            </a:r>
            <a:r>
              <a:rPr dirty="0" sz="2900" spc="-10">
                <a:solidFill>
                  <a:srgbClr val="1A1C21"/>
                </a:solidFill>
                <a:latin typeface="Arial"/>
                <a:cs typeface="Arial"/>
              </a:rPr>
              <a:t>e</a:t>
            </a:r>
            <a:r>
              <a:rPr dirty="0" sz="2900" spc="-10">
                <a:solidFill>
                  <a:srgbClr val="0A0A08"/>
                </a:solidFill>
                <a:latin typeface="Arial"/>
                <a:cs typeface="Arial"/>
              </a:rPr>
              <a:t>r</a:t>
            </a:r>
            <a:r>
              <a:rPr dirty="0" sz="2900" spc="-10">
                <a:solidFill>
                  <a:srgbClr val="1A1C21"/>
                </a:solidFill>
                <a:latin typeface="Arial"/>
                <a:cs typeface="Arial"/>
              </a:rPr>
              <a:t>s</a:t>
            </a:r>
            <a:r>
              <a:rPr dirty="0" sz="2900" spc="-10">
                <a:solidFill>
                  <a:srgbClr val="0A0A08"/>
                </a:solidFill>
                <a:latin typeface="Arial"/>
                <a:cs typeface="Arial"/>
              </a:rPr>
              <a:t>, </a:t>
            </a:r>
            <a:r>
              <a:rPr dirty="0" sz="2900" spc="-20">
                <a:solidFill>
                  <a:srgbClr val="0A0A08"/>
                </a:solidFill>
                <a:latin typeface="Arial"/>
                <a:cs typeface="Arial"/>
              </a:rPr>
              <a:t>Perfe</a:t>
            </a:r>
            <a:r>
              <a:rPr dirty="0" sz="2900" spc="-20">
                <a:solidFill>
                  <a:srgbClr val="1A1C21"/>
                </a:solidFill>
                <a:latin typeface="Arial"/>
                <a:cs typeface="Arial"/>
              </a:rPr>
              <a:t>c</a:t>
            </a:r>
            <a:r>
              <a:rPr dirty="0" sz="2900" spc="-20">
                <a:solidFill>
                  <a:srgbClr val="0A0A08"/>
                </a:solidFill>
                <a:latin typeface="Arial"/>
                <a:cs typeface="Arial"/>
              </a:rPr>
              <a:t>t</a:t>
            </a:r>
            <a:r>
              <a:rPr dirty="0" sz="2900" spc="-85">
                <a:solidFill>
                  <a:srgbClr val="0A0A08"/>
                </a:solidFill>
                <a:latin typeface="Arial"/>
                <a:cs typeface="Arial"/>
              </a:rPr>
              <a:t> Al</a:t>
            </a:r>
            <a:r>
              <a:rPr dirty="0" sz="2900" spc="-19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00" spc="-114">
                <a:solidFill>
                  <a:srgbClr val="0A0A08"/>
                </a:solidFill>
                <a:latin typeface="Arial"/>
                <a:cs typeface="Arial"/>
              </a:rPr>
              <a:t>Re</a:t>
            </a:r>
            <a:r>
              <a:rPr dirty="0" sz="2900" spc="-114">
                <a:solidFill>
                  <a:srgbClr val="1A1C21"/>
                </a:solidFill>
                <a:latin typeface="Arial"/>
                <a:cs typeface="Arial"/>
              </a:rPr>
              <a:t>s</a:t>
            </a:r>
            <a:r>
              <a:rPr dirty="0" sz="2900" spc="-114">
                <a:solidFill>
                  <a:srgbClr val="0A0A08"/>
                </a:solidFill>
                <a:latin typeface="Arial"/>
                <a:cs typeface="Arial"/>
              </a:rPr>
              <a:t>pon</a:t>
            </a:r>
            <a:r>
              <a:rPr dirty="0" sz="2900" spc="-114">
                <a:solidFill>
                  <a:srgbClr val="1A1C21"/>
                </a:solidFill>
                <a:latin typeface="Arial"/>
                <a:cs typeface="Arial"/>
              </a:rPr>
              <a:t>s</a:t>
            </a:r>
            <a:r>
              <a:rPr dirty="0" sz="2900" spc="-114">
                <a:solidFill>
                  <a:srgbClr val="0A0A08"/>
                </a:solidFill>
                <a:latin typeface="Arial"/>
                <a:cs typeface="Arial"/>
              </a:rPr>
              <a:t>e</a:t>
            </a:r>
            <a:r>
              <a:rPr dirty="0" sz="2900" spc="-31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00" spc="-90">
                <a:solidFill>
                  <a:srgbClr val="0A0A08"/>
                </a:solidFill>
                <a:latin typeface="Arial"/>
                <a:cs typeface="Arial"/>
              </a:rPr>
              <a:t>Engine</a:t>
            </a:r>
            <a:endParaRPr sz="2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90262" y="7404695"/>
            <a:ext cx="2132965" cy="878205"/>
          </a:xfrm>
          <a:prstGeom prst="rect">
            <a:avLst/>
          </a:prstGeom>
        </p:spPr>
        <p:txBody>
          <a:bodyPr wrap="square" lIns="0" tIns="55879" rIns="0" bIns="0" rtlCol="0" vert="horz">
            <a:spAutoFit/>
          </a:bodyPr>
          <a:lstStyle/>
          <a:p>
            <a:pPr marL="17145" marR="5080" indent="-5080">
              <a:lnSpc>
                <a:spcPts val="3220"/>
              </a:lnSpc>
              <a:spcBef>
                <a:spcPts val="439"/>
              </a:spcBef>
            </a:pPr>
            <a:r>
              <a:rPr dirty="0" sz="2900" spc="-100">
                <a:solidFill>
                  <a:srgbClr val="0A0A08"/>
                </a:solidFill>
                <a:latin typeface="Arial"/>
                <a:cs typeface="Arial"/>
              </a:rPr>
              <a:t>E</a:t>
            </a:r>
            <a:r>
              <a:rPr dirty="0" sz="2900" spc="-100">
                <a:solidFill>
                  <a:srgbClr val="1A1C21"/>
                </a:solidFill>
                <a:latin typeface="Arial"/>
                <a:cs typeface="Arial"/>
              </a:rPr>
              <a:t>xp</a:t>
            </a:r>
            <a:r>
              <a:rPr dirty="0" sz="2900" spc="-100">
                <a:solidFill>
                  <a:srgbClr val="0A0A08"/>
                </a:solidFill>
                <a:latin typeface="Arial"/>
                <a:cs typeface="Arial"/>
              </a:rPr>
              <a:t>and</a:t>
            </a:r>
            <a:r>
              <a:rPr dirty="0" sz="2900" spc="-21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dirty="0" sz="2900" spc="-20">
                <a:solidFill>
                  <a:srgbClr val="0A0A08"/>
                </a:solidFill>
                <a:latin typeface="Arial"/>
                <a:cs typeface="Arial"/>
              </a:rPr>
              <a:t>in</a:t>
            </a:r>
            <a:r>
              <a:rPr dirty="0" sz="2900" spc="-20">
                <a:solidFill>
                  <a:srgbClr val="1A1C21"/>
                </a:solidFill>
                <a:latin typeface="Arial"/>
                <a:cs typeface="Arial"/>
              </a:rPr>
              <a:t>t</a:t>
            </a:r>
            <a:r>
              <a:rPr dirty="0" sz="2900" spc="-20">
                <a:solidFill>
                  <a:srgbClr val="0A0A08"/>
                </a:solidFill>
                <a:latin typeface="Arial"/>
                <a:cs typeface="Arial"/>
              </a:rPr>
              <a:t>o </a:t>
            </a:r>
            <a:r>
              <a:rPr dirty="0" sz="2900">
                <a:solidFill>
                  <a:srgbClr val="0A0A08"/>
                </a:solidFill>
                <a:latin typeface="Arial"/>
                <a:cs typeface="Arial"/>
              </a:rPr>
              <a:t>ne</a:t>
            </a:r>
            <a:r>
              <a:rPr dirty="0" sz="2900">
                <a:solidFill>
                  <a:srgbClr val="1A1C21"/>
                </a:solidFill>
                <a:latin typeface="Arial"/>
                <a:cs typeface="Arial"/>
              </a:rPr>
              <a:t>w</a:t>
            </a:r>
            <a:r>
              <a:rPr dirty="0" sz="2900" spc="-175">
                <a:solidFill>
                  <a:srgbClr val="1A1C21"/>
                </a:solidFill>
                <a:latin typeface="Arial"/>
                <a:cs typeface="Arial"/>
              </a:rPr>
              <a:t> </a:t>
            </a:r>
            <a:r>
              <a:rPr dirty="0" sz="2900" spc="-10">
                <a:solidFill>
                  <a:srgbClr val="1A1C21"/>
                </a:solidFill>
                <a:latin typeface="Arial"/>
                <a:cs typeface="Arial"/>
              </a:rPr>
              <a:t>v</a:t>
            </a:r>
            <a:r>
              <a:rPr dirty="0" sz="2900" spc="-10">
                <a:solidFill>
                  <a:srgbClr val="0A0A08"/>
                </a:solidFill>
                <a:latin typeface="Arial"/>
                <a:cs typeface="Arial"/>
              </a:rPr>
              <a:t>erti</a:t>
            </a:r>
            <a:r>
              <a:rPr dirty="0" sz="2900" spc="-10">
                <a:solidFill>
                  <a:srgbClr val="1A1C21"/>
                </a:solidFill>
                <a:latin typeface="Arial"/>
                <a:cs typeface="Arial"/>
              </a:rPr>
              <a:t>c</a:t>
            </a:r>
            <a:r>
              <a:rPr dirty="0" sz="2900" spc="-10">
                <a:solidFill>
                  <a:srgbClr val="0A0A08"/>
                </a:solidFill>
                <a:latin typeface="Arial"/>
                <a:cs typeface="Arial"/>
              </a:rPr>
              <a:t>al</a:t>
            </a:r>
            <a:r>
              <a:rPr dirty="0" sz="2900" spc="-10">
                <a:solidFill>
                  <a:srgbClr val="1A1C21"/>
                </a:solidFill>
                <a:latin typeface="Arial"/>
                <a:cs typeface="Arial"/>
              </a:rPr>
              <a:t>s</a:t>
            </a:r>
            <a:endParaRPr sz="2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77327" y="2681155"/>
            <a:ext cx="3922971" cy="408516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750263" y="2527960"/>
            <a:ext cx="0" cy="4800600"/>
          </a:xfrm>
          <a:custGeom>
            <a:avLst/>
            <a:gdLst/>
            <a:ahLst/>
            <a:cxnLst/>
            <a:rect l="l" t="t" r="r" b="b"/>
            <a:pathLst>
              <a:path w="0" h="4800600">
                <a:moveTo>
                  <a:pt x="0" y="4800069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938781" y="593957"/>
            <a:ext cx="11591925" cy="8756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550" spc="95">
                <a:solidFill>
                  <a:srgbClr val="161A21"/>
                </a:solidFill>
              </a:rPr>
              <a:t>Let's</a:t>
            </a:r>
            <a:r>
              <a:rPr dirty="0" sz="5550" spc="-355">
                <a:solidFill>
                  <a:srgbClr val="161A21"/>
                </a:solidFill>
              </a:rPr>
              <a:t> </a:t>
            </a:r>
            <a:r>
              <a:rPr dirty="0" sz="5550">
                <a:solidFill>
                  <a:srgbClr val="161A21"/>
                </a:solidFill>
              </a:rPr>
              <a:t>Build</a:t>
            </a:r>
            <a:r>
              <a:rPr dirty="0" sz="5550" spc="-65">
                <a:solidFill>
                  <a:srgbClr val="161A21"/>
                </a:solidFill>
              </a:rPr>
              <a:t> </a:t>
            </a:r>
            <a:r>
              <a:rPr dirty="0" sz="5550" spc="270">
                <a:solidFill>
                  <a:srgbClr val="161A21"/>
                </a:solidFill>
              </a:rPr>
              <a:t>the</a:t>
            </a:r>
            <a:r>
              <a:rPr dirty="0" sz="5550" spc="-320">
                <a:solidFill>
                  <a:srgbClr val="161A21"/>
                </a:solidFill>
              </a:rPr>
              <a:t> </a:t>
            </a:r>
            <a:r>
              <a:rPr dirty="0" sz="5550" spc="110">
                <a:solidFill>
                  <a:srgbClr val="161A21"/>
                </a:solidFill>
              </a:rPr>
              <a:t>Future</a:t>
            </a:r>
            <a:r>
              <a:rPr dirty="0" sz="5550" spc="-204">
                <a:solidFill>
                  <a:srgbClr val="161A21"/>
                </a:solidFill>
              </a:rPr>
              <a:t> </a:t>
            </a:r>
            <a:r>
              <a:rPr dirty="0" sz="5550" spc="155">
                <a:solidFill>
                  <a:srgbClr val="161A21"/>
                </a:solidFill>
              </a:rPr>
              <a:t>of</a:t>
            </a:r>
            <a:r>
              <a:rPr dirty="0" sz="5550" spc="-170">
                <a:solidFill>
                  <a:srgbClr val="161A21"/>
                </a:solidFill>
              </a:rPr>
              <a:t> </a:t>
            </a:r>
            <a:r>
              <a:rPr dirty="0" sz="5550" spc="155">
                <a:solidFill>
                  <a:srgbClr val="161A21"/>
                </a:solidFill>
              </a:rPr>
              <a:t>Defense.</a:t>
            </a:r>
            <a:endParaRPr sz="5550"/>
          </a:p>
        </p:txBody>
      </p:sp>
      <p:sp>
        <p:nvSpPr>
          <p:cNvPr id="5" name="object 5"/>
          <p:cNvSpPr txBox="1"/>
          <p:nvPr/>
        </p:nvSpPr>
        <p:spPr>
          <a:xfrm>
            <a:off x="2044974" y="3655961"/>
            <a:ext cx="5668010" cy="233045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3400" spc="95" b="1">
                <a:solidFill>
                  <a:srgbClr val="0F4DCA"/>
                </a:solidFill>
                <a:latin typeface="Arial"/>
                <a:cs typeface="Arial"/>
              </a:rPr>
              <a:t>[Name</a:t>
            </a:r>
            <a:r>
              <a:rPr dirty="0" sz="3400" spc="-70" b="1">
                <a:solidFill>
                  <a:srgbClr val="0F4DCA"/>
                </a:solidFill>
                <a:latin typeface="Arial"/>
                <a:cs typeface="Arial"/>
              </a:rPr>
              <a:t> </a:t>
            </a:r>
            <a:r>
              <a:rPr dirty="0" sz="3400" spc="80" b="1">
                <a:solidFill>
                  <a:srgbClr val="0F4DCA"/>
                </a:solidFill>
                <a:latin typeface="Arial"/>
                <a:cs typeface="Arial"/>
              </a:rPr>
              <a:t>of</a:t>
            </a:r>
            <a:r>
              <a:rPr dirty="0" sz="3400" spc="-40" b="1">
                <a:solidFill>
                  <a:srgbClr val="0F4DCA"/>
                </a:solidFill>
                <a:latin typeface="Arial"/>
                <a:cs typeface="Arial"/>
              </a:rPr>
              <a:t> </a:t>
            </a:r>
            <a:r>
              <a:rPr dirty="0" sz="3400" b="1">
                <a:solidFill>
                  <a:srgbClr val="0F4DCA"/>
                </a:solidFill>
                <a:latin typeface="Arial"/>
                <a:cs typeface="Arial"/>
              </a:rPr>
              <a:t>Primary</a:t>
            </a:r>
            <a:r>
              <a:rPr dirty="0" sz="3400" spc="15" b="1">
                <a:solidFill>
                  <a:srgbClr val="0F4DCA"/>
                </a:solidFill>
                <a:latin typeface="Arial"/>
                <a:cs typeface="Arial"/>
              </a:rPr>
              <a:t> </a:t>
            </a:r>
            <a:r>
              <a:rPr dirty="0" sz="3400" spc="90" b="1">
                <a:solidFill>
                  <a:srgbClr val="0F4DCA"/>
                </a:solidFill>
                <a:latin typeface="Arial"/>
                <a:cs typeface="Arial"/>
              </a:rPr>
              <a:t>Contact]</a:t>
            </a:r>
            <a:endParaRPr sz="3400">
              <a:latin typeface="Arial"/>
              <a:cs typeface="Arial"/>
            </a:endParaRPr>
          </a:p>
          <a:p>
            <a:pPr marL="26670">
              <a:lnSpc>
                <a:spcPct val="100000"/>
              </a:lnSpc>
              <a:spcBef>
                <a:spcPts val="390"/>
              </a:spcBef>
            </a:pPr>
            <a:r>
              <a:rPr dirty="0" sz="3450" spc="105">
                <a:solidFill>
                  <a:srgbClr val="161A21"/>
                </a:solidFill>
                <a:latin typeface="Arial"/>
                <a:cs typeface="Arial"/>
              </a:rPr>
              <a:t>[Title]</a:t>
            </a:r>
            <a:endParaRPr sz="3450">
              <a:latin typeface="Arial"/>
              <a:cs typeface="Arial"/>
            </a:endParaRPr>
          </a:p>
          <a:p>
            <a:pPr marL="26670" marR="2303780">
              <a:lnSpc>
                <a:spcPct val="109300"/>
              </a:lnSpc>
              <a:spcBef>
                <a:spcPts val="100"/>
              </a:spcBef>
            </a:pPr>
            <a:r>
              <a:rPr dirty="0" sz="3450">
                <a:solidFill>
                  <a:srgbClr val="161A21"/>
                </a:solidFill>
                <a:latin typeface="Arial"/>
                <a:cs typeface="Arial"/>
              </a:rPr>
              <a:t>[Email</a:t>
            </a:r>
            <a:r>
              <a:rPr dirty="0" sz="3450" spc="175">
                <a:solidFill>
                  <a:srgbClr val="161A21"/>
                </a:solidFill>
                <a:latin typeface="Arial"/>
                <a:cs typeface="Arial"/>
              </a:rPr>
              <a:t> </a:t>
            </a:r>
            <a:r>
              <a:rPr dirty="0" sz="3450" spc="50">
                <a:solidFill>
                  <a:srgbClr val="161A21"/>
                </a:solidFill>
                <a:latin typeface="Arial"/>
                <a:cs typeface="Arial"/>
              </a:rPr>
              <a:t>Address] [Phone</a:t>
            </a:r>
            <a:r>
              <a:rPr dirty="0" sz="3450" spc="55">
                <a:solidFill>
                  <a:srgbClr val="161A21"/>
                </a:solidFill>
                <a:latin typeface="Arial"/>
                <a:cs typeface="Arial"/>
              </a:rPr>
              <a:t> </a:t>
            </a:r>
            <a:r>
              <a:rPr dirty="0" sz="3450" spc="75">
                <a:solidFill>
                  <a:srgbClr val="161A21"/>
                </a:solidFill>
                <a:latin typeface="Arial"/>
                <a:cs typeface="Arial"/>
              </a:rPr>
              <a:t>Number]</a:t>
            </a:r>
            <a:endParaRPr sz="34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43240" y="6932348"/>
            <a:ext cx="3787140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>
                <a:solidFill>
                  <a:srgbClr val="3A3B3B"/>
                </a:solidFill>
                <a:latin typeface="Arial"/>
                <a:cs typeface="Arial"/>
              </a:rPr>
              <a:t>Scan</a:t>
            </a:r>
            <a:r>
              <a:rPr dirty="0" sz="1800" spc="-10">
                <a:solidFill>
                  <a:srgbClr val="3A3B3B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6282A"/>
                </a:solidFill>
                <a:latin typeface="Arial"/>
                <a:cs typeface="Arial"/>
              </a:rPr>
              <a:t>to</a:t>
            </a:r>
            <a:r>
              <a:rPr dirty="0" sz="1800" spc="145">
                <a:solidFill>
                  <a:srgbClr val="26282A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A3B3B"/>
                </a:solidFill>
                <a:latin typeface="Arial"/>
                <a:cs typeface="Arial"/>
              </a:rPr>
              <a:t>connect</a:t>
            </a:r>
            <a:r>
              <a:rPr dirty="0" sz="1800" spc="60">
                <a:solidFill>
                  <a:srgbClr val="3A3B3B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A3B3B"/>
                </a:solidFill>
                <a:latin typeface="Arial"/>
                <a:cs typeface="Arial"/>
              </a:rPr>
              <a:t>or</a:t>
            </a:r>
            <a:r>
              <a:rPr dirty="0" sz="1800" spc="185">
                <a:solidFill>
                  <a:srgbClr val="3A3B3B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A3B3B"/>
                </a:solidFill>
                <a:latin typeface="Arial"/>
                <a:cs typeface="Arial"/>
              </a:rPr>
              <a:t>visit</a:t>
            </a:r>
            <a:r>
              <a:rPr dirty="0" sz="1800" spc="-45">
                <a:solidFill>
                  <a:srgbClr val="3A3B3B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A3B3B"/>
                </a:solidFill>
                <a:latin typeface="Arial"/>
                <a:cs typeface="Arial"/>
              </a:rPr>
              <a:t>our</a:t>
            </a:r>
            <a:r>
              <a:rPr dirty="0" sz="1800" spc="70">
                <a:solidFill>
                  <a:srgbClr val="3A3B3B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3A3B3B"/>
                </a:solidFill>
                <a:latin typeface="Arial"/>
                <a:cs typeface="Arial"/>
              </a:rPr>
              <a:t>website.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30248" y="8329500"/>
            <a:ext cx="2455545" cy="836930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2450" b="1">
                <a:solidFill>
                  <a:srgbClr val="161A21"/>
                </a:solidFill>
                <a:latin typeface="Arial"/>
                <a:cs typeface="Arial"/>
              </a:rPr>
              <a:t>DeployHub,</a:t>
            </a:r>
            <a:r>
              <a:rPr dirty="0" sz="2450" spc="285" b="1">
                <a:solidFill>
                  <a:srgbClr val="161A21"/>
                </a:solidFill>
                <a:latin typeface="Arial"/>
                <a:cs typeface="Arial"/>
              </a:rPr>
              <a:t> </a:t>
            </a:r>
            <a:r>
              <a:rPr dirty="0" sz="2450" spc="35" b="1">
                <a:solidFill>
                  <a:srgbClr val="161A21"/>
                </a:solidFill>
                <a:latin typeface="Arial"/>
                <a:cs typeface="Arial"/>
              </a:rPr>
              <a:t>Inc.</a:t>
            </a:r>
            <a:endParaRPr sz="2450">
              <a:latin typeface="Arial"/>
              <a:cs typeface="Arial"/>
            </a:endParaRPr>
          </a:p>
          <a:p>
            <a:pPr marL="179070">
              <a:lnSpc>
                <a:spcPct val="100000"/>
              </a:lnSpc>
              <a:spcBef>
                <a:spcPts val="225"/>
              </a:spcBef>
            </a:pPr>
            <a:r>
              <a:rPr dirty="0" sz="2500" spc="55">
                <a:solidFill>
                  <a:srgbClr val="26282A"/>
                </a:solidFill>
                <a:latin typeface="Arial"/>
                <a:cs typeface="Arial"/>
              </a:rPr>
              <a:t>[Website</a:t>
            </a:r>
            <a:r>
              <a:rPr dirty="0" sz="2500" spc="-20">
                <a:solidFill>
                  <a:srgbClr val="26282A"/>
                </a:solidFill>
                <a:latin typeface="Arial"/>
                <a:cs typeface="Arial"/>
              </a:rPr>
              <a:t> </a:t>
            </a:r>
            <a:r>
              <a:rPr dirty="0" sz="2500" spc="-20">
                <a:solidFill>
                  <a:srgbClr val="161A21"/>
                </a:solidFill>
                <a:latin typeface="Arial"/>
                <a:cs typeface="Arial"/>
              </a:rPr>
              <a:t>URL</a:t>
            </a:r>
            <a:r>
              <a:rPr dirty="0" sz="2500" spc="-20">
                <a:solidFill>
                  <a:srgbClr val="3A3B3B"/>
                </a:solidFill>
                <a:latin typeface="Arial"/>
                <a:cs typeface="Arial"/>
              </a:rPr>
              <a:t>]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3494" y="4953529"/>
            <a:ext cx="509476" cy="91916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95220" y="6306741"/>
            <a:ext cx="891584" cy="91916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750263" y="2323702"/>
            <a:ext cx="0" cy="6459855"/>
          </a:xfrm>
          <a:custGeom>
            <a:avLst/>
            <a:gdLst/>
            <a:ahLst/>
            <a:cxnLst/>
            <a:rect l="l" t="t" r="r" b="b"/>
            <a:pathLst>
              <a:path w="0" h="6459855">
                <a:moveTo>
                  <a:pt x="0" y="645966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80779" y="836513"/>
            <a:ext cx="15408910" cy="799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50" spc="50" b="1">
                <a:solidFill>
                  <a:srgbClr val="1D1F23"/>
                </a:solidFill>
                <a:latin typeface="Arial"/>
                <a:cs typeface="Arial"/>
              </a:rPr>
              <a:t>Appendix:</a:t>
            </a:r>
            <a:r>
              <a:rPr dirty="0" sz="5050" spc="-95" b="1">
                <a:solidFill>
                  <a:srgbClr val="1D1F23"/>
                </a:solidFill>
                <a:latin typeface="Arial"/>
                <a:cs typeface="Arial"/>
              </a:rPr>
              <a:t> </a:t>
            </a:r>
            <a:r>
              <a:rPr dirty="0" sz="5050" spc="235" b="1">
                <a:solidFill>
                  <a:srgbClr val="1D1F23"/>
                </a:solidFill>
                <a:latin typeface="Arial"/>
                <a:cs typeface="Arial"/>
              </a:rPr>
              <a:t>The</a:t>
            </a:r>
            <a:r>
              <a:rPr dirty="0" sz="5050" spc="-320" b="1">
                <a:solidFill>
                  <a:srgbClr val="1D1F23"/>
                </a:solidFill>
                <a:latin typeface="Arial"/>
                <a:cs typeface="Arial"/>
              </a:rPr>
              <a:t> </a:t>
            </a:r>
            <a:r>
              <a:rPr dirty="0" sz="5050" spc="125" b="1">
                <a:solidFill>
                  <a:srgbClr val="1D1F23"/>
                </a:solidFill>
                <a:latin typeface="Arial"/>
                <a:cs typeface="Arial"/>
              </a:rPr>
              <a:t>Cybersecurity</a:t>
            </a:r>
            <a:r>
              <a:rPr dirty="0" sz="5050" spc="180" b="1">
                <a:solidFill>
                  <a:srgbClr val="1D1F23"/>
                </a:solidFill>
                <a:latin typeface="Arial"/>
                <a:cs typeface="Arial"/>
              </a:rPr>
              <a:t> </a:t>
            </a:r>
            <a:r>
              <a:rPr dirty="0" sz="5050" b="1">
                <a:solidFill>
                  <a:srgbClr val="1D1F23"/>
                </a:solidFill>
                <a:latin typeface="Arial"/>
                <a:cs typeface="Arial"/>
              </a:rPr>
              <a:t>Tooling</a:t>
            </a:r>
            <a:r>
              <a:rPr dirty="0" sz="5050" spc="-185" b="1">
                <a:solidFill>
                  <a:srgbClr val="1D1F23"/>
                </a:solidFill>
                <a:latin typeface="Arial"/>
                <a:cs typeface="Arial"/>
              </a:rPr>
              <a:t> </a:t>
            </a:r>
            <a:r>
              <a:rPr dirty="0" sz="5050" spc="70" b="1">
                <a:solidFill>
                  <a:srgbClr val="1D1F23"/>
                </a:solidFill>
                <a:latin typeface="Arial"/>
                <a:cs typeface="Arial"/>
              </a:rPr>
              <a:t>Landscape</a:t>
            </a:r>
            <a:endParaRPr sz="50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75114" y="2167239"/>
            <a:ext cx="6116320" cy="2048510"/>
          </a:xfrm>
          <a:prstGeom prst="rect">
            <a:avLst/>
          </a:prstGeom>
        </p:spPr>
        <p:txBody>
          <a:bodyPr wrap="square" lIns="0" tIns="209550" rIns="0" bIns="0" rtlCol="0" vert="horz">
            <a:spAutoFit/>
          </a:bodyPr>
          <a:lstStyle/>
          <a:p>
            <a:pPr algn="ctr" marR="15875">
              <a:lnSpc>
                <a:spcPct val="100000"/>
              </a:lnSpc>
              <a:spcBef>
                <a:spcPts val="1650"/>
              </a:spcBef>
            </a:pPr>
            <a:r>
              <a:rPr dirty="0" sz="3100" spc="-20" b="1">
                <a:solidFill>
                  <a:srgbClr val="1D1F23"/>
                </a:solidFill>
                <a:latin typeface="Arial"/>
                <a:cs typeface="Arial"/>
              </a:rPr>
              <a:t>Build</a:t>
            </a:r>
            <a:r>
              <a:rPr dirty="0" sz="3100" spc="-114" b="1">
                <a:solidFill>
                  <a:srgbClr val="1D1F23"/>
                </a:solidFill>
                <a:latin typeface="Arial"/>
                <a:cs typeface="Arial"/>
              </a:rPr>
              <a:t> </a:t>
            </a:r>
            <a:r>
              <a:rPr dirty="0" sz="3100" spc="220" b="1">
                <a:solidFill>
                  <a:srgbClr val="1D1F23"/>
                </a:solidFill>
                <a:latin typeface="Arial"/>
                <a:cs typeface="Arial"/>
              </a:rPr>
              <a:t>Time/</a:t>
            </a:r>
            <a:r>
              <a:rPr dirty="0" sz="3100" spc="-80" b="1">
                <a:solidFill>
                  <a:srgbClr val="1D1F23"/>
                </a:solidFill>
                <a:latin typeface="Arial"/>
                <a:cs typeface="Arial"/>
              </a:rPr>
              <a:t> </a:t>
            </a:r>
            <a:r>
              <a:rPr dirty="0" sz="3100" spc="-10" b="1">
                <a:solidFill>
                  <a:srgbClr val="1D1F23"/>
                </a:solidFill>
                <a:latin typeface="Arial"/>
                <a:cs typeface="Arial"/>
              </a:rPr>
              <a:t>Offense</a:t>
            </a:r>
            <a:endParaRPr sz="3100">
              <a:latin typeface="Arial"/>
              <a:cs typeface="Arial"/>
            </a:endParaRPr>
          </a:p>
          <a:p>
            <a:pPr algn="ctr" marL="12700" marR="5080" indent="-35560">
              <a:lnSpc>
                <a:spcPct val="100000"/>
              </a:lnSpc>
              <a:spcBef>
                <a:spcPts val="1300"/>
              </a:spcBef>
            </a:pPr>
            <a:r>
              <a:rPr dirty="0" sz="2600">
                <a:solidFill>
                  <a:srgbClr val="1D1F23"/>
                </a:solidFill>
                <a:latin typeface="Arial"/>
                <a:cs typeface="Arial"/>
              </a:rPr>
              <a:t>Focus</a:t>
            </a:r>
            <a:r>
              <a:rPr dirty="0" sz="2600" spc="120">
                <a:solidFill>
                  <a:srgbClr val="1D1F23"/>
                </a:solidFill>
                <a:latin typeface="Arial"/>
                <a:cs typeface="Arial"/>
              </a:rPr>
              <a:t> </a:t>
            </a:r>
            <a:r>
              <a:rPr dirty="0" sz="2600" spc="110">
                <a:solidFill>
                  <a:srgbClr val="1D1F23"/>
                </a:solidFill>
                <a:latin typeface="Arial"/>
                <a:cs typeface="Arial"/>
              </a:rPr>
              <a:t>on</a:t>
            </a:r>
            <a:r>
              <a:rPr dirty="0" sz="2600" spc="-114">
                <a:solidFill>
                  <a:srgbClr val="1D1F23"/>
                </a:solidFill>
                <a:latin typeface="Arial"/>
                <a:cs typeface="Arial"/>
              </a:rPr>
              <a:t> </a:t>
            </a:r>
            <a:r>
              <a:rPr dirty="0" sz="2600" spc="95">
                <a:solidFill>
                  <a:srgbClr val="1D1F23"/>
                </a:solidFill>
                <a:latin typeface="Arial"/>
                <a:cs typeface="Arial"/>
              </a:rPr>
              <a:t>code</a:t>
            </a:r>
            <a:r>
              <a:rPr dirty="0" sz="2600" spc="140">
                <a:solidFill>
                  <a:srgbClr val="1D1F23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1D1F23"/>
                </a:solidFill>
                <a:latin typeface="Arial"/>
                <a:cs typeface="Arial"/>
              </a:rPr>
              <a:t>scanning,</a:t>
            </a:r>
            <a:r>
              <a:rPr dirty="0" sz="2600" spc="215">
                <a:solidFill>
                  <a:srgbClr val="1D1F23"/>
                </a:solidFill>
                <a:latin typeface="Arial"/>
                <a:cs typeface="Arial"/>
              </a:rPr>
              <a:t> </a:t>
            </a:r>
            <a:r>
              <a:rPr dirty="0" sz="2600" spc="45">
                <a:solidFill>
                  <a:srgbClr val="1D1F23"/>
                </a:solidFill>
                <a:latin typeface="Arial"/>
                <a:cs typeface="Arial"/>
              </a:rPr>
              <a:t>dependency </a:t>
            </a:r>
            <a:r>
              <a:rPr dirty="0" sz="2600" spc="55">
                <a:solidFill>
                  <a:srgbClr val="1D1F23"/>
                </a:solidFill>
                <a:latin typeface="Arial"/>
                <a:cs typeface="Arial"/>
              </a:rPr>
              <a:t>checking,</a:t>
            </a:r>
            <a:r>
              <a:rPr dirty="0" sz="2600" spc="110">
                <a:solidFill>
                  <a:srgbClr val="1D1F23"/>
                </a:solidFill>
                <a:latin typeface="Arial"/>
                <a:cs typeface="Arial"/>
              </a:rPr>
              <a:t> </a:t>
            </a:r>
            <a:r>
              <a:rPr dirty="0" sz="2600" spc="50">
                <a:solidFill>
                  <a:srgbClr val="1D1F23"/>
                </a:solidFill>
                <a:latin typeface="Arial"/>
                <a:cs typeface="Arial"/>
              </a:rPr>
              <a:t>and</a:t>
            </a:r>
            <a:r>
              <a:rPr dirty="0" sz="2600" spc="-15">
                <a:solidFill>
                  <a:srgbClr val="1D1F23"/>
                </a:solidFill>
                <a:latin typeface="Arial"/>
                <a:cs typeface="Arial"/>
              </a:rPr>
              <a:t> </a:t>
            </a:r>
            <a:r>
              <a:rPr dirty="0" sz="2600" spc="80">
                <a:solidFill>
                  <a:srgbClr val="1D1F23"/>
                </a:solidFill>
                <a:latin typeface="Arial"/>
                <a:cs typeface="Arial"/>
              </a:rPr>
              <a:t>conta</a:t>
            </a:r>
            <a:r>
              <a:rPr dirty="0" sz="2600" spc="80">
                <a:solidFill>
                  <a:srgbClr val="3A3B3B"/>
                </a:solidFill>
                <a:latin typeface="Arial"/>
                <a:cs typeface="Arial"/>
              </a:rPr>
              <a:t>i</a:t>
            </a:r>
            <a:r>
              <a:rPr dirty="0" sz="2600" spc="80">
                <a:solidFill>
                  <a:srgbClr val="0C0F0F"/>
                </a:solidFill>
                <a:latin typeface="Arial"/>
                <a:cs typeface="Arial"/>
              </a:rPr>
              <a:t>ner</a:t>
            </a:r>
            <a:r>
              <a:rPr dirty="0" sz="2600" spc="-30">
                <a:solidFill>
                  <a:srgbClr val="0C0F0F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1D1F23"/>
                </a:solidFill>
                <a:latin typeface="Arial"/>
                <a:cs typeface="Arial"/>
              </a:rPr>
              <a:t>analysis</a:t>
            </a:r>
            <a:r>
              <a:rPr dirty="0" sz="2600" spc="155">
                <a:solidFill>
                  <a:srgbClr val="1D1F23"/>
                </a:solidFill>
                <a:latin typeface="Arial"/>
                <a:cs typeface="Arial"/>
              </a:rPr>
              <a:t> </a:t>
            </a:r>
            <a:r>
              <a:rPr dirty="0" sz="2600" spc="70">
                <a:solidFill>
                  <a:srgbClr val="1D1F23"/>
                </a:solidFill>
                <a:latin typeface="Arial"/>
                <a:cs typeface="Arial"/>
              </a:rPr>
              <a:t>before </a:t>
            </a:r>
            <a:r>
              <a:rPr dirty="0" sz="2600" spc="45">
                <a:solidFill>
                  <a:srgbClr val="1D1F23"/>
                </a:solidFill>
                <a:latin typeface="Arial"/>
                <a:cs typeface="Arial"/>
              </a:rPr>
              <a:t>deployment.</a:t>
            </a:r>
            <a:endParaRPr sz="2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4595" y="4928063"/>
            <a:ext cx="1450975" cy="8070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100" spc="-440" b="1">
                <a:solidFill>
                  <a:srgbClr val="797B79"/>
                </a:solidFill>
                <a:latin typeface="Arial"/>
                <a:cs typeface="Arial"/>
              </a:rPr>
              <a:t>snyk:</a:t>
            </a:r>
            <a:endParaRPr sz="5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84432" y="6197868"/>
            <a:ext cx="3427095" cy="2378710"/>
          </a:xfrm>
          <a:prstGeom prst="rect">
            <a:avLst/>
          </a:prstGeom>
        </p:spPr>
        <p:txBody>
          <a:bodyPr wrap="square" lIns="0" tIns="252095" rIns="0" bIns="0" rtlCol="0" vert="horz">
            <a:spAutoFit/>
          </a:bodyPr>
          <a:lstStyle/>
          <a:p>
            <a:pPr marL="155575">
              <a:lnSpc>
                <a:spcPct val="100000"/>
              </a:lnSpc>
              <a:spcBef>
                <a:spcPts val="1985"/>
              </a:spcBef>
            </a:pPr>
            <a:r>
              <a:rPr dirty="0" sz="4600" spc="85" b="1">
                <a:solidFill>
                  <a:srgbClr val="9A9A99"/>
                </a:solidFill>
                <a:latin typeface="Arial"/>
                <a:cs typeface="Arial"/>
              </a:rPr>
              <a:t>O</a:t>
            </a:r>
            <a:r>
              <a:rPr dirty="0" sz="4600" spc="85" b="1">
                <a:solidFill>
                  <a:srgbClr val="797B79"/>
                </a:solidFill>
                <a:latin typeface="Arial"/>
                <a:cs typeface="Arial"/>
              </a:rPr>
              <a:t>sonatype</a:t>
            </a:r>
            <a:endParaRPr sz="4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35"/>
              </a:spcBef>
            </a:pPr>
            <a:r>
              <a:rPr dirty="0" sz="6900" spc="345" b="1">
                <a:solidFill>
                  <a:srgbClr val="797B79"/>
                </a:solidFill>
                <a:latin typeface="Arial"/>
                <a:cs typeface="Arial"/>
              </a:rPr>
              <a:t>C</a:t>
            </a:r>
            <a:r>
              <a:rPr dirty="0" sz="6900" spc="-994" b="1">
                <a:solidFill>
                  <a:srgbClr val="797B79"/>
                </a:solidFill>
                <a:latin typeface="Arial"/>
                <a:cs typeface="Arial"/>
              </a:rPr>
              <a:t> </a:t>
            </a:r>
            <a:r>
              <a:rPr dirty="0" sz="3650" spc="-10" b="1">
                <a:solidFill>
                  <a:srgbClr val="797B79"/>
                </a:solidFill>
                <a:latin typeface="Arial"/>
                <a:cs typeface="Arial"/>
              </a:rPr>
              <a:t>Chainguard</a:t>
            </a:r>
            <a:endParaRPr sz="36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49293" y="2167239"/>
            <a:ext cx="6354445" cy="2048510"/>
          </a:xfrm>
          <a:prstGeom prst="rect">
            <a:avLst/>
          </a:prstGeom>
        </p:spPr>
        <p:txBody>
          <a:bodyPr wrap="square" lIns="0" tIns="209550" rIns="0" bIns="0" rtlCol="0" vert="horz">
            <a:spAutoFit/>
          </a:bodyPr>
          <a:lstStyle/>
          <a:p>
            <a:pPr algn="ctr" marR="14604">
              <a:lnSpc>
                <a:spcPct val="100000"/>
              </a:lnSpc>
              <a:spcBef>
                <a:spcPts val="1650"/>
              </a:spcBef>
            </a:pPr>
            <a:r>
              <a:rPr dirty="0" sz="3100" b="1">
                <a:solidFill>
                  <a:srgbClr val="1D1F23"/>
                </a:solidFill>
                <a:latin typeface="Arial"/>
                <a:cs typeface="Arial"/>
              </a:rPr>
              <a:t>Runtime</a:t>
            </a:r>
            <a:r>
              <a:rPr dirty="0" sz="3100" spc="-50" b="1">
                <a:solidFill>
                  <a:srgbClr val="1D1F23"/>
                </a:solidFill>
                <a:latin typeface="Arial"/>
                <a:cs typeface="Arial"/>
              </a:rPr>
              <a:t> </a:t>
            </a:r>
            <a:r>
              <a:rPr dirty="0" sz="3100" b="1">
                <a:solidFill>
                  <a:srgbClr val="1D1F23"/>
                </a:solidFill>
                <a:latin typeface="Arial"/>
                <a:cs typeface="Arial"/>
              </a:rPr>
              <a:t>/</a:t>
            </a:r>
            <a:r>
              <a:rPr dirty="0" sz="3100" spc="30" b="1">
                <a:solidFill>
                  <a:srgbClr val="1D1F23"/>
                </a:solidFill>
                <a:latin typeface="Arial"/>
                <a:cs typeface="Arial"/>
              </a:rPr>
              <a:t> </a:t>
            </a:r>
            <a:r>
              <a:rPr dirty="0" sz="3100" spc="-10" b="1">
                <a:solidFill>
                  <a:srgbClr val="1D1F23"/>
                </a:solidFill>
                <a:latin typeface="Arial"/>
                <a:cs typeface="Arial"/>
              </a:rPr>
              <a:t>Defense</a:t>
            </a:r>
            <a:endParaRPr sz="3100">
              <a:latin typeface="Arial"/>
              <a:cs typeface="Arial"/>
            </a:endParaRPr>
          </a:p>
          <a:p>
            <a:pPr algn="ctr" marL="5715">
              <a:lnSpc>
                <a:spcPts val="3120"/>
              </a:lnSpc>
              <a:spcBef>
                <a:spcPts val="1300"/>
              </a:spcBef>
            </a:pPr>
            <a:r>
              <a:rPr dirty="0" sz="2600">
                <a:solidFill>
                  <a:srgbClr val="0C0F0F"/>
                </a:solidFill>
                <a:latin typeface="Arial"/>
                <a:cs typeface="Arial"/>
              </a:rPr>
              <a:t>The</a:t>
            </a:r>
            <a:r>
              <a:rPr dirty="0" sz="2600" spc="10">
                <a:solidFill>
                  <a:srgbClr val="0C0F0F"/>
                </a:solidFill>
                <a:latin typeface="Arial"/>
                <a:cs typeface="Arial"/>
              </a:rPr>
              <a:t> </a:t>
            </a:r>
            <a:r>
              <a:rPr dirty="0" sz="2600" spc="55">
                <a:solidFill>
                  <a:srgbClr val="1D1F23"/>
                </a:solidFill>
                <a:latin typeface="Arial"/>
                <a:cs typeface="Arial"/>
              </a:rPr>
              <a:t>only</a:t>
            </a:r>
            <a:r>
              <a:rPr dirty="0" sz="2600" spc="20">
                <a:solidFill>
                  <a:srgbClr val="1D1F23"/>
                </a:solidFill>
                <a:latin typeface="Arial"/>
                <a:cs typeface="Arial"/>
              </a:rPr>
              <a:t> </a:t>
            </a:r>
            <a:r>
              <a:rPr dirty="0" sz="2600" spc="80">
                <a:solidFill>
                  <a:srgbClr val="1D1F23"/>
                </a:solidFill>
                <a:latin typeface="Arial"/>
                <a:cs typeface="Arial"/>
              </a:rPr>
              <a:t>platform</a:t>
            </a:r>
            <a:r>
              <a:rPr dirty="0" sz="2600" spc="114">
                <a:solidFill>
                  <a:srgbClr val="1D1F23"/>
                </a:solidFill>
                <a:latin typeface="Arial"/>
                <a:cs typeface="Arial"/>
              </a:rPr>
              <a:t> </a:t>
            </a:r>
            <a:r>
              <a:rPr dirty="0" sz="2600" spc="70">
                <a:solidFill>
                  <a:srgbClr val="1D1F23"/>
                </a:solidFill>
                <a:latin typeface="Arial"/>
                <a:cs typeface="Arial"/>
              </a:rPr>
              <a:t>focused</a:t>
            </a:r>
            <a:r>
              <a:rPr dirty="0" sz="2600" spc="100">
                <a:solidFill>
                  <a:srgbClr val="1D1F23"/>
                </a:solidFill>
                <a:latin typeface="Arial"/>
                <a:cs typeface="Arial"/>
              </a:rPr>
              <a:t> </a:t>
            </a:r>
            <a:r>
              <a:rPr dirty="0" sz="2600" spc="40">
                <a:solidFill>
                  <a:srgbClr val="1D1F23"/>
                </a:solidFill>
                <a:latin typeface="Arial"/>
                <a:cs typeface="Arial"/>
              </a:rPr>
              <a:t>on</a:t>
            </a:r>
            <a:endParaRPr sz="2600">
              <a:latin typeface="Arial"/>
              <a:cs typeface="Arial"/>
            </a:endParaRPr>
          </a:p>
          <a:p>
            <a:pPr algn="ctr" marL="12065" marR="5080">
              <a:lnSpc>
                <a:spcPts val="3120"/>
              </a:lnSpc>
              <a:spcBef>
                <a:spcPts val="100"/>
              </a:spcBef>
            </a:pPr>
            <a:r>
              <a:rPr dirty="0" sz="2600" spc="65">
                <a:solidFill>
                  <a:srgbClr val="1D1F23"/>
                </a:solidFill>
                <a:latin typeface="Arial"/>
                <a:cs typeface="Arial"/>
              </a:rPr>
              <a:t>post-</a:t>
            </a:r>
            <a:r>
              <a:rPr dirty="0" sz="2600" spc="75">
                <a:solidFill>
                  <a:srgbClr val="1D1F23"/>
                </a:solidFill>
                <a:latin typeface="Arial"/>
                <a:cs typeface="Arial"/>
              </a:rPr>
              <a:t>dep</a:t>
            </a:r>
            <a:r>
              <a:rPr dirty="0" sz="2600" spc="75">
                <a:solidFill>
                  <a:srgbClr val="3A3B3B"/>
                </a:solidFill>
                <a:latin typeface="Arial"/>
                <a:cs typeface="Arial"/>
              </a:rPr>
              <a:t>l</a:t>
            </a:r>
            <a:r>
              <a:rPr dirty="0" sz="2600" spc="75">
                <a:solidFill>
                  <a:srgbClr val="1D1F23"/>
                </a:solidFill>
                <a:latin typeface="Arial"/>
                <a:cs typeface="Arial"/>
              </a:rPr>
              <a:t>oyment</a:t>
            </a:r>
            <a:r>
              <a:rPr dirty="0" sz="2600" spc="480">
                <a:solidFill>
                  <a:srgbClr val="1D1F23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1D1F23"/>
                </a:solidFill>
                <a:latin typeface="Arial"/>
                <a:cs typeface="Arial"/>
              </a:rPr>
              <a:t>visibility,</a:t>
            </a:r>
            <a:r>
              <a:rPr dirty="0" sz="2600" spc="285">
                <a:solidFill>
                  <a:srgbClr val="1D1F23"/>
                </a:solidFill>
                <a:latin typeface="Arial"/>
                <a:cs typeface="Arial"/>
              </a:rPr>
              <a:t> </a:t>
            </a:r>
            <a:r>
              <a:rPr dirty="0" sz="2600" spc="70">
                <a:solidFill>
                  <a:srgbClr val="1D1F23"/>
                </a:solidFill>
                <a:latin typeface="Arial"/>
                <a:cs typeface="Arial"/>
              </a:rPr>
              <a:t>detection,</a:t>
            </a:r>
            <a:r>
              <a:rPr dirty="0" sz="2600" spc="215">
                <a:solidFill>
                  <a:srgbClr val="1D1F23"/>
                </a:solidFill>
                <a:latin typeface="Arial"/>
                <a:cs typeface="Arial"/>
              </a:rPr>
              <a:t> </a:t>
            </a:r>
            <a:r>
              <a:rPr dirty="0" sz="2600" spc="25">
                <a:solidFill>
                  <a:srgbClr val="1D1F23"/>
                </a:solidFill>
                <a:latin typeface="Arial"/>
                <a:cs typeface="Arial"/>
              </a:rPr>
              <a:t>and </a:t>
            </a:r>
            <a:r>
              <a:rPr dirty="0" sz="2600" spc="75">
                <a:solidFill>
                  <a:srgbClr val="1D1F23"/>
                </a:solidFill>
                <a:latin typeface="Arial"/>
                <a:cs typeface="Arial"/>
              </a:rPr>
              <a:t>auto-</a:t>
            </a:r>
            <a:r>
              <a:rPr dirty="0" sz="2600" spc="80">
                <a:solidFill>
                  <a:srgbClr val="1D1F23"/>
                </a:solidFill>
                <a:latin typeface="Arial"/>
                <a:cs typeface="Arial"/>
              </a:rPr>
              <a:t>remediation</a:t>
            </a:r>
            <a:r>
              <a:rPr dirty="0" sz="2600" spc="-155">
                <a:solidFill>
                  <a:srgbClr val="1D1F23"/>
                </a:solidFill>
                <a:latin typeface="Arial"/>
                <a:cs typeface="Arial"/>
              </a:rPr>
              <a:t> </a:t>
            </a:r>
            <a:r>
              <a:rPr dirty="0" sz="2600" spc="65">
                <a:solidFill>
                  <a:srgbClr val="1D1F23"/>
                </a:solidFill>
                <a:latin typeface="Arial"/>
                <a:cs typeface="Arial"/>
              </a:rPr>
              <a:t>in</a:t>
            </a:r>
            <a:r>
              <a:rPr dirty="0" sz="2600" spc="45">
                <a:solidFill>
                  <a:srgbClr val="1D1F23"/>
                </a:solidFill>
                <a:latin typeface="Arial"/>
                <a:cs typeface="Arial"/>
              </a:rPr>
              <a:t> </a:t>
            </a:r>
            <a:r>
              <a:rPr dirty="0" sz="2600" spc="50">
                <a:solidFill>
                  <a:srgbClr val="0C0F0F"/>
                </a:solidFill>
                <a:latin typeface="Arial"/>
                <a:cs typeface="Arial"/>
              </a:rPr>
              <a:t>live</a:t>
            </a:r>
            <a:r>
              <a:rPr dirty="0" sz="2600" spc="-65">
                <a:solidFill>
                  <a:srgbClr val="0C0F0F"/>
                </a:solidFill>
                <a:latin typeface="Arial"/>
                <a:cs typeface="Arial"/>
              </a:rPr>
              <a:t> </a:t>
            </a:r>
            <a:r>
              <a:rPr dirty="0" sz="2600" spc="35">
                <a:solidFill>
                  <a:srgbClr val="1D1F23"/>
                </a:solidFill>
                <a:latin typeface="Arial"/>
                <a:cs typeface="Arial"/>
              </a:rPr>
              <a:t>environments.</a:t>
            </a:r>
            <a:endParaRPr sz="2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523967" y="6306806"/>
            <a:ext cx="3996690" cy="9144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800" spc="50" b="1">
                <a:solidFill>
                  <a:srgbClr val="0854DB"/>
                </a:solidFill>
                <a:latin typeface="Arial"/>
                <a:cs typeface="Arial"/>
              </a:rPr>
              <a:t>DeployHub</a:t>
            </a:r>
            <a:endParaRPr sz="5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2025-12-14T22:28:07Z</dcterms:created>
  <dcterms:modified xsi:type="dcterms:W3CDTF">2025-12-14T22:28:07Z</dcterms:modified>
</cp:coreProperties>
</file>