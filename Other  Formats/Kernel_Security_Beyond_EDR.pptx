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2828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C1F2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2828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C1F2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2828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C1F2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2828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C1F2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C1F2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6251" y="670552"/>
            <a:ext cx="15862696" cy="906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2828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6327" y="3938619"/>
            <a:ext cx="15558135" cy="4925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47783" y="9418922"/>
            <a:ext cx="1254759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1C1F2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98557" y="2451364"/>
            <a:ext cx="6929120" cy="6894195"/>
            <a:chOff x="5298557" y="2451364"/>
            <a:chExt cx="6929120" cy="6894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557" y="2451364"/>
              <a:ext cx="6928883" cy="68937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49506" y="5821625"/>
              <a:ext cx="497205" cy="868680"/>
            </a:xfrm>
            <a:custGeom>
              <a:avLst/>
              <a:gdLst/>
              <a:ahLst/>
              <a:cxnLst/>
              <a:rect l="l" t="t" r="r" b="b"/>
              <a:pathLst>
                <a:path w="497204" h="868679">
                  <a:moveTo>
                    <a:pt x="0" y="868097"/>
                  </a:moveTo>
                  <a:lnTo>
                    <a:pt x="0" y="0"/>
                  </a:lnTo>
                </a:path>
                <a:path w="497204" h="868679">
                  <a:moveTo>
                    <a:pt x="191053" y="868097"/>
                  </a:moveTo>
                  <a:lnTo>
                    <a:pt x="191053" y="0"/>
                  </a:lnTo>
                </a:path>
                <a:path w="497204" h="868679">
                  <a:moveTo>
                    <a:pt x="496739" y="868097"/>
                  </a:moveTo>
                  <a:lnTo>
                    <a:pt x="496739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673841" y="7225900"/>
              <a:ext cx="0" cy="1583055"/>
            </a:xfrm>
            <a:custGeom>
              <a:avLst/>
              <a:gdLst/>
              <a:ahLst/>
              <a:cxnLst/>
              <a:rect l="l" t="t" r="r" b="b"/>
              <a:pathLst>
                <a:path w="0" h="1583054">
                  <a:moveTo>
                    <a:pt x="0" y="15830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79E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20468" y="7225900"/>
              <a:ext cx="892175" cy="2017395"/>
            </a:xfrm>
            <a:custGeom>
              <a:avLst/>
              <a:gdLst/>
              <a:ahLst/>
              <a:cxnLst/>
              <a:rect l="l" t="t" r="r" b="b"/>
              <a:pathLst>
                <a:path w="892175" h="2017395">
                  <a:moveTo>
                    <a:pt x="484002" y="0"/>
                  </a:moveTo>
                  <a:lnTo>
                    <a:pt x="891584" y="0"/>
                  </a:lnTo>
                </a:path>
                <a:path w="892175" h="2017395">
                  <a:moveTo>
                    <a:pt x="382107" y="382984"/>
                  </a:moveTo>
                  <a:lnTo>
                    <a:pt x="891584" y="382984"/>
                  </a:lnTo>
                </a:path>
                <a:path w="892175" h="2017395">
                  <a:moveTo>
                    <a:pt x="382107" y="778734"/>
                  </a:moveTo>
                  <a:lnTo>
                    <a:pt x="891584" y="778734"/>
                  </a:lnTo>
                </a:path>
                <a:path w="892175" h="2017395">
                  <a:moveTo>
                    <a:pt x="382107" y="1136186"/>
                  </a:moveTo>
                  <a:lnTo>
                    <a:pt x="891584" y="1136186"/>
                  </a:lnTo>
                </a:path>
                <a:path w="892175" h="2017395">
                  <a:moveTo>
                    <a:pt x="382107" y="1519170"/>
                  </a:moveTo>
                  <a:lnTo>
                    <a:pt x="891584" y="1519170"/>
                  </a:lnTo>
                </a:path>
                <a:path w="892175" h="2017395">
                  <a:moveTo>
                    <a:pt x="382107" y="1825558"/>
                  </a:moveTo>
                  <a:lnTo>
                    <a:pt x="891584" y="1825558"/>
                  </a:lnTo>
                </a:path>
                <a:path w="892175" h="2017395">
                  <a:moveTo>
                    <a:pt x="0" y="2017050"/>
                  </a:moveTo>
                  <a:lnTo>
                    <a:pt x="891584" y="201705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091905" y="310661"/>
            <a:ext cx="11325225" cy="1792605"/>
          </a:xfrm>
          <a:prstGeom prst="rect"/>
        </p:spPr>
        <p:txBody>
          <a:bodyPr wrap="square" lIns="0" tIns="2298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10"/>
              </a:spcBef>
            </a:pPr>
            <a:r>
              <a:rPr dirty="0" sz="6700" spc="-350">
                <a:solidFill>
                  <a:srgbClr val="1C1F21"/>
                </a:solidFill>
              </a:rPr>
              <a:t>Your</a:t>
            </a:r>
            <a:r>
              <a:rPr dirty="0" sz="6700" spc="-335">
                <a:solidFill>
                  <a:srgbClr val="1C1F21"/>
                </a:solidFill>
              </a:rPr>
              <a:t> </a:t>
            </a:r>
            <a:r>
              <a:rPr dirty="0" sz="6700" spc="-570">
                <a:solidFill>
                  <a:srgbClr val="1C1F21"/>
                </a:solidFill>
              </a:rPr>
              <a:t>EDR</a:t>
            </a:r>
            <a:r>
              <a:rPr dirty="0" sz="6700" spc="-295">
                <a:solidFill>
                  <a:srgbClr val="1C1F21"/>
                </a:solidFill>
              </a:rPr>
              <a:t> </a:t>
            </a:r>
            <a:r>
              <a:rPr dirty="0" sz="6700" spc="-50">
                <a:solidFill>
                  <a:srgbClr val="1C1F21"/>
                </a:solidFill>
              </a:rPr>
              <a:t>Has</a:t>
            </a:r>
            <a:r>
              <a:rPr dirty="0" sz="6700" spc="-670">
                <a:solidFill>
                  <a:srgbClr val="1C1F21"/>
                </a:solidFill>
              </a:rPr>
              <a:t> </a:t>
            </a:r>
            <a:r>
              <a:rPr dirty="0" sz="6700" spc="70">
                <a:solidFill>
                  <a:srgbClr val="1C1F21"/>
                </a:solidFill>
              </a:rPr>
              <a:t>a</a:t>
            </a:r>
            <a:r>
              <a:rPr dirty="0" sz="6700" spc="-600">
                <a:solidFill>
                  <a:srgbClr val="1C1F21"/>
                </a:solidFill>
              </a:rPr>
              <a:t> </a:t>
            </a:r>
            <a:r>
              <a:rPr dirty="0" sz="6700" spc="-280">
                <a:solidFill>
                  <a:srgbClr val="1C1F21"/>
                </a:solidFill>
              </a:rPr>
              <a:t>Blind</a:t>
            </a:r>
            <a:r>
              <a:rPr dirty="0" sz="6700" spc="-275">
                <a:solidFill>
                  <a:srgbClr val="1C1F21"/>
                </a:solidFill>
              </a:rPr>
              <a:t> </a:t>
            </a:r>
            <a:r>
              <a:rPr dirty="0" sz="6700" spc="-10">
                <a:solidFill>
                  <a:srgbClr val="1C1F21"/>
                </a:solidFill>
              </a:rPr>
              <a:t>Spot.</a:t>
            </a:r>
            <a:endParaRPr sz="6700"/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2850" spc="55" b="0">
                <a:solidFill>
                  <a:srgbClr val="1C1F21"/>
                </a:solidFill>
                <a:latin typeface="Arial"/>
                <a:cs typeface="Arial"/>
              </a:rPr>
              <a:t>Enhancing</a:t>
            </a:r>
            <a:r>
              <a:rPr dirty="0" sz="2850" spc="-185" b="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850" spc="90" b="0">
                <a:solidFill>
                  <a:srgbClr val="1C1F21"/>
                </a:solidFill>
                <a:latin typeface="Arial"/>
                <a:cs typeface="Arial"/>
              </a:rPr>
              <a:t>Endpoint</a:t>
            </a:r>
            <a:r>
              <a:rPr dirty="0" sz="2850" spc="-5" b="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850" spc="50" b="0">
                <a:solidFill>
                  <a:srgbClr val="1C1F21"/>
                </a:solidFill>
                <a:latin typeface="Arial"/>
                <a:cs typeface="Arial"/>
              </a:rPr>
              <a:t>Security</a:t>
            </a:r>
            <a:r>
              <a:rPr dirty="0" sz="2850" spc="40" b="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850" spc="160" b="0">
                <a:solidFill>
                  <a:srgbClr val="1C1F21"/>
                </a:solidFill>
                <a:latin typeface="Arial"/>
                <a:cs typeface="Arial"/>
              </a:rPr>
              <a:t>with</a:t>
            </a:r>
            <a:r>
              <a:rPr dirty="0" sz="2850" spc="-110" b="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850" spc="50" b="0">
                <a:solidFill>
                  <a:srgbClr val="1C1F21"/>
                </a:solidFill>
                <a:latin typeface="Arial"/>
                <a:cs typeface="Arial"/>
              </a:rPr>
              <a:t>Linux</a:t>
            </a:r>
            <a:r>
              <a:rPr dirty="0" sz="2850" spc="-65" b="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850" spc="50" b="0">
                <a:solidFill>
                  <a:srgbClr val="1C1F21"/>
                </a:solidFill>
                <a:latin typeface="Arial"/>
                <a:cs typeface="Arial"/>
              </a:rPr>
              <a:t>Kernel</a:t>
            </a:r>
            <a:r>
              <a:rPr dirty="0" sz="2850" spc="-165" b="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850" spc="70" b="0">
                <a:solidFill>
                  <a:srgbClr val="1C1F21"/>
                </a:solidFill>
                <a:latin typeface="Arial"/>
                <a:cs typeface="Arial"/>
              </a:rPr>
              <a:t>Runtime</a:t>
            </a:r>
            <a:r>
              <a:rPr dirty="0" sz="2850" spc="-10" b="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850" spc="65" b="0">
                <a:solidFill>
                  <a:srgbClr val="1C1F21"/>
                </a:solidFill>
                <a:latin typeface="Arial"/>
                <a:cs typeface="Arial"/>
              </a:rPr>
              <a:t>Protection</a:t>
            </a:r>
            <a:r>
              <a:rPr dirty="0" sz="2850" spc="65" b="0">
                <a:solidFill>
                  <a:srgbClr val="2D3133"/>
                </a:solidFill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8" name="object 8"/>
          <p:cNvSpPr txBox="1"/>
          <p:nvPr/>
        </p:nvSpPr>
        <p:spPr>
          <a:xfrm>
            <a:off x="6003762" y="6204677"/>
            <a:ext cx="831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444F5B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3635" y="7864276"/>
            <a:ext cx="51371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145">
                <a:solidFill>
                  <a:srgbClr val="979EA7"/>
                </a:solidFill>
                <a:latin typeface="Arial"/>
                <a:cs typeface="Arial"/>
              </a:rPr>
              <a:t>.</a:t>
            </a:r>
            <a:r>
              <a:rPr dirty="0" sz="1150" spc="-145">
                <a:solidFill>
                  <a:srgbClr val="B6BDC6"/>
                </a:solidFill>
                <a:latin typeface="Arial"/>
                <a:cs typeface="Arial"/>
              </a:rPr>
              <a:t>.:</a:t>
            </a:r>
            <a:r>
              <a:rPr dirty="0" sz="2500" spc="-145">
                <a:solidFill>
                  <a:srgbClr val="979EA7"/>
                </a:solidFill>
                <a:latin typeface="Arial"/>
                <a:cs typeface="Arial"/>
              </a:rPr>
              <a:t>...</a:t>
            </a:r>
            <a:r>
              <a:rPr dirty="0" sz="2500" spc="-145" i="1">
                <a:solidFill>
                  <a:srgbClr val="979EA7"/>
                </a:solidFill>
                <a:latin typeface="Arial"/>
                <a:cs typeface="Arial"/>
              </a:rPr>
              <a:t>:</a:t>
            </a:r>
            <a:r>
              <a:rPr dirty="0" sz="1500" spc="-145">
                <a:solidFill>
                  <a:srgbClr val="A8AEB6"/>
                </a:solidFill>
                <a:latin typeface="Arial"/>
                <a:cs typeface="Arial"/>
              </a:rPr>
              <a:t>••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57194" y="8955782"/>
            <a:ext cx="115316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80">
                <a:solidFill>
                  <a:srgbClr val="2D3133"/>
                </a:solidFill>
                <a:latin typeface="Arial"/>
                <a:cs typeface="Arial"/>
              </a:rPr>
              <a:t>RLC</a:t>
            </a:r>
            <a:r>
              <a:rPr dirty="0" sz="2750" spc="80">
                <a:solidFill>
                  <a:srgbClr val="444F5B"/>
                </a:solidFill>
                <a:latin typeface="Arial"/>
                <a:cs typeface="Arial"/>
              </a:rPr>
              <a:t>-</a:t>
            </a:r>
            <a:r>
              <a:rPr dirty="0" sz="2750" spc="45">
                <a:solidFill>
                  <a:srgbClr val="1C1F21"/>
                </a:solidFill>
                <a:latin typeface="Arial"/>
                <a:cs typeface="Arial"/>
              </a:rPr>
              <a:t>H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1740" y="3727979"/>
            <a:ext cx="1146322" cy="11744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7327" y="3779043"/>
            <a:ext cx="1222744" cy="4085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05759" y="3344994"/>
            <a:ext cx="3566337" cy="15830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7214" y="6970580"/>
            <a:ext cx="1095375" cy="10978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51021" y="6970580"/>
            <a:ext cx="1069901" cy="10978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800301" y="6970580"/>
            <a:ext cx="993479" cy="107235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763000" y="5898222"/>
            <a:ext cx="0" cy="3115310"/>
          </a:xfrm>
          <a:custGeom>
            <a:avLst/>
            <a:gdLst/>
            <a:ahLst/>
            <a:cxnLst/>
            <a:rect l="l" t="t" r="r" b="b"/>
            <a:pathLst>
              <a:path w="0" h="3115309">
                <a:moveTo>
                  <a:pt x="0" y="311493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63000" y="2630090"/>
            <a:ext cx="0" cy="3115310"/>
          </a:xfrm>
          <a:custGeom>
            <a:avLst/>
            <a:gdLst/>
            <a:ahLst/>
            <a:cxnLst/>
            <a:rect l="l" t="t" r="r" b="b"/>
            <a:pathLst>
              <a:path w="0" h="3115310">
                <a:moveTo>
                  <a:pt x="0" y="311493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214705" y="4162026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329338" y="3753510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647152" y="5898222"/>
            <a:ext cx="0" cy="3115310"/>
          </a:xfrm>
          <a:custGeom>
            <a:avLst/>
            <a:gdLst/>
            <a:ahLst/>
            <a:cxnLst/>
            <a:rect l="l" t="t" r="r" b="b"/>
            <a:pathLst>
              <a:path w="0" h="3115309">
                <a:moveTo>
                  <a:pt x="0" y="311493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8737526" y="2623706"/>
            <a:ext cx="7948295" cy="3121660"/>
            <a:chOff x="8737526" y="2623706"/>
            <a:chExt cx="7948295" cy="3121660"/>
          </a:xfrm>
        </p:grpSpPr>
        <p:sp>
          <p:nvSpPr>
            <p:cNvPr id="14" name="object 14"/>
            <p:cNvSpPr/>
            <p:nvPr/>
          </p:nvSpPr>
          <p:spPr>
            <a:xfrm>
              <a:off x="16647153" y="2630089"/>
              <a:ext cx="0" cy="3115310"/>
            </a:xfrm>
            <a:custGeom>
              <a:avLst/>
              <a:gdLst/>
              <a:ahLst/>
              <a:cxnLst/>
              <a:rect l="l" t="t" r="r" b="b"/>
              <a:pathLst>
                <a:path w="0" h="3115310">
                  <a:moveTo>
                    <a:pt x="0" y="3114938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737526" y="2630089"/>
              <a:ext cx="7948295" cy="0"/>
            </a:xfrm>
            <a:custGeom>
              <a:avLst/>
              <a:gdLst/>
              <a:ahLst/>
              <a:cxnLst/>
              <a:rect l="l" t="t" r="r" b="b"/>
              <a:pathLst>
                <a:path w="7948294" h="0">
                  <a:moveTo>
                    <a:pt x="0" y="0"/>
                  </a:moveTo>
                  <a:lnTo>
                    <a:pt x="7947837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393325" y="3625849"/>
              <a:ext cx="2012950" cy="0"/>
            </a:xfrm>
            <a:custGeom>
              <a:avLst/>
              <a:gdLst/>
              <a:ahLst/>
              <a:cxnLst/>
              <a:rect l="l" t="t" r="r" b="b"/>
              <a:pathLst>
                <a:path w="2012950" h="0">
                  <a:moveTo>
                    <a:pt x="0" y="0"/>
                  </a:moveTo>
                  <a:lnTo>
                    <a:pt x="201243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151020" y="4876930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737526" y="5719496"/>
              <a:ext cx="7948295" cy="0"/>
            </a:xfrm>
            <a:custGeom>
              <a:avLst/>
              <a:gdLst/>
              <a:ahLst/>
              <a:cxnLst/>
              <a:rect l="l" t="t" r="r" b="b"/>
              <a:pathLst>
                <a:path w="7948294" h="0">
                  <a:moveTo>
                    <a:pt x="0" y="0"/>
                  </a:moveTo>
                  <a:lnTo>
                    <a:pt x="7947837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8737526" y="5910988"/>
            <a:ext cx="7948295" cy="0"/>
          </a:xfrm>
          <a:custGeom>
            <a:avLst/>
            <a:gdLst/>
            <a:ahLst/>
            <a:cxnLst/>
            <a:rect l="l" t="t" r="r" b="b"/>
            <a:pathLst>
              <a:path w="7948294" h="0">
                <a:moveTo>
                  <a:pt x="0" y="0"/>
                </a:moveTo>
                <a:lnTo>
                  <a:pt x="794783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737526" y="8987628"/>
            <a:ext cx="7948295" cy="0"/>
          </a:xfrm>
          <a:custGeom>
            <a:avLst/>
            <a:gdLst/>
            <a:ahLst/>
            <a:cxnLst/>
            <a:rect l="l" t="t" r="r" b="b"/>
            <a:pathLst>
              <a:path w="7948294" h="0">
                <a:moveTo>
                  <a:pt x="0" y="0"/>
                </a:moveTo>
                <a:lnTo>
                  <a:pt x="794783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915509" y="504594"/>
            <a:ext cx="11006455" cy="1746885"/>
          </a:xfrm>
          <a:prstGeom prst="rect"/>
        </p:spPr>
        <p:txBody>
          <a:bodyPr wrap="square" lIns="0" tIns="36830" rIns="0" bIns="0" rtlCol="0" vert="horz">
            <a:spAutoFit/>
          </a:bodyPr>
          <a:lstStyle/>
          <a:p>
            <a:pPr marL="12700" marR="5080" indent="15240">
              <a:lnSpc>
                <a:spcPts val="6730"/>
              </a:lnSpc>
              <a:spcBef>
                <a:spcPts val="290"/>
              </a:spcBef>
            </a:pPr>
            <a:r>
              <a:rPr dirty="0" sz="5650">
                <a:solidFill>
                  <a:srgbClr val="050505"/>
                </a:solidFill>
              </a:rPr>
              <a:t>You've</a:t>
            </a:r>
            <a:r>
              <a:rPr dirty="0" sz="5650" spc="-55">
                <a:solidFill>
                  <a:srgbClr val="050505"/>
                </a:solidFill>
              </a:rPr>
              <a:t> </a:t>
            </a:r>
            <a:r>
              <a:rPr dirty="0" sz="5650" spc="90">
                <a:solidFill>
                  <a:srgbClr val="050505"/>
                </a:solidFill>
              </a:rPr>
              <a:t>Secured</a:t>
            </a:r>
            <a:r>
              <a:rPr dirty="0" sz="5650" spc="40">
                <a:solidFill>
                  <a:srgbClr val="050505"/>
                </a:solidFill>
              </a:rPr>
              <a:t> </a:t>
            </a:r>
            <a:r>
              <a:rPr dirty="0" sz="5650" spc="220">
                <a:solidFill>
                  <a:srgbClr val="050505"/>
                </a:solidFill>
              </a:rPr>
              <a:t>the</a:t>
            </a:r>
            <a:r>
              <a:rPr dirty="0" sz="5650" spc="-300">
                <a:solidFill>
                  <a:srgbClr val="050505"/>
                </a:solidFill>
              </a:rPr>
              <a:t> </a:t>
            </a:r>
            <a:r>
              <a:rPr dirty="0" sz="5650" spc="105">
                <a:solidFill>
                  <a:srgbClr val="050505"/>
                </a:solidFill>
              </a:rPr>
              <a:t>Userspace. </a:t>
            </a:r>
            <a:r>
              <a:rPr dirty="0" sz="5650">
                <a:solidFill>
                  <a:srgbClr val="050505"/>
                </a:solidFill>
              </a:rPr>
              <a:t>But</a:t>
            </a:r>
            <a:r>
              <a:rPr dirty="0" sz="5650" spc="-45">
                <a:solidFill>
                  <a:srgbClr val="050505"/>
                </a:solidFill>
              </a:rPr>
              <a:t> </a:t>
            </a:r>
            <a:r>
              <a:rPr dirty="0" sz="5650" spc="240">
                <a:solidFill>
                  <a:srgbClr val="050505"/>
                </a:solidFill>
              </a:rPr>
              <a:t>What</a:t>
            </a:r>
            <a:r>
              <a:rPr dirty="0" sz="5650" spc="-125">
                <a:solidFill>
                  <a:srgbClr val="050505"/>
                </a:solidFill>
              </a:rPr>
              <a:t> </a:t>
            </a:r>
            <a:r>
              <a:rPr dirty="0" sz="5650" spc="80">
                <a:solidFill>
                  <a:srgbClr val="050505"/>
                </a:solidFill>
              </a:rPr>
              <a:t>Lies</a:t>
            </a:r>
            <a:r>
              <a:rPr dirty="0" sz="5650" spc="-355">
                <a:solidFill>
                  <a:srgbClr val="050505"/>
                </a:solidFill>
              </a:rPr>
              <a:t> </a:t>
            </a:r>
            <a:r>
              <a:rPr dirty="0" sz="5650" spc="45">
                <a:solidFill>
                  <a:srgbClr val="050505"/>
                </a:solidFill>
              </a:rPr>
              <a:t>Beneath?</a:t>
            </a:r>
            <a:endParaRPr sz="5650"/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22" name="object 22"/>
          <p:cNvSpPr txBox="1"/>
          <p:nvPr/>
        </p:nvSpPr>
        <p:spPr>
          <a:xfrm>
            <a:off x="920419" y="2687605"/>
            <a:ext cx="6804025" cy="5716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620">
              <a:lnSpc>
                <a:spcPct val="100299"/>
              </a:lnSpc>
              <a:spcBef>
                <a:spcPts val="105"/>
              </a:spcBef>
            </a:pPr>
            <a:r>
              <a:rPr dirty="0" sz="4150" spc="-65">
                <a:solidFill>
                  <a:srgbClr val="050505"/>
                </a:solidFill>
                <a:latin typeface="Arial"/>
                <a:cs typeface="Arial"/>
              </a:rPr>
              <a:t>Modern</a:t>
            </a:r>
            <a:r>
              <a:rPr dirty="0" sz="4150" spc="-1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>
                <a:solidFill>
                  <a:srgbClr val="050505"/>
                </a:solidFill>
                <a:latin typeface="Arial"/>
                <a:cs typeface="Arial"/>
              </a:rPr>
              <a:t>Endpoint</a:t>
            </a:r>
            <a:r>
              <a:rPr dirty="0" sz="4150" spc="-17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30">
                <a:solidFill>
                  <a:srgbClr val="050505"/>
                </a:solidFill>
                <a:latin typeface="Arial"/>
                <a:cs typeface="Arial"/>
              </a:rPr>
              <a:t>Detection</a:t>
            </a:r>
            <a:r>
              <a:rPr dirty="0" sz="4150" spc="-1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5">
                <a:solidFill>
                  <a:srgbClr val="050505"/>
                </a:solidFill>
                <a:latin typeface="Arial"/>
                <a:cs typeface="Arial"/>
              </a:rPr>
              <a:t>&amp; </a:t>
            </a:r>
            <a:r>
              <a:rPr dirty="0" sz="4150" spc="-175">
                <a:solidFill>
                  <a:srgbClr val="050505"/>
                </a:solidFill>
                <a:latin typeface="Arial"/>
                <a:cs typeface="Arial"/>
              </a:rPr>
              <a:t>Response</a:t>
            </a:r>
            <a:r>
              <a:rPr dirty="0" sz="4150" spc="-8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405">
                <a:solidFill>
                  <a:srgbClr val="050505"/>
                </a:solidFill>
                <a:latin typeface="Arial"/>
                <a:cs typeface="Arial"/>
              </a:rPr>
              <a:t>(EDR)</a:t>
            </a:r>
            <a:r>
              <a:rPr dirty="0" sz="4150" spc="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10">
                <a:solidFill>
                  <a:srgbClr val="050505"/>
                </a:solidFill>
                <a:latin typeface="Arial"/>
                <a:cs typeface="Arial"/>
              </a:rPr>
              <a:t>solutions </a:t>
            </a:r>
            <a:r>
              <a:rPr dirty="0" sz="4150">
                <a:solidFill>
                  <a:srgbClr val="050505"/>
                </a:solidFill>
                <a:latin typeface="Arial"/>
                <a:cs typeface="Arial"/>
              </a:rPr>
              <a:t>provide</a:t>
            </a:r>
            <a:r>
              <a:rPr dirty="0" sz="4150" spc="-2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35">
                <a:solidFill>
                  <a:srgbClr val="050505"/>
                </a:solidFill>
                <a:latin typeface="Arial"/>
                <a:cs typeface="Arial"/>
              </a:rPr>
              <a:t>excellent</a:t>
            </a:r>
            <a:r>
              <a:rPr dirty="0" sz="4150" spc="-2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45">
                <a:solidFill>
                  <a:srgbClr val="050505"/>
                </a:solidFill>
                <a:latin typeface="Arial"/>
                <a:cs typeface="Arial"/>
              </a:rPr>
              <a:t>visibility </a:t>
            </a:r>
            <a:r>
              <a:rPr dirty="0" sz="4150" spc="110">
                <a:solidFill>
                  <a:srgbClr val="050505"/>
                </a:solidFill>
                <a:latin typeface="Arial"/>
                <a:cs typeface="Arial"/>
              </a:rPr>
              <a:t>into</a:t>
            </a:r>
            <a:r>
              <a:rPr dirty="0" sz="4150" spc="-2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50">
                <a:solidFill>
                  <a:srgbClr val="050505"/>
                </a:solidFill>
                <a:latin typeface="Arial"/>
                <a:cs typeface="Arial"/>
              </a:rPr>
              <a:t>userspace</a:t>
            </a:r>
            <a:endParaRPr sz="4150">
              <a:latin typeface="Arial"/>
              <a:cs typeface="Arial"/>
            </a:endParaRPr>
          </a:p>
          <a:p>
            <a:pPr marL="15240">
              <a:lnSpc>
                <a:spcPts val="4925"/>
              </a:lnSpc>
            </a:pPr>
            <a:r>
              <a:rPr dirty="0" sz="4150" spc="150">
                <a:solidFill>
                  <a:srgbClr val="050505"/>
                </a:solidFill>
                <a:latin typeface="Arial"/>
                <a:cs typeface="Arial"/>
              </a:rPr>
              <a:t>activities-</a:t>
            </a:r>
            <a:r>
              <a:rPr dirty="0" sz="4150" spc="140">
                <a:solidFill>
                  <a:srgbClr val="050505"/>
                </a:solidFill>
                <a:latin typeface="Arial"/>
                <a:cs typeface="Arial"/>
              </a:rPr>
              <a:t>manitoring</a:t>
            </a:r>
            <a:endParaRPr sz="4150">
              <a:latin typeface="Arial"/>
              <a:cs typeface="Arial"/>
            </a:endParaRPr>
          </a:p>
          <a:p>
            <a:pPr marL="13335" marR="243204" indent="11430">
              <a:lnSpc>
                <a:spcPct val="99600"/>
              </a:lnSpc>
              <a:spcBef>
                <a:spcPts val="65"/>
              </a:spcBef>
            </a:pPr>
            <a:r>
              <a:rPr dirty="0" sz="4150" spc="-150">
                <a:solidFill>
                  <a:srgbClr val="050505"/>
                </a:solidFill>
                <a:latin typeface="Arial"/>
                <a:cs typeface="Arial"/>
              </a:rPr>
              <a:t>processes,</a:t>
            </a:r>
            <a:r>
              <a:rPr dirty="0" sz="4150" spc="-1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75">
                <a:solidFill>
                  <a:srgbClr val="050505"/>
                </a:solidFill>
                <a:latin typeface="Arial"/>
                <a:cs typeface="Arial"/>
              </a:rPr>
              <a:t>file</a:t>
            </a:r>
            <a:r>
              <a:rPr dirty="0" sz="4150" spc="-2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210">
                <a:solidFill>
                  <a:srgbClr val="050505"/>
                </a:solidFill>
                <a:latin typeface="Arial"/>
                <a:cs typeface="Arial"/>
              </a:rPr>
              <a:t>access,</a:t>
            </a:r>
            <a:r>
              <a:rPr dirty="0" sz="4150" spc="-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25">
                <a:solidFill>
                  <a:srgbClr val="050505"/>
                </a:solidFill>
                <a:latin typeface="Arial"/>
                <a:cs typeface="Arial"/>
              </a:rPr>
              <a:t>and </a:t>
            </a:r>
            <a:r>
              <a:rPr dirty="0" sz="4150">
                <a:solidFill>
                  <a:srgbClr val="050505"/>
                </a:solidFill>
                <a:latin typeface="Arial"/>
                <a:cs typeface="Arial"/>
              </a:rPr>
              <a:t>network</a:t>
            </a:r>
            <a:r>
              <a:rPr dirty="0" sz="4150" spc="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10">
                <a:solidFill>
                  <a:srgbClr val="050505"/>
                </a:solidFill>
                <a:latin typeface="Arial"/>
                <a:cs typeface="Arial"/>
              </a:rPr>
              <a:t>connections </a:t>
            </a:r>
            <a:r>
              <a:rPr dirty="0" sz="4150" spc="-35">
                <a:solidFill>
                  <a:srgbClr val="050505"/>
                </a:solidFill>
                <a:latin typeface="Arial"/>
                <a:cs typeface="Arial"/>
              </a:rPr>
              <a:t>connections.</a:t>
            </a:r>
            <a:r>
              <a:rPr dirty="0" sz="4150" spc="-15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65">
                <a:solidFill>
                  <a:srgbClr val="050505"/>
                </a:solidFill>
                <a:latin typeface="Arial"/>
                <a:cs typeface="Arial"/>
              </a:rPr>
              <a:t>This</a:t>
            </a:r>
            <a:r>
              <a:rPr dirty="0" sz="4150" spc="-33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15">
                <a:solidFill>
                  <a:srgbClr val="050505"/>
                </a:solidFill>
                <a:latin typeface="Arial"/>
                <a:cs typeface="Arial"/>
              </a:rPr>
              <a:t>is</a:t>
            </a:r>
            <a:r>
              <a:rPr dirty="0" sz="4150" spc="-39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145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4150" spc="-34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55">
                <a:solidFill>
                  <a:srgbClr val="050505"/>
                </a:solidFill>
                <a:latin typeface="Arial"/>
                <a:cs typeface="Arial"/>
              </a:rPr>
              <a:t>critical </a:t>
            </a:r>
            <a:r>
              <a:rPr dirty="0" sz="4150" spc="-35">
                <a:solidFill>
                  <a:srgbClr val="050505"/>
                </a:solidFill>
                <a:latin typeface="Arial"/>
                <a:cs typeface="Arial"/>
              </a:rPr>
              <a:t>layer</a:t>
            </a:r>
            <a:r>
              <a:rPr dirty="0" sz="4150" spc="-24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80">
                <a:solidFill>
                  <a:srgbClr val="050505"/>
                </a:solidFill>
                <a:latin typeface="Arial"/>
                <a:cs typeface="Arial"/>
              </a:rPr>
              <a:t>of</a:t>
            </a:r>
            <a:r>
              <a:rPr dirty="0" sz="4150" spc="-38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4150" spc="-10">
                <a:solidFill>
                  <a:srgbClr val="050505"/>
                </a:solidFill>
                <a:latin typeface="Arial"/>
                <a:cs typeface="Arial"/>
              </a:rPr>
              <a:t>defense.</a:t>
            </a:r>
            <a:endParaRPr sz="4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94403" y="2732285"/>
            <a:ext cx="220599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700" spc="-165" b="1">
                <a:solidFill>
                  <a:srgbClr val="050505"/>
                </a:solidFill>
                <a:latin typeface="Arial"/>
                <a:cs typeface="Arial"/>
              </a:rPr>
              <a:t>Userspace</a:t>
            </a:r>
            <a:endParaRPr sz="3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22418" y="5017425"/>
            <a:ext cx="150622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95">
                <a:solidFill>
                  <a:srgbClr val="050505"/>
                </a:solidFill>
                <a:latin typeface="Arial"/>
                <a:cs typeface="Arial"/>
              </a:rPr>
              <a:t>Processes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31228" y="5017425"/>
            <a:ext cx="1904364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10">
                <a:solidFill>
                  <a:srgbClr val="1A1A1A"/>
                </a:solidFill>
                <a:latin typeface="Arial"/>
                <a:cs typeface="Arial"/>
              </a:rPr>
              <a:t>Applications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392617" y="5011042"/>
            <a:ext cx="182880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50" spc="-260" b="1">
                <a:solidFill>
                  <a:srgbClr val="050505"/>
                </a:solidFill>
                <a:latin typeface="Arial"/>
                <a:cs typeface="Arial"/>
              </a:rPr>
              <a:t>EDR</a:t>
            </a:r>
            <a:r>
              <a:rPr dirty="0" sz="2750" spc="-11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50" spc="-200" b="1">
                <a:solidFill>
                  <a:srgbClr val="050505"/>
                </a:solidFill>
                <a:latin typeface="Arial"/>
                <a:cs typeface="Arial"/>
              </a:rPr>
              <a:t>AGENT</a:t>
            </a:r>
            <a:endParaRPr sz="2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988306" y="6000419"/>
            <a:ext cx="146304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700" spc="-10" b="1">
                <a:solidFill>
                  <a:srgbClr val="050505"/>
                </a:solidFill>
                <a:latin typeface="Arial"/>
                <a:cs typeface="Arial"/>
              </a:rPr>
              <a:t>Kernel</a:t>
            </a:r>
            <a:endParaRPr sz="3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94868" y="8196196"/>
            <a:ext cx="154622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10">
                <a:solidFill>
                  <a:srgbClr val="1A1A1A"/>
                </a:solidFill>
                <a:latin typeface="Arial"/>
                <a:cs typeface="Arial"/>
              </a:rPr>
              <a:t>Scheduler</a:t>
            </a:r>
            <a:endParaRPr sz="2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577540" y="8196196"/>
            <a:ext cx="222631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>
                <a:solidFill>
                  <a:srgbClr val="050505"/>
                </a:solidFill>
                <a:latin typeface="Arial"/>
                <a:cs typeface="Arial"/>
              </a:rPr>
              <a:t>M</a:t>
            </a:r>
            <a:r>
              <a:rPr dirty="0" sz="2700">
                <a:solidFill>
                  <a:srgbClr val="2D2D2F"/>
                </a:solidFill>
                <a:latin typeface="Arial"/>
                <a:cs typeface="Arial"/>
              </a:rPr>
              <a:t>e</a:t>
            </a:r>
            <a:r>
              <a:rPr dirty="0" sz="2700">
                <a:solidFill>
                  <a:srgbClr val="050505"/>
                </a:solidFill>
                <a:latin typeface="Arial"/>
                <a:cs typeface="Arial"/>
              </a:rPr>
              <a:t>mory</a:t>
            </a:r>
            <a:r>
              <a:rPr dirty="0" sz="2700" spc="-1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700" spc="-20">
                <a:solidFill>
                  <a:srgbClr val="050505"/>
                </a:solidFill>
                <a:latin typeface="Arial"/>
                <a:cs typeface="Arial"/>
              </a:rPr>
              <a:t>Mgmt</a:t>
            </a:r>
            <a:endParaRPr sz="2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338693" y="8196196"/>
            <a:ext cx="195008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45">
                <a:solidFill>
                  <a:srgbClr val="1A1A1A"/>
                </a:solidFill>
                <a:latin typeface="Arial"/>
                <a:cs typeface="Arial"/>
              </a:rPr>
              <a:t>System</a:t>
            </a:r>
            <a:r>
              <a:rPr dirty="0" sz="2700" spc="-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700" spc="-25">
                <a:solidFill>
                  <a:srgbClr val="050505"/>
                </a:solidFill>
                <a:latin typeface="Arial"/>
                <a:cs typeface="Arial"/>
              </a:rPr>
              <a:t>Calls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1740" y="3727979"/>
            <a:ext cx="1146322" cy="11744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7327" y="3779043"/>
            <a:ext cx="1222744" cy="40851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030779" y="2630090"/>
            <a:ext cx="8941435" cy="6383655"/>
            <a:chOff x="7030779" y="2630090"/>
            <a:chExt cx="8941435" cy="638365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05758" y="3344994"/>
              <a:ext cx="3566337" cy="15830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0779" y="4545012"/>
              <a:ext cx="6572249" cy="37277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32293" y="6970580"/>
              <a:ext cx="2037906" cy="10723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63000" y="2630090"/>
              <a:ext cx="0" cy="6383655"/>
            </a:xfrm>
            <a:custGeom>
              <a:avLst/>
              <a:gdLst/>
              <a:ahLst/>
              <a:cxnLst/>
              <a:rect l="l" t="t" r="r" b="b"/>
              <a:pathLst>
                <a:path w="0" h="6383655">
                  <a:moveTo>
                    <a:pt x="0" y="1914921"/>
                  </a:moveTo>
                  <a:lnTo>
                    <a:pt x="0" y="0"/>
                  </a:lnTo>
                </a:path>
                <a:path w="0" h="6383655">
                  <a:moveTo>
                    <a:pt x="0" y="6383070"/>
                  </a:moveTo>
                  <a:lnTo>
                    <a:pt x="0" y="5642634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214705" y="4162027"/>
              <a:ext cx="0" cy="766445"/>
            </a:xfrm>
            <a:custGeom>
              <a:avLst/>
              <a:gdLst/>
              <a:ahLst/>
              <a:cxnLst/>
              <a:rect l="l" t="t" r="r" b="b"/>
              <a:pathLst>
                <a:path w="0" h="766445">
                  <a:moveTo>
                    <a:pt x="0" y="765968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329337" y="3753510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w="0" h="485139">
                  <a:moveTo>
                    <a:pt x="0" y="485113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6634417" y="5898222"/>
            <a:ext cx="0" cy="3115310"/>
          </a:xfrm>
          <a:custGeom>
            <a:avLst/>
            <a:gdLst/>
            <a:ahLst/>
            <a:cxnLst/>
            <a:rect l="l" t="t" r="r" b="b"/>
            <a:pathLst>
              <a:path w="0" h="3115309">
                <a:moveTo>
                  <a:pt x="0" y="311493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8737526" y="2623706"/>
            <a:ext cx="7948295" cy="3121660"/>
            <a:chOff x="8737526" y="2623706"/>
            <a:chExt cx="7948295" cy="3121660"/>
          </a:xfrm>
        </p:grpSpPr>
        <p:sp>
          <p:nvSpPr>
            <p:cNvPr id="13" name="object 13"/>
            <p:cNvSpPr/>
            <p:nvPr/>
          </p:nvSpPr>
          <p:spPr>
            <a:xfrm>
              <a:off x="16647153" y="2630089"/>
              <a:ext cx="0" cy="3115310"/>
            </a:xfrm>
            <a:custGeom>
              <a:avLst/>
              <a:gdLst/>
              <a:ahLst/>
              <a:cxnLst/>
              <a:rect l="l" t="t" r="r" b="b"/>
              <a:pathLst>
                <a:path w="0" h="3115310">
                  <a:moveTo>
                    <a:pt x="0" y="3114938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37526" y="2630089"/>
              <a:ext cx="7948295" cy="0"/>
            </a:xfrm>
            <a:custGeom>
              <a:avLst/>
              <a:gdLst/>
              <a:ahLst/>
              <a:cxnLst/>
              <a:rect l="l" t="t" r="r" b="b"/>
              <a:pathLst>
                <a:path w="7948294" h="0">
                  <a:moveTo>
                    <a:pt x="0" y="0"/>
                  </a:moveTo>
                  <a:lnTo>
                    <a:pt x="7947837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418799" y="3625849"/>
              <a:ext cx="1987550" cy="0"/>
            </a:xfrm>
            <a:custGeom>
              <a:avLst/>
              <a:gdLst/>
              <a:ahLst/>
              <a:cxnLst/>
              <a:rect l="l" t="t" r="r" b="b"/>
              <a:pathLst>
                <a:path w="1987550" h="0">
                  <a:moveTo>
                    <a:pt x="0" y="0"/>
                  </a:moveTo>
                  <a:lnTo>
                    <a:pt x="198695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151020" y="4876930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11998177" y="5910988"/>
            <a:ext cx="4687570" cy="0"/>
          </a:xfrm>
          <a:custGeom>
            <a:avLst/>
            <a:gdLst/>
            <a:ahLst/>
            <a:cxnLst/>
            <a:rect l="l" t="t" r="r" b="b"/>
            <a:pathLst>
              <a:path w="4687569" h="0">
                <a:moveTo>
                  <a:pt x="0" y="0"/>
                </a:moveTo>
                <a:lnTo>
                  <a:pt x="468718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737526" y="8987628"/>
            <a:ext cx="7948295" cy="0"/>
          </a:xfrm>
          <a:custGeom>
            <a:avLst/>
            <a:gdLst/>
            <a:ahLst/>
            <a:cxnLst/>
            <a:rect l="l" t="t" r="r" b="b"/>
            <a:pathLst>
              <a:path w="7948294" h="0">
                <a:moveTo>
                  <a:pt x="0" y="0"/>
                </a:moveTo>
                <a:lnTo>
                  <a:pt x="794783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925475" y="459911"/>
            <a:ext cx="11194415" cy="1802764"/>
          </a:xfrm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12700" marR="5080">
              <a:lnSpc>
                <a:spcPts val="6630"/>
              </a:lnSpc>
              <a:spcBef>
                <a:spcPts val="925"/>
              </a:spcBef>
            </a:pPr>
            <a:r>
              <a:rPr dirty="0" sz="6100" spc="-120">
                <a:solidFill>
                  <a:srgbClr val="030303"/>
                </a:solidFill>
              </a:rPr>
              <a:t>The</a:t>
            </a:r>
            <a:r>
              <a:rPr dirty="0" sz="6100" spc="-515">
                <a:solidFill>
                  <a:srgbClr val="030303"/>
                </a:solidFill>
              </a:rPr>
              <a:t> </a:t>
            </a:r>
            <a:r>
              <a:rPr dirty="0" sz="6100" spc="-245">
                <a:solidFill>
                  <a:srgbClr val="030303"/>
                </a:solidFill>
              </a:rPr>
              <a:t>Kernel:</a:t>
            </a:r>
            <a:r>
              <a:rPr dirty="0" sz="6100" spc="-385">
                <a:solidFill>
                  <a:srgbClr val="030303"/>
                </a:solidFill>
              </a:rPr>
              <a:t> </a:t>
            </a:r>
            <a:r>
              <a:rPr dirty="0" sz="6100" spc="-120">
                <a:solidFill>
                  <a:srgbClr val="030303"/>
                </a:solidFill>
              </a:rPr>
              <a:t>The</a:t>
            </a:r>
            <a:r>
              <a:rPr dirty="0" sz="6100" spc="-605">
                <a:solidFill>
                  <a:srgbClr val="030303"/>
                </a:solidFill>
              </a:rPr>
              <a:t> </a:t>
            </a:r>
            <a:r>
              <a:rPr dirty="0" sz="6100" spc="-125">
                <a:solidFill>
                  <a:srgbClr val="030303"/>
                </a:solidFill>
              </a:rPr>
              <a:t>Ultimate</a:t>
            </a:r>
            <a:r>
              <a:rPr dirty="0" sz="6100" spc="-254">
                <a:solidFill>
                  <a:srgbClr val="030303"/>
                </a:solidFill>
              </a:rPr>
              <a:t> </a:t>
            </a:r>
            <a:r>
              <a:rPr dirty="0" sz="6100" spc="-120">
                <a:solidFill>
                  <a:srgbClr val="030303"/>
                </a:solidFill>
              </a:rPr>
              <a:t>Target, The</a:t>
            </a:r>
            <a:r>
              <a:rPr dirty="0" sz="6100" spc="-605">
                <a:solidFill>
                  <a:srgbClr val="030303"/>
                </a:solidFill>
              </a:rPr>
              <a:t> </a:t>
            </a:r>
            <a:r>
              <a:rPr dirty="0" sz="6100" spc="-130">
                <a:solidFill>
                  <a:srgbClr val="030303"/>
                </a:solidFill>
              </a:rPr>
              <a:t>Ultimate</a:t>
            </a:r>
            <a:r>
              <a:rPr dirty="0" sz="6100" spc="-365">
                <a:solidFill>
                  <a:srgbClr val="030303"/>
                </a:solidFill>
              </a:rPr>
              <a:t> </a:t>
            </a:r>
            <a:r>
              <a:rPr dirty="0" sz="6100" spc="-280">
                <a:solidFill>
                  <a:srgbClr val="030303"/>
                </a:solidFill>
              </a:rPr>
              <a:t>Blind</a:t>
            </a:r>
            <a:r>
              <a:rPr dirty="0" sz="6100" spc="-295">
                <a:solidFill>
                  <a:srgbClr val="030303"/>
                </a:solidFill>
              </a:rPr>
              <a:t> </a:t>
            </a:r>
            <a:r>
              <a:rPr dirty="0" sz="6100" spc="-10">
                <a:solidFill>
                  <a:srgbClr val="030303"/>
                </a:solidFill>
              </a:rPr>
              <a:t>Spot.</a:t>
            </a:r>
            <a:endParaRPr sz="6100"/>
          </a:p>
        </p:txBody>
      </p:sp>
      <p:sp>
        <p:nvSpPr>
          <p:cNvPr id="20" name="object 20"/>
          <p:cNvSpPr txBox="1"/>
          <p:nvPr/>
        </p:nvSpPr>
        <p:spPr>
          <a:xfrm>
            <a:off x="917923" y="2687605"/>
            <a:ext cx="6723380" cy="131508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5875" marR="5080" indent="-3810">
              <a:lnSpc>
                <a:spcPts val="5030"/>
              </a:lnSpc>
              <a:spcBef>
                <a:spcPts val="290"/>
              </a:spcBef>
            </a:pPr>
            <a:r>
              <a:rPr dirty="0" sz="4250" spc="-114">
                <a:solidFill>
                  <a:srgbClr val="030303"/>
                </a:solidFill>
                <a:latin typeface="Arial"/>
                <a:cs typeface="Arial"/>
              </a:rPr>
              <a:t>Adversaries</a:t>
            </a:r>
            <a:r>
              <a:rPr dirty="0" sz="4250" spc="-1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>
                <a:solidFill>
                  <a:srgbClr val="030303"/>
                </a:solidFill>
                <a:latin typeface="Arial"/>
                <a:cs typeface="Arial"/>
              </a:rPr>
              <a:t>target</a:t>
            </a:r>
            <a:r>
              <a:rPr dirty="0" sz="4250" spc="-26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75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dirty="0" sz="4250" spc="-34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10">
                <a:solidFill>
                  <a:srgbClr val="030303"/>
                </a:solidFill>
                <a:latin typeface="Arial"/>
                <a:cs typeface="Arial"/>
              </a:rPr>
              <a:t>kernel </a:t>
            </a:r>
            <a:r>
              <a:rPr dirty="0" sz="4250" spc="170">
                <a:solidFill>
                  <a:srgbClr val="030303"/>
                </a:solidFill>
                <a:latin typeface="Arial"/>
                <a:cs typeface="Arial"/>
              </a:rPr>
              <a:t>to</a:t>
            </a:r>
            <a:r>
              <a:rPr dirty="0" sz="4250" spc="-34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60">
                <a:solidFill>
                  <a:srgbClr val="030303"/>
                </a:solidFill>
                <a:latin typeface="Arial"/>
                <a:cs typeface="Arial"/>
              </a:rPr>
              <a:t>gain</a:t>
            </a:r>
            <a:r>
              <a:rPr dirty="0" sz="4250" spc="-204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50">
                <a:solidFill>
                  <a:srgbClr val="030303"/>
                </a:solidFill>
                <a:latin typeface="Arial"/>
                <a:cs typeface="Arial"/>
              </a:rPr>
              <a:t>ultimate</a:t>
            </a:r>
            <a:r>
              <a:rPr dirty="0" sz="4250" spc="-19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030303"/>
                </a:solidFill>
                <a:latin typeface="Arial"/>
                <a:cs typeface="Arial"/>
              </a:rPr>
              <a:t>control</a:t>
            </a:r>
            <a:r>
              <a:rPr dirty="0" sz="4250" spc="-45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25">
                <a:solidFill>
                  <a:srgbClr val="030303"/>
                </a:solidFill>
                <a:latin typeface="Arial"/>
                <a:cs typeface="Arial"/>
              </a:rPr>
              <a:t>and</a:t>
            </a:r>
            <a:endParaRPr sz="4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73572" y="3562085"/>
            <a:ext cx="52324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180">
                <a:solidFill>
                  <a:srgbClr val="B65046"/>
                </a:solidFill>
                <a:latin typeface="Arial"/>
                <a:cs typeface="Arial"/>
              </a:rPr>
              <a:t>lie</a:t>
            </a:r>
            <a:r>
              <a:rPr dirty="0" sz="2400" spc="180">
                <a:solidFill>
                  <a:srgbClr val="996259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09886" y="5438709"/>
            <a:ext cx="55689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200">
                <a:solidFill>
                  <a:srgbClr val="B65046"/>
                </a:solidFill>
                <a:latin typeface="Arial"/>
                <a:cs typeface="Arial"/>
              </a:rPr>
              <a:t>lie</a:t>
            </a:r>
            <a:r>
              <a:rPr dirty="0" sz="2400" spc="200">
                <a:solidFill>
                  <a:srgbClr val="996259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93211" y="7225969"/>
            <a:ext cx="1102360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heavy" sz="3400" spc="-605" b="1">
                <a:solidFill>
                  <a:srgbClr val="B65046"/>
                </a:solidFill>
                <a:uFill>
                  <a:solidFill>
                    <a:srgbClr val="B65046"/>
                  </a:solidFill>
                </a:uFill>
                <a:latin typeface="Arial"/>
                <a:cs typeface="Arial"/>
              </a:rPr>
              <a:t>�v,_�</a:t>
            </a:r>
            <a:endParaRPr sz="3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9578" y="3951453"/>
            <a:ext cx="7190740" cy="44170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5875" marR="5080" indent="-3810">
              <a:lnSpc>
                <a:spcPts val="4930"/>
              </a:lnSpc>
              <a:spcBef>
                <a:spcPts val="425"/>
              </a:spcBef>
              <a:tabLst>
                <a:tab pos="6590665" algn="l"/>
              </a:tabLst>
            </a:pPr>
            <a:r>
              <a:rPr dirty="0" sz="4250" spc="-70">
                <a:solidFill>
                  <a:srgbClr val="030303"/>
                </a:solidFill>
                <a:latin typeface="Arial"/>
                <a:cs typeface="Arial"/>
              </a:rPr>
              <a:t>persistence.</a:t>
            </a:r>
            <a:r>
              <a:rPr dirty="0" sz="4250" spc="-19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155">
                <a:solidFill>
                  <a:srgbClr val="030303"/>
                </a:solidFill>
                <a:latin typeface="Arial"/>
                <a:cs typeface="Arial"/>
              </a:rPr>
              <a:t>By</a:t>
            </a:r>
            <a:r>
              <a:rPr dirty="0" sz="4250" spc="-37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10">
                <a:solidFill>
                  <a:srgbClr val="030303"/>
                </a:solidFill>
                <a:latin typeface="Arial"/>
                <a:cs typeface="Arial"/>
              </a:rPr>
              <a:t>operating</a:t>
            </a:r>
            <a:r>
              <a:rPr dirty="0" sz="425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dirty="0" sz="4250">
                <a:solidFill>
                  <a:srgbClr val="B65046"/>
                </a:solidFill>
                <a:latin typeface="Arial"/>
                <a:cs typeface="Arial"/>
              </a:rPr>
              <a:t>-</a:t>
            </a:r>
            <a:r>
              <a:rPr dirty="0" sz="4250" spc="-1155">
                <a:solidFill>
                  <a:srgbClr val="B65046"/>
                </a:solidFill>
                <a:latin typeface="Arial"/>
                <a:cs typeface="Arial"/>
              </a:rPr>
              <a:t>�</a:t>
            </a:r>
            <a:r>
              <a:rPr dirty="0" sz="4250" spc="85">
                <a:solidFill>
                  <a:srgbClr val="B65046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030303"/>
                </a:solidFill>
                <a:latin typeface="Arial"/>
                <a:cs typeface="Arial"/>
              </a:rPr>
              <a:t>at</a:t>
            </a:r>
            <a:r>
              <a:rPr dirty="0" sz="4250" spc="-39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80">
                <a:solidFill>
                  <a:srgbClr val="030303"/>
                </a:solidFill>
                <a:latin typeface="Arial"/>
                <a:cs typeface="Arial"/>
              </a:rPr>
              <a:t>this</a:t>
            </a:r>
            <a:r>
              <a:rPr dirty="0" sz="4250" spc="-30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30">
                <a:solidFill>
                  <a:srgbClr val="030303"/>
                </a:solidFill>
                <a:latin typeface="Arial"/>
                <a:cs typeface="Arial"/>
              </a:rPr>
              <a:t>level,</a:t>
            </a:r>
            <a:r>
              <a:rPr dirty="0" sz="4250" spc="-36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70">
                <a:solidFill>
                  <a:srgbClr val="030303"/>
                </a:solidFill>
                <a:latin typeface="Arial"/>
                <a:cs typeface="Arial"/>
              </a:rPr>
              <a:t>their</a:t>
            </a:r>
            <a:endParaRPr sz="4250">
              <a:latin typeface="Arial"/>
              <a:cs typeface="Arial"/>
            </a:endParaRPr>
          </a:p>
          <a:p>
            <a:pPr marL="13970">
              <a:lnSpc>
                <a:spcPts val="4750"/>
              </a:lnSpc>
            </a:pPr>
            <a:r>
              <a:rPr dirty="0" sz="4250" spc="80">
                <a:solidFill>
                  <a:srgbClr val="030303"/>
                </a:solidFill>
                <a:latin typeface="Arial"/>
                <a:cs typeface="Arial"/>
              </a:rPr>
              <a:t>their</a:t>
            </a:r>
            <a:r>
              <a:rPr dirty="0" sz="4250" spc="-24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>
                <a:solidFill>
                  <a:srgbClr val="030303"/>
                </a:solidFill>
                <a:latin typeface="Arial"/>
                <a:cs typeface="Arial"/>
              </a:rPr>
              <a:t>activities</a:t>
            </a:r>
            <a:r>
              <a:rPr dirty="0" sz="4250" spc="-6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10">
                <a:solidFill>
                  <a:srgbClr val="030303"/>
                </a:solidFill>
                <a:latin typeface="Arial"/>
                <a:cs typeface="Arial"/>
              </a:rPr>
              <a:t>occur</a:t>
            </a:r>
            <a:endParaRPr sz="4250">
              <a:latin typeface="Arial"/>
              <a:cs typeface="Arial"/>
            </a:endParaRPr>
          </a:p>
          <a:p>
            <a:pPr marL="12700" marR="1336675">
              <a:lnSpc>
                <a:spcPct val="95300"/>
              </a:lnSpc>
              <a:spcBef>
                <a:spcPts val="204"/>
              </a:spcBef>
            </a:pPr>
            <a:r>
              <a:rPr dirty="0" sz="4250">
                <a:solidFill>
                  <a:srgbClr val="030303"/>
                </a:solidFill>
                <a:latin typeface="Arial"/>
                <a:cs typeface="Arial"/>
              </a:rPr>
              <a:t>below</a:t>
            </a:r>
            <a:r>
              <a:rPr dirty="0" sz="4250" spc="-14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75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dirty="0" sz="4250" spc="-37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55">
                <a:solidFill>
                  <a:srgbClr val="030303"/>
                </a:solidFill>
                <a:latin typeface="Arial"/>
                <a:cs typeface="Arial"/>
              </a:rPr>
              <a:t>visibility</a:t>
            </a:r>
            <a:r>
              <a:rPr dirty="0" sz="4250" spc="-9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10">
                <a:solidFill>
                  <a:srgbClr val="030303"/>
                </a:solidFill>
                <a:latin typeface="Arial"/>
                <a:cs typeface="Arial"/>
              </a:rPr>
              <a:t>plane </a:t>
            </a:r>
            <a:r>
              <a:rPr dirty="0" sz="4250" spc="85">
                <a:solidFill>
                  <a:srgbClr val="030303"/>
                </a:solidFill>
                <a:latin typeface="Arial"/>
                <a:cs typeface="Arial"/>
              </a:rPr>
              <a:t>of</a:t>
            </a:r>
            <a:r>
              <a:rPr dirty="0" sz="4250" spc="-31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60">
                <a:solidFill>
                  <a:srgbClr val="030303"/>
                </a:solidFill>
                <a:latin typeface="Arial"/>
                <a:cs typeface="Arial"/>
              </a:rPr>
              <a:t>traditional</a:t>
            </a:r>
            <a:r>
              <a:rPr dirty="0" sz="4250" spc="-8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150" spc="-500">
                <a:solidFill>
                  <a:srgbClr val="030303"/>
                </a:solidFill>
                <a:latin typeface="Arial"/>
                <a:cs typeface="Arial"/>
              </a:rPr>
              <a:t>EDR</a:t>
            </a:r>
            <a:r>
              <a:rPr dirty="0" sz="4150" spc="-8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85">
                <a:solidFill>
                  <a:srgbClr val="030303"/>
                </a:solidFill>
                <a:latin typeface="Arial"/>
                <a:cs typeface="Arial"/>
              </a:rPr>
              <a:t>agents,</a:t>
            </a:r>
            <a:r>
              <a:rPr dirty="0" sz="4250" spc="-13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10">
                <a:solidFill>
                  <a:srgbClr val="030303"/>
                </a:solidFill>
                <a:latin typeface="Arial"/>
                <a:cs typeface="Arial"/>
              </a:rPr>
              <a:t>rendering</a:t>
            </a:r>
            <a:r>
              <a:rPr dirty="0" sz="4250" spc="-30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4250" spc="-20">
                <a:solidFill>
                  <a:srgbClr val="030303"/>
                </a:solidFill>
                <a:latin typeface="Arial"/>
                <a:cs typeface="Arial"/>
              </a:rPr>
              <a:t>them </a:t>
            </a:r>
            <a:r>
              <a:rPr dirty="0" sz="4250" spc="-10">
                <a:solidFill>
                  <a:srgbClr val="030303"/>
                </a:solidFill>
                <a:latin typeface="Arial"/>
                <a:cs typeface="Arial"/>
              </a:rPr>
              <a:t>invisible.</a:t>
            </a:r>
            <a:endParaRPr sz="4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75036" y="7691933"/>
            <a:ext cx="765175" cy="676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250" spc="-775">
                <a:solidFill>
                  <a:srgbClr val="9A2D1F"/>
                </a:solidFill>
                <a:latin typeface="Arial"/>
                <a:cs typeface="Arial"/>
              </a:rPr>
              <a:t>.........._</a:t>
            </a:r>
            <a:endParaRPr sz="4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93474" y="2719519"/>
            <a:ext cx="2216150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800" spc="-210" b="1">
                <a:solidFill>
                  <a:srgbClr val="030303"/>
                </a:solidFill>
                <a:latin typeface="Arial"/>
                <a:cs typeface="Arial"/>
              </a:rPr>
              <a:t>Userspace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22418" y="5017425"/>
            <a:ext cx="154432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60">
                <a:solidFill>
                  <a:srgbClr val="030303"/>
                </a:solidFill>
                <a:latin typeface="Arial"/>
                <a:cs typeface="Arial"/>
              </a:rPr>
              <a:t>Proce</a:t>
            </a:r>
            <a:r>
              <a:rPr dirty="0" sz="2700" spc="-60">
                <a:solidFill>
                  <a:srgbClr val="1D1F1F"/>
                </a:solidFill>
                <a:latin typeface="Arial"/>
                <a:cs typeface="Arial"/>
              </a:rPr>
              <a:t>sses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31228" y="5017425"/>
            <a:ext cx="193738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10">
                <a:solidFill>
                  <a:srgbClr val="030303"/>
                </a:solidFill>
                <a:latin typeface="Arial"/>
                <a:cs typeface="Arial"/>
              </a:rPr>
              <a:t>Application</a:t>
            </a:r>
            <a:r>
              <a:rPr dirty="0" sz="2700" spc="-10">
                <a:solidFill>
                  <a:srgbClr val="1D1F1F"/>
                </a:solidFill>
                <a:latin typeface="Arial"/>
                <a:cs typeface="Arial"/>
              </a:rPr>
              <a:t>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392617" y="5011042"/>
            <a:ext cx="182880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50" spc="-260" b="1">
                <a:solidFill>
                  <a:srgbClr val="030303"/>
                </a:solidFill>
                <a:latin typeface="Arial"/>
                <a:cs typeface="Arial"/>
              </a:rPr>
              <a:t>EDR</a:t>
            </a:r>
            <a:r>
              <a:rPr dirty="0" sz="2750" spc="-110" b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2750" spc="-200" b="1">
                <a:solidFill>
                  <a:srgbClr val="030303"/>
                </a:solidFill>
                <a:latin typeface="Arial"/>
                <a:cs typeface="Arial"/>
              </a:rPr>
              <a:t>AGENT</a:t>
            </a:r>
            <a:endParaRPr sz="27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987351" y="6000419"/>
            <a:ext cx="1456690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800" spc="-75" b="1">
                <a:solidFill>
                  <a:srgbClr val="641A0F"/>
                </a:solidFill>
                <a:latin typeface="Arial"/>
                <a:cs typeface="Arial"/>
              </a:rPr>
              <a:t>Kernel</a:t>
            </a:r>
            <a:endParaRPr sz="3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80771" y="8137071"/>
            <a:ext cx="1248410" cy="365760"/>
          </a:xfrm>
          <a:custGeom>
            <a:avLst/>
            <a:gdLst/>
            <a:ahLst/>
            <a:cxnLst/>
            <a:rect l="l" t="t" r="r" b="b"/>
            <a:pathLst>
              <a:path w="1248409" h="365759">
                <a:moveTo>
                  <a:pt x="1248218" y="365203"/>
                </a:moveTo>
                <a:lnTo>
                  <a:pt x="0" y="365203"/>
                </a:lnTo>
                <a:lnTo>
                  <a:pt x="0" y="0"/>
                </a:lnTo>
                <a:lnTo>
                  <a:pt x="1248218" y="0"/>
                </a:lnTo>
                <a:lnTo>
                  <a:pt x="1248218" y="365203"/>
                </a:lnTo>
                <a:close/>
              </a:path>
            </a:pathLst>
          </a:custGeom>
          <a:solidFill>
            <a:srgbClr val="B34F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068071" y="8125982"/>
            <a:ext cx="129857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10">
                <a:solidFill>
                  <a:srgbClr val="F9C8BD"/>
                </a:solidFill>
                <a:latin typeface="Arial"/>
                <a:cs typeface="Arial"/>
              </a:rPr>
              <a:t>Credential</a:t>
            </a:r>
            <a:endParaRPr sz="21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908345" y="8430693"/>
            <a:ext cx="1579880" cy="365760"/>
          </a:xfrm>
          <a:custGeom>
            <a:avLst/>
            <a:gdLst/>
            <a:ahLst/>
            <a:cxnLst/>
            <a:rect l="l" t="t" r="r" b="b"/>
            <a:pathLst>
              <a:path w="1579879" h="365759">
                <a:moveTo>
                  <a:pt x="1579378" y="365203"/>
                </a:moveTo>
                <a:lnTo>
                  <a:pt x="0" y="365203"/>
                </a:lnTo>
                <a:lnTo>
                  <a:pt x="0" y="0"/>
                </a:lnTo>
                <a:lnTo>
                  <a:pt x="1579378" y="0"/>
                </a:lnTo>
                <a:lnTo>
                  <a:pt x="1579378" y="365203"/>
                </a:lnTo>
                <a:close/>
              </a:path>
            </a:pathLst>
          </a:custGeom>
          <a:solidFill>
            <a:srgbClr val="B34F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895644" y="8419603"/>
            <a:ext cx="162433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10">
                <a:solidFill>
                  <a:srgbClr val="F9C8BD"/>
                </a:solidFill>
                <a:latin typeface="Arial"/>
                <a:cs typeface="Arial"/>
              </a:rPr>
              <a:t>Manipulation</a:t>
            </a:r>
            <a:endParaRPr sz="215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35" name="object 35"/>
          <p:cNvSpPr txBox="1"/>
          <p:nvPr/>
        </p:nvSpPr>
        <p:spPr>
          <a:xfrm>
            <a:off x="9294868" y="8196196"/>
            <a:ext cx="154622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10">
                <a:solidFill>
                  <a:srgbClr val="641A0F"/>
                </a:solidFill>
                <a:latin typeface="Arial"/>
                <a:cs typeface="Arial"/>
              </a:rPr>
              <a:t>Scheduler</a:t>
            </a:r>
            <a:endParaRPr sz="2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577540" y="8196196"/>
            <a:ext cx="222631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>
                <a:solidFill>
                  <a:srgbClr val="641A0F"/>
                </a:solidFill>
                <a:latin typeface="Arial"/>
                <a:cs typeface="Arial"/>
              </a:rPr>
              <a:t>Memory</a:t>
            </a:r>
            <a:r>
              <a:rPr dirty="0" sz="2700" spc="-5">
                <a:solidFill>
                  <a:srgbClr val="641A0F"/>
                </a:solidFill>
                <a:latin typeface="Arial"/>
                <a:cs typeface="Arial"/>
              </a:rPr>
              <a:t> </a:t>
            </a:r>
            <a:r>
              <a:rPr dirty="0" sz="2700" spc="-20">
                <a:solidFill>
                  <a:srgbClr val="641A0F"/>
                </a:solidFill>
                <a:latin typeface="Arial"/>
                <a:cs typeface="Arial"/>
              </a:rPr>
              <a:t>Mgmt</a:t>
            </a:r>
            <a:endParaRPr sz="2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338693" y="8196196"/>
            <a:ext cx="195008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45">
                <a:solidFill>
                  <a:srgbClr val="641A0F"/>
                </a:solidFill>
                <a:latin typeface="Arial"/>
                <a:cs typeface="Arial"/>
              </a:rPr>
              <a:t>System</a:t>
            </a:r>
            <a:r>
              <a:rPr dirty="0" sz="2700" spc="-95">
                <a:solidFill>
                  <a:srgbClr val="641A0F"/>
                </a:solidFill>
                <a:latin typeface="Arial"/>
                <a:cs typeface="Arial"/>
              </a:rPr>
              <a:t> </a:t>
            </a:r>
            <a:r>
              <a:rPr dirty="0" sz="2700" spc="-25">
                <a:solidFill>
                  <a:srgbClr val="641A0F"/>
                </a:solidFill>
                <a:latin typeface="Arial"/>
                <a:cs typeface="Arial"/>
              </a:rPr>
              <a:t>Calls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0962" y="3779043"/>
            <a:ext cx="1808642" cy="20681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3098" y="4059899"/>
            <a:ext cx="2114329" cy="14553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50188" y="3932237"/>
            <a:ext cx="1426535" cy="19404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533735" y="4008833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3175">
            <a:solidFill>
              <a:srgbClr val="052D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431840" y="5502471"/>
            <a:ext cx="662940" cy="0"/>
          </a:xfrm>
          <a:custGeom>
            <a:avLst/>
            <a:gdLst/>
            <a:ahLst/>
            <a:cxnLst/>
            <a:rect l="l" t="t" r="r" b="b"/>
            <a:pathLst>
              <a:path w="662940" h="0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636801" y="460308"/>
            <a:ext cx="12217400" cy="2375535"/>
          </a:xfrm>
          <a:prstGeom prst="rect"/>
        </p:spPr>
        <p:txBody>
          <a:bodyPr wrap="square" lIns="0" tIns="35433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2790"/>
              </a:spcBef>
            </a:pPr>
            <a:r>
              <a:rPr dirty="0" sz="5850" spc="-335">
                <a:solidFill>
                  <a:srgbClr val="0F0F0F"/>
                </a:solidFill>
              </a:rPr>
              <a:t>LKRG:</a:t>
            </a:r>
            <a:r>
              <a:rPr dirty="0" sz="5850" spc="-320">
                <a:solidFill>
                  <a:srgbClr val="0F0F0F"/>
                </a:solidFill>
              </a:rPr>
              <a:t> </a:t>
            </a:r>
            <a:r>
              <a:rPr dirty="0" sz="5850" spc="-245">
                <a:solidFill>
                  <a:srgbClr val="0F0F0F"/>
                </a:solidFill>
              </a:rPr>
              <a:t>Your</a:t>
            </a:r>
            <a:r>
              <a:rPr dirty="0" sz="5850" spc="-250">
                <a:solidFill>
                  <a:srgbClr val="0F0F0F"/>
                </a:solidFill>
              </a:rPr>
              <a:t> </a:t>
            </a:r>
            <a:r>
              <a:rPr dirty="0" sz="5850" spc="-114">
                <a:solidFill>
                  <a:srgbClr val="0F0F0F"/>
                </a:solidFill>
              </a:rPr>
              <a:t>Eyes</a:t>
            </a:r>
            <a:r>
              <a:rPr dirty="0" sz="5850" spc="-345">
                <a:solidFill>
                  <a:srgbClr val="0F0F0F"/>
                </a:solidFill>
              </a:rPr>
              <a:t> </a:t>
            </a:r>
            <a:r>
              <a:rPr dirty="0" sz="5850" spc="-30">
                <a:solidFill>
                  <a:srgbClr val="0F0F0F"/>
                </a:solidFill>
              </a:rPr>
              <a:t>Inside</a:t>
            </a:r>
            <a:r>
              <a:rPr dirty="0" sz="5850" spc="-270">
                <a:solidFill>
                  <a:srgbClr val="0F0F0F"/>
                </a:solidFill>
              </a:rPr>
              <a:t> </a:t>
            </a:r>
            <a:r>
              <a:rPr dirty="0" sz="5850" spc="80">
                <a:solidFill>
                  <a:srgbClr val="0F0F0F"/>
                </a:solidFill>
              </a:rPr>
              <a:t>the</a:t>
            </a:r>
            <a:r>
              <a:rPr dirty="0" sz="5850" spc="-409">
                <a:solidFill>
                  <a:srgbClr val="0F0F0F"/>
                </a:solidFill>
              </a:rPr>
              <a:t> </a:t>
            </a:r>
            <a:r>
              <a:rPr dirty="0" sz="5850" spc="-10">
                <a:solidFill>
                  <a:srgbClr val="0F0F0F"/>
                </a:solidFill>
              </a:rPr>
              <a:t>Kernel</a:t>
            </a:r>
            <a:endParaRPr sz="5850"/>
          </a:p>
          <a:p>
            <a:pPr algn="ctr" marL="12700" marR="5080" indent="-6350">
              <a:lnSpc>
                <a:spcPct val="101600"/>
              </a:lnSpc>
              <a:spcBef>
                <a:spcPts val="1350"/>
              </a:spcBef>
            </a:pPr>
            <a:r>
              <a:rPr dirty="0" sz="3050" spc="-110" b="0">
                <a:solidFill>
                  <a:srgbClr val="0F0F0F"/>
                </a:solidFill>
                <a:latin typeface="Arial"/>
                <a:cs typeface="Arial"/>
              </a:rPr>
              <a:t>Linux</a:t>
            </a:r>
            <a:r>
              <a:rPr dirty="0" sz="3050" spc="-85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00" b="0">
                <a:solidFill>
                  <a:srgbClr val="0F0F0F"/>
                </a:solidFill>
                <a:latin typeface="Arial"/>
                <a:cs typeface="Arial"/>
              </a:rPr>
              <a:t>Kernel</a:t>
            </a:r>
            <a:r>
              <a:rPr dirty="0" sz="3050" spc="-325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95" b="0">
                <a:solidFill>
                  <a:srgbClr val="0F0F0F"/>
                </a:solidFill>
                <a:latin typeface="Arial"/>
                <a:cs typeface="Arial"/>
              </a:rPr>
              <a:t>Runtime</a:t>
            </a:r>
            <a:r>
              <a:rPr dirty="0" sz="3050" spc="-22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45" b="0">
                <a:solidFill>
                  <a:srgbClr val="0F0F0F"/>
                </a:solidFill>
                <a:latin typeface="Arial"/>
                <a:cs typeface="Arial"/>
              </a:rPr>
              <a:t>Guard</a:t>
            </a:r>
            <a:r>
              <a:rPr dirty="0" sz="3050" spc="-235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335" b="0">
                <a:solidFill>
                  <a:srgbClr val="0F0F0F"/>
                </a:solidFill>
                <a:latin typeface="Arial"/>
                <a:cs typeface="Arial"/>
              </a:rPr>
              <a:t>(LKRG}</a:t>
            </a:r>
            <a:r>
              <a:rPr dirty="0" sz="3050" spc="13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20" b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dirty="0" sz="3050" spc="-42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10" b="0">
                <a:solidFill>
                  <a:srgbClr val="0F0F0F"/>
                </a:solidFill>
                <a:latin typeface="Arial"/>
                <a:cs typeface="Arial"/>
              </a:rPr>
              <a:t>a</a:t>
            </a:r>
            <a:r>
              <a:rPr dirty="0" sz="3050" spc="-305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55" b="0">
                <a:solidFill>
                  <a:srgbClr val="0F0F0F"/>
                </a:solidFill>
                <a:latin typeface="Arial"/>
                <a:cs typeface="Arial"/>
              </a:rPr>
              <a:t>kernel</a:t>
            </a:r>
            <a:r>
              <a:rPr dirty="0" sz="3050" spc="-265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80" b="0">
                <a:solidFill>
                  <a:srgbClr val="0F0F0F"/>
                </a:solidFill>
                <a:latin typeface="Arial"/>
                <a:cs typeface="Arial"/>
              </a:rPr>
              <a:t>module</a:t>
            </a:r>
            <a:r>
              <a:rPr dirty="0" sz="3050" spc="-11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20" b="0">
                <a:solidFill>
                  <a:srgbClr val="0F0F0F"/>
                </a:solidFill>
                <a:latin typeface="Arial"/>
                <a:cs typeface="Arial"/>
              </a:rPr>
              <a:t>designed</a:t>
            </a:r>
            <a:r>
              <a:rPr dirty="0" sz="3050" spc="-165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85" b="0">
                <a:solidFill>
                  <a:srgbClr val="0F0F0F"/>
                </a:solidFill>
                <a:latin typeface="Arial"/>
                <a:cs typeface="Arial"/>
              </a:rPr>
              <a:t>to</a:t>
            </a:r>
            <a:r>
              <a:rPr dirty="0" sz="3050" spc="-29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0" b="0">
                <a:solidFill>
                  <a:srgbClr val="0F0F0F"/>
                </a:solidFill>
                <a:latin typeface="Arial"/>
                <a:cs typeface="Arial"/>
              </a:rPr>
              <a:t>provide </a:t>
            </a:r>
            <a:r>
              <a:rPr dirty="0" sz="3050" spc="-20" b="0">
                <a:solidFill>
                  <a:srgbClr val="0F0F0F"/>
                </a:solidFill>
                <a:latin typeface="Arial"/>
                <a:cs typeface="Arial"/>
              </a:rPr>
              <a:t>real</a:t>
            </a:r>
            <a:r>
              <a:rPr dirty="0" sz="3050" spc="-20" b="0">
                <a:solidFill>
                  <a:srgbClr val="2F2F2F"/>
                </a:solidFill>
                <a:latin typeface="Arial"/>
                <a:cs typeface="Arial"/>
              </a:rPr>
              <a:t>-</a:t>
            </a:r>
            <a:r>
              <a:rPr dirty="0" sz="3050" b="0">
                <a:solidFill>
                  <a:srgbClr val="0F0F0F"/>
                </a:solidFill>
                <a:latin typeface="Arial"/>
                <a:cs typeface="Arial"/>
              </a:rPr>
              <a:t>timeintegrity</a:t>
            </a:r>
            <a:r>
              <a:rPr dirty="0" sz="3050" spc="-229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25" b="0">
                <a:solidFill>
                  <a:srgbClr val="0F0F0F"/>
                </a:solidFill>
                <a:latin typeface="Arial"/>
                <a:cs typeface="Arial"/>
              </a:rPr>
              <a:t>monitoring</a:t>
            </a:r>
            <a:r>
              <a:rPr dirty="0" sz="3050" spc="-24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60" b="0">
                <a:solidFill>
                  <a:srgbClr val="0F0F0F"/>
                </a:solidFill>
                <a:latin typeface="Arial"/>
                <a:cs typeface="Arial"/>
              </a:rPr>
              <a:t>and</a:t>
            </a:r>
            <a:r>
              <a:rPr dirty="0" sz="3050" spc="-28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30" b="0">
                <a:solidFill>
                  <a:srgbClr val="0F0F0F"/>
                </a:solidFill>
                <a:latin typeface="Arial"/>
                <a:cs typeface="Arial"/>
              </a:rPr>
              <a:t>exploit</a:t>
            </a:r>
            <a:r>
              <a:rPr dirty="0" sz="3050" spc="-65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45" b="0">
                <a:solidFill>
                  <a:srgbClr val="0F0F0F"/>
                </a:solidFill>
                <a:latin typeface="Arial"/>
                <a:cs typeface="Arial"/>
              </a:rPr>
              <a:t>detection</a:t>
            </a:r>
            <a:r>
              <a:rPr dirty="0" sz="3050" spc="-2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30" b="0">
                <a:solidFill>
                  <a:srgbClr val="0F0F0F"/>
                </a:solidFill>
                <a:latin typeface="Arial"/>
                <a:cs typeface="Arial"/>
              </a:rPr>
              <a:t>where</a:t>
            </a:r>
            <a:r>
              <a:rPr dirty="0" sz="3050" spc="-21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60" b="0">
                <a:solidFill>
                  <a:srgbClr val="0F0F0F"/>
                </a:solidFill>
                <a:latin typeface="Arial"/>
                <a:cs typeface="Arial"/>
              </a:rPr>
              <a:t>you</a:t>
            </a:r>
            <a:r>
              <a:rPr dirty="0" sz="3050" spc="-36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14" b="0">
                <a:solidFill>
                  <a:srgbClr val="0F0F0F"/>
                </a:solidFill>
                <a:latin typeface="Arial"/>
                <a:cs typeface="Arial"/>
              </a:rPr>
              <a:t>need</a:t>
            </a:r>
            <a:r>
              <a:rPr dirty="0" sz="3050" spc="-22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b="0">
                <a:solidFill>
                  <a:srgbClr val="0F0F0F"/>
                </a:solidFill>
                <a:latin typeface="Arial"/>
                <a:cs typeface="Arial"/>
              </a:rPr>
              <a:t>it</a:t>
            </a:r>
            <a:r>
              <a:rPr dirty="0" sz="3050" spc="140" b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050" spc="-10" b="0">
                <a:solidFill>
                  <a:srgbClr val="0F0F0F"/>
                </a:solidFill>
                <a:latin typeface="Arial"/>
                <a:cs typeface="Arial"/>
              </a:rPr>
              <a:t>most.</a:t>
            </a:r>
            <a:endParaRPr sz="30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8" name="object 8"/>
          <p:cNvSpPr txBox="1"/>
          <p:nvPr/>
        </p:nvSpPr>
        <p:spPr>
          <a:xfrm>
            <a:off x="992242" y="5918324"/>
            <a:ext cx="4747260" cy="2433955"/>
          </a:xfrm>
          <a:prstGeom prst="rect">
            <a:avLst/>
          </a:prstGeom>
        </p:spPr>
        <p:txBody>
          <a:bodyPr wrap="square" lIns="0" tIns="1987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65"/>
              </a:spcBef>
            </a:pPr>
            <a:r>
              <a:rPr dirty="0" sz="2800" b="1">
                <a:solidFill>
                  <a:srgbClr val="0F0F0F"/>
                </a:solidFill>
                <a:latin typeface="Arial"/>
                <a:cs typeface="Arial"/>
              </a:rPr>
              <a:t>Kernel</a:t>
            </a:r>
            <a:r>
              <a:rPr dirty="0" sz="2800" spc="-105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800" spc="65" b="1">
                <a:solidFill>
                  <a:srgbClr val="0F0F0F"/>
                </a:solidFill>
                <a:latin typeface="Arial"/>
                <a:cs typeface="Arial"/>
              </a:rPr>
              <a:t>Integrity </a:t>
            </a:r>
            <a:r>
              <a:rPr dirty="0" sz="2800" spc="55" b="1">
                <a:solidFill>
                  <a:srgbClr val="0F0F0F"/>
                </a:solidFill>
                <a:latin typeface="Arial"/>
                <a:cs typeface="Arial"/>
              </a:rPr>
              <a:t>Monitoring</a:t>
            </a:r>
            <a:endParaRPr sz="2800">
              <a:latin typeface="Arial"/>
              <a:cs typeface="Arial"/>
            </a:endParaRPr>
          </a:p>
          <a:p>
            <a:pPr algn="ctr" marL="119380" marR="100330" indent="-23495">
              <a:lnSpc>
                <a:spcPct val="103099"/>
              </a:lnSpc>
              <a:spcBef>
                <a:spcPts val="1265"/>
              </a:spcBef>
            </a:pPr>
            <a:r>
              <a:rPr dirty="0" sz="2600" spc="-110">
                <a:solidFill>
                  <a:srgbClr val="0F0F0F"/>
                </a:solidFill>
                <a:latin typeface="Arial"/>
                <a:cs typeface="Arial"/>
              </a:rPr>
              <a:t>Detects</a:t>
            </a:r>
            <a:r>
              <a:rPr dirty="0" sz="2600" spc="-24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unauthorized </a:t>
            </a:r>
            <a:r>
              <a:rPr dirty="0" sz="2600" spc="-30">
                <a:solidFill>
                  <a:srgbClr val="0F0F0F"/>
                </a:solidFill>
                <a:latin typeface="Arial"/>
                <a:cs typeface="Arial"/>
              </a:rPr>
              <a:t>modifications</a:t>
            </a:r>
            <a:r>
              <a:rPr dirty="0" sz="2600" spc="-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50">
                <a:solidFill>
                  <a:srgbClr val="0F0F0F"/>
                </a:solidFill>
                <a:latin typeface="Arial"/>
                <a:cs typeface="Arial"/>
              </a:rPr>
              <a:t>to</a:t>
            </a:r>
            <a:r>
              <a:rPr dirty="0" sz="2600" spc="-24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60">
                <a:solidFill>
                  <a:srgbClr val="0F0F0F"/>
                </a:solidFill>
                <a:latin typeface="Arial"/>
                <a:cs typeface="Arial"/>
              </a:rPr>
              <a:t>kernel</a:t>
            </a:r>
            <a:r>
              <a:rPr dirty="0" sz="2600" spc="-24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70">
                <a:solidFill>
                  <a:srgbClr val="0F0F0F"/>
                </a:solidFill>
                <a:latin typeface="Arial"/>
                <a:cs typeface="Arial"/>
              </a:rPr>
              <a:t>code</a:t>
            </a:r>
            <a:r>
              <a:rPr dirty="0" sz="2600" spc="-32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0F0F0F"/>
                </a:solidFill>
                <a:latin typeface="Arial"/>
                <a:cs typeface="Arial"/>
              </a:rPr>
              <a:t>and </a:t>
            </a:r>
            <a:r>
              <a:rPr dirty="0" sz="2600">
                <a:solidFill>
                  <a:srgbClr val="0F0F0F"/>
                </a:solidFill>
                <a:latin typeface="Arial"/>
                <a:cs typeface="Arial"/>
              </a:rPr>
              <a:t>critical</a:t>
            </a:r>
            <a:r>
              <a:rPr dirty="0" sz="2600" spc="-21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75">
                <a:solidFill>
                  <a:srgbClr val="0F0F0F"/>
                </a:solidFill>
                <a:latin typeface="Arial"/>
                <a:cs typeface="Arial"/>
              </a:rPr>
              <a:t>data</a:t>
            </a:r>
            <a:r>
              <a:rPr dirty="0" sz="2600" spc="-18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65">
                <a:solidFill>
                  <a:srgbClr val="0F0F0F"/>
                </a:solidFill>
                <a:latin typeface="Arial"/>
                <a:cs typeface="Arial"/>
              </a:rPr>
              <a:t>structures,</a:t>
            </a:r>
            <a:r>
              <a:rPr dirty="0" sz="2600" spc="-11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catching </a:t>
            </a:r>
            <a:r>
              <a:rPr dirty="0" sz="2600">
                <a:solidFill>
                  <a:srgbClr val="0F0F0F"/>
                </a:solidFill>
                <a:latin typeface="Arial"/>
                <a:cs typeface="Arial"/>
              </a:rPr>
              <a:t>rootkit</a:t>
            </a:r>
            <a:r>
              <a:rPr dirty="0" sz="2600" spc="-204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35">
                <a:solidFill>
                  <a:srgbClr val="0F0F0F"/>
                </a:solidFill>
                <a:latin typeface="Arial"/>
                <a:cs typeface="Arial"/>
              </a:rPr>
              <a:t>installations</a:t>
            </a:r>
            <a:r>
              <a:rPr dirty="0" sz="2600">
                <a:solidFill>
                  <a:srgbClr val="0F0F0F"/>
                </a:solidFill>
                <a:latin typeface="Arial"/>
                <a:cs typeface="Arial"/>
              </a:rPr>
              <a:t> in</a:t>
            </a:r>
            <a:r>
              <a:rPr dirty="0" sz="2600" spc="2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5">
                <a:solidFill>
                  <a:srgbClr val="0F0F0F"/>
                </a:solidFill>
                <a:latin typeface="Arial"/>
                <a:cs typeface="Arial"/>
              </a:rPr>
              <a:t>real-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time.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2543" y="5944838"/>
            <a:ext cx="4030979" cy="2407285"/>
          </a:xfrm>
          <a:prstGeom prst="rect">
            <a:avLst/>
          </a:prstGeom>
        </p:spPr>
        <p:txBody>
          <a:bodyPr wrap="square" lIns="0" tIns="184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dirty="0" sz="2800" b="1">
                <a:solidFill>
                  <a:srgbClr val="0F0F0F"/>
                </a:solidFill>
                <a:latin typeface="Arial"/>
                <a:cs typeface="Arial"/>
              </a:rPr>
              <a:t>Exploit</a:t>
            </a:r>
            <a:r>
              <a:rPr dirty="0" sz="2800" spc="-15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800" spc="70" b="1">
                <a:solidFill>
                  <a:srgbClr val="0F0F0F"/>
                </a:solidFill>
                <a:latin typeface="Arial"/>
                <a:cs typeface="Arial"/>
              </a:rPr>
              <a:t>Detection</a:t>
            </a:r>
            <a:endParaRPr sz="2800">
              <a:latin typeface="Arial"/>
              <a:cs typeface="Arial"/>
            </a:endParaRPr>
          </a:p>
          <a:p>
            <a:pPr algn="ctr" marL="12700" marR="5080">
              <a:lnSpc>
                <a:spcPct val="103099"/>
              </a:lnSpc>
              <a:spcBef>
                <a:spcPts val="1165"/>
              </a:spcBef>
            </a:pPr>
            <a:r>
              <a:rPr dirty="0" sz="2600" spc="-35">
                <a:solidFill>
                  <a:srgbClr val="0F0F0F"/>
                </a:solidFill>
                <a:latin typeface="Arial"/>
                <a:cs typeface="Arial"/>
              </a:rPr>
              <a:t>Identifies</a:t>
            </a:r>
            <a:r>
              <a:rPr dirty="0" sz="2600" spc="-9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5">
                <a:solidFill>
                  <a:srgbClr val="0F0F0F"/>
                </a:solidFill>
                <a:latin typeface="Arial"/>
                <a:cs typeface="Arial"/>
              </a:rPr>
              <a:t>privilege</a:t>
            </a:r>
            <a:r>
              <a:rPr dirty="0" sz="2600" spc="-19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75">
                <a:solidFill>
                  <a:srgbClr val="0F0F0F"/>
                </a:solidFill>
                <a:latin typeface="Arial"/>
                <a:cs typeface="Arial"/>
              </a:rPr>
              <a:t>escalation </a:t>
            </a:r>
            <a:r>
              <a:rPr dirty="0" sz="2600" spc="-50">
                <a:solidFill>
                  <a:srgbClr val="0F0F0F"/>
                </a:solidFill>
                <a:latin typeface="Arial"/>
                <a:cs typeface="Arial"/>
              </a:rPr>
              <a:t>attempts,</a:t>
            </a:r>
            <a:r>
              <a:rPr dirty="0" sz="2600" spc="-18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including</a:t>
            </a:r>
            <a:r>
              <a:rPr dirty="0" sz="2600" spc="-25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40">
                <a:solidFill>
                  <a:srgbClr val="0F0F0F"/>
                </a:solidFill>
                <a:latin typeface="Arial"/>
                <a:cs typeface="Arial"/>
              </a:rPr>
              <a:t>UID/GID </a:t>
            </a:r>
            <a:r>
              <a:rPr dirty="0" sz="2600" spc="-30">
                <a:solidFill>
                  <a:srgbClr val="0F0F0F"/>
                </a:solidFill>
                <a:latin typeface="Arial"/>
                <a:cs typeface="Arial"/>
              </a:rPr>
              <a:t>manipulation</a:t>
            </a:r>
            <a:r>
              <a:rPr dirty="0" sz="2600" spc="-7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5">
                <a:solidFill>
                  <a:srgbClr val="0F0F0F"/>
                </a:solidFill>
                <a:latin typeface="Arial"/>
                <a:cs typeface="Arial"/>
              </a:rPr>
              <a:t>and</a:t>
            </a:r>
            <a:r>
              <a:rPr dirty="0" sz="2600" spc="-30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process </a:t>
            </a:r>
            <a:r>
              <a:rPr dirty="0" sz="2600" spc="-45">
                <a:solidFill>
                  <a:srgbClr val="0F0F0F"/>
                </a:solidFill>
                <a:latin typeface="Arial"/>
                <a:cs typeface="Arial"/>
              </a:rPr>
              <a:t>credential</a:t>
            </a:r>
            <a:r>
              <a:rPr dirty="0" sz="2600" spc="-15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5">
                <a:solidFill>
                  <a:srgbClr val="0F0F0F"/>
                </a:solidFill>
                <a:latin typeface="Arial"/>
                <a:cs typeface="Arial"/>
              </a:rPr>
              <a:t>swapping</a:t>
            </a:r>
            <a:r>
              <a:rPr dirty="0" sz="2600" spc="-22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attacks.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56649" y="5944838"/>
            <a:ext cx="4605020" cy="2419985"/>
          </a:xfrm>
          <a:prstGeom prst="rect">
            <a:avLst/>
          </a:prstGeom>
        </p:spPr>
        <p:txBody>
          <a:bodyPr wrap="square" lIns="0" tIns="18478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455"/>
              </a:spcBef>
            </a:pPr>
            <a:r>
              <a:rPr dirty="0" sz="2800" b="1">
                <a:solidFill>
                  <a:srgbClr val="0F0F0F"/>
                </a:solidFill>
                <a:latin typeface="Arial"/>
                <a:cs typeface="Arial"/>
              </a:rPr>
              <a:t>Runtime</a:t>
            </a:r>
            <a:r>
              <a:rPr dirty="0" sz="2800" spc="195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800" spc="40" b="1">
                <a:solidFill>
                  <a:srgbClr val="0F0F0F"/>
                </a:solidFill>
                <a:latin typeface="Arial"/>
                <a:cs typeface="Arial"/>
              </a:rPr>
              <a:t>Protection</a:t>
            </a:r>
            <a:endParaRPr sz="2800">
              <a:latin typeface="Arial"/>
              <a:cs typeface="Arial"/>
            </a:endParaRPr>
          </a:p>
          <a:p>
            <a:pPr algn="ctr" marL="12700" marR="5080">
              <a:lnSpc>
                <a:spcPct val="104200"/>
              </a:lnSpc>
              <a:spcBef>
                <a:spcPts val="1130"/>
              </a:spcBef>
            </a:pPr>
            <a:r>
              <a:rPr dirty="0" sz="2600" spc="-90">
                <a:solidFill>
                  <a:srgbClr val="0F0F0F"/>
                </a:solidFill>
                <a:latin typeface="Arial"/>
                <a:cs typeface="Arial"/>
              </a:rPr>
              <a:t>Validates</a:t>
            </a:r>
            <a:r>
              <a:rPr dirty="0" sz="2600" spc="-24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5">
                <a:solidFill>
                  <a:srgbClr val="0F0F0F"/>
                </a:solidFill>
                <a:latin typeface="Arial"/>
                <a:cs typeface="Arial"/>
              </a:rPr>
              <a:t>operations</a:t>
            </a:r>
            <a:r>
              <a:rPr dirty="0" sz="2600" spc="-6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0">
                <a:solidFill>
                  <a:srgbClr val="0F0F0F"/>
                </a:solidFill>
                <a:latin typeface="Arial"/>
                <a:cs typeface="Arial"/>
              </a:rPr>
              <a:t>*before*</a:t>
            </a:r>
            <a:r>
              <a:rPr dirty="0" sz="2600" spc="-10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0F0F0F"/>
                </a:solidFill>
                <a:latin typeface="Arial"/>
                <a:cs typeface="Arial"/>
              </a:rPr>
              <a:t>the </a:t>
            </a:r>
            <a:r>
              <a:rPr dirty="0" sz="2600" spc="-60">
                <a:solidFill>
                  <a:srgbClr val="0F0F0F"/>
                </a:solidFill>
                <a:latin typeface="Arial"/>
                <a:cs typeface="Arial"/>
              </a:rPr>
              <a:t>kernel</a:t>
            </a:r>
            <a:r>
              <a:rPr dirty="0" sz="2600" spc="-17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70">
                <a:solidFill>
                  <a:srgbClr val="0F0F0F"/>
                </a:solidFill>
                <a:latin typeface="Arial"/>
                <a:cs typeface="Arial"/>
              </a:rPr>
              <a:t>grants</a:t>
            </a:r>
            <a:r>
              <a:rPr dirty="0" sz="2600" spc="-254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50">
                <a:solidFill>
                  <a:srgbClr val="0F0F0F"/>
                </a:solidFill>
                <a:latin typeface="Arial"/>
                <a:cs typeface="Arial"/>
              </a:rPr>
              <a:t>access,</a:t>
            </a:r>
            <a:r>
              <a:rPr dirty="0" sz="2600" spc="-19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stopping </a:t>
            </a:r>
            <a:r>
              <a:rPr dirty="0" sz="2600" spc="-55">
                <a:solidFill>
                  <a:srgbClr val="0F0F0F"/>
                </a:solidFill>
                <a:latin typeface="Arial"/>
                <a:cs typeface="Arial"/>
              </a:rPr>
              <a:t>certain</a:t>
            </a:r>
            <a:r>
              <a:rPr dirty="0" sz="2600" spc="-15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40">
                <a:solidFill>
                  <a:srgbClr val="0F0F0F"/>
                </a:solidFill>
                <a:latin typeface="Arial"/>
                <a:cs typeface="Arial"/>
              </a:rPr>
              <a:t>exploits</a:t>
            </a:r>
            <a:r>
              <a:rPr dirty="0" sz="2600" spc="-20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50">
                <a:solidFill>
                  <a:srgbClr val="0F0F0F"/>
                </a:solidFill>
                <a:latin typeface="Arial"/>
                <a:cs typeface="Arial"/>
              </a:rPr>
              <a:t>before</a:t>
            </a:r>
            <a:r>
              <a:rPr dirty="0" sz="2600" spc="-30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20">
                <a:solidFill>
                  <a:srgbClr val="0F0F0F"/>
                </a:solidFill>
                <a:latin typeface="Arial"/>
                <a:cs typeface="Arial"/>
              </a:rPr>
              <a:t>they</a:t>
            </a:r>
            <a:r>
              <a:rPr dirty="0" sz="2600" spc="-204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0F0F0F"/>
                </a:solidFill>
                <a:latin typeface="Arial"/>
                <a:cs typeface="Arial"/>
              </a:rPr>
              <a:t>can </a:t>
            </a:r>
            <a:r>
              <a:rPr dirty="0" sz="2600" spc="-125">
                <a:solidFill>
                  <a:srgbClr val="0F0F0F"/>
                </a:solidFill>
                <a:latin typeface="Arial"/>
                <a:cs typeface="Arial"/>
              </a:rPr>
              <a:t>cause</a:t>
            </a:r>
            <a:r>
              <a:rPr dirty="0" sz="2600" spc="-24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F0F0F"/>
                </a:solidFill>
                <a:latin typeface="Arial"/>
                <a:cs typeface="Arial"/>
              </a:rPr>
              <a:t>damage</a:t>
            </a:r>
            <a:r>
              <a:rPr dirty="0" sz="2600" spc="-10">
                <a:solidFill>
                  <a:srgbClr val="2F2F2F"/>
                </a:solidFill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0" y="2017316"/>
            <a:ext cx="7922364" cy="9702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7899" y="7098239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40636" y="7085473"/>
            <a:ext cx="15845155" cy="2042795"/>
            <a:chOff x="840636" y="7085473"/>
            <a:chExt cx="15845155" cy="2042795"/>
          </a:xfrm>
        </p:grpSpPr>
        <p:sp>
          <p:nvSpPr>
            <p:cNvPr id="5" name="object 5"/>
            <p:cNvSpPr/>
            <p:nvPr/>
          </p:nvSpPr>
          <p:spPr>
            <a:xfrm>
              <a:off x="16659891" y="7123772"/>
              <a:ext cx="0" cy="1991995"/>
            </a:xfrm>
            <a:custGeom>
              <a:avLst/>
              <a:gdLst/>
              <a:ahLst/>
              <a:cxnLst/>
              <a:rect l="l" t="t" r="r" b="b"/>
              <a:pathLst>
                <a:path w="0" h="1991995">
                  <a:moveTo>
                    <a:pt x="0" y="1991518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0636" y="7098239"/>
              <a:ext cx="15845155" cy="2017395"/>
            </a:xfrm>
            <a:custGeom>
              <a:avLst/>
              <a:gdLst/>
              <a:ahLst/>
              <a:cxnLst/>
              <a:rect l="l" t="t" r="r" b="b"/>
              <a:pathLst>
                <a:path w="15845155" h="2017395">
                  <a:moveTo>
                    <a:pt x="0" y="0"/>
                  </a:moveTo>
                  <a:lnTo>
                    <a:pt x="15844727" y="0"/>
                  </a:lnTo>
                </a:path>
                <a:path w="15845155" h="2017395">
                  <a:moveTo>
                    <a:pt x="0" y="2017050"/>
                  </a:moveTo>
                  <a:lnTo>
                    <a:pt x="15844727" y="201705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750" spc="120">
                <a:solidFill>
                  <a:srgbClr val="050505"/>
                </a:solidFill>
              </a:rPr>
              <a:t>Complementary,</a:t>
            </a:r>
            <a:r>
              <a:rPr dirty="0" sz="5750" spc="-715">
                <a:solidFill>
                  <a:srgbClr val="050505"/>
                </a:solidFill>
              </a:rPr>
              <a:t> </a:t>
            </a:r>
            <a:r>
              <a:rPr dirty="0" sz="5750" spc="125">
                <a:solidFill>
                  <a:srgbClr val="050505"/>
                </a:solidFill>
              </a:rPr>
              <a:t>Not</a:t>
            </a:r>
            <a:r>
              <a:rPr dirty="0" sz="5750" spc="-170">
                <a:solidFill>
                  <a:srgbClr val="050505"/>
                </a:solidFill>
              </a:rPr>
              <a:t> </a:t>
            </a:r>
            <a:r>
              <a:rPr dirty="0" sz="5750" spc="70">
                <a:solidFill>
                  <a:srgbClr val="050505"/>
                </a:solidFill>
              </a:rPr>
              <a:t>Competitive.</a:t>
            </a:r>
            <a:endParaRPr sz="5750"/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8" name="object 8"/>
          <p:cNvSpPr txBox="1"/>
          <p:nvPr/>
        </p:nvSpPr>
        <p:spPr>
          <a:xfrm>
            <a:off x="969966" y="2196108"/>
            <a:ext cx="178562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-20" b="1">
                <a:solidFill>
                  <a:srgbClr val="072B52"/>
                </a:solidFill>
                <a:latin typeface="Arial"/>
                <a:cs typeface="Arial"/>
              </a:rPr>
              <a:t>LKRGIS</a:t>
            </a:r>
            <a:endParaRPr sz="3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687" y="3069509"/>
            <a:ext cx="7494905" cy="3265804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737235" indent="-724535">
              <a:lnSpc>
                <a:spcPct val="100000"/>
              </a:lnSpc>
              <a:spcBef>
                <a:spcPts val="980"/>
              </a:spcBef>
              <a:buClr>
                <a:srgbClr val="072B52"/>
              </a:buClr>
              <a:buSzPct val="125806"/>
              <a:buChar char="✓"/>
              <a:tabLst>
                <a:tab pos="737235" algn="l"/>
              </a:tabLst>
            </a:pPr>
            <a:r>
              <a:rPr dirty="0" sz="3100" spc="-30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100" spc="-30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85">
                <a:solidFill>
                  <a:srgbClr val="050505"/>
                </a:solidFill>
                <a:latin typeface="Arial"/>
                <a:cs typeface="Arial"/>
              </a:rPr>
              <a:t>kernel-level</a:t>
            </a:r>
            <a:r>
              <a:rPr dirty="0" sz="3100" spc="-1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30">
                <a:solidFill>
                  <a:srgbClr val="050505"/>
                </a:solidFill>
                <a:latin typeface="Arial"/>
                <a:cs typeface="Arial"/>
              </a:rPr>
              <a:t>integrity</a:t>
            </a:r>
            <a:r>
              <a:rPr dirty="0" sz="3100" spc="1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25">
                <a:solidFill>
                  <a:srgbClr val="050505"/>
                </a:solidFill>
                <a:latin typeface="Arial"/>
                <a:cs typeface="Arial"/>
              </a:rPr>
              <a:t>monitor.</a:t>
            </a:r>
            <a:endParaRPr sz="3100">
              <a:latin typeface="Arial"/>
              <a:cs typeface="Arial"/>
            </a:endParaRPr>
          </a:p>
          <a:p>
            <a:pPr marL="737235" indent="-724535">
              <a:lnSpc>
                <a:spcPct val="100000"/>
              </a:lnSpc>
              <a:spcBef>
                <a:spcPts val="1905"/>
              </a:spcBef>
              <a:buClr>
                <a:srgbClr val="072B52"/>
              </a:buClr>
              <a:buSzPct val="125806"/>
              <a:buChar char="✓"/>
              <a:tabLst>
                <a:tab pos="737235" algn="l"/>
              </a:tabLst>
            </a:pPr>
            <a:r>
              <a:rPr dirty="0" sz="3100" spc="-30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100" spc="-3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70">
                <a:solidFill>
                  <a:srgbClr val="050505"/>
                </a:solidFill>
                <a:latin typeface="Arial"/>
                <a:cs typeface="Arial"/>
              </a:rPr>
              <a:t>runtime</a:t>
            </a:r>
            <a:r>
              <a:rPr dirty="0" sz="3100" spc="-13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10">
                <a:solidFill>
                  <a:srgbClr val="050505"/>
                </a:solidFill>
                <a:latin typeface="Arial"/>
                <a:cs typeface="Arial"/>
              </a:rPr>
              <a:t>exploit</a:t>
            </a:r>
            <a:r>
              <a:rPr dirty="0" sz="3100" spc="1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65">
                <a:solidFill>
                  <a:srgbClr val="050505"/>
                </a:solidFill>
                <a:latin typeface="Arial"/>
                <a:cs typeface="Arial"/>
              </a:rPr>
              <a:t>detector.</a:t>
            </a:r>
            <a:endParaRPr sz="3100">
              <a:latin typeface="Arial"/>
              <a:cs typeface="Arial"/>
            </a:endParaRPr>
          </a:p>
          <a:p>
            <a:pPr marL="737235" indent="-724535">
              <a:lnSpc>
                <a:spcPct val="100000"/>
              </a:lnSpc>
              <a:spcBef>
                <a:spcPts val="1910"/>
              </a:spcBef>
              <a:buClr>
                <a:srgbClr val="072B52"/>
              </a:buClr>
              <a:buSzPct val="125806"/>
              <a:buChar char="✓"/>
              <a:tabLst>
                <a:tab pos="737235" algn="l"/>
              </a:tabLst>
            </a:pPr>
            <a:r>
              <a:rPr dirty="0" sz="3100" spc="-30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100" spc="-28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55">
                <a:solidFill>
                  <a:srgbClr val="050505"/>
                </a:solidFill>
                <a:latin typeface="Arial"/>
                <a:cs typeface="Arial"/>
              </a:rPr>
              <a:t>source</a:t>
            </a:r>
            <a:r>
              <a:rPr dirty="0" sz="3100" spc="-13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50505"/>
                </a:solidFill>
                <a:latin typeface="Arial"/>
                <a:cs typeface="Arial"/>
              </a:rPr>
              <a:t>for</a:t>
            </a:r>
            <a:r>
              <a:rPr dirty="0" sz="3100" spc="1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20">
                <a:solidFill>
                  <a:srgbClr val="050505"/>
                </a:solidFill>
                <a:latin typeface="Arial"/>
                <a:cs typeface="Arial"/>
              </a:rPr>
              <a:t>unique</a:t>
            </a:r>
            <a:r>
              <a:rPr dirty="0" sz="3100" spc="-8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05">
                <a:solidFill>
                  <a:srgbClr val="050505"/>
                </a:solidFill>
                <a:latin typeface="Arial"/>
                <a:cs typeface="Arial"/>
              </a:rPr>
              <a:t>kernel</a:t>
            </a:r>
            <a:r>
              <a:rPr dirty="0" sz="3100" spc="-2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05">
                <a:solidFill>
                  <a:srgbClr val="050505"/>
                </a:solidFill>
                <a:latin typeface="Arial"/>
                <a:cs typeface="Arial"/>
              </a:rPr>
              <a:t>telemetry.</a:t>
            </a:r>
            <a:endParaRPr sz="3100">
              <a:latin typeface="Arial"/>
              <a:cs typeface="Arial"/>
            </a:endParaRPr>
          </a:p>
          <a:p>
            <a:pPr marL="737235" marR="522605" indent="-725170">
              <a:lnSpc>
                <a:spcPct val="108100"/>
              </a:lnSpc>
              <a:spcBef>
                <a:spcPts val="1610"/>
              </a:spcBef>
              <a:buClr>
                <a:srgbClr val="072B52"/>
              </a:buClr>
              <a:buSzPct val="125806"/>
              <a:buChar char="✓"/>
              <a:tabLst>
                <a:tab pos="742950" algn="l"/>
              </a:tabLst>
            </a:pPr>
            <a:r>
              <a:rPr dirty="0" sz="3100" spc="-30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100" spc="-3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10">
                <a:solidFill>
                  <a:srgbClr val="050505"/>
                </a:solidFill>
                <a:latin typeface="Arial"/>
                <a:cs typeface="Arial"/>
              </a:rPr>
              <a:t>complementary</a:t>
            </a:r>
            <a:r>
              <a:rPr dirty="0" sz="3100" spc="1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90">
                <a:solidFill>
                  <a:srgbClr val="050505"/>
                </a:solidFill>
                <a:latin typeface="Arial"/>
                <a:cs typeface="Arial"/>
              </a:rPr>
              <a:t>security</a:t>
            </a:r>
            <a:r>
              <a:rPr dirty="0" sz="3100" spc="-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80">
                <a:solidFill>
                  <a:srgbClr val="050505"/>
                </a:solidFill>
                <a:latin typeface="Arial"/>
                <a:cs typeface="Arial"/>
              </a:rPr>
              <a:t>layer</a:t>
            </a:r>
            <a:r>
              <a:rPr dirty="0" sz="3100" spc="-2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45">
                <a:solidFill>
                  <a:srgbClr val="050505"/>
                </a:solidFill>
                <a:latin typeface="Arial"/>
                <a:cs typeface="Arial"/>
              </a:rPr>
              <a:t>to </a:t>
            </a:r>
            <a:r>
              <a:rPr dirty="0" sz="3100" spc="45">
                <a:solidFill>
                  <a:srgbClr val="050505"/>
                </a:solidFill>
                <a:latin typeface="Arial"/>
                <a:cs typeface="Arial"/>
              </a:rPr>
              <a:t>	</a:t>
            </a:r>
            <a:r>
              <a:rPr dirty="0" sz="3100" spc="150">
                <a:solidFill>
                  <a:srgbClr val="050505"/>
                </a:solidFill>
                <a:latin typeface="Arial"/>
                <a:cs typeface="Arial"/>
              </a:rPr>
              <a:t>traditional</a:t>
            </a:r>
            <a:r>
              <a:rPr dirty="0" sz="3100" spc="-19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-20">
                <a:solidFill>
                  <a:srgbClr val="050505"/>
                </a:solidFill>
                <a:latin typeface="Arial"/>
                <a:cs typeface="Arial"/>
              </a:rPr>
              <a:t>EDR.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1079" y="3153569"/>
            <a:ext cx="7397115" cy="531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180"/>
              </a:lnSpc>
              <a:tabLst>
                <a:tab pos="649605" algn="l"/>
              </a:tabLst>
            </a:pPr>
            <a:r>
              <a:rPr dirty="0" sz="4300" spc="-50" b="1">
                <a:solidFill>
                  <a:srgbClr val="BC5649"/>
                </a:solidFill>
                <a:latin typeface="Arial"/>
                <a:cs typeface="Arial"/>
              </a:rPr>
              <a:t>X</a:t>
            </a:r>
            <a:r>
              <a:rPr dirty="0" sz="4300" b="1">
                <a:solidFill>
                  <a:srgbClr val="BC5649"/>
                </a:solidFill>
                <a:latin typeface="Arial"/>
                <a:cs typeface="Arial"/>
              </a:rPr>
              <a:t>	</a:t>
            </a:r>
            <a:r>
              <a:rPr dirty="0" sz="3300" spc="-315" b="1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300" spc="-31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50505"/>
                </a:solidFill>
                <a:latin typeface="Arial"/>
                <a:cs typeface="Arial"/>
              </a:rPr>
              <a:t>userspace</a:t>
            </a:r>
            <a:r>
              <a:rPr dirty="0" sz="3100" spc="13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95">
                <a:solidFill>
                  <a:srgbClr val="050505"/>
                </a:solidFill>
                <a:latin typeface="Arial"/>
                <a:cs typeface="Arial"/>
              </a:rPr>
              <a:t>behavioral</a:t>
            </a:r>
            <a:r>
              <a:rPr dirty="0" sz="3100" spc="-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50505"/>
                </a:solidFill>
                <a:latin typeface="Arial"/>
                <a:cs typeface="Arial"/>
              </a:rPr>
              <a:t>analysis</a:t>
            </a:r>
            <a:r>
              <a:rPr dirty="0" sz="3100" spc="-1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60">
                <a:solidFill>
                  <a:srgbClr val="050505"/>
                </a:solidFill>
                <a:latin typeface="Arial"/>
                <a:cs typeface="Arial"/>
              </a:rPr>
              <a:t>tool.</a:t>
            </a:r>
            <a:endParaRPr sz="3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41079" y="3805769"/>
            <a:ext cx="6911340" cy="2529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4770"/>
              </a:lnSpc>
            </a:pPr>
            <a:r>
              <a:rPr dirty="0" sz="4300" spc="425" b="1">
                <a:solidFill>
                  <a:srgbClr val="BC5649"/>
                </a:solidFill>
                <a:latin typeface="Arial"/>
                <a:cs typeface="Arial"/>
              </a:rPr>
              <a:t>X</a:t>
            </a:r>
            <a:r>
              <a:rPr dirty="0" sz="4300" spc="625" b="1">
                <a:solidFill>
                  <a:srgbClr val="BC5649"/>
                </a:solidFill>
                <a:latin typeface="Arial"/>
                <a:cs typeface="Arial"/>
              </a:rPr>
              <a:t> </a:t>
            </a:r>
            <a:r>
              <a:rPr dirty="0" sz="3300" spc="-315" b="1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300" spc="-28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50505"/>
                </a:solidFill>
                <a:latin typeface="Arial"/>
                <a:cs typeface="Arial"/>
              </a:rPr>
              <a:t>file-</a:t>
            </a:r>
            <a:r>
              <a:rPr dirty="0" sz="3100" spc="80">
                <a:solidFill>
                  <a:srgbClr val="050505"/>
                </a:solidFill>
                <a:latin typeface="Arial"/>
                <a:cs typeface="Arial"/>
              </a:rPr>
              <a:t>based</a:t>
            </a:r>
            <a:r>
              <a:rPr dirty="0" sz="3100" spc="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10">
                <a:solidFill>
                  <a:srgbClr val="050505"/>
                </a:solidFill>
                <a:latin typeface="Arial"/>
                <a:cs typeface="Arial"/>
              </a:rPr>
              <a:t>malware</a:t>
            </a:r>
            <a:r>
              <a:rPr dirty="0" sz="3100" spc="-14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-10">
                <a:solidFill>
                  <a:srgbClr val="050505"/>
                </a:solidFill>
                <a:latin typeface="Arial"/>
                <a:cs typeface="Arial"/>
              </a:rPr>
              <a:t>scanner.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649605" algn="l"/>
              </a:tabLst>
            </a:pPr>
            <a:r>
              <a:rPr dirty="0" sz="4300" spc="5" b="1">
                <a:solidFill>
                  <a:srgbClr val="BC5649"/>
                </a:solidFill>
                <a:latin typeface="Arial"/>
                <a:cs typeface="Arial"/>
              </a:rPr>
              <a:t>X</a:t>
            </a:r>
            <a:r>
              <a:rPr dirty="0" sz="4300" b="1">
                <a:solidFill>
                  <a:srgbClr val="BC5649"/>
                </a:solidFill>
                <a:latin typeface="Arial"/>
                <a:cs typeface="Arial"/>
              </a:rPr>
              <a:t>	</a:t>
            </a:r>
            <a:r>
              <a:rPr dirty="0" sz="3300" spc="-430" b="1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300" spc="-27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55">
                <a:solidFill>
                  <a:srgbClr val="050505"/>
                </a:solidFill>
                <a:latin typeface="Arial"/>
                <a:cs typeface="Arial"/>
              </a:rPr>
              <a:t>network</a:t>
            </a:r>
            <a:r>
              <a:rPr dirty="0" sz="3100" spc="-13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14">
                <a:solidFill>
                  <a:srgbClr val="050505"/>
                </a:solidFill>
                <a:latin typeface="Arial"/>
                <a:cs typeface="Arial"/>
              </a:rPr>
              <a:t>traffic</a:t>
            </a:r>
            <a:r>
              <a:rPr dirty="0" sz="3100" spc="-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-10">
                <a:solidFill>
                  <a:srgbClr val="050505"/>
                </a:solidFill>
                <a:latin typeface="Arial"/>
                <a:cs typeface="Arial"/>
              </a:rPr>
              <a:t>analyzer.</a:t>
            </a:r>
            <a:endParaRPr sz="3100">
              <a:latin typeface="Arial"/>
              <a:cs typeface="Arial"/>
            </a:endParaRPr>
          </a:p>
          <a:p>
            <a:pPr marL="648970" marR="5080" indent="-636905">
              <a:lnSpc>
                <a:spcPct val="101200"/>
              </a:lnSpc>
              <a:spcBef>
                <a:spcPts val="405"/>
              </a:spcBef>
              <a:tabLst>
                <a:tab pos="649605" algn="l"/>
              </a:tabLst>
            </a:pPr>
            <a:r>
              <a:rPr dirty="0" sz="4300" spc="5" b="1">
                <a:solidFill>
                  <a:srgbClr val="BC5649"/>
                </a:solidFill>
                <a:latin typeface="Arial"/>
                <a:cs typeface="Arial"/>
              </a:rPr>
              <a:t>X</a:t>
            </a:r>
            <a:r>
              <a:rPr dirty="0" sz="4300" b="1">
                <a:solidFill>
                  <a:srgbClr val="BC5649"/>
                </a:solidFill>
                <a:latin typeface="Arial"/>
                <a:cs typeface="Arial"/>
              </a:rPr>
              <a:t>	</a:t>
            </a:r>
            <a:r>
              <a:rPr dirty="0" sz="3300" spc="-315" b="1">
                <a:solidFill>
                  <a:srgbClr val="050505"/>
                </a:solidFill>
                <a:latin typeface="Arial"/>
                <a:cs typeface="Arial"/>
              </a:rPr>
              <a:t>A</a:t>
            </a:r>
            <a:r>
              <a:rPr dirty="0" sz="3300" spc="-41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20">
                <a:solidFill>
                  <a:srgbClr val="050505"/>
                </a:solidFill>
                <a:latin typeface="Arial"/>
                <a:cs typeface="Arial"/>
              </a:rPr>
              <a:t>complete</a:t>
            </a:r>
            <a:r>
              <a:rPr dirty="0" sz="3100" spc="-2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130">
                <a:solidFill>
                  <a:srgbClr val="050505"/>
                </a:solidFill>
                <a:latin typeface="Arial"/>
                <a:cs typeface="Arial"/>
              </a:rPr>
              <a:t>Incident</a:t>
            </a:r>
            <a:r>
              <a:rPr dirty="0" sz="3100" spc="-14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50505"/>
                </a:solidFill>
                <a:latin typeface="Arial"/>
                <a:cs typeface="Arial"/>
              </a:rPr>
              <a:t>Response</a:t>
            </a:r>
            <a:r>
              <a:rPr dirty="0" sz="3100" spc="-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100" spc="-50">
                <a:solidFill>
                  <a:srgbClr val="181818"/>
                </a:solidFill>
                <a:latin typeface="Arial"/>
                <a:cs typeface="Arial"/>
              </a:rPr>
              <a:t>(IR} </a:t>
            </a:r>
            <a:r>
              <a:rPr dirty="0" sz="3100" spc="145">
                <a:solidFill>
                  <a:srgbClr val="050505"/>
                </a:solidFill>
                <a:latin typeface="Arial"/>
                <a:cs typeface="Arial"/>
              </a:rPr>
              <a:t>platform.</a:t>
            </a:r>
            <a:endParaRPr sz="3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0636" y="7379162"/>
            <a:ext cx="15800705" cy="14579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685289" marR="1508125" indent="-137795">
              <a:lnSpc>
                <a:spcPts val="5730"/>
              </a:lnSpc>
              <a:spcBef>
                <a:spcPts val="15"/>
              </a:spcBef>
            </a:pPr>
            <a:r>
              <a:rPr dirty="0" sz="4450" spc="-385" b="1">
                <a:solidFill>
                  <a:srgbClr val="072B52"/>
                </a:solidFill>
                <a:latin typeface="Arial"/>
                <a:cs typeface="Arial"/>
              </a:rPr>
              <a:t>LKRG</a:t>
            </a:r>
            <a:r>
              <a:rPr dirty="0" sz="4450" spc="-120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225" b="1">
                <a:solidFill>
                  <a:srgbClr val="072B52"/>
                </a:solidFill>
                <a:latin typeface="Arial"/>
                <a:cs typeface="Arial"/>
              </a:rPr>
              <a:t>enhances</a:t>
            </a:r>
            <a:r>
              <a:rPr dirty="0" sz="4600" spc="-170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110" b="1">
                <a:solidFill>
                  <a:srgbClr val="072B52"/>
                </a:solidFill>
                <a:latin typeface="Arial"/>
                <a:cs typeface="Arial"/>
              </a:rPr>
              <a:t>your</a:t>
            </a:r>
            <a:r>
              <a:rPr dirty="0" sz="4600" spc="-260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120" b="1">
                <a:solidFill>
                  <a:srgbClr val="072B52"/>
                </a:solidFill>
                <a:latin typeface="Arial"/>
                <a:cs typeface="Arial"/>
              </a:rPr>
              <a:t>existing</a:t>
            </a:r>
            <a:r>
              <a:rPr dirty="0" sz="4600" spc="-340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450" spc="-350" b="1">
                <a:solidFill>
                  <a:srgbClr val="072B52"/>
                </a:solidFill>
                <a:latin typeface="Arial"/>
                <a:cs typeface="Arial"/>
              </a:rPr>
              <a:t>EDR</a:t>
            </a:r>
            <a:r>
              <a:rPr dirty="0" sz="4450" spc="-295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60" b="1">
                <a:solidFill>
                  <a:srgbClr val="072B52"/>
                </a:solidFill>
                <a:latin typeface="Arial"/>
                <a:cs typeface="Arial"/>
              </a:rPr>
              <a:t>investment</a:t>
            </a:r>
            <a:r>
              <a:rPr dirty="0" sz="4600" spc="-100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25" b="1">
                <a:solidFill>
                  <a:srgbClr val="072B52"/>
                </a:solidFill>
                <a:latin typeface="Arial"/>
                <a:cs typeface="Arial"/>
              </a:rPr>
              <a:t>by </a:t>
            </a:r>
            <a:r>
              <a:rPr dirty="0" sz="4600" spc="-110" b="1">
                <a:solidFill>
                  <a:srgbClr val="072B52"/>
                </a:solidFill>
                <a:latin typeface="Arial"/>
                <a:cs typeface="Arial"/>
              </a:rPr>
              <a:t>adding</a:t>
            </a:r>
            <a:r>
              <a:rPr dirty="0" sz="4600" spc="-405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110" b="1">
                <a:solidFill>
                  <a:srgbClr val="072B52"/>
                </a:solidFill>
                <a:latin typeface="Arial"/>
                <a:cs typeface="Arial"/>
              </a:rPr>
              <a:t>a</a:t>
            </a:r>
            <a:r>
              <a:rPr dirty="0" sz="4600" spc="-325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30" b="1">
                <a:solidFill>
                  <a:srgbClr val="072B52"/>
                </a:solidFill>
                <a:latin typeface="Arial"/>
                <a:cs typeface="Arial"/>
              </a:rPr>
              <a:t>critical</a:t>
            </a:r>
            <a:r>
              <a:rPr dirty="0" sz="4600" spc="-445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50" b="1">
                <a:solidFill>
                  <a:srgbClr val="072B52"/>
                </a:solidFill>
                <a:latin typeface="Arial"/>
                <a:cs typeface="Arial"/>
              </a:rPr>
              <a:t>layer</a:t>
            </a:r>
            <a:r>
              <a:rPr dirty="0" sz="4600" spc="-220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b="1">
                <a:solidFill>
                  <a:srgbClr val="072B52"/>
                </a:solidFill>
                <a:latin typeface="Arial"/>
                <a:cs typeface="Arial"/>
              </a:rPr>
              <a:t>of</a:t>
            </a:r>
            <a:r>
              <a:rPr dirty="0" sz="4600" spc="-415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55" b="1">
                <a:solidFill>
                  <a:srgbClr val="072B52"/>
                </a:solidFill>
                <a:latin typeface="Arial"/>
                <a:cs typeface="Arial"/>
              </a:rPr>
              <a:t>kernel-</a:t>
            </a:r>
            <a:r>
              <a:rPr dirty="0" sz="4600" spc="-50" b="1">
                <a:solidFill>
                  <a:srgbClr val="072B52"/>
                </a:solidFill>
                <a:latin typeface="Arial"/>
                <a:cs typeface="Arial"/>
              </a:rPr>
              <a:t>level</a:t>
            </a:r>
            <a:r>
              <a:rPr dirty="0" sz="4600" spc="-295" b="1">
                <a:solidFill>
                  <a:srgbClr val="072B52"/>
                </a:solidFill>
                <a:latin typeface="Arial"/>
                <a:cs typeface="Arial"/>
              </a:rPr>
              <a:t> </a:t>
            </a:r>
            <a:r>
              <a:rPr dirty="0" sz="4600" spc="-10" b="1">
                <a:solidFill>
                  <a:srgbClr val="072B52"/>
                </a:solidFill>
                <a:latin typeface="Arial"/>
                <a:cs typeface="Arial"/>
              </a:rPr>
              <a:t>detection.</a:t>
            </a:r>
            <a:endParaRPr sz="4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3904" y="4876932"/>
            <a:ext cx="2012433" cy="22213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7496" y="6051417"/>
            <a:ext cx="1324639" cy="5872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8246" y="5464175"/>
            <a:ext cx="1146322" cy="14553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84682" y="4800335"/>
            <a:ext cx="611372" cy="10723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26154" y="6051417"/>
            <a:ext cx="1299165" cy="6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64061" y="5489707"/>
            <a:ext cx="1401061" cy="12510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29338" y="6051417"/>
            <a:ext cx="1324639" cy="61277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91584" y="4366285"/>
            <a:ext cx="0" cy="4443095"/>
          </a:xfrm>
          <a:custGeom>
            <a:avLst/>
            <a:gdLst/>
            <a:ahLst/>
            <a:cxnLst/>
            <a:rect l="l" t="t" r="r" b="b"/>
            <a:pathLst>
              <a:path w="0" h="4443095">
                <a:moveTo>
                  <a:pt x="0" y="444261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10234" y="6485464"/>
            <a:ext cx="0" cy="2323465"/>
          </a:xfrm>
          <a:custGeom>
            <a:avLst/>
            <a:gdLst/>
            <a:ahLst/>
            <a:cxnLst/>
            <a:rect l="l" t="t" r="r" b="b"/>
            <a:pathLst>
              <a:path w="0" h="2323465">
                <a:moveTo>
                  <a:pt x="0" y="23234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10234" y="4366285"/>
            <a:ext cx="0" cy="1838325"/>
          </a:xfrm>
          <a:custGeom>
            <a:avLst/>
            <a:gdLst/>
            <a:ahLst/>
            <a:cxnLst/>
            <a:rect l="l" t="t" r="r" b="b"/>
            <a:pathLst>
              <a:path w="0"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58452" y="5055656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4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47307" y="3191800"/>
            <a:ext cx="0" cy="1659889"/>
          </a:xfrm>
          <a:custGeom>
            <a:avLst/>
            <a:gdLst/>
            <a:ahLst/>
            <a:cxnLst/>
            <a:rect l="l" t="t" r="r" b="b"/>
            <a:pathLst>
              <a:path w="0" h="1659889">
                <a:moveTo>
                  <a:pt x="0" y="165959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38891" y="6485464"/>
            <a:ext cx="0" cy="2323465"/>
          </a:xfrm>
          <a:custGeom>
            <a:avLst/>
            <a:gdLst/>
            <a:ahLst/>
            <a:cxnLst/>
            <a:rect l="l" t="t" r="r" b="b"/>
            <a:pathLst>
              <a:path w="0" h="2323465">
                <a:moveTo>
                  <a:pt x="0" y="23234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38891" y="5055656"/>
            <a:ext cx="0" cy="1149350"/>
          </a:xfrm>
          <a:custGeom>
            <a:avLst/>
            <a:gdLst/>
            <a:ahLst/>
            <a:cxnLst/>
            <a:rect l="l" t="t" r="r" b="b"/>
            <a:pathLst>
              <a:path w="0"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571946" y="4774801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361635" y="5055656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4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342074" y="6485464"/>
            <a:ext cx="0" cy="2323465"/>
          </a:xfrm>
          <a:custGeom>
            <a:avLst/>
            <a:gdLst/>
            <a:ahLst/>
            <a:cxnLst/>
            <a:rect l="l" t="t" r="r" b="b"/>
            <a:pathLst>
              <a:path w="0" h="2323465">
                <a:moveTo>
                  <a:pt x="0" y="23234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342074" y="5055656"/>
            <a:ext cx="0" cy="1149350"/>
          </a:xfrm>
          <a:custGeom>
            <a:avLst/>
            <a:gdLst/>
            <a:ahLst/>
            <a:cxnLst/>
            <a:rect l="l" t="t" r="r" b="b"/>
            <a:pathLst>
              <a:path w="0"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590292" y="5055656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4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010611" y="3191800"/>
            <a:ext cx="0" cy="1659889"/>
          </a:xfrm>
          <a:custGeom>
            <a:avLst/>
            <a:gdLst/>
            <a:ahLst/>
            <a:cxnLst/>
            <a:rect l="l" t="t" r="r" b="b"/>
            <a:pathLst>
              <a:path w="0" h="1659889">
                <a:moveTo>
                  <a:pt x="0" y="165959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596205" y="5055656"/>
            <a:ext cx="0" cy="3753485"/>
          </a:xfrm>
          <a:custGeom>
            <a:avLst/>
            <a:gdLst/>
            <a:ahLst/>
            <a:cxnLst/>
            <a:rect l="l" t="t" r="r" b="b"/>
            <a:pathLst>
              <a:path w="0" h="3753484">
                <a:moveTo>
                  <a:pt x="0" y="37532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9096" y="3230098"/>
            <a:ext cx="6852920" cy="0"/>
          </a:xfrm>
          <a:custGeom>
            <a:avLst/>
            <a:gdLst/>
            <a:ahLst/>
            <a:cxnLst/>
            <a:rect l="l" t="t" r="r" b="b"/>
            <a:pathLst>
              <a:path w="6852919" h="0">
                <a:moveTo>
                  <a:pt x="0" y="0"/>
                </a:moveTo>
                <a:lnTo>
                  <a:pt x="6852462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91584" y="4379051"/>
            <a:ext cx="3056890" cy="0"/>
          </a:xfrm>
          <a:custGeom>
            <a:avLst/>
            <a:gdLst/>
            <a:ahLst/>
            <a:cxnLst/>
            <a:rect l="l" t="t" r="r" b="b"/>
            <a:pathLst>
              <a:path w="3056890" h="0">
                <a:moveTo>
                  <a:pt x="0" y="0"/>
                </a:moveTo>
                <a:lnTo>
                  <a:pt x="305686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09096" y="4800334"/>
            <a:ext cx="1376045" cy="0"/>
          </a:xfrm>
          <a:custGeom>
            <a:avLst/>
            <a:gdLst/>
            <a:ahLst/>
            <a:cxnLst/>
            <a:rect l="l" t="t" r="r" b="b"/>
            <a:pathLst>
              <a:path w="1376045" h="0">
                <a:moveTo>
                  <a:pt x="0" y="0"/>
                </a:moveTo>
                <a:lnTo>
                  <a:pt x="137558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196055" y="4800334"/>
            <a:ext cx="4866005" cy="0"/>
          </a:xfrm>
          <a:custGeom>
            <a:avLst/>
            <a:gdLst/>
            <a:ahLst/>
            <a:cxnLst/>
            <a:rect l="l" t="t" r="r" b="b"/>
            <a:pathLst>
              <a:path w="4866005" h="0">
                <a:moveTo>
                  <a:pt x="0" y="0"/>
                </a:moveTo>
                <a:lnTo>
                  <a:pt x="4865503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577555" y="5068423"/>
            <a:ext cx="3056890" cy="0"/>
          </a:xfrm>
          <a:custGeom>
            <a:avLst/>
            <a:gdLst/>
            <a:ahLst/>
            <a:cxnLst/>
            <a:rect l="l" t="t" r="r" b="b"/>
            <a:pathLst>
              <a:path w="3056890" h="0">
                <a:moveTo>
                  <a:pt x="0" y="0"/>
                </a:moveTo>
                <a:lnTo>
                  <a:pt x="305686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348899" y="5068423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38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45715" y="5068423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38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577555" y="8783370"/>
            <a:ext cx="3056890" cy="0"/>
          </a:xfrm>
          <a:custGeom>
            <a:avLst/>
            <a:gdLst/>
            <a:ahLst/>
            <a:cxnLst/>
            <a:rect l="l" t="t" r="r" b="b"/>
            <a:pathLst>
              <a:path w="3056890" h="0">
                <a:moveTo>
                  <a:pt x="0" y="0"/>
                </a:moveTo>
                <a:lnTo>
                  <a:pt x="305686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348899" y="8783370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38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45715" y="8783370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38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91584" y="8783370"/>
            <a:ext cx="3056890" cy="0"/>
          </a:xfrm>
          <a:custGeom>
            <a:avLst/>
            <a:gdLst/>
            <a:ahLst/>
            <a:cxnLst/>
            <a:rect l="l" t="t" r="r" b="b"/>
            <a:pathLst>
              <a:path w="3056890" h="0">
                <a:moveTo>
                  <a:pt x="0" y="0"/>
                </a:moveTo>
                <a:lnTo>
                  <a:pt x="305686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25"/>
              </a:spcBef>
            </a:pPr>
            <a:r>
              <a:rPr dirty="0" sz="4750" spc="70">
                <a:solidFill>
                  <a:srgbClr val="232628"/>
                </a:solidFill>
              </a:rPr>
              <a:t>Turning</a:t>
            </a:r>
            <a:r>
              <a:rPr dirty="0" sz="4750" spc="-140">
                <a:solidFill>
                  <a:srgbClr val="232628"/>
                </a:solidFill>
              </a:rPr>
              <a:t> </a:t>
            </a:r>
            <a:r>
              <a:rPr dirty="0" sz="4750" spc="90">
                <a:solidFill>
                  <a:srgbClr val="232628"/>
                </a:solidFill>
              </a:rPr>
              <a:t>Kernel</a:t>
            </a:r>
            <a:r>
              <a:rPr dirty="0" sz="4750" spc="-150">
                <a:solidFill>
                  <a:srgbClr val="232628"/>
                </a:solidFill>
              </a:rPr>
              <a:t> </a:t>
            </a:r>
            <a:r>
              <a:rPr dirty="0" sz="4750" spc="125">
                <a:solidFill>
                  <a:srgbClr val="232628"/>
                </a:solidFill>
              </a:rPr>
              <a:t>Events</a:t>
            </a:r>
            <a:r>
              <a:rPr dirty="0" sz="4750" spc="-355">
                <a:solidFill>
                  <a:srgbClr val="232628"/>
                </a:solidFill>
              </a:rPr>
              <a:t> </a:t>
            </a:r>
            <a:r>
              <a:rPr dirty="0" sz="4750" spc="170">
                <a:solidFill>
                  <a:srgbClr val="232628"/>
                </a:solidFill>
              </a:rPr>
              <a:t>into</a:t>
            </a:r>
            <a:r>
              <a:rPr dirty="0" sz="4750" spc="-150">
                <a:solidFill>
                  <a:srgbClr val="232628"/>
                </a:solidFill>
              </a:rPr>
              <a:t> </a:t>
            </a:r>
            <a:r>
              <a:rPr dirty="0" sz="4750" spc="90">
                <a:solidFill>
                  <a:srgbClr val="232628"/>
                </a:solidFill>
              </a:rPr>
              <a:t>Actionable</a:t>
            </a:r>
            <a:r>
              <a:rPr dirty="0" sz="4750" spc="130">
                <a:solidFill>
                  <a:srgbClr val="232628"/>
                </a:solidFill>
              </a:rPr>
              <a:t> </a:t>
            </a:r>
            <a:r>
              <a:rPr dirty="0" sz="4750" spc="90">
                <a:solidFill>
                  <a:srgbClr val="232628"/>
                </a:solidFill>
              </a:rPr>
              <a:t>Intelligence</a:t>
            </a:r>
            <a:endParaRPr sz="4750"/>
          </a:p>
        </p:txBody>
      </p:sp>
      <p:sp>
        <p:nvSpPr>
          <p:cNvPr id="35" name="object 35"/>
          <p:cNvSpPr txBox="1"/>
          <p:nvPr/>
        </p:nvSpPr>
        <p:spPr>
          <a:xfrm>
            <a:off x="889787" y="1640780"/>
            <a:ext cx="15688310" cy="299783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 indent="8890">
              <a:lnSpc>
                <a:spcPts val="3920"/>
              </a:lnSpc>
              <a:spcBef>
                <a:spcPts val="330"/>
              </a:spcBef>
            </a:pPr>
            <a:r>
              <a:rPr dirty="0" sz="3350" spc="-415">
                <a:solidFill>
                  <a:srgbClr val="0A0A0A"/>
                </a:solidFill>
                <a:latin typeface="Arial"/>
                <a:cs typeface="Arial"/>
              </a:rPr>
              <a:t>LKRG</a:t>
            </a:r>
            <a:r>
              <a:rPr dirty="0" sz="3350" spc="-18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60">
                <a:solidFill>
                  <a:srgbClr val="0A0A0A"/>
                </a:solidFill>
                <a:latin typeface="Arial"/>
                <a:cs typeface="Arial"/>
              </a:rPr>
              <a:t>integrates</a:t>
            </a:r>
            <a:r>
              <a:rPr dirty="0" sz="3350" spc="-16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60">
                <a:solidFill>
                  <a:srgbClr val="0A0A0A"/>
                </a:solidFill>
                <a:latin typeface="Arial"/>
                <a:cs typeface="Arial"/>
              </a:rPr>
              <a:t>into</a:t>
            </a:r>
            <a:r>
              <a:rPr dirty="0" sz="3350" spc="-33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A0A0A"/>
                </a:solidFill>
                <a:latin typeface="Arial"/>
                <a:cs typeface="Arial"/>
              </a:rPr>
              <a:t>your</a:t>
            </a:r>
            <a:r>
              <a:rPr dirty="0" sz="3350" spc="-15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40">
                <a:solidFill>
                  <a:srgbClr val="0A0A0A"/>
                </a:solidFill>
                <a:latin typeface="Arial"/>
                <a:cs typeface="Arial"/>
              </a:rPr>
              <a:t>existing</a:t>
            </a:r>
            <a:r>
              <a:rPr dirty="0" sz="3350" spc="-44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40">
                <a:solidFill>
                  <a:srgbClr val="0A0A0A"/>
                </a:solidFill>
                <a:latin typeface="Arial"/>
                <a:cs typeface="Arial"/>
              </a:rPr>
              <a:t>security</a:t>
            </a:r>
            <a:r>
              <a:rPr dirty="0" sz="3350" spc="-14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120">
                <a:solidFill>
                  <a:srgbClr val="0A0A0A"/>
                </a:solidFill>
                <a:latin typeface="Arial"/>
                <a:cs typeface="Arial"/>
              </a:rPr>
              <a:t>ecosystem</a:t>
            </a:r>
            <a:r>
              <a:rPr dirty="0" sz="3350" spc="-1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45">
                <a:solidFill>
                  <a:srgbClr val="0A0A0A"/>
                </a:solidFill>
                <a:latin typeface="Arial"/>
                <a:cs typeface="Arial"/>
              </a:rPr>
              <a:t>by</a:t>
            </a:r>
            <a:r>
              <a:rPr dirty="0" sz="3350" spc="-29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75">
                <a:solidFill>
                  <a:srgbClr val="0A0A0A"/>
                </a:solidFill>
                <a:latin typeface="Arial"/>
                <a:cs typeface="Arial"/>
              </a:rPr>
              <a:t>leveraging</a:t>
            </a:r>
            <a:r>
              <a:rPr dirty="0" sz="3350" spc="-254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45">
                <a:solidFill>
                  <a:srgbClr val="0A0A0A"/>
                </a:solidFill>
                <a:latin typeface="Arial"/>
                <a:cs typeface="Arial"/>
              </a:rPr>
              <a:t>standard</a:t>
            </a:r>
            <a:r>
              <a:rPr dirty="0" sz="3350" spc="-114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10">
                <a:solidFill>
                  <a:srgbClr val="0A0A0A"/>
                </a:solidFill>
                <a:latin typeface="Arial"/>
                <a:cs typeface="Arial"/>
              </a:rPr>
              <a:t>Linux </a:t>
            </a:r>
            <a:r>
              <a:rPr dirty="0" sz="3350" spc="-25">
                <a:solidFill>
                  <a:srgbClr val="0A0A0A"/>
                </a:solidFill>
                <a:latin typeface="Arial"/>
                <a:cs typeface="Arial"/>
              </a:rPr>
              <a:t>logging</a:t>
            </a:r>
            <a:r>
              <a:rPr dirty="0" sz="3350" spc="-43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10">
                <a:solidFill>
                  <a:srgbClr val="0A0A0A"/>
                </a:solidFill>
                <a:latin typeface="Arial"/>
                <a:cs typeface="Arial"/>
              </a:rPr>
              <a:t>infrastructure.</a:t>
            </a:r>
            <a:r>
              <a:rPr dirty="0" sz="3350" spc="-43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95">
                <a:solidFill>
                  <a:srgbClr val="0A0A0A"/>
                </a:solidFill>
                <a:latin typeface="Arial"/>
                <a:cs typeface="Arial"/>
              </a:rPr>
              <a:t>There's</a:t>
            </a:r>
            <a:r>
              <a:rPr dirty="0" sz="3350" spc="-17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A0A0A"/>
                </a:solidFill>
                <a:latin typeface="Arial"/>
                <a:cs typeface="Arial"/>
              </a:rPr>
              <a:t>no</a:t>
            </a:r>
            <a:r>
              <a:rPr dirty="0" sz="3350" spc="-33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A0A0A"/>
                </a:solidFill>
                <a:latin typeface="Arial"/>
                <a:cs typeface="Arial"/>
              </a:rPr>
              <a:t>proprietary</a:t>
            </a:r>
            <a:r>
              <a:rPr dirty="0" sz="3350" spc="-1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95">
                <a:solidFill>
                  <a:srgbClr val="0A0A0A"/>
                </a:solidFill>
                <a:latin typeface="Arial"/>
                <a:cs typeface="Arial"/>
              </a:rPr>
              <a:t>agent</a:t>
            </a:r>
            <a:r>
              <a:rPr dirty="0" sz="3350" spc="-17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55">
                <a:solidFill>
                  <a:srgbClr val="0A0A0A"/>
                </a:solidFill>
                <a:latin typeface="Arial"/>
                <a:cs typeface="Arial"/>
              </a:rPr>
              <a:t>or</a:t>
            </a:r>
            <a:r>
              <a:rPr dirty="0" sz="3350" spc="-35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60">
                <a:solidFill>
                  <a:srgbClr val="0A0A0A"/>
                </a:solidFill>
                <a:latin typeface="Arial"/>
                <a:cs typeface="Arial"/>
              </a:rPr>
              <a:t>complex</a:t>
            </a:r>
            <a:r>
              <a:rPr dirty="0" sz="3350" spc="-9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70">
                <a:solidFill>
                  <a:srgbClr val="0A0A0A"/>
                </a:solidFill>
                <a:latin typeface="Arial"/>
                <a:cs typeface="Arial"/>
              </a:rPr>
              <a:t>log</a:t>
            </a:r>
            <a:r>
              <a:rPr dirty="0" sz="3350" spc="-56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A0A0A"/>
                </a:solidFill>
                <a:latin typeface="Arial"/>
                <a:cs typeface="Arial"/>
              </a:rPr>
              <a:t>transport</a:t>
            </a:r>
            <a:r>
              <a:rPr dirty="0" sz="3350" spc="-13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A0A0A"/>
                </a:solidFill>
                <a:latin typeface="Arial"/>
                <a:cs typeface="Arial"/>
              </a:rPr>
              <a:t>to</a:t>
            </a:r>
            <a:r>
              <a:rPr dirty="0" sz="3350" spc="-8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350" spc="-10">
                <a:solidFill>
                  <a:srgbClr val="0A0A0A"/>
                </a:solidFill>
                <a:latin typeface="Arial"/>
                <a:cs typeface="Arial"/>
              </a:rPr>
              <a:t>deploy.</a:t>
            </a:r>
            <a:endParaRPr sz="3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3350">
              <a:latin typeface="Arial"/>
              <a:cs typeface="Arial"/>
            </a:endParaRPr>
          </a:p>
          <a:p>
            <a:pPr marL="6534784" marR="2808605" indent="-6985">
              <a:lnSpc>
                <a:spcPct val="99600"/>
              </a:lnSpc>
              <a:spcBef>
                <a:spcPts val="5"/>
              </a:spcBef>
              <a:tabLst>
                <a:tab pos="10970895" algn="l"/>
              </a:tabLst>
            </a:pPr>
            <a:r>
              <a:rPr dirty="0" sz="2650" spc="-35">
                <a:solidFill>
                  <a:srgbClr val="0A0A0A"/>
                </a:solidFill>
                <a:latin typeface="Arial"/>
                <a:cs typeface="Arial"/>
              </a:rPr>
              <a:t>Th</a:t>
            </a:r>
            <a:r>
              <a:rPr dirty="0" sz="2650" spc="-35">
                <a:solidFill>
                  <a:srgbClr val="232628"/>
                </a:solidFill>
                <a:latin typeface="Arial"/>
                <a:cs typeface="Arial"/>
              </a:rPr>
              <a:t>e</a:t>
            </a:r>
            <a:r>
              <a:rPr dirty="0" sz="2650" spc="-32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dirty="0" sz="2650" spc="55">
                <a:solidFill>
                  <a:srgbClr val="0A0A0A"/>
                </a:solidFill>
                <a:latin typeface="Arial"/>
                <a:cs typeface="Arial"/>
              </a:rPr>
              <a:t>log</a:t>
            </a:r>
            <a:r>
              <a:rPr dirty="0" sz="2650" spc="-38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0A0A0A"/>
                </a:solidFill>
                <a:latin typeface="Arial"/>
                <a:cs typeface="Arial"/>
              </a:rPr>
              <a:t>format</a:t>
            </a:r>
            <a:r>
              <a:rPr dirty="0" sz="2650" spc="-12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0A0A0A"/>
                </a:solidFill>
                <a:latin typeface="Arial"/>
                <a:cs typeface="Arial"/>
              </a:rPr>
              <a:t>is</a:t>
            </a:r>
            <a:r>
              <a:rPr dirty="0" sz="2650" spc="-28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0A0A0A"/>
                </a:solidFill>
                <a:latin typeface="Arial"/>
                <a:cs typeface="Arial"/>
              </a:rPr>
              <a:t>a</a:t>
            </a:r>
            <a:r>
              <a:rPr dirty="0" sz="2650" spc="-28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30">
                <a:solidFill>
                  <a:srgbClr val="232628"/>
                </a:solidFill>
                <a:latin typeface="Arial"/>
                <a:cs typeface="Arial"/>
              </a:rPr>
              <a:t>s</a:t>
            </a:r>
            <a:r>
              <a:rPr dirty="0" sz="2650" spc="-30">
                <a:solidFill>
                  <a:srgbClr val="0A0A0A"/>
                </a:solidFill>
                <a:latin typeface="Arial"/>
                <a:cs typeface="Arial"/>
              </a:rPr>
              <a:t>tandard</a:t>
            </a:r>
            <a:r>
              <a:rPr dirty="0" sz="2650" spc="-12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20">
                <a:solidFill>
                  <a:srgbClr val="0A0A0A"/>
                </a:solidFill>
                <a:latin typeface="Arial"/>
                <a:cs typeface="Arial"/>
              </a:rPr>
              <a:t>kern</a:t>
            </a:r>
            <a:r>
              <a:rPr dirty="0" sz="2650" spc="-20">
                <a:solidFill>
                  <a:srgbClr val="232628"/>
                </a:solidFill>
                <a:latin typeface="Arial"/>
                <a:cs typeface="Arial"/>
              </a:rPr>
              <a:t>e</a:t>
            </a:r>
            <a:r>
              <a:rPr dirty="0" sz="2650" spc="-20">
                <a:solidFill>
                  <a:srgbClr val="0A0A0A"/>
                </a:solidFill>
                <a:latin typeface="Arial"/>
                <a:cs typeface="Arial"/>
              </a:rPr>
              <a:t>l</a:t>
            </a:r>
            <a:r>
              <a:rPr dirty="0" sz="2650" spc="-26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70">
                <a:solidFill>
                  <a:srgbClr val="0A0A0A"/>
                </a:solidFill>
                <a:latin typeface="Arial"/>
                <a:cs typeface="Arial"/>
              </a:rPr>
              <a:t>me</a:t>
            </a:r>
            <a:r>
              <a:rPr dirty="0" sz="2650" spc="-70">
                <a:solidFill>
                  <a:srgbClr val="232628"/>
                </a:solidFill>
                <a:latin typeface="Arial"/>
                <a:cs typeface="Arial"/>
              </a:rPr>
              <a:t>ss</a:t>
            </a:r>
            <a:r>
              <a:rPr dirty="0" sz="2650" spc="-70">
                <a:solidFill>
                  <a:srgbClr val="0A0A0A"/>
                </a:solidFill>
                <a:latin typeface="Arial"/>
                <a:cs typeface="Arial"/>
              </a:rPr>
              <a:t>age </a:t>
            </a:r>
            <a:r>
              <a:rPr dirty="0" sz="2650" spc="65">
                <a:solidFill>
                  <a:srgbClr val="0A0A0A"/>
                </a:solidFill>
                <a:latin typeface="Arial"/>
                <a:cs typeface="Arial"/>
              </a:rPr>
              <a:t>with</a:t>
            </a:r>
            <a:r>
              <a:rPr dirty="0" sz="2650" spc="-22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0A0A0A"/>
                </a:solidFill>
                <a:latin typeface="Arial"/>
                <a:cs typeface="Arial"/>
              </a:rPr>
              <a:t>a</a:t>
            </a:r>
            <a:r>
              <a:rPr dirty="0" sz="2650" spc="10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385">
                <a:solidFill>
                  <a:srgbClr val="232628"/>
                </a:solidFill>
                <a:latin typeface="Arial"/>
                <a:cs typeface="Arial"/>
              </a:rPr>
              <a:t>[</a:t>
            </a:r>
            <a:r>
              <a:rPr dirty="0" sz="2650" spc="385">
                <a:solidFill>
                  <a:srgbClr val="0A0A0A"/>
                </a:solidFill>
                <a:latin typeface="Arial"/>
                <a:cs typeface="Arial"/>
              </a:rPr>
              <a:t>p_</a:t>
            </a:r>
            <a:r>
              <a:rPr dirty="0" sz="2900" spc="385">
                <a:solidFill>
                  <a:srgbClr val="0A0A0A"/>
                </a:solidFill>
                <a:latin typeface="Times New Roman"/>
                <a:cs typeface="Times New Roman"/>
              </a:rPr>
              <a:t>lkrg</a:t>
            </a:r>
            <a:r>
              <a:rPr dirty="0" sz="2900" spc="385">
                <a:solidFill>
                  <a:srgbClr val="232628"/>
                </a:solidFill>
                <a:latin typeface="Times New Roman"/>
                <a:cs typeface="Times New Roman"/>
              </a:rPr>
              <a:t>]</a:t>
            </a:r>
            <a:r>
              <a:rPr dirty="0" sz="2900" spc="370">
                <a:solidFill>
                  <a:srgbClr val="232628"/>
                </a:solidFill>
                <a:latin typeface="Times New Roman"/>
                <a:cs typeface="Times New Roman"/>
              </a:rPr>
              <a:t> </a:t>
            </a:r>
            <a:r>
              <a:rPr dirty="0" sz="2650">
                <a:solidFill>
                  <a:srgbClr val="0A0A0A"/>
                </a:solidFill>
                <a:latin typeface="Arial"/>
                <a:cs typeface="Arial"/>
              </a:rPr>
              <a:t>or</a:t>
            </a:r>
            <a:r>
              <a:rPr dirty="0" sz="2650" spc="19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232628"/>
                </a:solidFill>
                <a:latin typeface="Arial"/>
                <a:cs typeface="Arial"/>
              </a:rPr>
              <a:t>[</a:t>
            </a:r>
            <a:r>
              <a:rPr dirty="0" sz="2650" spc="-8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0A0A0A"/>
                </a:solidFill>
                <a:latin typeface="Arial"/>
                <a:cs typeface="Arial"/>
              </a:rPr>
              <a:t>LKRG</a:t>
            </a:r>
            <a:r>
              <a:rPr dirty="0" sz="2650" spc="-10">
                <a:solidFill>
                  <a:srgbClr val="232628"/>
                </a:solidFill>
                <a:latin typeface="Arial"/>
                <a:cs typeface="Arial"/>
              </a:rPr>
              <a:t>]</a:t>
            </a:r>
            <a:r>
              <a:rPr dirty="0" sz="2650">
                <a:solidFill>
                  <a:srgbClr val="232628"/>
                </a:solidFill>
                <a:latin typeface="Arial"/>
                <a:cs typeface="Arial"/>
              </a:rPr>
              <a:t>	</a:t>
            </a:r>
            <a:r>
              <a:rPr dirty="0" sz="2650">
                <a:solidFill>
                  <a:srgbClr val="0A0A0A"/>
                </a:solidFill>
                <a:latin typeface="Arial"/>
                <a:cs typeface="Arial"/>
              </a:rPr>
              <a:t>pr</a:t>
            </a:r>
            <a:r>
              <a:rPr dirty="0" sz="2650">
                <a:solidFill>
                  <a:srgbClr val="232628"/>
                </a:solidFill>
                <a:latin typeface="Arial"/>
                <a:cs typeface="Arial"/>
              </a:rPr>
              <a:t>e</a:t>
            </a:r>
            <a:r>
              <a:rPr dirty="0" sz="2650">
                <a:solidFill>
                  <a:srgbClr val="0A0A0A"/>
                </a:solidFill>
                <a:latin typeface="Arial"/>
                <a:cs typeface="Arial"/>
              </a:rPr>
              <a:t>fix</a:t>
            </a:r>
            <a:r>
              <a:rPr dirty="0" sz="2650" spc="-29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25">
                <a:solidFill>
                  <a:srgbClr val="0A0A0A"/>
                </a:solidFill>
                <a:latin typeface="Arial"/>
                <a:cs typeface="Arial"/>
              </a:rPr>
              <a:t>for </a:t>
            </a:r>
            <a:r>
              <a:rPr dirty="0" sz="2650" spc="-135">
                <a:solidFill>
                  <a:srgbClr val="232628"/>
                </a:solidFill>
                <a:latin typeface="Arial"/>
                <a:cs typeface="Arial"/>
              </a:rPr>
              <a:t>e</a:t>
            </a:r>
            <a:r>
              <a:rPr dirty="0" sz="2650" spc="-135">
                <a:solidFill>
                  <a:srgbClr val="0A0A0A"/>
                </a:solidFill>
                <a:latin typeface="Arial"/>
                <a:cs typeface="Arial"/>
              </a:rPr>
              <a:t>a</a:t>
            </a:r>
            <a:r>
              <a:rPr dirty="0" sz="2650" spc="-135">
                <a:solidFill>
                  <a:srgbClr val="232628"/>
                </a:solidFill>
                <a:latin typeface="Arial"/>
                <a:cs typeface="Arial"/>
              </a:rPr>
              <a:t>sy</a:t>
            </a:r>
            <a:r>
              <a:rPr dirty="0" sz="2650" spc="-17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dirty="0" sz="2650" spc="-20">
                <a:solidFill>
                  <a:srgbClr val="0A0A0A"/>
                </a:solidFill>
                <a:latin typeface="Arial"/>
                <a:cs typeface="Arial"/>
              </a:rPr>
              <a:t>par</a:t>
            </a:r>
            <a:r>
              <a:rPr dirty="0" sz="2650" spc="-20">
                <a:solidFill>
                  <a:srgbClr val="232628"/>
                </a:solidFill>
                <a:latin typeface="Arial"/>
                <a:cs typeface="Arial"/>
              </a:rPr>
              <a:t>s</a:t>
            </a:r>
            <a:r>
              <a:rPr dirty="0" sz="2650" spc="-20">
                <a:solidFill>
                  <a:srgbClr val="0A0A0A"/>
                </a:solidFill>
                <a:latin typeface="Arial"/>
                <a:cs typeface="Arial"/>
              </a:rPr>
              <a:t>in</a:t>
            </a:r>
            <a:r>
              <a:rPr dirty="0" sz="2650" spc="-20">
                <a:solidFill>
                  <a:srgbClr val="232628"/>
                </a:solidFill>
                <a:latin typeface="Arial"/>
                <a:cs typeface="Arial"/>
              </a:rPr>
              <a:t>g</a:t>
            </a:r>
            <a:r>
              <a:rPr dirty="0" sz="2650" spc="-34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0A0A0A"/>
                </a:solidFill>
                <a:latin typeface="Arial"/>
                <a:cs typeface="Arial"/>
              </a:rPr>
              <a:t>and</a:t>
            </a:r>
            <a:r>
              <a:rPr dirty="0" sz="2650" spc="-25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0A0A0A"/>
                </a:solidFill>
                <a:latin typeface="Arial"/>
                <a:cs typeface="Arial"/>
              </a:rPr>
              <a:t>filt</a:t>
            </a:r>
            <a:r>
              <a:rPr dirty="0" sz="2650" spc="-10">
                <a:solidFill>
                  <a:srgbClr val="232628"/>
                </a:solidFill>
                <a:latin typeface="Arial"/>
                <a:cs typeface="Arial"/>
              </a:rPr>
              <a:t>e</a:t>
            </a:r>
            <a:r>
              <a:rPr dirty="0" sz="2650" spc="-10">
                <a:solidFill>
                  <a:srgbClr val="0A0A0A"/>
                </a:solidFill>
                <a:latin typeface="Arial"/>
                <a:cs typeface="Arial"/>
              </a:rPr>
              <a:t>rin</a:t>
            </a:r>
            <a:r>
              <a:rPr dirty="0" sz="2650" spc="-10">
                <a:solidFill>
                  <a:srgbClr val="232628"/>
                </a:solidFill>
                <a:latin typeface="Arial"/>
                <a:cs typeface="Arial"/>
              </a:rPr>
              <a:t>g.</a:t>
            </a:r>
            <a:endParaRPr sz="2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64266" y="7436610"/>
            <a:ext cx="189357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 spc="-145" b="1">
                <a:solidFill>
                  <a:srgbClr val="0A0A0A"/>
                </a:solidFill>
                <a:latin typeface="Arial"/>
                <a:cs typeface="Arial"/>
              </a:rPr>
              <a:t>Linux</a:t>
            </a:r>
            <a:r>
              <a:rPr dirty="0" sz="2650" spc="-9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85" b="1">
                <a:solidFill>
                  <a:srgbClr val="0A0A0A"/>
                </a:solidFill>
                <a:latin typeface="Arial"/>
                <a:cs typeface="Arial"/>
              </a:rPr>
              <a:t>Kernel</a:t>
            </a:r>
            <a:endParaRPr sz="2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62438" y="7347248"/>
            <a:ext cx="2573655" cy="8528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682625" marR="5080" indent="-670560">
              <a:lnSpc>
                <a:spcPts val="3320"/>
              </a:lnSpc>
              <a:spcBef>
                <a:spcPts val="70"/>
              </a:spcBef>
            </a:pPr>
            <a:r>
              <a:rPr dirty="0" sz="2650" spc="-120" b="1">
                <a:solidFill>
                  <a:srgbClr val="0A0A0A"/>
                </a:solidFill>
                <a:latin typeface="Arial"/>
                <a:cs typeface="Arial"/>
              </a:rPr>
              <a:t>Kernel</a:t>
            </a:r>
            <a:r>
              <a:rPr dirty="0" sz="2650" spc="-19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170" b="1">
                <a:solidFill>
                  <a:srgbClr val="0A0A0A"/>
                </a:solidFill>
                <a:latin typeface="Arial"/>
                <a:cs typeface="Arial"/>
              </a:rPr>
              <a:t>Log</a:t>
            </a:r>
            <a:r>
              <a:rPr dirty="0" sz="2650" spc="-27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114" b="1">
                <a:solidFill>
                  <a:srgbClr val="0A0A0A"/>
                </a:solidFill>
                <a:latin typeface="Arial"/>
                <a:cs typeface="Arial"/>
              </a:rPr>
              <a:t>Buffer </a:t>
            </a:r>
            <a:r>
              <a:rPr dirty="0" sz="2650" spc="-10" b="1">
                <a:solidFill>
                  <a:srgbClr val="0A0A0A"/>
                </a:solidFill>
                <a:latin typeface="Arial"/>
                <a:cs typeface="Arial"/>
              </a:rPr>
              <a:t>(dmesg)</a:t>
            </a:r>
            <a:endParaRPr sz="2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706492" y="7347248"/>
            <a:ext cx="2293620" cy="85280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516255" marR="5080" indent="-504190">
              <a:lnSpc>
                <a:spcPts val="3320"/>
              </a:lnSpc>
              <a:spcBef>
                <a:spcPts val="70"/>
              </a:spcBef>
            </a:pPr>
            <a:r>
              <a:rPr dirty="0" sz="2650" spc="-185" b="1">
                <a:solidFill>
                  <a:srgbClr val="0A0A0A"/>
                </a:solidFill>
                <a:latin typeface="Arial"/>
                <a:cs typeface="Arial"/>
              </a:rPr>
              <a:t>Syslog</a:t>
            </a:r>
            <a:r>
              <a:rPr dirty="0" sz="2650" spc="-140" b="1">
                <a:solidFill>
                  <a:srgbClr val="0A0A0A"/>
                </a:solidFill>
                <a:latin typeface="Arial"/>
                <a:cs typeface="Arial"/>
              </a:rPr>
              <a:t> Daemon </a:t>
            </a:r>
            <a:r>
              <a:rPr dirty="0" sz="2650" spc="-55" b="1">
                <a:solidFill>
                  <a:srgbClr val="0A0A0A"/>
                </a:solidFill>
                <a:latin typeface="Arial"/>
                <a:cs typeface="Arial"/>
              </a:rPr>
              <a:t>(rsyslog)</a:t>
            </a:r>
            <a:endParaRPr sz="26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478820" y="6791852"/>
            <a:ext cx="318770" cy="0"/>
          </a:xfrm>
          <a:custGeom>
            <a:avLst/>
            <a:gdLst/>
            <a:ahLst/>
            <a:cxnLst/>
            <a:rect l="l" t="t" r="r" b="b"/>
            <a:pathLst>
              <a:path w="318769" h="0">
                <a:moveTo>
                  <a:pt x="0" y="0"/>
                </a:moveTo>
                <a:lnTo>
                  <a:pt x="318422" y="0"/>
                </a:lnTo>
              </a:path>
            </a:pathLst>
          </a:custGeom>
          <a:ln w="12766">
            <a:solidFill>
              <a:srgbClr val="0C2B4B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14386349" y="5496088"/>
          <a:ext cx="1503045" cy="1327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8110"/>
              </a:tblGrid>
              <a:tr h="191135">
                <a:tc>
                  <a:txBody>
                    <a:bodyPr/>
                    <a:lstStyle/>
                    <a:p>
                      <a:pPr marL="90805">
                        <a:lnSpc>
                          <a:spcPts val="1410"/>
                        </a:lnSpc>
                      </a:pPr>
                      <a:r>
                        <a:rPr dirty="0" sz="1600" spc="-80">
                          <a:solidFill>
                            <a:srgbClr val="38495B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dirty="0" sz="1600" spc="-135">
                          <a:solidFill>
                            <a:srgbClr val="38495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solidFill>
                            <a:srgbClr val="38495B"/>
                          </a:solidFill>
                          <a:latin typeface="Arial"/>
                          <a:cs typeface="Arial"/>
                        </a:rPr>
                        <a:t>••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6015">
                <a:tc>
                  <a:txBody>
                    <a:bodyPr/>
                    <a:lstStyle/>
                    <a:p>
                      <a:pPr marL="116839">
                        <a:lnSpc>
                          <a:spcPts val="3954"/>
                        </a:lnSpc>
                      </a:pPr>
                      <a:r>
                        <a:rPr dirty="0" sz="4500" spc="-450" b="1" i="1">
                          <a:solidFill>
                            <a:srgbClr val="0C2B4B"/>
                          </a:solidFill>
                          <a:latin typeface="Times New Roman"/>
                          <a:cs typeface="Times New Roman"/>
                        </a:rPr>
                        <a:t>@N</a:t>
                      </a:r>
                      <a:endParaRPr sz="45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ts val="4890"/>
                        </a:lnSpc>
                        <a:tabLst>
                          <a:tab pos="628650" algn="l"/>
                        </a:tabLst>
                      </a:pPr>
                      <a:r>
                        <a:rPr dirty="0" sz="3600" spc="-25" i="1">
                          <a:solidFill>
                            <a:srgbClr val="0C2B4B"/>
                          </a:solidFill>
                          <a:latin typeface="Arial"/>
                          <a:cs typeface="Arial"/>
                        </a:rPr>
                        <a:t>=-</a:t>
                      </a:r>
                      <a:r>
                        <a:rPr dirty="0" sz="3600" i="1">
                          <a:solidFill>
                            <a:srgbClr val="0C2B4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450" spc="-1025">
                          <a:solidFill>
                            <a:srgbClr val="0C2B4B"/>
                          </a:solidFill>
                          <a:latin typeface="Arial"/>
                          <a:cs typeface="Arial"/>
                        </a:rPr>
                        <a:t>nI1Il</a:t>
                      </a:r>
                      <a:endParaRPr sz="5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41" name="object 41"/>
          <p:cNvSpPr txBox="1"/>
          <p:nvPr/>
        </p:nvSpPr>
        <p:spPr>
          <a:xfrm>
            <a:off x="13917903" y="7319862"/>
            <a:ext cx="2364740" cy="80264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330"/>
              </a:spcBef>
            </a:pPr>
            <a:r>
              <a:rPr dirty="0" sz="2650" spc="-215" b="1">
                <a:solidFill>
                  <a:srgbClr val="0A0A0A"/>
                </a:solidFill>
                <a:latin typeface="Arial"/>
                <a:cs typeface="Arial"/>
              </a:rPr>
              <a:t>SIEM</a:t>
            </a:r>
            <a:r>
              <a:rPr dirty="0" sz="2650" spc="-16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0A0A0A"/>
                </a:solidFill>
                <a:latin typeface="Arial"/>
                <a:cs typeface="Arial"/>
              </a:rPr>
              <a:t>Platform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2100" spc="-60">
                <a:solidFill>
                  <a:srgbClr val="232628"/>
                </a:solidFill>
                <a:latin typeface="Arial"/>
                <a:cs typeface="Arial"/>
              </a:rPr>
              <a:t>(e.g.,</a:t>
            </a:r>
            <a:r>
              <a:rPr dirty="0" sz="2100" spc="-31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232628"/>
                </a:solidFill>
                <a:latin typeface="Arial"/>
                <a:cs typeface="Arial"/>
              </a:rPr>
              <a:t>Splunk,</a:t>
            </a:r>
            <a:r>
              <a:rPr dirty="0" sz="2100" spc="-15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232628"/>
                </a:solidFill>
                <a:latin typeface="Arial"/>
                <a:cs typeface="Arial"/>
              </a:rPr>
              <a:t>Elastic)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2638" y="4238623"/>
            <a:ext cx="0" cy="2195830"/>
          </a:xfrm>
          <a:custGeom>
            <a:avLst/>
            <a:gdLst/>
            <a:ahLst/>
            <a:cxnLst/>
            <a:rect l="l" t="t" r="r" b="b"/>
            <a:pathLst>
              <a:path w="0" h="2195829">
                <a:moveTo>
                  <a:pt x="0" y="219577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0848" y="6817384"/>
            <a:ext cx="0" cy="1991995"/>
          </a:xfrm>
          <a:custGeom>
            <a:avLst/>
            <a:gdLst/>
            <a:ahLst/>
            <a:cxnLst/>
            <a:rect l="l" t="t" r="r" b="b"/>
            <a:pathLst>
              <a:path w="0" h="1991995">
                <a:moveTo>
                  <a:pt x="0" y="1991518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69901" y="4238623"/>
            <a:ext cx="15386685" cy="2195830"/>
            <a:chOff x="1069901" y="4238623"/>
            <a:chExt cx="15386685" cy="2195830"/>
          </a:xfrm>
        </p:grpSpPr>
        <p:sp>
          <p:nvSpPr>
            <p:cNvPr id="5" name="object 5"/>
            <p:cNvSpPr/>
            <p:nvPr/>
          </p:nvSpPr>
          <p:spPr>
            <a:xfrm>
              <a:off x="16417888" y="4238623"/>
              <a:ext cx="0" cy="2195830"/>
            </a:xfrm>
            <a:custGeom>
              <a:avLst/>
              <a:gdLst/>
              <a:ahLst/>
              <a:cxnLst/>
              <a:rect l="l" t="t" r="r" b="b"/>
              <a:pathLst>
                <a:path w="0" h="2195829">
                  <a:moveTo>
                    <a:pt x="0" y="2195776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9901" y="4251389"/>
              <a:ext cx="15386685" cy="2145030"/>
            </a:xfrm>
            <a:custGeom>
              <a:avLst/>
              <a:gdLst/>
              <a:ahLst/>
              <a:cxnLst/>
              <a:rect l="l" t="t" r="r" b="b"/>
              <a:pathLst>
                <a:path w="15386685" h="2145029">
                  <a:moveTo>
                    <a:pt x="0" y="0"/>
                  </a:moveTo>
                  <a:lnTo>
                    <a:pt x="15386198" y="0"/>
                  </a:lnTo>
                </a:path>
                <a:path w="15386685" h="2145029">
                  <a:moveTo>
                    <a:pt x="0" y="2144711"/>
                  </a:moveTo>
                  <a:lnTo>
                    <a:pt x="15386198" y="2144711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63053" y="874811"/>
            <a:ext cx="12471400" cy="7689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850" spc="95">
                <a:solidFill>
                  <a:srgbClr val="212326"/>
                </a:solidFill>
              </a:rPr>
              <a:t>Deploying</a:t>
            </a:r>
            <a:r>
              <a:rPr dirty="0" sz="4850" spc="85">
                <a:solidFill>
                  <a:srgbClr val="212326"/>
                </a:solidFill>
              </a:rPr>
              <a:t> </a:t>
            </a:r>
            <a:r>
              <a:rPr dirty="0" sz="4850" spc="-55">
                <a:solidFill>
                  <a:srgbClr val="212326"/>
                </a:solidFill>
              </a:rPr>
              <a:t>LKRG</a:t>
            </a:r>
            <a:r>
              <a:rPr dirty="0" sz="4850" spc="-200">
                <a:solidFill>
                  <a:srgbClr val="212326"/>
                </a:solidFill>
              </a:rPr>
              <a:t> </a:t>
            </a:r>
            <a:r>
              <a:rPr dirty="0" sz="4850" spc="265">
                <a:solidFill>
                  <a:srgbClr val="212326"/>
                </a:solidFill>
              </a:rPr>
              <a:t>as</a:t>
            </a:r>
            <a:r>
              <a:rPr dirty="0" sz="4850" spc="-380">
                <a:solidFill>
                  <a:srgbClr val="212326"/>
                </a:solidFill>
              </a:rPr>
              <a:t> </a:t>
            </a:r>
            <a:r>
              <a:rPr dirty="0" sz="4850" spc="215">
                <a:solidFill>
                  <a:srgbClr val="212326"/>
                </a:solidFill>
              </a:rPr>
              <a:t>a</a:t>
            </a:r>
            <a:r>
              <a:rPr dirty="0" sz="4850" spc="-240">
                <a:solidFill>
                  <a:srgbClr val="212326"/>
                </a:solidFill>
              </a:rPr>
              <a:t> </a:t>
            </a:r>
            <a:r>
              <a:rPr dirty="0" sz="4850" spc="130">
                <a:solidFill>
                  <a:srgbClr val="212326"/>
                </a:solidFill>
              </a:rPr>
              <a:t>Pure</a:t>
            </a:r>
            <a:r>
              <a:rPr dirty="0" sz="4850" spc="-180">
                <a:solidFill>
                  <a:srgbClr val="212326"/>
                </a:solidFill>
              </a:rPr>
              <a:t> </a:t>
            </a:r>
            <a:r>
              <a:rPr dirty="0" sz="4850" spc="95">
                <a:solidFill>
                  <a:srgbClr val="212326"/>
                </a:solidFill>
              </a:rPr>
              <a:t>Kernel</a:t>
            </a:r>
            <a:r>
              <a:rPr dirty="0" sz="4850" spc="-30">
                <a:solidFill>
                  <a:srgbClr val="212326"/>
                </a:solidFill>
              </a:rPr>
              <a:t> </a:t>
            </a:r>
            <a:r>
              <a:rPr dirty="0" sz="4850" spc="65">
                <a:solidFill>
                  <a:srgbClr val="212326"/>
                </a:solidFill>
              </a:rPr>
              <a:t>Sensor</a:t>
            </a:r>
            <a:endParaRPr sz="4850"/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8" name="object 8"/>
          <p:cNvSpPr txBox="1"/>
          <p:nvPr/>
        </p:nvSpPr>
        <p:spPr>
          <a:xfrm>
            <a:off x="1062703" y="2056956"/>
            <a:ext cx="15342869" cy="6614159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263525" indent="8255">
              <a:lnSpc>
                <a:spcPct val="107400"/>
              </a:lnSpc>
              <a:spcBef>
                <a:spcPts val="45"/>
              </a:spcBef>
            </a:pPr>
            <a:r>
              <a:rPr dirty="0" sz="3550" spc="-150">
                <a:solidFill>
                  <a:srgbClr val="050707"/>
                </a:solidFill>
                <a:latin typeface="Arial"/>
                <a:cs typeface="Arial"/>
              </a:rPr>
              <a:t>For</a:t>
            </a:r>
            <a:r>
              <a:rPr dirty="0" sz="3550" spc="-18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150">
                <a:solidFill>
                  <a:srgbClr val="050707"/>
                </a:solidFill>
                <a:latin typeface="Arial"/>
                <a:cs typeface="Arial"/>
              </a:rPr>
              <a:t>seamless</a:t>
            </a:r>
            <a:r>
              <a:rPr dirty="0" sz="3550" spc="-18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10">
                <a:solidFill>
                  <a:srgbClr val="050707"/>
                </a:solidFill>
                <a:latin typeface="Arial"/>
                <a:cs typeface="Arial"/>
              </a:rPr>
              <a:t>integration</a:t>
            </a:r>
            <a:r>
              <a:rPr dirty="0" sz="3550" spc="-7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80">
                <a:solidFill>
                  <a:srgbClr val="050707"/>
                </a:solidFill>
                <a:latin typeface="Arial"/>
                <a:cs typeface="Arial"/>
              </a:rPr>
              <a:t>into</a:t>
            </a:r>
            <a:r>
              <a:rPr dirty="0" sz="3550" spc="-22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165">
                <a:solidFill>
                  <a:srgbClr val="050707"/>
                </a:solidFill>
                <a:latin typeface="Arial"/>
                <a:cs typeface="Arial"/>
              </a:rPr>
              <a:t>a</a:t>
            </a:r>
            <a:r>
              <a:rPr dirty="0" sz="3550" spc="-26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30">
                <a:solidFill>
                  <a:srgbClr val="050707"/>
                </a:solidFill>
                <a:latin typeface="Arial"/>
                <a:cs typeface="Arial"/>
              </a:rPr>
              <a:t>security</a:t>
            </a:r>
            <a:r>
              <a:rPr dirty="0" sz="3550" spc="-5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monitoring</a:t>
            </a:r>
            <a:r>
              <a:rPr dirty="0" sz="3550" spc="-34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30">
                <a:solidFill>
                  <a:srgbClr val="050707"/>
                </a:solidFill>
                <a:latin typeface="Arial"/>
                <a:cs typeface="Arial"/>
              </a:rPr>
              <a:t>setup,</a:t>
            </a:r>
            <a:r>
              <a:rPr dirty="0" sz="3550" spc="-38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415">
                <a:solidFill>
                  <a:srgbClr val="050707"/>
                </a:solidFill>
                <a:latin typeface="Arial"/>
                <a:cs typeface="Arial"/>
              </a:rPr>
              <a:t>LKRG</a:t>
            </a:r>
            <a:r>
              <a:rPr dirty="0" sz="3550" spc="-6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125">
                <a:solidFill>
                  <a:srgbClr val="050707"/>
                </a:solidFill>
                <a:latin typeface="Arial"/>
                <a:cs typeface="Arial"/>
              </a:rPr>
              <a:t>can</a:t>
            </a:r>
            <a:r>
              <a:rPr dirty="0" sz="3550" spc="-24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30">
                <a:solidFill>
                  <a:srgbClr val="050707"/>
                </a:solidFill>
                <a:latin typeface="Arial"/>
                <a:cs typeface="Arial"/>
              </a:rPr>
              <a:t>be</a:t>
            </a:r>
            <a:r>
              <a:rPr dirty="0" sz="3550" spc="-27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run</a:t>
            </a:r>
            <a:r>
              <a:rPr dirty="0" sz="3550" spc="-35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in</a:t>
            </a:r>
            <a:r>
              <a:rPr dirty="0" sz="3550" spc="-5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330">
                <a:solidFill>
                  <a:srgbClr val="050707"/>
                </a:solidFill>
                <a:latin typeface="Arial"/>
                <a:cs typeface="Arial"/>
              </a:rPr>
              <a:t>a </a:t>
            </a:r>
            <a:r>
              <a:rPr dirty="0" sz="3550" spc="-20">
                <a:solidFill>
                  <a:srgbClr val="050707"/>
                </a:solidFill>
                <a:latin typeface="Arial"/>
                <a:cs typeface="Arial"/>
              </a:rPr>
              <a:t>log-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only</a:t>
            </a:r>
            <a:r>
              <a:rPr dirty="0" sz="3550" spc="-8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140">
                <a:solidFill>
                  <a:srgbClr val="050707"/>
                </a:solidFill>
                <a:latin typeface="Arial"/>
                <a:cs typeface="Arial"/>
              </a:rPr>
              <a:t>"sensor</a:t>
            </a:r>
            <a:r>
              <a:rPr dirty="0" sz="3550" spc="-6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85">
                <a:solidFill>
                  <a:srgbClr val="050707"/>
                </a:solidFill>
                <a:latin typeface="Arial"/>
                <a:cs typeface="Arial"/>
              </a:rPr>
              <a:t>mode."</a:t>
            </a:r>
            <a:r>
              <a:rPr dirty="0" sz="3550" spc="-21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100">
                <a:solidFill>
                  <a:srgbClr val="050707"/>
                </a:solidFill>
                <a:latin typeface="Arial"/>
                <a:cs typeface="Arial"/>
              </a:rPr>
              <a:t>In</a:t>
            </a:r>
            <a:r>
              <a:rPr dirty="0" sz="3550" spc="-34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this</a:t>
            </a:r>
            <a:r>
              <a:rPr dirty="0" sz="3550" spc="-32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profile,</a:t>
            </a:r>
            <a:r>
              <a:rPr dirty="0" sz="3550" spc="-40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all</a:t>
            </a:r>
            <a:r>
              <a:rPr dirty="0" sz="3550" spc="-15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30">
                <a:solidFill>
                  <a:srgbClr val="050707"/>
                </a:solidFill>
                <a:latin typeface="Arial"/>
                <a:cs typeface="Arial"/>
              </a:rPr>
              <a:t>detections</a:t>
            </a:r>
            <a:r>
              <a:rPr dirty="0" sz="3550" spc="-10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95">
                <a:solidFill>
                  <a:srgbClr val="050707"/>
                </a:solidFill>
                <a:latin typeface="Arial"/>
                <a:cs typeface="Arial"/>
              </a:rPr>
              <a:t>are</a:t>
            </a:r>
            <a:r>
              <a:rPr dirty="0" sz="3550" spc="-22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90">
                <a:solidFill>
                  <a:srgbClr val="050707"/>
                </a:solidFill>
                <a:latin typeface="Arial"/>
                <a:cs typeface="Arial"/>
              </a:rPr>
              <a:t>logged</a:t>
            </a:r>
            <a:r>
              <a:rPr dirty="0" sz="3550" spc="-6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for</a:t>
            </a:r>
            <a:r>
              <a:rPr dirty="0" sz="3550" spc="-12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105">
                <a:solidFill>
                  <a:srgbClr val="050707"/>
                </a:solidFill>
                <a:latin typeface="Arial"/>
                <a:cs typeface="Arial"/>
              </a:rPr>
              <a:t>analysis</a:t>
            </a:r>
            <a:r>
              <a:rPr dirty="0" sz="3550" spc="-204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80">
                <a:solidFill>
                  <a:srgbClr val="050707"/>
                </a:solidFill>
                <a:latin typeface="Arial"/>
                <a:cs typeface="Arial"/>
              </a:rPr>
              <a:t>in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your</a:t>
            </a:r>
            <a:r>
              <a:rPr dirty="0" sz="3550" spc="-27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260">
                <a:solidFill>
                  <a:srgbClr val="050707"/>
                </a:solidFill>
                <a:latin typeface="Arial"/>
                <a:cs typeface="Arial"/>
              </a:rPr>
              <a:t>SIEM,</a:t>
            </a:r>
            <a:r>
              <a:rPr dirty="0" sz="3550" spc="-254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110">
                <a:solidFill>
                  <a:srgbClr val="050707"/>
                </a:solidFill>
                <a:latin typeface="Arial"/>
                <a:cs typeface="Arial"/>
              </a:rPr>
              <a:t>but</a:t>
            </a:r>
            <a:r>
              <a:rPr dirty="0" sz="3550" spc="-26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75">
                <a:solidFill>
                  <a:srgbClr val="050707"/>
                </a:solidFill>
                <a:latin typeface="Arial"/>
                <a:cs typeface="Arial"/>
              </a:rPr>
              <a:t>no</a:t>
            </a:r>
            <a:r>
              <a:rPr dirty="0" sz="3550" spc="-39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enforcement</a:t>
            </a:r>
            <a:r>
              <a:rPr dirty="0" sz="3550" spc="-10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20">
                <a:solidFill>
                  <a:srgbClr val="050707"/>
                </a:solidFill>
                <a:latin typeface="Arial"/>
                <a:cs typeface="Arial"/>
              </a:rPr>
              <a:t>actions</a:t>
            </a:r>
            <a:r>
              <a:rPr dirty="0" sz="3550" spc="-229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60">
                <a:solidFill>
                  <a:srgbClr val="050707"/>
                </a:solidFill>
                <a:latin typeface="Arial"/>
                <a:cs typeface="Arial"/>
              </a:rPr>
              <a:t>are</a:t>
            </a:r>
            <a:r>
              <a:rPr dirty="0" sz="3550" spc="-29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30">
                <a:solidFill>
                  <a:srgbClr val="050707"/>
                </a:solidFill>
                <a:latin typeface="Arial"/>
                <a:cs typeface="Arial"/>
              </a:rPr>
              <a:t>taken</a:t>
            </a:r>
            <a:r>
              <a:rPr dirty="0" sz="3550" spc="-17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75">
                <a:solidFill>
                  <a:srgbClr val="050707"/>
                </a:solidFill>
                <a:latin typeface="Arial"/>
                <a:cs typeface="Arial"/>
              </a:rPr>
              <a:t>on</a:t>
            </a:r>
            <a:r>
              <a:rPr dirty="0" sz="3550" spc="-33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60">
                <a:solidFill>
                  <a:srgbClr val="050707"/>
                </a:solidFill>
                <a:latin typeface="Arial"/>
                <a:cs typeface="Arial"/>
              </a:rPr>
              <a:t>the</a:t>
            </a:r>
            <a:r>
              <a:rPr dirty="0" sz="3550" spc="-29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10">
                <a:solidFill>
                  <a:srgbClr val="050707"/>
                </a:solidFill>
                <a:latin typeface="Arial"/>
                <a:cs typeface="Arial"/>
              </a:rPr>
              <a:t>host.</a:t>
            </a:r>
            <a:endParaRPr sz="3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3550">
              <a:latin typeface="Arial"/>
              <a:cs typeface="Arial"/>
            </a:endParaRPr>
          </a:p>
          <a:p>
            <a:pPr marL="304800">
              <a:lnSpc>
                <a:spcPts val="4190"/>
              </a:lnSpc>
            </a:pPr>
            <a:r>
              <a:rPr dirty="0" sz="2850">
                <a:solidFill>
                  <a:srgbClr val="050707"/>
                </a:solidFill>
                <a:latin typeface="Courier New"/>
                <a:cs typeface="Courier New"/>
              </a:rPr>
              <a:t>#</a:t>
            </a:r>
            <a:r>
              <a:rPr dirty="0" sz="2850" spc="9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130">
                <a:solidFill>
                  <a:srgbClr val="050707"/>
                </a:solidFill>
                <a:latin typeface="Courier New"/>
                <a:cs typeface="Courier New"/>
              </a:rPr>
              <a:t>To</a:t>
            </a:r>
            <a:r>
              <a:rPr dirty="0" sz="3550" spc="-50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305">
                <a:solidFill>
                  <a:srgbClr val="050707"/>
                </a:solidFill>
                <a:latin typeface="Courier New"/>
                <a:cs typeface="Courier New"/>
              </a:rPr>
              <a:t>enable</a:t>
            </a:r>
            <a:r>
              <a:rPr dirty="0" sz="3550" spc="-34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325">
                <a:solidFill>
                  <a:srgbClr val="050707"/>
                </a:solidFill>
                <a:latin typeface="Courier New"/>
                <a:cs typeface="Courier New"/>
              </a:rPr>
              <a:t>sensor-only</a:t>
            </a:r>
            <a:r>
              <a:rPr dirty="0" sz="3550" spc="19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335">
                <a:solidFill>
                  <a:srgbClr val="050707"/>
                </a:solidFill>
                <a:latin typeface="Courier New"/>
                <a:cs typeface="Courier New"/>
              </a:rPr>
              <a:t>mode:</a:t>
            </a:r>
            <a:endParaRPr sz="3550">
              <a:latin typeface="Courier New"/>
              <a:cs typeface="Courier New"/>
            </a:endParaRPr>
          </a:p>
          <a:p>
            <a:pPr marL="297180" marR="1155065" indent="7620">
              <a:lnSpc>
                <a:spcPts val="4120"/>
              </a:lnSpc>
              <a:spcBef>
                <a:spcPts val="185"/>
              </a:spcBef>
            </a:pPr>
            <a:r>
              <a:rPr dirty="0" sz="2850" spc="-260">
                <a:solidFill>
                  <a:srgbClr val="212326"/>
                </a:solidFill>
                <a:latin typeface="Courier New"/>
                <a:cs typeface="Courier New"/>
              </a:rPr>
              <a:t>#</a:t>
            </a:r>
            <a:r>
              <a:rPr dirty="0" sz="2850" spc="390">
                <a:solidFill>
                  <a:srgbClr val="212326"/>
                </a:solidFill>
                <a:latin typeface="Courier New"/>
                <a:cs typeface="Courier New"/>
              </a:rPr>
              <a:t> </a:t>
            </a:r>
            <a:r>
              <a:rPr dirty="0" sz="3550" spc="-280">
                <a:solidFill>
                  <a:srgbClr val="050707"/>
                </a:solidFill>
                <a:latin typeface="Courier New"/>
                <a:cs typeface="Courier New"/>
              </a:rPr>
              <a:t>Set</a:t>
            </a:r>
            <a:r>
              <a:rPr dirty="0" sz="3550" spc="-320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260">
                <a:solidFill>
                  <a:srgbClr val="050707"/>
                </a:solidFill>
                <a:latin typeface="Courier New"/>
                <a:cs typeface="Courier New"/>
              </a:rPr>
              <a:t>the</a:t>
            </a:r>
            <a:r>
              <a:rPr dirty="0" sz="3550" spc="-47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325">
                <a:solidFill>
                  <a:srgbClr val="050707"/>
                </a:solidFill>
                <a:latin typeface="Courier New"/>
                <a:cs typeface="Courier New"/>
              </a:rPr>
              <a:t>following</a:t>
            </a:r>
            <a:r>
              <a:rPr dirty="0" sz="3550" spc="-90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305">
                <a:solidFill>
                  <a:srgbClr val="050707"/>
                </a:solidFill>
                <a:latin typeface="Courier New"/>
                <a:cs typeface="Courier New"/>
              </a:rPr>
              <a:t>kernel</a:t>
            </a:r>
            <a:r>
              <a:rPr dirty="0" sz="3550" spc="-8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345">
                <a:solidFill>
                  <a:srgbClr val="050707"/>
                </a:solidFill>
                <a:latin typeface="Courier New"/>
                <a:cs typeface="Courier New"/>
              </a:rPr>
              <a:t>parameter</a:t>
            </a:r>
            <a:r>
              <a:rPr dirty="0" sz="3550" spc="-19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95">
                <a:solidFill>
                  <a:srgbClr val="050707"/>
                </a:solidFill>
                <a:latin typeface="Courier New"/>
                <a:cs typeface="Courier New"/>
              </a:rPr>
              <a:t>at</a:t>
            </a:r>
            <a:r>
              <a:rPr dirty="0" sz="3550" spc="-254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345">
                <a:solidFill>
                  <a:srgbClr val="050707"/>
                </a:solidFill>
                <a:latin typeface="Courier New"/>
                <a:cs typeface="Courier New"/>
              </a:rPr>
              <a:t>boot</a:t>
            </a:r>
            <a:r>
              <a:rPr dirty="0" sz="3550" spc="-459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195">
                <a:solidFill>
                  <a:srgbClr val="050707"/>
                </a:solidFill>
                <a:latin typeface="Courier New"/>
                <a:cs typeface="Courier New"/>
              </a:rPr>
              <a:t>or</a:t>
            </a:r>
            <a:r>
              <a:rPr dirty="0" sz="3550" spc="-310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190">
                <a:solidFill>
                  <a:srgbClr val="212326"/>
                </a:solidFill>
                <a:latin typeface="Courier New"/>
                <a:cs typeface="Courier New"/>
              </a:rPr>
              <a:t>v</a:t>
            </a:r>
            <a:r>
              <a:rPr dirty="0" sz="3550" spc="-190">
                <a:solidFill>
                  <a:srgbClr val="050707"/>
                </a:solidFill>
                <a:latin typeface="Courier New"/>
                <a:cs typeface="Courier New"/>
              </a:rPr>
              <a:t>ia</a:t>
            </a:r>
            <a:r>
              <a:rPr dirty="0" sz="3550" spc="-855">
                <a:solidFill>
                  <a:srgbClr val="050707"/>
                </a:solidFill>
                <a:latin typeface="Courier New"/>
                <a:cs typeface="Courier New"/>
              </a:rPr>
              <a:t> </a:t>
            </a:r>
            <a:r>
              <a:rPr dirty="0" sz="3550" spc="-65">
                <a:solidFill>
                  <a:srgbClr val="212326"/>
                </a:solidFill>
                <a:latin typeface="Courier New"/>
                <a:cs typeface="Courier New"/>
              </a:rPr>
              <a:t>sy</a:t>
            </a:r>
            <a:r>
              <a:rPr dirty="0" sz="3550" spc="-65">
                <a:solidFill>
                  <a:srgbClr val="050707"/>
                </a:solidFill>
                <a:latin typeface="Courier New"/>
                <a:cs typeface="Courier New"/>
              </a:rPr>
              <a:t>sctl: </a:t>
            </a:r>
            <a:r>
              <a:rPr dirty="0" sz="3550" spc="-295">
                <a:solidFill>
                  <a:srgbClr val="050707"/>
                </a:solidFill>
                <a:latin typeface="Courier New"/>
                <a:cs typeface="Courier New"/>
              </a:rPr>
              <a:t>lkrg.profile_enforce=0</a:t>
            </a:r>
            <a:endParaRPr sz="3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310"/>
              </a:spcBef>
            </a:pPr>
            <a:endParaRPr sz="3550">
              <a:latin typeface="Courier New"/>
              <a:cs typeface="Courier New"/>
            </a:endParaRPr>
          </a:p>
          <a:p>
            <a:pPr algn="just" marL="534670" marR="471805" indent="7620">
              <a:lnSpc>
                <a:spcPct val="107000"/>
              </a:lnSpc>
            </a:pPr>
            <a:r>
              <a:rPr dirty="0" sz="3550" spc="-210">
                <a:solidFill>
                  <a:srgbClr val="050707"/>
                </a:solidFill>
                <a:latin typeface="Arial"/>
                <a:cs typeface="Arial"/>
              </a:rPr>
              <a:t>As</a:t>
            </a:r>
            <a:r>
              <a:rPr dirty="0" sz="3550" spc="-38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60">
                <a:solidFill>
                  <a:srgbClr val="050707"/>
                </a:solidFill>
                <a:latin typeface="Arial"/>
                <a:cs typeface="Arial"/>
              </a:rPr>
              <a:t>the</a:t>
            </a:r>
            <a:r>
              <a:rPr dirty="0" sz="3550" spc="-37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95">
                <a:solidFill>
                  <a:srgbClr val="050707"/>
                </a:solidFill>
                <a:latin typeface="Arial"/>
                <a:cs typeface="Arial"/>
              </a:rPr>
              <a:t>source</a:t>
            </a:r>
            <a:r>
              <a:rPr dirty="0" sz="3550" spc="-21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5">
                <a:solidFill>
                  <a:srgbClr val="050707"/>
                </a:solidFill>
                <a:latin typeface="Arial"/>
                <a:cs typeface="Arial"/>
              </a:rPr>
              <a:t>documentatio</a:t>
            </a:r>
            <a:r>
              <a:rPr dirty="0" sz="3550">
                <a:solidFill>
                  <a:srgbClr val="050707"/>
                </a:solidFill>
                <a:latin typeface="Arial"/>
                <a:cs typeface="Arial"/>
              </a:rPr>
              <a:t>n</a:t>
            </a:r>
            <a:r>
              <a:rPr dirty="0" sz="3550" spc="4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65">
                <a:solidFill>
                  <a:srgbClr val="050707"/>
                </a:solidFill>
                <a:latin typeface="Arial"/>
                <a:cs typeface="Arial"/>
              </a:rPr>
              <a:t>states,</a:t>
            </a:r>
            <a:r>
              <a:rPr dirty="0" sz="3550" spc="-35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65">
                <a:solidFill>
                  <a:srgbClr val="050707"/>
                </a:solidFill>
                <a:latin typeface="Arial"/>
                <a:cs typeface="Arial"/>
              </a:rPr>
              <a:t>this</a:t>
            </a:r>
            <a:r>
              <a:rPr dirty="0" sz="3550" spc="-365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50" spc="-30">
                <a:solidFill>
                  <a:srgbClr val="050707"/>
                </a:solidFill>
                <a:latin typeface="Arial"/>
                <a:cs typeface="Arial"/>
              </a:rPr>
              <a:t>is</a:t>
            </a:r>
            <a:r>
              <a:rPr dirty="0" sz="3550" spc="-42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45" i="1">
                <a:solidFill>
                  <a:srgbClr val="212326"/>
                </a:solidFill>
                <a:latin typeface="Arial"/>
                <a:cs typeface="Arial"/>
              </a:rPr>
              <a:t>'</a:t>
            </a:r>
            <a:r>
              <a:rPr dirty="0" sz="3600" spc="-45" i="1">
                <a:solidFill>
                  <a:srgbClr val="050707"/>
                </a:solidFill>
                <a:latin typeface="Arial"/>
                <a:cs typeface="Arial"/>
              </a:rPr>
              <a:t>'useful</a:t>
            </a:r>
            <a:r>
              <a:rPr dirty="0" sz="3600" spc="-26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145" i="1">
                <a:solidFill>
                  <a:srgbClr val="050707"/>
                </a:solidFill>
                <a:latin typeface="Arial"/>
                <a:cs typeface="Arial"/>
              </a:rPr>
              <a:t>where</a:t>
            </a:r>
            <a:r>
              <a:rPr dirty="0" sz="3600" spc="-18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500" spc="-409" i="1">
                <a:solidFill>
                  <a:srgbClr val="050707"/>
                </a:solidFill>
                <a:latin typeface="Arial"/>
                <a:cs typeface="Arial"/>
              </a:rPr>
              <a:t>LKRG</a:t>
            </a:r>
            <a:r>
              <a:rPr dirty="0" sz="3500" spc="-24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80" i="1">
                <a:solidFill>
                  <a:srgbClr val="050707"/>
                </a:solidFill>
                <a:latin typeface="Arial"/>
                <a:cs typeface="Arial"/>
              </a:rPr>
              <a:t>is</a:t>
            </a:r>
            <a:r>
              <a:rPr dirty="0" sz="3600" spc="-35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65" i="1">
                <a:solidFill>
                  <a:srgbClr val="050707"/>
                </a:solidFill>
                <a:latin typeface="Arial"/>
                <a:cs typeface="Arial"/>
              </a:rPr>
              <a:t>meant</a:t>
            </a:r>
            <a:r>
              <a:rPr dirty="0" sz="3600" spc="-28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114" i="1">
                <a:solidFill>
                  <a:srgbClr val="050707"/>
                </a:solidFill>
                <a:latin typeface="Arial"/>
                <a:cs typeface="Arial"/>
              </a:rPr>
              <a:t>to</a:t>
            </a:r>
            <a:r>
              <a:rPr dirty="0" sz="3600" spc="7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5" i="1">
                <a:solidFill>
                  <a:srgbClr val="050707"/>
                </a:solidFill>
                <a:latin typeface="Arial"/>
                <a:cs typeface="Arial"/>
              </a:rPr>
              <a:t>ac</a:t>
            </a:r>
            <a:r>
              <a:rPr dirty="0" sz="3600" i="1">
                <a:solidFill>
                  <a:srgbClr val="050707"/>
                </a:solidFill>
                <a:latin typeface="Arial"/>
                <a:cs typeface="Arial"/>
              </a:rPr>
              <a:t>t</a:t>
            </a:r>
            <a:r>
              <a:rPr dirty="0" sz="3600" spc="-29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175" i="1">
                <a:solidFill>
                  <a:srgbClr val="050707"/>
                </a:solidFill>
                <a:latin typeface="Arial"/>
                <a:cs typeface="Arial"/>
              </a:rPr>
              <a:t>as</a:t>
            </a:r>
            <a:r>
              <a:rPr dirty="0" sz="3600" spc="-36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140" i="1">
                <a:solidFill>
                  <a:srgbClr val="050707"/>
                </a:solidFill>
                <a:latin typeface="Arial"/>
                <a:cs typeface="Arial"/>
              </a:rPr>
              <a:t>a</a:t>
            </a:r>
            <a:r>
              <a:rPr dirty="0" sz="3600" spc="-53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180" i="1">
                <a:solidFill>
                  <a:srgbClr val="050707"/>
                </a:solidFill>
                <a:latin typeface="Arial"/>
                <a:cs typeface="Arial"/>
              </a:rPr>
              <a:t>sensor</a:t>
            </a:r>
            <a:r>
              <a:rPr dirty="0" sz="3600" spc="-16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25" i="1">
                <a:solidFill>
                  <a:srgbClr val="050707"/>
                </a:solidFill>
                <a:latin typeface="Arial"/>
                <a:cs typeface="Arial"/>
              </a:rPr>
              <a:t>within</a:t>
            </a:r>
            <a:r>
              <a:rPr dirty="0" sz="3600" spc="-26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140" i="1">
                <a:solidFill>
                  <a:srgbClr val="050707"/>
                </a:solidFill>
                <a:latin typeface="Arial"/>
                <a:cs typeface="Arial"/>
              </a:rPr>
              <a:t>a</a:t>
            </a:r>
            <a:r>
              <a:rPr dirty="0" sz="3600" spc="-38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65" i="1">
                <a:solidFill>
                  <a:srgbClr val="050707"/>
                </a:solidFill>
                <a:latin typeface="Arial"/>
                <a:cs typeface="Arial"/>
              </a:rPr>
              <a:t>larger</a:t>
            </a:r>
            <a:r>
              <a:rPr dirty="0" sz="3600" spc="-28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95" i="1">
                <a:solidFill>
                  <a:srgbClr val="050707"/>
                </a:solidFill>
                <a:latin typeface="Arial"/>
                <a:cs typeface="Arial"/>
              </a:rPr>
              <a:t>security</a:t>
            </a:r>
            <a:r>
              <a:rPr dirty="0" sz="3600" spc="-3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55" i="1">
                <a:solidFill>
                  <a:srgbClr val="050707"/>
                </a:solidFill>
                <a:latin typeface="Arial"/>
                <a:cs typeface="Arial"/>
              </a:rPr>
              <a:t>monitoring</a:t>
            </a:r>
            <a:r>
              <a:rPr dirty="0" sz="3600" spc="-4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45" i="1">
                <a:solidFill>
                  <a:srgbClr val="050707"/>
                </a:solidFill>
                <a:latin typeface="Arial"/>
                <a:cs typeface="Arial"/>
              </a:rPr>
              <a:t>and</a:t>
            </a:r>
            <a:r>
              <a:rPr dirty="0" sz="3600" spc="-25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190" i="1">
                <a:solidFill>
                  <a:srgbClr val="050707"/>
                </a:solidFill>
                <a:latin typeface="Arial"/>
                <a:cs typeface="Arial"/>
              </a:rPr>
              <a:t>response</a:t>
            </a:r>
            <a:r>
              <a:rPr dirty="0" sz="3600" spc="-24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75" i="1">
                <a:solidFill>
                  <a:srgbClr val="050707"/>
                </a:solidFill>
                <a:latin typeface="Arial"/>
                <a:cs typeface="Arial"/>
              </a:rPr>
              <a:t>setup</a:t>
            </a:r>
            <a:r>
              <a:rPr dirty="0" sz="3600" spc="-310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114" i="1">
                <a:solidFill>
                  <a:srgbClr val="050707"/>
                </a:solidFill>
                <a:latin typeface="Arial"/>
                <a:cs typeface="Arial"/>
              </a:rPr>
              <a:t>(e.g.,</a:t>
            </a:r>
            <a:r>
              <a:rPr dirty="0" sz="3600" spc="-85" i="1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dirty="0" sz="3600" spc="-95" i="1">
                <a:solidFill>
                  <a:srgbClr val="050707"/>
                </a:solidFill>
                <a:latin typeface="Arial"/>
                <a:cs typeface="Arial"/>
              </a:rPr>
              <a:t>network-</a:t>
            </a:r>
            <a:r>
              <a:rPr dirty="0" sz="3600" spc="-85" i="1">
                <a:solidFill>
                  <a:srgbClr val="050707"/>
                </a:solidFill>
                <a:latin typeface="Arial"/>
                <a:cs typeface="Arial"/>
              </a:rPr>
              <a:t>wide)."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1485" y="3166268"/>
            <a:ext cx="1299165" cy="14042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6959" y="6128014"/>
            <a:ext cx="1222744" cy="12766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5827" y="4391818"/>
            <a:ext cx="1248217" cy="17106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91584" y="1991782"/>
            <a:ext cx="0" cy="6868795"/>
          </a:xfrm>
          <a:custGeom>
            <a:avLst/>
            <a:gdLst/>
            <a:ahLst/>
            <a:cxnLst/>
            <a:rect l="l" t="t" r="r" b="b"/>
            <a:pathLst>
              <a:path w="0" h="6868795">
                <a:moveTo>
                  <a:pt x="0" y="686818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92341" y="1991782"/>
            <a:ext cx="0" cy="6868795"/>
          </a:xfrm>
          <a:custGeom>
            <a:avLst/>
            <a:gdLst/>
            <a:ahLst/>
            <a:cxnLst/>
            <a:rect l="l" t="t" r="r" b="b"/>
            <a:pathLst>
              <a:path w="0" h="6868795">
                <a:moveTo>
                  <a:pt x="0" y="686818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92872" y="5591835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92872" y="3830107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18876" y="1991782"/>
            <a:ext cx="0" cy="6868795"/>
          </a:xfrm>
          <a:custGeom>
            <a:avLst/>
            <a:gdLst/>
            <a:ahLst/>
            <a:cxnLst/>
            <a:rect l="l" t="t" r="r" b="b"/>
            <a:pathLst>
              <a:path w="0" h="6868795">
                <a:moveTo>
                  <a:pt x="0" y="686818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05002" y="1991782"/>
            <a:ext cx="0" cy="6868795"/>
          </a:xfrm>
          <a:custGeom>
            <a:avLst/>
            <a:gdLst/>
            <a:ahLst/>
            <a:cxnLst/>
            <a:rect l="l" t="t" r="r" b="b"/>
            <a:pathLst>
              <a:path w="0" h="6868795">
                <a:moveTo>
                  <a:pt x="0" y="686818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680058" y="5796093"/>
            <a:ext cx="0" cy="2987675"/>
          </a:xfrm>
          <a:custGeom>
            <a:avLst/>
            <a:gdLst/>
            <a:ahLst/>
            <a:cxnLst/>
            <a:rect l="l" t="t" r="r" b="b"/>
            <a:pathLst>
              <a:path w="0" h="2987675">
                <a:moveTo>
                  <a:pt x="0" y="2987277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667321" y="2119444"/>
            <a:ext cx="0" cy="3013075"/>
          </a:xfrm>
          <a:custGeom>
            <a:avLst/>
            <a:gdLst/>
            <a:ahLst/>
            <a:cxnLst/>
            <a:rect l="l" t="t" r="r" b="b"/>
            <a:pathLst>
              <a:path w="0" h="3013075">
                <a:moveTo>
                  <a:pt x="0" y="3012809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596205" y="2119444"/>
            <a:ext cx="0" cy="6664325"/>
          </a:xfrm>
          <a:custGeom>
            <a:avLst/>
            <a:gdLst/>
            <a:ahLst/>
            <a:cxnLst/>
            <a:rect l="l" t="t" r="r" b="b"/>
            <a:pathLst>
              <a:path w="0" h="6664325">
                <a:moveTo>
                  <a:pt x="0" y="6663926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06140" y="2017315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59" h="0">
                <a:moveTo>
                  <a:pt x="0" y="0"/>
                </a:moveTo>
                <a:lnTo>
                  <a:pt x="333707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66110" y="2017315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 h="0">
                <a:moveTo>
                  <a:pt x="0" y="0"/>
                </a:moveTo>
                <a:lnTo>
                  <a:pt x="34644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756480" y="2055613"/>
            <a:ext cx="6903720" cy="0"/>
          </a:xfrm>
          <a:custGeom>
            <a:avLst/>
            <a:gdLst/>
            <a:ahLst/>
            <a:cxnLst/>
            <a:rect l="l" t="t" r="r" b="b"/>
            <a:pathLst>
              <a:path w="6903719" h="0">
                <a:moveTo>
                  <a:pt x="0" y="0"/>
                </a:moveTo>
                <a:lnTo>
                  <a:pt x="6903410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62546" y="3868405"/>
            <a:ext cx="1681480" cy="0"/>
          </a:xfrm>
          <a:custGeom>
            <a:avLst/>
            <a:gdLst/>
            <a:ahLst/>
            <a:cxnLst/>
            <a:rect l="l" t="t" r="r" b="b"/>
            <a:pathLst>
              <a:path w="1681479" h="0">
                <a:moveTo>
                  <a:pt x="0" y="0"/>
                </a:moveTo>
                <a:lnTo>
                  <a:pt x="1681273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67398" y="4979060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10" h="0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67398" y="5630133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10" h="0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62546" y="6740787"/>
            <a:ext cx="1681480" cy="0"/>
          </a:xfrm>
          <a:custGeom>
            <a:avLst/>
            <a:gdLst/>
            <a:ahLst/>
            <a:cxnLst/>
            <a:rect l="l" t="t" r="r" b="b"/>
            <a:pathLst>
              <a:path w="1681479" h="0">
                <a:moveTo>
                  <a:pt x="0" y="0"/>
                </a:moveTo>
                <a:lnTo>
                  <a:pt x="1681273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756480" y="8732305"/>
            <a:ext cx="6776084" cy="0"/>
          </a:xfrm>
          <a:custGeom>
            <a:avLst/>
            <a:gdLst/>
            <a:ahLst/>
            <a:cxnLst/>
            <a:rect l="l" t="t" r="r" b="b"/>
            <a:pathLst>
              <a:path w="6776084" h="0">
                <a:moveTo>
                  <a:pt x="0" y="0"/>
                </a:moveTo>
                <a:lnTo>
                  <a:pt x="6776041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06140" y="8821668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59" h="0">
                <a:moveTo>
                  <a:pt x="0" y="0"/>
                </a:moveTo>
                <a:lnTo>
                  <a:pt x="333707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66110" y="8821668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 h="0">
                <a:moveTo>
                  <a:pt x="0" y="0"/>
                </a:moveTo>
                <a:lnTo>
                  <a:pt x="346444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125"/>
              </a:spcBef>
            </a:pPr>
            <a:r>
              <a:rPr dirty="0" sz="5050" spc="-10">
                <a:solidFill>
                  <a:srgbClr val="24282A"/>
                </a:solidFill>
              </a:rPr>
              <a:t>The</a:t>
            </a:r>
            <a:r>
              <a:rPr dirty="0" sz="5050" spc="-620">
                <a:solidFill>
                  <a:srgbClr val="24282A"/>
                </a:solidFill>
              </a:rPr>
              <a:t> </a:t>
            </a:r>
            <a:r>
              <a:rPr dirty="0" sz="5050" spc="-165">
                <a:solidFill>
                  <a:srgbClr val="24282A"/>
                </a:solidFill>
              </a:rPr>
              <a:t>Power</a:t>
            </a:r>
            <a:r>
              <a:rPr dirty="0" sz="5050" spc="-204">
                <a:solidFill>
                  <a:srgbClr val="24282A"/>
                </a:solidFill>
              </a:rPr>
              <a:t> </a:t>
            </a:r>
            <a:r>
              <a:rPr dirty="0" sz="5050" spc="-55">
                <a:solidFill>
                  <a:srgbClr val="24282A"/>
                </a:solidFill>
              </a:rPr>
              <a:t>of</a:t>
            </a:r>
            <a:r>
              <a:rPr dirty="0" sz="5050" spc="-390">
                <a:solidFill>
                  <a:srgbClr val="24282A"/>
                </a:solidFill>
              </a:rPr>
              <a:t> </a:t>
            </a:r>
            <a:r>
              <a:rPr dirty="0" sz="5050" spc="-175">
                <a:solidFill>
                  <a:srgbClr val="24282A"/>
                </a:solidFill>
              </a:rPr>
              <a:t>Correlation:</a:t>
            </a:r>
            <a:r>
              <a:rPr dirty="0" sz="5050" spc="-155">
                <a:solidFill>
                  <a:srgbClr val="24282A"/>
                </a:solidFill>
              </a:rPr>
              <a:t> </a:t>
            </a:r>
            <a:r>
              <a:rPr dirty="0" sz="5050">
                <a:solidFill>
                  <a:srgbClr val="24282A"/>
                </a:solidFill>
              </a:rPr>
              <a:t>A</a:t>
            </a:r>
            <a:r>
              <a:rPr dirty="0" sz="5050" spc="-605">
                <a:solidFill>
                  <a:srgbClr val="24282A"/>
                </a:solidFill>
              </a:rPr>
              <a:t> </a:t>
            </a:r>
            <a:r>
              <a:rPr dirty="0" sz="5050" spc="-120">
                <a:solidFill>
                  <a:srgbClr val="24282A"/>
                </a:solidFill>
              </a:rPr>
              <a:t>Unified</a:t>
            </a:r>
            <a:r>
              <a:rPr dirty="0" sz="5050" spc="-135">
                <a:solidFill>
                  <a:srgbClr val="24282A"/>
                </a:solidFill>
              </a:rPr>
              <a:t> </a:t>
            </a:r>
            <a:r>
              <a:rPr dirty="0" sz="5050" spc="-40">
                <a:solidFill>
                  <a:srgbClr val="24282A"/>
                </a:solidFill>
              </a:rPr>
              <a:t>View</a:t>
            </a:r>
            <a:r>
              <a:rPr dirty="0" sz="5050" spc="-365">
                <a:solidFill>
                  <a:srgbClr val="24282A"/>
                </a:solidFill>
              </a:rPr>
              <a:t> </a:t>
            </a:r>
            <a:r>
              <a:rPr dirty="0" sz="5050" spc="-55">
                <a:solidFill>
                  <a:srgbClr val="24282A"/>
                </a:solidFill>
              </a:rPr>
              <a:t>of</a:t>
            </a:r>
            <a:r>
              <a:rPr dirty="0" sz="5050" spc="-335">
                <a:solidFill>
                  <a:srgbClr val="24282A"/>
                </a:solidFill>
              </a:rPr>
              <a:t> </a:t>
            </a:r>
            <a:r>
              <a:rPr dirty="0" sz="5050" spc="-70">
                <a:solidFill>
                  <a:srgbClr val="24282A"/>
                </a:solidFill>
              </a:rPr>
              <a:t>an</a:t>
            </a:r>
            <a:r>
              <a:rPr dirty="0" sz="5050" spc="-470">
                <a:solidFill>
                  <a:srgbClr val="24282A"/>
                </a:solidFill>
              </a:rPr>
              <a:t> </a:t>
            </a:r>
            <a:r>
              <a:rPr dirty="0" sz="5050" spc="-30">
                <a:solidFill>
                  <a:srgbClr val="24282A"/>
                </a:solidFill>
              </a:rPr>
              <a:t>Attack.</a:t>
            </a:r>
            <a:endParaRPr sz="5050"/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25" name="object 25"/>
          <p:cNvSpPr txBox="1"/>
          <p:nvPr/>
        </p:nvSpPr>
        <p:spPr>
          <a:xfrm>
            <a:off x="1681284" y="2196108"/>
            <a:ext cx="1799589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 spc="-130">
                <a:solidFill>
                  <a:srgbClr val="0A0A0A"/>
                </a:solidFill>
                <a:latin typeface="Arial"/>
                <a:cs typeface="Arial"/>
              </a:rPr>
              <a:t>Endpoint</a:t>
            </a:r>
            <a:endParaRPr sz="3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26097" y="4679122"/>
            <a:ext cx="1546225" cy="829944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43815" marR="5080" indent="-31750">
              <a:lnSpc>
                <a:spcPts val="3020"/>
              </a:lnSpc>
              <a:spcBef>
                <a:spcPts val="445"/>
              </a:spcBef>
            </a:pPr>
            <a:r>
              <a:rPr dirty="0" sz="2750" spc="-85">
                <a:solidFill>
                  <a:srgbClr val="0A0A0A"/>
                </a:solidFill>
                <a:latin typeface="Arial"/>
                <a:cs typeface="Arial"/>
              </a:rPr>
              <a:t>Traditional </a:t>
            </a:r>
            <a:r>
              <a:rPr dirty="0" sz="2750" spc="-170">
                <a:solidFill>
                  <a:srgbClr val="0A0A0A"/>
                </a:solidFill>
                <a:latin typeface="Arial"/>
                <a:cs typeface="Arial"/>
              </a:rPr>
              <a:t>EDRAgent</a:t>
            </a:r>
            <a:endParaRPr sz="2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19838" y="7513208"/>
            <a:ext cx="2172970" cy="82994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R="10160">
              <a:lnSpc>
                <a:spcPts val="3160"/>
              </a:lnSpc>
              <a:spcBef>
                <a:spcPts val="115"/>
              </a:spcBef>
            </a:pPr>
            <a:r>
              <a:rPr dirty="0" sz="2750" spc="-400">
                <a:solidFill>
                  <a:srgbClr val="0A0A0A"/>
                </a:solidFill>
                <a:latin typeface="Arial"/>
                <a:cs typeface="Arial"/>
              </a:rPr>
              <a:t>LKRG</a:t>
            </a:r>
            <a:endParaRPr sz="2750">
              <a:latin typeface="Arial"/>
              <a:cs typeface="Arial"/>
            </a:endParaRPr>
          </a:p>
          <a:p>
            <a:pPr algn="ctr">
              <a:lnSpc>
                <a:spcPts val="3160"/>
              </a:lnSpc>
            </a:pPr>
            <a:r>
              <a:rPr dirty="0" sz="2750" spc="-140">
                <a:solidFill>
                  <a:srgbClr val="24282A"/>
                </a:solidFill>
                <a:latin typeface="Arial"/>
                <a:cs typeface="Arial"/>
              </a:rPr>
              <a:t>(</a:t>
            </a:r>
            <a:r>
              <a:rPr dirty="0" sz="2750" spc="-140">
                <a:solidFill>
                  <a:srgbClr val="0A0A0A"/>
                </a:solidFill>
                <a:latin typeface="Arial"/>
                <a:cs typeface="Arial"/>
              </a:rPr>
              <a:t>Kernel</a:t>
            </a:r>
            <a:r>
              <a:rPr dirty="0" sz="2750" spc="-33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750" spc="-130">
                <a:solidFill>
                  <a:srgbClr val="0A0A0A"/>
                </a:solidFill>
                <a:latin typeface="Arial"/>
                <a:cs typeface="Arial"/>
              </a:rPr>
              <a:t>Sensor</a:t>
            </a:r>
            <a:r>
              <a:rPr dirty="0" sz="2750" spc="-130">
                <a:solidFill>
                  <a:srgbClr val="24282A"/>
                </a:solidFill>
                <a:latin typeface="Arial"/>
                <a:cs typeface="Arial"/>
              </a:rPr>
              <a:t>)</a:t>
            </a:r>
            <a:endParaRPr sz="27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56294" y="2208874"/>
            <a:ext cx="99377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-385">
                <a:solidFill>
                  <a:srgbClr val="0A0A0A"/>
                </a:solidFill>
                <a:latin typeface="Arial"/>
                <a:cs typeface="Arial"/>
              </a:rPr>
              <a:t>SIEM</a:t>
            </a:r>
            <a:endParaRPr sz="3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71252" y="4404651"/>
            <a:ext cx="1480820" cy="102044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73100">
              <a:lnSpc>
                <a:spcPts val="2975"/>
              </a:lnSpc>
              <a:spcBef>
                <a:spcPts val="114"/>
              </a:spcBef>
            </a:pPr>
            <a:r>
              <a:rPr dirty="0" sz="2900" spc="85" i="1">
                <a:solidFill>
                  <a:srgbClr val="0A2D44"/>
                </a:solidFill>
                <a:latin typeface="Arial"/>
                <a:cs typeface="Arial"/>
              </a:rPr>
              <a:t>--</a:t>
            </a:r>
            <a:r>
              <a:rPr dirty="0" sz="2900" spc="-160" i="1">
                <a:solidFill>
                  <a:srgbClr val="0A2D44"/>
                </a:solidFill>
                <a:latin typeface="Arial"/>
                <a:cs typeface="Arial"/>
              </a:rPr>
              <a:t>9�</a:t>
            </a:r>
            <a:endParaRPr sz="2900">
              <a:latin typeface="Arial"/>
              <a:cs typeface="Arial"/>
            </a:endParaRPr>
          </a:p>
          <a:p>
            <a:pPr marL="12700">
              <a:lnSpc>
                <a:spcPts val="4835"/>
              </a:lnSpc>
            </a:pPr>
            <a:r>
              <a:rPr dirty="0" sz="4450" spc="280">
                <a:solidFill>
                  <a:srgbClr val="0A2D44"/>
                </a:solidFill>
                <a:latin typeface="Times New Roman"/>
                <a:cs typeface="Times New Roman"/>
              </a:rPr>
              <a:t>�)�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06675" y="5215301"/>
            <a:ext cx="53721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50" spc="-755">
                <a:solidFill>
                  <a:srgbClr val="0A2D44"/>
                </a:solidFill>
                <a:latin typeface="Arial"/>
                <a:cs typeface="Arial"/>
              </a:rPr>
              <a:t>iJ,o</a:t>
            </a:r>
            <a:endParaRPr sz="4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45724" y="5719564"/>
            <a:ext cx="14097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725" b="1">
                <a:solidFill>
                  <a:srgbClr val="0A2D44"/>
                </a:solidFill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67509" y="6198294"/>
            <a:ext cx="1567180" cy="842644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320675" marR="5080" indent="-308610">
              <a:lnSpc>
                <a:spcPts val="3120"/>
              </a:lnSpc>
              <a:spcBef>
                <a:spcPts val="365"/>
              </a:spcBef>
            </a:pPr>
            <a:r>
              <a:rPr dirty="0" sz="2750" spc="-120">
                <a:solidFill>
                  <a:srgbClr val="0A0A0A"/>
                </a:solidFill>
                <a:latin typeface="Arial"/>
                <a:cs typeface="Arial"/>
              </a:rPr>
              <a:t>Correlation </a:t>
            </a:r>
            <a:r>
              <a:rPr dirty="0" sz="2750" spc="-35">
                <a:solidFill>
                  <a:srgbClr val="0A0A0A"/>
                </a:solidFill>
                <a:latin typeface="Arial"/>
                <a:cs typeface="Arial"/>
              </a:rPr>
              <a:t>Engine</a:t>
            </a:r>
            <a:endParaRPr sz="2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38957" y="2108523"/>
            <a:ext cx="5927090" cy="1608455"/>
          </a:xfrm>
          <a:prstGeom prst="rect">
            <a:avLst/>
          </a:prstGeom>
        </p:spPr>
        <p:txBody>
          <a:bodyPr wrap="square" lIns="0" tIns="313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65"/>
              </a:spcBef>
            </a:pPr>
            <a:r>
              <a:rPr dirty="0" sz="3750" spc="-390" b="1">
                <a:solidFill>
                  <a:srgbClr val="A75048"/>
                </a:solidFill>
                <a:latin typeface="Arial"/>
                <a:cs typeface="Arial"/>
              </a:rPr>
              <a:t>TRIGGER:</a:t>
            </a:r>
            <a:r>
              <a:rPr dirty="0" sz="3750" spc="-455" b="1">
                <a:solidFill>
                  <a:srgbClr val="A75048"/>
                </a:solidFill>
                <a:latin typeface="Arial"/>
                <a:cs typeface="Arial"/>
              </a:rPr>
              <a:t> </a:t>
            </a:r>
            <a:r>
              <a:rPr dirty="0" sz="3750" spc="-400" b="1">
                <a:solidFill>
                  <a:srgbClr val="A75048"/>
                </a:solidFill>
                <a:latin typeface="Arial"/>
                <a:cs typeface="Arial"/>
              </a:rPr>
              <a:t>CRITICAL</a:t>
            </a:r>
            <a:r>
              <a:rPr dirty="0" sz="3750" spc="-35" b="1">
                <a:solidFill>
                  <a:srgbClr val="A75048"/>
                </a:solidFill>
                <a:latin typeface="Arial"/>
                <a:cs typeface="Arial"/>
              </a:rPr>
              <a:t> </a:t>
            </a:r>
            <a:r>
              <a:rPr dirty="0" sz="3750" spc="-325" b="1">
                <a:solidFill>
                  <a:srgbClr val="A75048"/>
                </a:solidFill>
                <a:latin typeface="Arial"/>
                <a:cs typeface="Arial"/>
              </a:rPr>
              <a:t>INCIDENT</a:t>
            </a:r>
            <a:endParaRPr sz="375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1930"/>
              </a:spcBef>
            </a:pPr>
            <a:r>
              <a:rPr dirty="0" sz="3050" spc="-265" b="1">
                <a:solidFill>
                  <a:srgbClr val="0A0A0A"/>
                </a:solidFill>
                <a:latin typeface="Arial"/>
                <a:cs typeface="Arial"/>
              </a:rPr>
              <a:t>CONDITION:</a:t>
            </a:r>
            <a:endParaRPr sz="3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33149" y="4142945"/>
            <a:ext cx="5588635" cy="2342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32384">
              <a:lnSpc>
                <a:spcPct val="99900"/>
              </a:lnSpc>
              <a:spcBef>
                <a:spcPts val="120"/>
              </a:spcBef>
              <a:tabLst>
                <a:tab pos="524510" algn="l"/>
              </a:tabLst>
            </a:pPr>
            <a:r>
              <a:rPr dirty="0" sz="2900" spc="-25">
                <a:solidFill>
                  <a:srgbClr val="0A0A0A"/>
                </a:solidFill>
                <a:latin typeface="Times New Roman"/>
                <a:cs typeface="Times New Roman"/>
              </a:rPr>
              <a:t>IF</a:t>
            </a:r>
            <a:r>
              <a:rPr dirty="0" sz="2900">
                <a:solidFill>
                  <a:srgbClr val="0A0A0A"/>
                </a:solidFill>
                <a:latin typeface="Times New Roman"/>
                <a:cs typeface="Times New Roman"/>
              </a:rPr>
              <a:t>	</a:t>
            </a:r>
            <a:r>
              <a:rPr dirty="0" sz="3000" spc="-110">
                <a:solidFill>
                  <a:srgbClr val="0A0A0A"/>
                </a:solidFill>
                <a:latin typeface="Arial"/>
                <a:cs typeface="Arial"/>
              </a:rPr>
              <a:t>an</a:t>
            </a:r>
            <a:r>
              <a:rPr dirty="0" sz="3000" spc="-37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50" spc="-380" b="1">
                <a:solidFill>
                  <a:srgbClr val="0A0A0A"/>
                </a:solidFill>
                <a:latin typeface="Arial"/>
                <a:cs typeface="Arial"/>
              </a:rPr>
              <a:t>LKRG</a:t>
            </a:r>
            <a:r>
              <a:rPr dirty="0" sz="2950" spc="-12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40">
                <a:solidFill>
                  <a:srgbClr val="0A0A0A"/>
                </a:solidFill>
                <a:latin typeface="Arial"/>
                <a:cs typeface="Arial"/>
              </a:rPr>
              <a:t>event</a:t>
            </a:r>
            <a:r>
              <a:rPr dirty="0" sz="3000" spc="-17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30">
                <a:solidFill>
                  <a:srgbClr val="0A0A0A"/>
                </a:solidFill>
                <a:latin typeface="Arial"/>
                <a:cs typeface="Arial"/>
              </a:rPr>
              <a:t>detects</a:t>
            </a:r>
            <a:r>
              <a:rPr dirty="0" sz="3000" spc="-254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50" spc="-110" b="1">
                <a:solidFill>
                  <a:srgbClr val="0A0A0A"/>
                </a:solidFill>
                <a:latin typeface="Arial"/>
                <a:cs typeface="Arial"/>
              </a:rPr>
              <a:t>'process </a:t>
            </a:r>
            <a:r>
              <a:rPr dirty="0" sz="3050" spc="-140" b="1">
                <a:solidFill>
                  <a:srgbClr val="0A0A0A"/>
                </a:solidFill>
                <a:latin typeface="Arial"/>
                <a:cs typeface="Arial"/>
              </a:rPr>
              <a:t>credential</a:t>
            </a:r>
            <a:r>
              <a:rPr dirty="0" sz="3050" spc="-28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50" spc="-155" b="1">
                <a:solidFill>
                  <a:srgbClr val="0A0A0A"/>
                </a:solidFill>
                <a:latin typeface="Arial"/>
                <a:cs typeface="Arial"/>
              </a:rPr>
              <a:t>manipulation'</a:t>
            </a:r>
            <a:r>
              <a:rPr dirty="0" sz="3050" spc="7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60">
                <a:solidFill>
                  <a:srgbClr val="0A0A0A"/>
                </a:solidFill>
                <a:latin typeface="Arial"/>
                <a:cs typeface="Arial"/>
              </a:rPr>
              <a:t>on</a:t>
            </a:r>
            <a:r>
              <a:rPr dirty="0" sz="3000" spc="-40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65">
                <a:solidFill>
                  <a:srgbClr val="0A0A0A"/>
                </a:solidFill>
                <a:latin typeface="Arial"/>
                <a:cs typeface="Arial"/>
              </a:rPr>
              <a:t>Host</a:t>
            </a:r>
            <a:r>
              <a:rPr dirty="0" sz="3000" spc="-31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310">
                <a:solidFill>
                  <a:srgbClr val="0A0A0A"/>
                </a:solidFill>
                <a:latin typeface="Arial"/>
                <a:cs typeface="Arial"/>
              </a:rPr>
              <a:t>A </a:t>
            </a:r>
            <a:r>
              <a:rPr dirty="0" sz="3050" spc="-380" b="1">
                <a:solidFill>
                  <a:srgbClr val="0A0A0A"/>
                </a:solidFill>
                <a:latin typeface="Arial"/>
                <a:cs typeface="Arial"/>
              </a:rPr>
              <a:t>AND</a:t>
            </a:r>
            <a:r>
              <a:rPr dirty="0" sz="3050" spc="-32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10">
                <a:solidFill>
                  <a:srgbClr val="0A0A0A"/>
                </a:solidFill>
                <a:latin typeface="Arial"/>
                <a:cs typeface="Arial"/>
              </a:rPr>
              <a:t>an</a:t>
            </a:r>
            <a:r>
              <a:rPr dirty="0" sz="3000" spc="-37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50" spc="-434" b="1">
                <a:solidFill>
                  <a:srgbClr val="0A0A0A"/>
                </a:solidFill>
                <a:latin typeface="Arial"/>
                <a:cs typeface="Arial"/>
              </a:rPr>
              <a:t>EDR</a:t>
            </a:r>
            <a:r>
              <a:rPr dirty="0" sz="3050" spc="-165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40">
                <a:solidFill>
                  <a:srgbClr val="0A0A0A"/>
                </a:solidFill>
                <a:latin typeface="Arial"/>
                <a:cs typeface="Arial"/>
              </a:rPr>
              <a:t>event</a:t>
            </a:r>
            <a:r>
              <a:rPr dirty="0" sz="3000" spc="-17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30">
                <a:solidFill>
                  <a:srgbClr val="0A0A0A"/>
                </a:solidFill>
                <a:latin typeface="Arial"/>
                <a:cs typeface="Arial"/>
              </a:rPr>
              <a:t>detects</a:t>
            </a:r>
            <a:r>
              <a:rPr dirty="0" sz="3000" spc="-254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50" spc="-10" b="1">
                <a:solidFill>
                  <a:srgbClr val="0A0A0A"/>
                </a:solidFill>
                <a:latin typeface="Arial"/>
                <a:cs typeface="Arial"/>
              </a:rPr>
              <a:t>'lateral </a:t>
            </a:r>
            <a:r>
              <a:rPr dirty="0" sz="3050" spc="-170" b="1">
                <a:solidFill>
                  <a:srgbClr val="0A0A0A"/>
                </a:solidFill>
                <a:latin typeface="Arial"/>
                <a:cs typeface="Arial"/>
              </a:rPr>
              <a:t>movement'</a:t>
            </a:r>
            <a:r>
              <a:rPr dirty="0" sz="3050" spc="-130" b="1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75">
                <a:solidFill>
                  <a:srgbClr val="0A0A0A"/>
                </a:solidFill>
                <a:latin typeface="Arial"/>
                <a:cs typeface="Arial"/>
              </a:rPr>
              <a:t>originating</a:t>
            </a:r>
            <a:r>
              <a:rPr dirty="0" sz="3000" spc="-27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75">
                <a:solidFill>
                  <a:srgbClr val="0A0A0A"/>
                </a:solidFill>
                <a:latin typeface="Arial"/>
                <a:cs typeface="Arial"/>
              </a:rPr>
              <a:t>from</a:t>
            </a:r>
            <a:r>
              <a:rPr dirty="0" sz="3000" spc="-31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50">
                <a:solidFill>
                  <a:srgbClr val="0A0A0A"/>
                </a:solidFill>
                <a:latin typeface="Arial"/>
                <a:cs typeface="Arial"/>
              </a:rPr>
              <a:t>Host</a:t>
            </a:r>
            <a:r>
              <a:rPr dirty="0" sz="3000" spc="-254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310">
                <a:solidFill>
                  <a:srgbClr val="0A0A0A"/>
                </a:solidFill>
                <a:latin typeface="Arial"/>
                <a:cs typeface="Arial"/>
              </a:rPr>
              <a:t>A </a:t>
            </a:r>
            <a:r>
              <a:rPr dirty="0" sz="3000" spc="-25">
                <a:solidFill>
                  <a:srgbClr val="0A0A0A"/>
                </a:solidFill>
                <a:latin typeface="Arial"/>
                <a:cs typeface="Arial"/>
              </a:rPr>
              <a:t>within</a:t>
            </a:r>
            <a:r>
              <a:rPr dirty="0" sz="3000" spc="-31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75">
                <a:solidFill>
                  <a:srgbClr val="0A0A0A"/>
                </a:solidFill>
                <a:latin typeface="Arial"/>
                <a:cs typeface="Arial"/>
              </a:rPr>
              <a:t>5</a:t>
            </a:r>
            <a:r>
              <a:rPr dirty="0" sz="3000" spc="-38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0A0A0A"/>
                </a:solidFill>
                <a:latin typeface="Arial"/>
                <a:cs typeface="Arial"/>
              </a:rPr>
              <a:t>minutes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036855" y="6906815"/>
            <a:ext cx="6299835" cy="1404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810">
              <a:lnSpc>
                <a:spcPct val="100499"/>
              </a:lnSpc>
              <a:spcBef>
                <a:spcPts val="95"/>
              </a:spcBef>
            </a:pPr>
            <a:r>
              <a:rPr dirty="0" sz="3000" spc="-135">
                <a:solidFill>
                  <a:srgbClr val="0A0A0A"/>
                </a:solidFill>
                <a:latin typeface="Arial"/>
                <a:cs typeface="Arial"/>
              </a:rPr>
              <a:t>Thi</a:t>
            </a:r>
            <a:r>
              <a:rPr dirty="0" sz="3000" spc="-135">
                <a:solidFill>
                  <a:srgbClr val="24282A"/>
                </a:solidFill>
                <a:latin typeface="Arial"/>
                <a:cs typeface="Arial"/>
              </a:rPr>
              <a:t>s</a:t>
            </a:r>
            <a:r>
              <a:rPr dirty="0" sz="3000" spc="-135">
                <a:solidFill>
                  <a:srgbClr val="0A0A0A"/>
                </a:solidFill>
                <a:latin typeface="Arial"/>
                <a:cs typeface="Arial"/>
              </a:rPr>
              <a:t>transform</a:t>
            </a:r>
            <a:r>
              <a:rPr dirty="0" sz="3000" spc="-135">
                <a:solidFill>
                  <a:srgbClr val="24282A"/>
                </a:solidFill>
                <a:latin typeface="Arial"/>
                <a:cs typeface="Arial"/>
              </a:rPr>
              <a:t>s</a:t>
            </a:r>
            <a:r>
              <a:rPr dirty="0" sz="3000" spc="-135">
                <a:solidFill>
                  <a:srgbClr val="0A0A0A"/>
                </a:solidFill>
                <a:latin typeface="Arial"/>
                <a:cs typeface="Arial"/>
              </a:rPr>
              <a:t>two</a:t>
            </a:r>
            <a:r>
              <a:rPr dirty="0" sz="3000" spc="-21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250">
                <a:solidFill>
                  <a:srgbClr val="0A0A0A"/>
                </a:solidFill>
                <a:latin typeface="Arial"/>
                <a:cs typeface="Arial"/>
              </a:rPr>
              <a:t>separate,</a:t>
            </a:r>
            <a:r>
              <a:rPr dirty="0" sz="3000" spc="-18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45">
                <a:solidFill>
                  <a:srgbClr val="0A0A0A"/>
                </a:solidFill>
                <a:latin typeface="Arial"/>
                <a:cs typeface="Arial"/>
              </a:rPr>
              <a:t>lower-</a:t>
            </a:r>
            <a:r>
              <a:rPr dirty="0" sz="3000" spc="-90">
                <a:solidFill>
                  <a:srgbClr val="0A0A0A"/>
                </a:solidFill>
                <a:latin typeface="Arial"/>
                <a:cs typeface="Arial"/>
              </a:rPr>
              <a:t>priority </a:t>
            </a:r>
            <a:r>
              <a:rPr dirty="0" sz="3000" spc="-165">
                <a:solidFill>
                  <a:srgbClr val="0A0A0A"/>
                </a:solidFill>
                <a:latin typeface="Arial"/>
                <a:cs typeface="Arial"/>
              </a:rPr>
              <a:t>alerts</a:t>
            </a:r>
            <a:r>
              <a:rPr dirty="0" sz="3000" spc="-36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95">
                <a:solidFill>
                  <a:srgbClr val="0A0A0A"/>
                </a:solidFill>
                <a:latin typeface="Arial"/>
                <a:cs typeface="Arial"/>
              </a:rPr>
              <a:t>into</a:t>
            </a:r>
            <a:r>
              <a:rPr dirty="0" sz="3000" spc="-29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90">
                <a:solidFill>
                  <a:srgbClr val="0A0A0A"/>
                </a:solidFill>
                <a:latin typeface="Arial"/>
                <a:cs typeface="Arial"/>
              </a:rPr>
              <a:t>a</a:t>
            </a:r>
            <a:r>
              <a:rPr dirty="0" sz="3000" spc="-47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85">
                <a:solidFill>
                  <a:srgbClr val="0A0A0A"/>
                </a:solidFill>
                <a:latin typeface="Arial"/>
                <a:cs typeface="Arial"/>
              </a:rPr>
              <a:t>single,</a:t>
            </a:r>
            <a:r>
              <a:rPr dirty="0" sz="3000" spc="-34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85">
                <a:solidFill>
                  <a:srgbClr val="0A0A0A"/>
                </a:solidFill>
                <a:latin typeface="Arial"/>
                <a:cs typeface="Arial"/>
              </a:rPr>
              <a:t>high-</a:t>
            </a:r>
            <a:r>
              <a:rPr dirty="0" sz="3000" spc="-100">
                <a:solidFill>
                  <a:srgbClr val="0A0A0A"/>
                </a:solidFill>
                <a:latin typeface="Arial"/>
                <a:cs typeface="Arial"/>
              </a:rPr>
              <a:t>confidencesignal </a:t>
            </a:r>
            <a:r>
              <a:rPr dirty="0" sz="3000" spc="-35">
                <a:solidFill>
                  <a:srgbClr val="0A0A0A"/>
                </a:solidFill>
                <a:latin typeface="Arial"/>
                <a:cs typeface="Arial"/>
              </a:rPr>
              <a:t>of</a:t>
            </a:r>
            <a:r>
              <a:rPr dirty="0" sz="3000" spc="-47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225">
                <a:solidFill>
                  <a:srgbClr val="0A0A0A"/>
                </a:solidFill>
                <a:latin typeface="Arial"/>
                <a:cs typeface="Arial"/>
              </a:rPr>
              <a:t>an</a:t>
            </a:r>
            <a:r>
              <a:rPr dirty="0" sz="3000" spc="-30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95">
                <a:solidFill>
                  <a:srgbClr val="0A0A0A"/>
                </a:solidFill>
                <a:latin typeface="Arial"/>
                <a:cs typeface="Arial"/>
              </a:rPr>
              <a:t>active</a:t>
            </a:r>
            <a:r>
              <a:rPr dirty="0" sz="3000" spc="-36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000" spc="-135">
                <a:solidFill>
                  <a:srgbClr val="0A0A0A"/>
                </a:solidFill>
                <a:latin typeface="Arial"/>
                <a:cs typeface="Arial"/>
              </a:rPr>
              <a:t>compromise.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44427" y="3938619"/>
          <a:ext cx="15558135" cy="4925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9529"/>
                <a:gridCol w="3846829"/>
                <a:gridCol w="3802379"/>
                <a:gridCol w="108584"/>
                <a:gridCol w="3770629"/>
                <a:gridCol w="95884"/>
              </a:tblGrid>
              <a:tr h="1206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  <a:p>
                      <a:pPr marL="230504">
                        <a:lnSpc>
                          <a:spcPct val="100000"/>
                        </a:lnSpc>
                      </a:pPr>
                      <a:r>
                        <a:rPr dirty="0" sz="3500" spc="-34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49250" marR="297815" indent="-77470">
                        <a:lnSpc>
                          <a:spcPts val="4020"/>
                        </a:lnSpc>
                        <a:spcBef>
                          <a:spcPts val="2865"/>
                        </a:spcBef>
                      </a:pPr>
                      <a:r>
                        <a:rPr dirty="0" sz="3500" spc="-31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Standard</a:t>
                      </a:r>
                      <a:r>
                        <a:rPr dirty="0" sz="3500" spc="-15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30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Enterprise </a:t>
                      </a:r>
                      <a:r>
                        <a:rPr dirty="0" sz="3500" spc="-28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Linux</a:t>
                      </a:r>
                      <a:r>
                        <a:rPr dirty="0" sz="3500" spc="-27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46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(RHEL,</a:t>
                      </a:r>
                      <a:r>
                        <a:rPr dirty="0" sz="3500" spc="-42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62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SUSE)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36385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570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1755"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385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 marR="358140" indent="245745">
                        <a:lnSpc>
                          <a:spcPts val="4020"/>
                        </a:lnSpc>
                        <a:spcBef>
                          <a:spcPts val="1910"/>
                        </a:spcBef>
                      </a:pPr>
                      <a:r>
                        <a:rPr dirty="0" sz="3500" spc="-22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Traditional</a:t>
                      </a:r>
                      <a:r>
                        <a:rPr dirty="0" sz="3500" spc="-23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77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EDR </a:t>
                      </a:r>
                      <a:r>
                        <a:rPr dirty="0" sz="3500" spc="-28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(CrowdStrike,</a:t>
                      </a:r>
                      <a:r>
                        <a:rPr dirty="0" sz="3500" spc="-21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27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etc.)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242570">
                    <a:lnL w="28575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6830">
                        <a:lnSpc>
                          <a:spcPct val="100000"/>
                        </a:lnSpc>
                        <a:spcBef>
                          <a:spcPts val="3685"/>
                        </a:spcBef>
                      </a:pPr>
                      <a:r>
                        <a:rPr dirty="0" sz="3450" spc="-50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RLC-</a:t>
                      </a:r>
                      <a:r>
                        <a:rPr dirty="0" sz="3450" spc="-655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B="0" marT="467995"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595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  <a:p>
                      <a:pPr marL="2317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500" spc="-434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Userspace</a:t>
                      </a:r>
                      <a:r>
                        <a:rPr dirty="0" sz="3500" spc="-6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11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Visibility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0">
                        <a:lnSpc>
                          <a:spcPct val="100000"/>
                        </a:lnSpc>
                        <a:spcBef>
                          <a:spcPts val="3290"/>
                        </a:spcBef>
                        <a:tabLst>
                          <a:tab pos="1584960" algn="l"/>
                        </a:tabLst>
                      </a:pPr>
                      <a:r>
                        <a:rPr dirty="0" sz="4250" spc="-505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dirty="0" sz="425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3500" spc="-27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Limited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4178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0" indent="-553720">
                        <a:lnSpc>
                          <a:spcPct val="100000"/>
                        </a:lnSpc>
                        <a:spcBef>
                          <a:spcPts val="3640"/>
                        </a:spcBef>
                        <a:buClr>
                          <a:srgbClr val="0A2134"/>
                        </a:buClr>
                        <a:buSzPct val="108571"/>
                        <a:buChar char="✓"/>
                        <a:tabLst>
                          <a:tab pos="1841500" algn="l"/>
                        </a:tabLst>
                      </a:pPr>
                      <a:r>
                        <a:rPr dirty="0" sz="3500" spc="20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462280">
                    <a:lnL w="28575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156970" marR="1198880" indent="633095">
                        <a:lnSpc>
                          <a:spcPts val="3920"/>
                        </a:lnSpc>
                        <a:spcBef>
                          <a:spcPts val="2490"/>
                        </a:spcBef>
                        <a:buSzPct val="97435"/>
                        <a:buChar char="✓"/>
                        <a:tabLst>
                          <a:tab pos="1790064" algn="l"/>
                        </a:tabLst>
                      </a:pPr>
                      <a:r>
                        <a:rPr dirty="0" sz="3900" spc="20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​</a:t>
                      </a:r>
                      <a:r>
                        <a:rPr dirty="0" sz="3500" spc="-1120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dirty="0" sz="3500" spc="-275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 (via</a:t>
                      </a:r>
                      <a:r>
                        <a:rPr dirty="0" sz="3500" spc="-390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690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EDR)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316230"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544320">
                <a:tc rowSpan="2">
                  <a:txBody>
                    <a:bodyPr/>
                    <a:lstStyle/>
                    <a:p>
                      <a:pPr marL="225425" marR="1137285" indent="8890">
                        <a:lnSpc>
                          <a:spcPts val="4020"/>
                        </a:lnSpc>
                        <a:spcBef>
                          <a:spcPts val="2410"/>
                        </a:spcBef>
                      </a:pPr>
                      <a:r>
                        <a:rPr dirty="0" sz="3500" spc="-32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Kernel</a:t>
                      </a:r>
                      <a:r>
                        <a:rPr dirty="0" sz="3500" spc="-38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35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Runtime </a:t>
                      </a:r>
                      <a:r>
                        <a:rPr dirty="0" sz="3500" spc="-105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Integrity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30607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3490"/>
                        </a:spcBef>
                        <a:tabLst>
                          <a:tab pos="546100" algn="l"/>
                        </a:tabLst>
                      </a:pPr>
                      <a:r>
                        <a:rPr dirty="0" sz="4250" spc="-48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dirty="0" sz="425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3500" spc="-459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4432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978535" marR="937894" indent="445134">
                        <a:lnSpc>
                          <a:spcPct val="87800"/>
                        </a:lnSpc>
                        <a:spcBef>
                          <a:spcPts val="2100"/>
                        </a:spcBef>
                        <a:tabLst>
                          <a:tab pos="1965325" algn="l"/>
                        </a:tabLst>
                      </a:pPr>
                      <a:r>
                        <a:rPr dirty="0" sz="4250" spc="-59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dirty="0" sz="425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3500" spc="-459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No </a:t>
                      </a:r>
                      <a:r>
                        <a:rPr dirty="0" sz="3500" spc="-26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(Blind</a:t>
                      </a:r>
                      <a:r>
                        <a:rPr dirty="0" sz="3500" spc="-33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350">
                          <a:solidFill>
                            <a:srgbClr val="8A594F"/>
                          </a:solidFill>
                          <a:latin typeface="Arial"/>
                          <a:cs typeface="Arial"/>
                        </a:rPr>
                        <a:t>Spot)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26670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84985" indent="-548005">
                        <a:lnSpc>
                          <a:spcPts val="4500"/>
                        </a:lnSpc>
                        <a:spcBef>
                          <a:spcPts val="1730"/>
                        </a:spcBef>
                        <a:buSzPct val="108571"/>
                        <a:buChar char="✓"/>
                        <a:tabLst>
                          <a:tab pos="1784985" algn="l"/>
                        </a:tabLst>
                      </a:pPr>
                      <a:r>
                        <a:rPr dirty="0" sz="3500" spc="180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3500">
                        <a:latin typeface="Arial"/>
                        <a:cs typeface="Arial"/>
                      </a:endParaRPr>
                    </a:p>
                    <a:p>
                      <a:pPr marL="125095">
                        <a:lnSpc>
                          <a:spcPts val="4020"/>
                        </a:lnSpc>
                      </a:pPr>
                      <a:r>
                        <a:rPr dirty="0" sz="3500" spc="-625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(LKRG</a:t>
                      </a:r>
                      <a:r>
                        <a:rPr dirty="0" sz="3500" spc="-300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500" spc="-305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Pre-</a:t>
                      </a:r>
                      <a:r>
                        <a:rPr dirty="0" sz="3500" spc="-295">
                          <a:solidFill>
                            <a:srgbClr val="0A2134"/>
                          </a:solidFill>
                          <a:latin typeface="Arial"/>
                          <a:cs typeface="Arial"/>
                        </a:rPr>
                        <a:t>Integrated)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B="0" marT="21971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79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0607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32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670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36220">
              <a:lnSpc>
                <a:spcPct val="100000"/>
              </a:lnSpc>
              <a:spcBef>
                <a:spcPts val="125"/>
              </a:spcBef>
            </a:pPr>
            <a:r>
              <a:rPr dirty="0" spc="-70"/>
              <a:t>The</a:t>
            </a:r>
            <a:r>
              <a:rPr dirty="0" spc="-640"/>
              <a:t> </a:t>
            </a:r>
            <a:r>
              <a:rPr dirty="0" spc="-229"/>
              <a:t>RLC-</a:t>
            </a:r>
            <a:r>
              <a:rPr dirty="0" spc="-265"/>
              <a:t>H</a:t>
            </a:r>
            <a:r>
              <a:rPr dirty="0" spc="-305"/>
              <a:t> </a:t>
            </a:r>
            <a:r>
              <a:rPr dirty="0" spc="-204"/>
              <a:t>Advantage:</a:t>
            </a:r>
            <a:r>
              <a:rPr dirty="0" spc="-220"/>
              <a:t> </a:t>
            </a:r>
            <a:r>
              <a:rPr dirty="0" spc="-130"/>
              <a:t>Integrated</a:t>
            </a:r>
            <a:r>
              <a:rPr dirty="0" spc="-235"/>
              <a:t> </a:t>
            </a:r>
            <a:r>
              <a:rPr dirty="0" spc="-225"/>
              <a:t>Kernel</a:t>
            </a:r>
            <a:r>
              <a:rPr dirty="0" spc="-305"/>
              <a:t> </a:t>
            </a:r>
            <a:r>
              <a:rPr dirty="0" spc="-140"/>
              <a:t>Protection.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40706" y="1800357"/>
            <a:ext cx="15405100" cy="16344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795">
              <a:lnSpc>
                <a:spcPct val="100499"/>
              </a:lnSpc>
              <a:spcBef>
                <a:spcPts val="95"/>
              </a:spcBef>
            </a:pPr>
            <a:r>
              <a:rPr dirty="0" sz="3500" spc="-240">
                <a:solidFill>
                  <a:srgbClr val="050505"/>
                </a:solidFill>
                <a:latin typeface="Arial"/>
                <a:cs typeface="Arial"/>
              </a:rPr>
              <a:t>While</a:t>
            </a:r>
            <a:r>
              <a:rPr dirty="0" sz="3500" spc="-38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580">
                <a:solidFill>
                  <a:srgbClr val="050505"/>
                </a:solidFill>
                <a:latin typeface="Arial"/>
                <a:cs typeface="Arial"/>
              </a:rPr>
              <a:t>LKRG</a:t>
            </a:r>
            <a:r>
              <a:rPr dirty="0" sz="3500" spc="-1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254">
                <a:solidFill>
                  <a:srgbClr val="050505"/>
                </a:solidFill>
                <a:latin typeface="Arial"/>
                <a:cs typeface="Arial"/>
              </a:rPr>
              <a:t>can</a:t>
            </a:r>
            <a:r>
              <a:rPr dirty="0" sz="3500" spc="-34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65">
                <a:solidFill>
                  <a:srgbClr val="050505"/>
                </a:solidFill>
                <a:latin typeface="Arial"/>
                <a:cs typeface="Arial"/>
              </a:rPr>
              <a:t>be</a:t>
            </a:r>
            <a:r>
              <a:rPr dirty="0" sz="3500" spc="-44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70">
                <a:solidFill>
                  <a:srgbClr val="050505"/>
                </a:solidFill>
                <a:latin typeface="Arial"/>
                <a:cs typeface="Arial"/>
              </a:rPr>
              <a:t>compiled</a:t>
            </a:r>
            <a:r>
              <a:rPr dirty="0" sz="3500" spc="-27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85">
                <a:solidFill>
                  <a:srgbClr val="050505"/>
                </a:solidFill>
                <a:latin typeface="Arial"/>
                <a:cs typeface="Arial"/>
              </a:rPr>
              <a:t>and</a:t>
            </a:r>
            <a:r>
              <a:rPr dirty="0" sz="3500" spc="-3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50">
                <a:solidFill>
                  <a:srgbClr val="050505"/>
                </a:solidFill>
                <a:latin typeface="Arial"/>
                <a:cs typeface="Arial"/>
              </a:rPr>
              <a:t>installed</a:t>
            </a:r>
            <a:r>
              <a:rPr dirty="0" sz="3500" spc="-18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25">
                <a:solidFill>
                  <a:srgbClr val="050505"/>
                </a:solidFill>
                <a:latin typeface="Arial"/>
                <a:cs typeface="Arial"/>
              </a:rPr>
              <a:t>on</a:t>
            </a:r>
            <a:r>
              <a:rPr dirty="0" sz="3500" spc="-43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260">
                <a:solidFill>
                  <a:srgbClr val="050505"/>
                </a:solidFill>
                <a:latin typeface="Arial"/>
                <a:cs typeface="Arial"/>
              </a:rPr>
              <a:t>many</a:t>
            </a:r>
            <a:r>
              <a:rPr dirty="0" sz="3500" spc="-25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254">
                <a:solidFill>
                  <a:srgbClr val="050505"/>
                </a:solidFill>
                <a:latin typeface="Arial"/>
                <a:cs typeface="Arial"/>
              </a:rPr>
              <a:t>systems,</a:t>
            </a:r>
            <a:r>
              <a:rPr dirty="0" sz="3500" spc="-27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495">
                <a:solidFill>
                  <a:srgbClr val="050505"/>
                </a:solidFill>
                <a:latin typeface="Arial"/>
                <a:cs typeface="Arial"/>
              </a:rPr>
              <a:t>RLC-</a:t>
            </a:r>
            <a:r>
              <a:rPr dirty="0" sz="3500" spc="-610">
                <a:solidFill>
                  <a:srgbClr val="050505"/>
                </a:solidFill>
                <a:latin typeface="Arial"/>
                <a:cs typeface="Arial"/>
              </a:rPr>
              <a:t>H</a:t>
            </a:r>
            <a:r>
              <a:rPr dirty="0" sz="3500" spc="-2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70">
                <a:solidFill>
                  <a:srgbClr val="050505"/>
                </a:solidFill>
                <a:latin typeface="Arial"/>
                <a:cs typeface="Arial"/>
              </a:rPr>
              <a:t>is</a:t>
            </a:r>
            <a:r>
              <a:rPr dirty="0" sz="3500" spc="-48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90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dirty="0" sz="3500" spc="-434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35">
                <a:solidFill>
                  <a:srgbClr val="050505"/>
                </a:solidFill>
                <a:latin typeface="Arial"/>
                <a:cs typeface="Arial"/>
              </a:rPr>
              <a:t>only</a:t>
            </a:r>
            <a:r>
              <a:rPr dirty="0" sz="3500" spc="-2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85">
                <a:solidFill>
                  <a:srgbClr val="050505"/>
                </a:solidFill>
                <a:latin typeface="Arial"/>
                <a:cs typeface="Arial"/>
              </a:rPr>
              <a:t>hardened </a:t>
            </a:r>
            <a:r>
              <a:rPr dirty="0" sz="3500" spc="-185">
                <a:solidFill>
                  <a:srgbClr val="050505"/>
                </a:solidFill>
                <a:latin typeface="Arial"/>
                <a:cs typeface="Arial"/>
              </a:rPr>
              <a:t>enterprise</a:t>
            </a:r>
            <a:r>
              <a:rPr dirty="0" sz="3500" spc="-7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220">
                <a:solidFill>
                  <a:srgbClr val="050505"/>
                </a:solidFill>
                <a:latin typeface="Arial"/>
                <a:cs typeface="Arial"/>
              </a:rPr>
              <a:t>Linux</a:t>
            </a:r>
            <a:r>
              <a:rPr dirty="0" sz="3500" spc="-14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05">
                <a:solidFill>
                  <a:srgbClr val="050505"/>
                </a:solidFill>
                <a:latin typeface="Arial"/>
                <a:cs typeface="Arial"/>
              </a:rPr>
              <a:t>distribution</a:t>
            </a:r>
            <a:r>
              <a:rPr dirty="0" sz="3500" spc="-8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85">
                <a:solidFill>
                  <a:srgbClr val="050505"/>
                </a:solidFill>
                <a:latin typeface="Arial"/>
                <a:cs typeface="Arial"/>
              </a:rPr>
              <a:t>that</a:t>
            </a:r>
            <a:r>
              <a:rPr dirty="0" sz="3500" spc="-3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75">
                <a:solidFill>
                  <a:srgbClr val="050505"/>
                </a:solidFill>
                <a:latin typeface="Arial"/>
                <a:cs typeface="Arial"/>
              </a:rPr>
              <a:t>delivers</a:t>
            </a:r>
            <a:r>
              <a:rPr dirty="0" sz="3500" spc="-29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75">
                <a:solidFill>
                  <a:srgbClr val="050505"/>
                </a:solidFill>
                <a:latin typeface="Arial"/>
                <a:cs typeface="Arial"/>
              </a:rPr>
              <a:t>this</a:t>
            </a:r>
            <a:r>
              <a:rPr dirty="0" sz="3500" spc="-4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75">
                <a:solidFill>
                  <a:srgbClr val="050505"/>
                </a:solidFill>
                <a:latin typeface="Arial"/>
                <a:cs typeface="Arial"/>
              </a:rPr>
              <a:t>critical</a:t>
            </a:r>
            <a:r>
              <a:rPr dirty="0" sz="3500" spc="-45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40">
                <a:solidFill>
                  <a:srgbClr val="050505"/>
                </a:solidFill>
                <a:latin typeface="Arial"/>
                <a:cs typeface="Arial"/>
              </a:rPr>
              <a:t>capability</a:t>
            </a:r>
            <a:r>
              <a:rPr dirty="0" sz="3500" spc="-17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55">
                <a:solidFill>
                  <a:srgbClr val="050505"/>
                </a:solidFill>
                <a:latin typeface="Arial"/>
                <a:cs typeface="Arial"/>
              </a:rPr>
              <a:t>pre-</a:t>
            </a:r>
            <a:r>
              <a:rPr dirty="0" sz="3500" spc="-120">
                <a:solidFill>
                  <a:srgbClr val="050505"/>
                </a:solidFill>
                <a:latin typeface="Arial"/>
                <a:cs typeface="Arial"/>
              </a:rPr>
              <a:t>integrated,validated, </a:t>
            </a:r>
            <a:r>
              <a:rPr dirty="0" sz="3500" spc="-204">
                <a:solidFill>
                  <a:srgbClr val="050505"/>
                </a:solidFill>
                <a:latin typeface="Arial"/>
                <a:cs typeface="Arial"/>
              </a:rPr>
              <a:t>and</a:t>
            </a:r>
            <a:r>
              <a:rPr dirty="0" sz="3500" spc="-4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190">
                <a:solidFill>
                  <a:srgbClr val="050505"/>
                </a:solidFill>
                <a:latin typeface="Arial"/>
                <a:cs typeface="Arial"/>
              </a:rPr>
              <a:t>commercially</a:t>
            </a:r>
            <a:r>
              <a:rPr dirty="0" sz="3500" spc="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500" spc="-75">
                <a:solidFill>
                  <a:srgbClr val="050505"/>
                </a:solidFill>
                <a:latin typeface="Arial"/>
                <a:cs typeface="Arial"/>
              </a:rPr>
              <a:t>supported.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162" y="1991782"/>
            <a:ext cx="2088854" cy="21191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636" y="5030125"/>
            <a:ext cx="2063380" cy="17872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5107" y="2017316"/>
            <a:ext cx="1936012" cy="20936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94160" y="5081191"/>
            <a:ext cx="2063380" cy="19915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42532" y="6906747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 h="0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518469" y="383314"/>
            <a:ext cx="14455140" cy="8070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00" spc="145">
                <a:solidFill>
                  <a:srgbClr val="181A1C"/>
                </a:solidFill>
              </a:rPr>
              <a:t>See</a:t>
            </a:r>
            <a:r>
              <a:rPr dirty="0" sz="5100" spc="-265">
                <a:solidFill>
                  <a:srgbClr val="181A1C"/>
                </a:solidFill>
              </a:rPr>
              <a:t> </a:t>
            </a:r>
            <a:r>
              <a:rPr dirty="0" sz="5100" spc="125">
                <a:solidFill>
                  <a:srgbClr val="181A1C"/>
                </a:solidFill>
              </a:rPr>
              <a:t>Deeper.</a:t>
            </a:r>
            <a:r>
              <a:rPr dirty="0" sz="5100" spc="-265">
                <a:solidFill>
                  <a:srgbClr val="181A1C"/>
                </a:solidFill>
              </a:rPr>
              <a:t> </a:t>
            </a:r>
            <a:r>
              <a:rPr dirty="0" sz="5100" spc="204">
                <a:solidFill>
                  <a:srgbClr val="181A1C"/>
                </a:solidFill>
              </a:rPr>
              <a:t>Detect</a:t>
            </a:r>
            <a:r>
              <a:rPr dirty="0" sz="5100" spc="-70">
                <a:solidFill>
                  <a:srgbClr val="181A1C"/>
                </a:solidFill>
              </a:rPr>
              <a:t> </a:t>
            </a:r>
            <a:r>
              <a:rPr dirty="0" sz="5100">
                <a:solidFill>
                  <a:srgbClr val="181A1C"/>
                </a:solidFill>
              </a:rPr>
              <a:t>Earlier.</a:t>
            </a:r>
            <a:r>
              <a:rPr dirty="0" sz="5100" spc="-254">
                <a:solidFill>
                  <a:srgbClr val="181A1C"/>
                </a:solidFill>
              </a:rPr>
              <a:t> </a:t>
            </a:r>
            <a:r>
              <a:rPr dirty="0" sz="5100" spc="55">
                <a:solidFill>
                  <a:srgbClr val="181A1C"/>
                </a:solidFill>
              </a:rPr>
              <a:t>Respond</a:t>
            </a:r>
            <a:r>
              <a:rPr dirty="0" sz="5100" spc="145">
                <a:solidFill>
                  <a:srgbClr val="181A1C"/>
                </a:solidFill>
              </a:rPr>
              <a:t> </a:t>
            </a:r>
            <a:r>
              <a:rPr dirty="0" sz="5100" spc="85">
                <a:solidFill>
                  <a:srgbClr val="181A1C"/>
                </a:solidFill>
              </a:rPr>
              <a:t>Smarter.</a:t>
            </a:r>
            <a:endParaRPr sz="5100"/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D3133"/>
                </a:solidFill>
              </a:rPr>
              <a:t>Isl\</a:t>
            </a:r>
            <a:r>
              <a:rPr dirty="0" sz="1300" spc="-45">
                <a:solidFill>
                  <a:srgbClr val="2D3133"/>
                </a:solidFill>
              </a:rPr>
              <a:t> </a:t>
            </a:r>
            <a:r>
              <a:rPr dirty="0" spc="-10"/>
              <a:t>NotebookLM</a:t>
            </a:r>
            <a:endParaRPr sz="1300"/>
          </a:p>
        </p:txBody>
      </p:sp>
      <p:sp>
        <p:nvSpPr>
          <p:cNvPr id="8" name="object 8"/>
          <p:cNvSpPr txBox="1"/>
          <p:nvPr/>
        </p:nvSpPr>
        <p:spPr>
          <a:xfrm>
            <a:off x="3260229" y="1902486"/>
            <a:ext cx="5070475" cy="22929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4"/>
              </a:spcBef>
            </a:pPr>
            <a:r>
              <a:rPr dirty="0" sz="3400" b="1">
                <a:solidFill>
                  <a:srgbClr val="181A1C"/>
                </a:solidFill>
                <a:latin typeface="Arial"/>
                <a:cs typeface="Arial"/>
              </a:rPr>
              <a:t>THE</a:t>
            </a:r>
            <a:r>
              <a:rPr dirty="0" sz="3400" spc="-235" b="1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3400" spc="-25" b="1">
                <a:solidFill>
                  <a:srgbClr val="181A1C"/>
                </a:solidFill>
                <a:latin typeface="Arial"/>
                <a:cs typeface="Arial"/>
              </a:rPr>
              <a:t>GAP</a:t>
            </a:r>
            <a:endParaRPr sz="3400">
              <a:latin typeface="Arial"/>
              <a:cs typeface="Arial"/>
            </a:endParaRPr>
          </a:p>
          <a:p>
            <a:pPr marL="12700" marR="5080" indent="4445">
              <a:lnSpc>
                <a:spcPct val="101699"/>
              </a:lnSpc>
              <a:spcBef>
                <a:spcPts val="85"/>
              </a:spcBef>
            </a:pPr>
            <a:r>
              <a:rPr dirty="0" sz="2800" spc="-35">
                <a:solidFill>
                  <a:srgbClr val="080808"/>
                </a:solidFill>
                <a:latin typeface="Arial"/>
                <a:cs typeface="Arial"/>
              </a:rPr>
              <a:t>Traditional</a:t>
            </a:r>
            <a:r>
              <a:rPr dirty="0" sz="2800" spc="-10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380">
                <a:solidFill>
                  <a:srgbClr val="080808"/>
                </a:solidFill>
                <a:latin typeface="Arial"/>
                <a:cs typeface="Arial"/>
              </a:rPr>
              <a:t>EDR</a:t>
            </a:r>
            <a:r>
              <a:rPr dirty="0" sz="2800" spc="-5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81A1C"/>
                </a:solidFill>
                <a:latin typeface="Arial"/>
                <a:cs typeface="Arial"/>
              </a:rPr>
              <a:t>is</a:t>
            </a:r>
            <a:r>
              <a:rPr dirty="0" sz="2800" spc="-29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blind</a:t>
            </a:r>
            <a:r>
              <a:rPr dirty="0" sz="2800" spc="-3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55">
                <a:solidFill>
                  <a:srgbClr val="080808"/>
                </a:solidFill>
                <a:latin typeface="Arial"/>
                <a:cs typeface="Arial"/>
              </a:rPr>
              <a:t>to</a:t>
            </a:r>
            <a:r>
              <a:rPr dirty="0" sz="2800" spc="-9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80808"/>
                </a:solidFill>
                <a:latin typeface="Arial"/>
                <a:cs typeface="Arial"/>
              </a:rPr>
              <a:t>kernel-level</a:t>
            </a:r>
            <a:r>
              <a:rPr dirty="0" sz="2800" spc="-29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40">
                <a:solidFill>
                  <a:srgbClr val="181A1C"/>
                </a:solidFill>
                <a:latin typeface="Arial"/>
                <a:cs typeface="Arial"/>
              </a:rPr>
              <a:t>attacks</a:t>
            </a:r>
            <a:r>
              <a:rPr dirty="0" sz="2800" spc="-6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like</a:t>
            </a:r>
            <a:r>
              <a:rPr dirty="0" sz="2800" spc="-23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rootkits</a:t>
            </a:r>
            <a:r>
              <a:rPr dirty="0" sz="2800" spc="-1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181A1C"/>
                </a:solidFill>
                <a:latin typeface="Arial"/>
                <a:cs typeface="Arial"/>
              </a:rPr>
              <a:t>and </a:t>
            </a:r>
            <a:r>
              <a:rPr dirty="0" sz="2800" spc="-35">
                <a:solidFill>
                  <a:srgbClr val="181A1C"/>
                </a:solidFill>
                <a:latin typeface="Arial"/>
                <a:cs typeface="Arial"/>
              </a:rPr>
              <a:t>sophisticated</a:t>
            </a:r>
            <a:r>
              <a:rPr dirty="0" sz="2800" spc="-125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80808"/>
                </a:solidFill>
                <a:latin typeface="Arial"/>
                <a:cs typeface="Arial"/>
              </a:rPr>
              <a:t>privilege escalation.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4981" y="4928062"/>
            <a:ext cx="4746625" cy="22675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14"/>
              </a:spcBef>
            </a:pPr>
            <a:r>
              <a:rPr dirty="0" sz="3400" b="1">
                <a:solidFill>
                  <a:srgbClr val="181A1C"/>
                </a:solidFill>
                <a:latin typeface="Arial"/>
                <a:cs typeface="Arial"/>
              </a:rPr>
              <a:t>THE</a:t>
            </a:r>
            <a:r>
              <a:rPr dirty="0" sz="3400" spc="-105" b="1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181A1C"/>
                </a:solidFill>
                <a:latin typeface="Arial"/>
                <a:cs typeface="Arial"/>
              </a:rPr>
              <a:t>INTEGRATION</a:t>
            </a:r>
            <a:endParaRPr sz="3400">
              <a:latin typeface="Arial"/>
              <a:cs typeface="Arial"/>
            </a:endParaRPr>
          </a:p>
          <a:p>
            <a:pPr marL="12700" marR="5080" indent="5080">
              <a:lnSpc>
                <a:spcPct val="99700"/>
              </a:lnSpc>
              <a:spcBef>
                <a:spcPts val="150"/>
              </a:spcBef>
            </a:pPr>
            <a:r>
              <a:rPr dirty="0" sz="2800" spc="-310">
                <a:solidFill>
                  <a:srgbClr val="080808"/>
                </a:solidFill>
                <a:latin typeface="Arial"/>
                <a:cs typeface="Arial"/>
              </a:rPr>
              <a:t>LKRG</a:t>
            </a:r>
            <a:r>
              <a:rPr dirty="0" sz="2800" spc="-1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telemetry</a:t>
            </a:r>
            <a:r>
              <a:rPr dirty="0" sz="2800" spc="-13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50">
                <a:solidFill>
                  <a:srgbClr val="080808"/>
                </a:solidFill>
                <a:latin typeface="Arial"/>
                <a:cs typeface="Arial"/>
              </a:rPr>
              <a:t>integrates</a:t>
            </a:r>
            <a:r>
              <a:rPr dirty="0" sz="2800" spc="-1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181A1C"/>
                </a:solidFill>
                <a:latin typeface="Arial"/>
                <a:cs typeface="Arial"/>
              </a:rPr>
              <a:t>with </a:t>
            </a:r>
            <a:r>
              <a:rPr dirty="0" sz="2800">
                <a:solidFill>
                  <a:srgbClr val="181A1C"/>
                </a:solidFill>
                <a:latin typeface="Arial"/>
                <a:cs typeface="Arial"/>
              </a:rPr>
              <a:t>your</a:t>
            </a:r>
            <a:r>
              <a:rPr dirty="0" sz="2800" spc="-21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35">
                <a:solidFill>
                  <a:srgbClr val="080808"/>
                </a:solidFill>
                <a:latin typeface="Arial"/>
                <a:cs typeface="Arial"/>
              </a:rPr>
              <a:t>existing</a:t>
            </a:r>
            <a:r>
              <a:rPr dirty="0" sz="2800" spc="-27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245">
                <a:solidFill>
                  <a:srgbClr val="080808"/>
                </a:solidFill>
                <a:latin typeface="Arial"/>
                <a:cs typeface="Arial"/>
              </a:rPr>
              <a:t>SIEM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today</a:t>
            </a:r>
            <a:r>
              <a:rPr dirty="0" sz="2800" spc="-18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181A1C"/>
                </a:solidFill>
                <a:latin typeface="Arial"/>
                <a:cs typeface="Arial"/>
              </a:rPr>
              <a:t>via </a:t>
            </a:r>
            <a:r>
              <a:rPr dirty="0" sz="2800" spc="-45">
                <a:solidFill>
                  <a:srgbClr val="181A1C"/>
                </a:solidFill>
                <a:latin typeface="Arial"/>
                <a:cs typeface="Arial"/>
              </a:rPr>
              <a:t>standard</a:t>
            </a:r>
            <a:r>
              <a:rPr dirty="0" sz="2800" spc="-12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65">
                <a:solidFill>
                  <a:srgbClr val="181A1C"/>
                </a:solidFill>
                <a:latin typeface="Arial"/>
                <a:cs typeface="Arial"/>
              </a:rPr>
              <a:t>syslog</a:t>
            </a:r>
            <a:r>
              <a:rPr dirty="0" sz="2800" spc="-32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80808"/>
                </a:solidFill>
                <a:latin typeface="Arial"/>
                <a:cs typeface="Arial"/>
              </a:rPr>
              <a:t>forwarding, </a:t>
            </a:r>
            <a:r>
              <a:rPr dirty="0" sz="2800" spc="-25">
                <a:solidFill>
                  <a:srgbClr val="181A1C"/>
                </a:solidFill>
                <a:latin typeface="Arial"/>
                <a:cs typeface="Arial"/>
              </a:rPr>
              <a:t>enriching</a:t>
            </a:r>
            <a:r>
              <a:rPr dirty="0" sz="2800" spc="-25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181A1C"/>
                </a:solidFill>
                <a:latin typeface="Arial"/>
                <a:cs typeface="Arial"/>
              </a:rPr>
              <a:t>your</a:t>
            </a:r>
            <a:r>
              <a:rPr dirty="0" sz="2800" spc="-22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340">
                <a:solidFill>
                  <a:srgbClr val="080808"/>
                </a:solidFill>
                <a:latin typeface="Arial"/>
                <a:cs typeface="Arial"/>
              </a:rPr>
              <a:t>EDR</a:t>
            </a:r>
            <a:r>
              <a:rPr dirty="0" sz="2800" spc="-114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80808"/>
                </a:solidFill>
                <a:latin typeface="Arial"/>
                <a:cs typeface="Arial"/>
              </a:rPr>
              <a:t>data.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4257" y="6319573"/>
            <a:ext cx="26352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10">
                <a:solidFill>
                  <a:srgbClr val="0A2F4F"/>
                </a:solidFill>
                <a:latin typeface="Arial"/>
                <a:cs typeface="Arial"/>
              </a:rPr>
              <a:t>-</a:t>
            </a:r>
            <a:r>
              <a:rPr dirty="0" sz="2800" spc="-50">
                <a:solidFill>
                  <a:srgbClr val="0A2F4F"/>
                </a:solidFill>
                <a:latin typeface="Arial"/>
                <a:cs typeface="Arial"/>
              </a:rPr>
              <a:t>-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8866" y="6740855"/>
            <a:ext cx="47625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350">
                <a:solidFill>
                  <a:srgbClr val="0A2F4F"/>
                </a:solidFill>
                <a:latin typeface="Arial"/>
                <a:cs typeface="Arial"/>
              </a:rPr>
              <a:t>,,,,..,,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08505" y="1868383"/>
            <a:ext cx="5014595" cy="23272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385"/>
              </a:spcBef>
            </a:pPr>
            <a:r>
              <a:rPr dirty="0" sz="3400" b="1">
                <a:solidFill>
                  <a:srgbClr val="181A1C"/>
                </a:solidFill>
                <a:latin typeface="Arial"/>
                <a:cs typeface="Arial"/>
              </a:rPr>
              <a:t>THE</a:t>
            </a:r>
            <a:r>
              <a:rPr dirty="0" sz="3400" spc="-195" b="1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181A1C"/>
                </a:solidFill>
                <a:latin typeface="Arial"/>
                <a:cs typeface="Arial"/>
              </a:rPr>
              <a:t>SENSOR</a:t>
            </a:r>
            <a:endParaRPr sz="3400">
              <a:latin typeface="Arial"/>
              <a:cs typeface="Arial"/>
            </a:endParaRPr>
          </a:p>
          <a:p>
            <a:pPr marL="12700" marR="5080" indent="5080">
              <a:lnSpc>
                <a:spcPct val="100699"/>
              </a:lnSpc>
              <a:spcBef>
                <a:spcPts val="215"/>
              </a:spcBef>
            </a:pPr>
            <a:r>
              <a:rPr dirty="0" sz="2800" spc="-310">
                <a:solidFill>
                  <a:srgbClr val="080808"/>
                </a:solidFill>
                <a:latin typeface="Arial"/>
                <a:cs typeface="Arial"/>
              </a:rPr>
              <a:t>LKRG</a:t>
            </a:r>
            <a:r>
              <a:rPr dirty="0" sz="2800" spc="-13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40">
                <a:solidFill>
                  <a:srgbClr val="080808"/>
                </a:solidFill>
                <a:latin typeface="Arial"/>
                <a:cs typeface="Arial"/>
              </a:rPr>
              <a:t>provides</a:t>
            </a:r>
            <a:r>
              <a:rPr dirty="0" sz="2800" spc="-1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80808"/>
                </a:solidFill>
                <a:latin typeface="Arial"/>
                <a:cs typeface="Arial"/>
              </a:rPr>
              <a:t>unique,</a:t>
            </a:r>
            <a:r>
              <a:rPr dirty="0" sz="2800" spc="-229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35">
                <a:solidFill>
                  <a:srgbClr val="080808"/>
                </a:solidFill>
                <a:latin typeface="Arial"/>
                <a:cs typeface="Arial"/>
              </a:rPr>
              <a:t>real-</a:t>
            </a:r>
            <a:r>
              <a:rPr dirty="0" sz="2800" spc="-20">
                <a:solidFill>
                  <a:srgbClr val="080808"/>
                </a:solidFill>
                <a:latin typeface="Arial"/>
                <a:cs typeface="Arial"/>
              </a:rPr>
              <a:t>time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telemetry</a:t>
            </a:r>
            <a:r>
              <a:rPr dirty="0" sz="2800" spc="3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81A1C"/>
                </a:solidFill>
                <a:latin typeface="Arial"/>
                <a:cs typeface="Arial"/>
              </a:rPr>
              <a:t>on</a:t>
            </a:r>
            <a:r>
              <a:rPr dirty="0" sz="2800" spc="-275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35">
                <a:solidFill>
                  <a:srgbClr val="080808"/>
                </a:solidFill>
                <a:latin typeface="Arial"/>
                <a:cs typeface="Arial"/>
              </a:rPr>
              <a:t>kernel</a:t>
            </a:r>
            <a:r>
              <a:rPr dirty="0" sz="2800" spc="-27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integrity</a:t>
            </a:r>
            <a:r>
              <a:rPr dirty="0" sz="2800" spc="-25">
                <a:solidFill>
                  <a:srgbClr val="080808"/>
                </a:solidFill>
                <a:latin typeface="Arial"/>
                <a:cs typeface="Arial"/>
              </a:rPr>
              <a:t> and </a:t>
            </a:r>
            <a:r>
              <a:rPr dirty="0" sz="2800">
                <a:solidFill>
                  <a:srgbClr val="181A1C"/>
                </a:solidFill>
                <a:latin typeface="Arial"/>
                <a:cs typeface="Arial"/>
              </a:rPr>
              <a:t>exploit</a:t>
            </a:r>
            <a:r>
              <a:rPr dirty="0" sz="2800" spc="-85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81A1C"/>
                </a:solidFill>
                <a:latin typeface="Arial"/>
                <a:cs typeface="Arial"/>
              </a:rPr>
              <a:t>attempts,</a:t>
            </a:r>
            <a:r>
              <a:rPr dirty="0" sz="2800" spc="-15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55">
                <a:solidFill>
                  <a:srgbClr val="080808"/>
                </a:solidFill>
                <a:latin typeface="Arial"/>
                <a:cs typeface="Arial"/>
              </a:rPr>
              <a:t>filling</a:t>
            </a:r>
            <a:r>
              <a:rPr dirty="0" sz="2800" spc="-35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080808"/>
                </a:solidFill>
                <a:latin typeface="Arial"/>
                <a:cs typeface="Arial"/>
              </a:rPr>
              <a:t>this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critical</a:t>
            </a:r>
            <a:r>
              <a:rPr dirty="0" sz="2800" spc="-17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81A1C"/>
                </a:solidFill>
                <a:latin typeface="Arial"/>
                <a:cs typeface="Arial"/>
              </a:rPr>
              <a:t>visibility</a:t>
            </a:r>
            <a:r>
              <a:rPr dirty="0" sz="2800" spc="229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181A1C"/>
                </a:solidFill>
                <a:latin typeface="Arial"/>
                <a:cs typeface="Arial"/>
              </a:rPr>
              <a:t>gap.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511511" y="4928062"/>
            <a:ext cx="5139055" cy="18459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14"/>
              </a:spcBef>
            </a:pPr>
            <a:r>
              <a:rPr dirty="0" sz="3400" b="1">
                <a:solidFill>
                  <a:srgbClr val="181A1C"/>
                </a:solidFill>
                <a:latin typeface="Arial"/>
                <a:cs typeface="Arial"/>
              </a:rPr>
              <a:t>THE</a:t>
            </a:r>
            <a:r>
              <a:rPr dirty="0" sz="3400" spc="-220" b="1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181A1C"/>
                </a:solidFill>
                <a:latin typeface="Arial"/>
                <a:cs typeface="Arial"/>
              </a:rPr>
              <a:t>PLATFORM</a:t>
            </a:r>
            <a:endParaRPr sz="3400">
              <a:latin typeface="Arial"/>
              <a:cs typeface="Arial"/>
            </a:endParaRPr>
          </a:p>
          <a:p>
            <a:pPr marL="13335" marR="5080" indent="-1270">
              <a:lnSpc>
                <a:spcPct val="100200"/>
              </a:lnSpc>
              <a:spcBef>
                <a:spcPts val="135"/>
              </a:spcBef>
            </a:pPr>
            <a:r>
              <a:rPr dirty="0" sz="2800" spc="-240">
                <a:solidFill>
                  <a:srgbClr val="080808"/>
                </a:solidFill>
                <a:latin typeface="Arial"/>
                <a:cs typeface="Arial"/>
              </a:rPr>
              <a:t>RLC-</a:t>
            </a:r>
            <a:r>
              <a:rPr dirty="0" sz="2800" spc="-285">
                <a:solidFill>
                  <a:srgbClr val="080808"/>
                </a:solidFill>
                <a:latin typeface="Arial"/>
                <a:cs typeface="Arial"/>
              </a:rPr>
              <a:t>H</a:t>
            </a:r>
            <a:r>
              <a:rPr dirty="0" sz="2800" spc="-204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45">
                <a:solidFill>
                  <a:srgbClr val="080808"/>
                </a:solidFill>
                <a:latin typeface="Arial"/>
                <a:cs typeface="Arial"/>
              </a:rPr>
              <a:t>delivers</a:t>
            </a:r>
            <a:r>
              <a:rPr dirty="0" sz="2800" spc="-8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this</a:t>
            </a:r>
            <a:r>
              <a:rPr dirty="0" sz="2800" spc="-33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80808"/>
                </a:solidFill>
                <a:latin typeface="Arial"/>
                <a:cs typeface="Arial"/>
              </a:rPr>
              <a:t>capability</a:t>
            </a:r>
            <a:r>
              <a:rPr dirty="0" sz="2800" spc="-1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110">
                <a:solidFill>
                  <a:srgbClr val="080808"/>
                </a:solidFill>
                <a:latin typeface="Arial"/>
                <a:cs typeface="Arial"/>
              </a:rPr>
              <a:t>as</a:t>
            </a:r>
            <a:r>
              <a:rPr dirty="0" sz="2800" spc="-33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50">
                <a:solidFill>
                  <a:srgbClr val="181A1C"/>
                </a:solidFill>
                <a:latin typeface="Arial"/>
                <a:cs typeface="Arial"/>
              </a:rPr>
              <a:t>a </a:t>
            </a:r>
            <a:r>
              <a:rPr dirty="0" sz="2800" spc="-10">
                <a:solidFill>
                  <a:srgbClr val="080808"/>
                </a:solidFill>
                <a:latin typeface="Arial"/>
                <a:cs typeface="Arial"/>
              </a:rPr>
              <a:t>pre-integrated,</a:t>
            </a:r>
            <a:r>
              <a:rPr dirty="0" sz="2800" spc="-40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70">
                <a:solidFill>
                  <a:srgbClr val="080808"/>
                </a:solidFill>
                <a:latin typeface="Arial"/>
                <a:cs typeface="Arial"/>
              </a:rPr>
              <a:t>hardened,</a:t>
            </a:r>
            <a:r>
              <a:rPr dirty="0" sz="2800" spc="-10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181A1C"/>
                </a:solidFill>
                <a:latin typeface="Arial"/>
                <a:cs typeface="Arial"/>
              </a:rPr>
              <a:t>and commercially</a:t>
            </a:r>
            <a:r>
              <a:rPr dirty="0" sz="2800" spc="-110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181A1C"/>
                </a:solidFill>
                <a:latin typeface="Arial"/>
                <a:cs typeface="Arial"/>
              </a:rPr>
              <a:t>supported</a:t>
            </a:r>
            <a:r>
              <a:rPr dirty="0" sz="2800" spc="-125">
                <a:solidFill>
                  <a:srgbClr val="181A1C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81A1C"/>
                </a:solidFill>
                <a:latin typeface="Arial"/>
                <a:cs typeface="Arial"/>
              </a:rPr>
              <a:t>solution.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9664" y="7774913"/>
            <a:ext cx="13369290" cy="10509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3150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dirty="0" sz="3150" spc="-30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50" spc="55">
                <a:solidFill>
                  <a:srgbClr val="080808"/>
                </a:solidFill>
                <a:latin typeface="Arial"/>
                <a:cs typeface="Arial"/>
              </a:rPr>
              <a:t>value</a:t>
            </a:r>
            <a:r>
              <a:rPr dirty="0" sz="3150" spc="-4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50" spc="90">
                <a:solidFill>
                  <a:srgbClr val="080808"/>
                </a:solidFill>
                <a:latin typeface="Arial"/>
                <a:cs typeface="Arial"/>
              </a:rPr>
              <a:t>proposition</a:t>
            </a:r>
            <a:r>
              <a:rPr dirty="0" sz="3150" spc="-2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50" spc="75">
                <a:solidFill>
                  <a:srgbClr val="080808"/>
                </a:solidFill>
                <a:latin typeface="Arial"/>
                <a:cs typeface="Arial"/>
              </a:rPr>
              <a:t>is</a:t>
            </a:r>
            <a:r>
              <a:rPr dirty="0" sz="3150" spc="-2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40" b="1">
                <a:solidFill>
                  <a:srgbClr val="080808"/>
                </a:solidFill>
                <a:latin typeface="Arial"/>
                <a:cs typeface="Arial"/>
              </a:rPr>
              <a:t>filling</a:t>
            </a:r>
            <a:r>
              <a:rPr dirty="0" sz="3400" spc="-40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dirty="0" sz="3400" spc="-31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409" b="1">
                <a:solidFill>
                  <a:srgbClr val="080808"/>
                </a:solidFill>
                <a:latin typeface="Arial"/>
                <a:cs typeface="Arial"/>
              </a:rPr>
              <a:t>EDR</a:t>
            </a:r>
            <a:r>
              <a:rPr dirty="0" sz="3400" spc="-3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75" b="1">
                <a:solidFill>
                  <a:srgbClr val="080808"/>
                </a:solidFill>
                <a:latin typeface="Arial"/>
                <a:cs typeface="Arial"/>
              </a:rPr>
              <a:t>visibility</a:t>
            </a:r>
            <a:r>
              <a:rPr dirty="0" sz="3400" spc="-15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150" b="1">
                <a:solidFill>
                  <a:srgbClr val="080808"/>
                </a:solidFill>
                <a:latin typeface="Arial"/>
                <a:cs typeface="Arial"/>
              </a:rPr>
              <a:t>gap</a:t>
            </a:r>
            <a:r>
              <a:rPr dirty="0" sz="3400" spc="-32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105" b="1">
                <a:solidFill>
                  <a:srgbClr val="080808"/>
                </a:solidFill>
                <a:latin typeface="Arial"/>
                <a:cs typeface="Arial"/>
              </a:rPr>
              <a:t>at</a:t>
            </a:r>
            <a:r>
              <a:rPr dirty="0" sz="3400" spc="-39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dirty="0" sz="3400" spc="-39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30" b="1">
                <a:solidFill>
                  <a:srgbClr val="080808"/>
                </a:solidFill>
                <a:latin typeface="Arial"/>
                <a:cs typeface="Arial"/>
              </a:rPr>
              <a:t>kernel</a:t>
            </a:r>
            <a:r>
              <a:rPr dirty="0" sz="3400" spc="-55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080808"/>
                </a:solidFill>
                <a:latin typeface="Arial"/>
                <a:cs typeface="Arial"/>
              </a:rPr>
              <a:t>level,</a:t>
            </a:r>
            <a:endParaRPr sz="3400">
              <a:latin typeface="Arial"/>
              <a:cs typeface="Arial"/>
            </a:endParaRPr>
          </a:p>
          <a:p>
            <a:pPr algn="ctr" marR="27305">
              <a:lnSpc>
                <a:spcPct val="100000"/>
              </a:lnSpc>
              <a:spcBef>
                <a:spcPts val="190"/>
              </a:spcBef>
              <a:tabLst>
                <a:tab pos="713105" algn="l"/>
              </a:tabLst>
            </a:pPr>
            <a:r>
              <a:rPr dirty="0" sz="3150" spc="-25">
                <a:solidFill>
                  <a:srgbClr val="080808"/>
                </a:solidFill>
                <a:latin typeface="Arial"/>
                <a:cs typeface="Arial"/>
              </a:rPr>
              <a:t>not</a:t>
            </a:r>
            <a:r>
              <a:rPr dirty="0" sz="3150">
                <a:solidFill>
                  <a:srgbClr val="080808"/>
                </a:solidFill>
                <a:latin typeface="Arial"/>
                <a:cs typeface="Arial"/>
              </a:rPr>
              <a:t>	</a:t>
            </a:r>
            <a:r>
              <a:rPr dirty="0" sz="3150" spc="80">
                <a:solidFill>
                  <a:srgbClr val="080808"/>
                </a:solidFill>
                <a:latin typeface="Arial"/>
                <a:cs typeface="Arial"/>
              </a:rPr>
              <a:t>replacing</a:t>
            </a:r>
            <a:r>
              <a:rPr dirty="0" sz="3150" spc="-36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50" spc="105">
                <a:solidFill>
                  <a:srgbClr val="080808"/>
                </a:solidFill>
                <a:latin typeface="Arial"/>
                <a:cs typeface="Arial"/>
              </a:rPr>
              <a:t>your</a:t>
            </a:r>
            <a:r>
              <a:rPr dirty="0" sz="3150" spc="-18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50" spc="60">
                <a:solidFill>
                  <a:srgbClr val="080808"/>
                </a:solidFill>
                <a:latin typeface="Arial"/>
                <a:cs typeface="Arial"/>
              </a:rPr>
              <a:t>existing</a:t>
            </a:r>
            <a:r>
              <a:rPr dirty="0" sz="3150" spc="-254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50" spc="50">
                <a:solidFill>
                  <a:srgbClr val="080808"/>
                </a:solidFill>
                <a:latin typeface="Arial"/>
                <a:cs typeface="Arial"/>
              </a:rPr>
              <a:t>security</a:t>
            </a:r>
            <a:r>
              <a:rPr dirty="0" sz="3150" spc="-5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3150" spc="40">
                <a:solidFill>
                  <a:srgbClr val="080808"/>
                </a:solidFill>
                <a:latin typeface="Arial"/>
                <a:cs typeface="Arial"/>
              </a:rPr>
              <a:t>investments.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2025-12-07T23:38:15Z</dcterms:created>
  <dcterms:modified xsi:type="dcterms:W3CDTF">2025-12-07T23:38:15Z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2025-12-07T00:00:00Z</vt:filetime>
  </property>
  <property fmtid="{D5CDD505-2E9C-101B-9397-08002B2CF9AE}" pid="3" name="LastSaved">
    <vt:filetime>2025-12-07T00:00:00Z</vt:filetime>
  </property>
</Properties>
</file>