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7475200" cy="9753600"/>
  <p:notesSz cx="17475200" cy="97536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0640" y="3023616"/>
            <a:ext cx="1485392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50" b="1" i="0">
                <a:solidFill>
                  <a:srgbClr val="232324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1280" y="5462016"/>
            <a:ext cx="1223264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rgbClr val="080808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350" b="0" i="0">
                <a:solidFill>
                  <a:srgbClr val="242626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00"/>
              </a:lnSpc>
            </a:pPr>
            <a:r>
              <a:rPr dirty="0" sz="1300" spc="-20">
                <a:solidFill>
                  <a:srgbClr val="363838"/>
                </a:solidFill>
              </a:rPr>
              <a:t>Isl\</a:t>
            </a:r>
            <a:r>
              <a:rPr dirty="0" sz="1300" spc="-45">
                <a:solidFill>
                  <a:srgbClr val="363838"/>
                </a:solidFill>
              </a:rPr>
              <a:t> </a:t>
            </a:r>
            <a:r>
              <a:rPr dirty="0" spc="-10">
                <a:solidFill>
                  <a:srgbClr val="070F1F"/>
                </a:solidFill>
              </a:rPr>
              <a:t>N</a:t>
            </a:r>
            <a:r>
              <a:rPr dirty="0" spc="-10"/>
              <a:t>otebookLM</a:t>
            </a:r>
            <a:endParaRPr sz="1300"/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50" b="1" i="0">
                <a:solidFill>
                  <a:srgbClr val="232324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950" b="1" i="0">
                <a:solidFill>
                  <a:srgbClr val="080808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350" b="0" i="0">
                <a:solidFill>
                  <a:srgbClr val="242626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00"/>
              </a:lnSpc>
            </a:pPr>
            <a:r>
              <a:rPr dirty="0" sz="1300" spc="-20">
                <a:solidFill>
                  <a:srgbClr val="363838"/>
                </a:solidFill>
              </a:rPr>
              <a:t>Isl\</a:t>
            </a:r>
            <a:r>
              <a:rPr dirty="0" sz="1300" spc="-45">
                <a:solidFill>
                  <a:srgbClr val="363838"/>
                </a:solidFill>
              </a:rPr>
              <a:t> </a:t>
            </a:r>
            <a:r>
              <a:rPr dirty="0" spc="-10">
                <a:solidFill>
                  <a:srgbClr val="070F1F"/>
                </a:solidFill>
              </a:rPr>
              <a:t>N</a:t>
            </a:r>
            <a:r>
              <a:rPr dirty="0" spc="-10"/>
              <a:t>otebookLM</a:t>
            </a:r>
            <a:endParaRPr sz="1300"/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7058" y="2553493"/>
            <a:ext cx="2241697" cy="1863857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50793" y="2527961"/>
            <a:ext cx="2063380" cy="1965986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97270" y="6996112"/>
            <a:ext cx="1706746" cy="1940454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348898" y="6919516"/>
            <a:ext cx="2088854" cy="2017051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8750263" y="6996110"/>
            <a:ext cx="0" cy="2145030"/>
          </a:xfrm>
          <a:custGeom>
            <a:avLst/>
            <a:gdLst/>
            <a:ahLst/>
            <a:cxnLst/>
            <a:rect l="l" t="t" r="r" b="b"/>
            <a:pathLst>
              <a:path w="0" h="2145029">
                <a:moveTo>
                  <a:pt x="0" y="2144711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8750263" y="1685395"/>
            <a:ext cx="0" cy="4391660"/>
          </a:xfrm>
          <a:custGeom>
            <a:avLst/>
            <a:gdLst/>
            <a:ahLst/>
            <a:cxnLst/>
            <a:rect l="l" t="t" r="r" b="b"/>
            <a:pathLst>
              <a:path w="0" h="4391660">
                <a:moveTo>
                  <a:pt x="0" y="4391552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9145108" y="6536529"/>
            <a:ext cx="7667625" cy="0"/>
          </a:xfrm>
          <a:custGeom>
            <a:avLst/>
            <a:gdLst/>
            <a:ahLst/>
            <a:cxnLst/>
            <a:rect l="l" t="t" r="r" b="b"/>
            <a:pathLst>
              <a:path w="7667625" h="0">
                <a:moveTo>
                  <a:pt x="0" y="0"/>
                </a:moveTo>
                <a:lnTo>
                  <a:pt x="7667625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713267" y="6536529"/>
            <a:ext cx="7667625" cy="0"/>
          </a:xfrm>
          <a:custGeom>
            <a:avLst/>
            <a:gdLst/>
            <a:ahLst/>
            <a:cxnLst/>
            <a:rect l="l" t="t" r="r" b="b"/>
            <a:pathLst>
              <a:path w="7667625" h="0">
                <a:moveTo>
                  <a:pt x="0" y="0"/>
                </a:moveTo>
                <a:lnTo>
                  <a:pt x="7667625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50" b="1" i="0">
                <a:solidFill>
                  <a:srgbClr val="232324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873760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8999728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350" b="0" i="0">
                <a:solidFill>
                  <a:srgbClr val="242626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00"/>
              </a:lnSpc>
            </a:pPr>
            <a:r>
              <a:rPr dirty="0" sz="1300" spc="-20">
                <a:solidFill>
                  <a:srgbClr val="363838"/>
                </a:solidFill>
              </a:rPr>
              <a:t>Isl\</a:t>
            </a:r>
            <a:r>
              <a:rPr dirty="0" sz="1300" spc="-45">
                <a:solidFill>
                  <a:srgbClr val="363838"/>
                </a:solidFill>
              </a:rPr>
              <a:t> </a:t>
            </a:r>
            <a:r>
              <a:rPr dirty="0" spc="-10">
                <a:solidFill>
                  <a:srgbClr val="070F1F"/>
                </a:solidFill>
              </a:rPr>
              <a:t>N</a:t>
            </a:r>
            <a:r>
              <a:rPr dirty="0" spc="-10"/>
              <a:t>otebookLM</a:t>
            </a:r>
            <a:endParaRPr sz="1300"/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50" b="1" i="0">
                <a:solidFill>
                  <a:srgbClr val="232324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350" b="0" i="0">
                <a:solidFill>
                  <a:srgbClr val="242626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00"/>
              </a:lnSpc>
            </a:pPr>
            <a:r>
              <a:rPr dirty="0" sz="1300" spc="-20">
                <a:solidFill>
                  <a:srgbClr val="363838"/>
                </a:solidFill>
              </a:rPr>
              <a:t>Isl\</a:t>
            </a:r>
            <a:r>
              <a:rPr dirty="0" sz="1300" spc="-45">
                <a:solidFill>
                  <a:srgbClr val="363838"/>
                </a:solidFill>
              </a:rPr>
              <a:t> </a:t>
            </a:r>
            <a:r>
              <a:rPr dirty="0" spc="-10">
                <a:solidFill>
                  <a:srgbClr val="070F1F"/>
                </a:solidFill>
              </a:rPr>
              <a:t>N</a:t>
            </a:r>
            <a:r>
              <a:rPr dirty="0" spc="-10"/>
              <a:t>otebookLM</a:t>
            </a:r>
            <a:endParaRPr sz="1300"/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350" b="0" i="0">
                <a:solidFill>
                  <a:srgbClr val="242626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00"/>
              </a:lnSpc>
            </a:pPr>
            <a:r>
              <a:rPr dirty="0" sz="1300" spc="-20">
                <a:solidFill>
                  <a:srgbClr val="363838"/>
                </a:solidFill>
              </a:rPr>
              <a:t>Isl\</a:t>
            </a:r>
            <a:r>
              <a:rPr dirty="0" sz="1300" spc="-45">
                <a:solidFill>
                  <a:srgbClr val="363838"/>
                </a:solidFill>
              </a:rPr>
              <a:t> </a:t>
            </a:r>
            <a:r>
              <a:rPr dirty="0" spc="-10">
                <a:solidFill>
                  <a:srgbClr val="070F1F"/>
                </a:solidFill>
              </a:rPr>
              <a:t>N</a:t>
            </a:r>
            <a:r>
              <a:rPr dirty="0" spc="-10"/>
              <a:t>otebookLM</a:t>
            </a:r>
            <a:endParaRPr sz="1300"/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26938" y="351400"/>
            <a:ext cx="15021323" cy="1736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50" b="1" i="0">
                <a:solidFill>
                  <a:srgbClr val="232324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063328" y="4091880"/>
            <a:ext cx="7277734" cy="37572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rgbClr val="080808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16147783" y="9418922"/>
            <a:ext cx="1262380" cy="2184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50" b="0" i="0">
                <a:solidFill>
                  <a:srgbClr val="242626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00"/>
              </a:lnSpc>
            </a:pPr>
            <a:r>
              <a:rPr dirty="0" sz="1300" spc="-20">
                <a:solidFill>
                  <a:srgbClr val="363838"/>
                </a:solidFill>
              </a:rPr>
              <a:t>Isl\</a:t>
            </a:r>
            <a:r>
              <a:rPr dirty="0" sz="1300" spc="-45">
                <a:solidFill>
                  <a:srgbClr val="363838"/>
                </a:solidFill>
              </a:rPr>
              <a:t> </a:t>
            </a:r>
            <a:r>
              <a:rPr dirty="0" spc="-10">
                <a:solidFill>
                  <a:srgbClr val="070F1F"/>
                </a:solidFill>
              </a:rPr>
              <a:t>N</a:t>
            </a:r>
            <a:r>
              <a:rPr dirty="0" spc="-10"/>
              <a:t>otebookLM</a:t>
            </a:r>
            <a:endParaRPr sz="1300"/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Relationship Id="rId3" Type="http://schemas.openxmlformats.org/officeDocument/2006/relationships/image" Target="../media/image6.jpg"/><Relationship Id="rId4" Type="http://schemas.openxmlformats.org/officeDocument/2006/relationships/image" Target="../media/image7.jpg"/><Relationship Id="rId5" Type="http://schemas.openxmlformats.org/officeDocument/2006/relationships/image" Target="../media/image8.jpg"/><Relationship Id="rId6" Type="http://schemas.openxmlformats.org/officeDocument/2006/relationships/image" Target="../media/image9.jpg"/><Relationship Id="rId7" Type="http://schemas.openxmlformats.org/officeDocument/2006/relationships/image" Target="../media/image10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jpg"/><Relationship Id="rId3" Type="http://schemas.openxmlformats.org/officeDocument/2006/relationships/image" Target="../media/image12.jpg"/><Relationship Id="rId4" Type="http://schemas.openxmlformats.org/officeDocument/2006/relationships/image" Target="../media/image13.jpg"/><Relationship Id="rId5" Type="http://schemas.openxmlformats.org/officeDocument/2006/relationships/image" Target="../media/image14.jpg"/><Relationship Id="rId6" Type="http://schemas.openxmlformats.org/officeDocument/2006/relationships/image" Target="../media/image15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jpg"/><Relationship Id="rId3" Type="http://schemas.openxmlformats.org/officeDocument/2006/relationships/image" Target="../media/image17.jpg"/><Relationship Id="rId4" Type="http://schemas.openxmlformats.org/officeDocument/2006/relationships/image" Target="../media/image18.jpg"/><Relationship Id="rId5" Type="http://schemas.openxmlformats.org/officeDocument/2006/relationships/image" Target="../media/image19.jpg"/><Relationship Id="rId6" Type="http://schemas.openxmlformats.org/officeDocument/2006/relationships/image" Target="../media/image20.jpg"/><Relationship Id="rId7" Type="http://schemas.openxmlformats.org/officeDocument/2006/relationships/image" Target="../media/image21.jpg"/><Relationship Id="rId8" Type="http://schemas.openxmlformats.org/officeDocument/2006/relationships/image" Target="../media/image22.jpg"/><Relationship Id="rId9" Type="http://schemas.openxmlformats.org/officeDocument/2006/relationships/image" Target="../media/image23.jpg"/><Relationship Id="rId10" Type="http://schemas.openxmlformats.org/officeDocument/2006/relationships/image" Target="../media/image24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5.jpg"/><Relationship Id="rId3" Type="http://schemas.openxmlformats.org/officeDocument/2006/relationships/image" Target="../media/image26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jpg"/><Relationship Id="rId3" Type="http://schemas.openxmlformats.org/officeDocument/2006/relationships/image" Target="../media/image28.jpg"/><Relationship Id="rId4" Type="http://schemas.openxmlformats.org/officeDocument/2006/relationships/image" Target="../media/image29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0.jpg"/><Relationship Id="rId3" Type="http://schemas.openxmlformats.org/officeDocument/2006/relationships/image" Target="../media/image31.jpg"/><Relationship Id="rId4" Type="http://schemas.openxmlformats.org/officeDocument/2006/relationships/image" Target="../media/image32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.jpg"/><Relationship Id="rId3" Type="http://schemas.openxmlformats.org/officeDocument/2006/relationships/image" Target="../media/image35.jpg"/><Relationship Id="rId4" Type="http://schemas.openxmlformats.org/officeDocument/2006/relationships/image" Target="../media/image36.jpg"/><Relationship Id="rId5" Type="http://schemas.openxmlformats.org/officeDocument/2006/relationships/image" Target="../media/image37.jpg"/><Relationship Id="rId6" Type="http://schemas.openxmlformats.org/officeDocument/2006/relationships/image" Target="../media/image38.jpg"/><Relationship Id="rId7" Type="http://schemas.openxmlformats.org/officeDocument/2006/relationships/image" Target="../media/image39.jpg"/><Relationship Id="rId8" Type="http://schemas.openxmlformats.org/officeDocument/2006/relationships/image" Target="../media/image40.jpg"/><Relationship Id="rId9" Type="http://schemas.openxmlformats.org/officeDocument/2006/relationships/image" Target="../media/image41.jpg"/><Relationship Id="rId10" Type="http://schemas.openxmlformats.org/officeDocument/2006/relationships/image" Target="../media/image42.jpg"/><Relationship Id="rId11" Type="http://schemas.openxmlformats.org/officeDocument/2006/relationships/image" Target="../media/image43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68459" y="2681155"/>
            <a:ext cx="2088854" cy="308940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43213" y="2681155"/>
            <a:ext cx="2088854" cy="308940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80892" y="6536531"/>
            <a:ext cx="713267" cy="35745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66110" y="7455693"/>
            <a:ext cx="968005" cy="102129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342985" y="7430161"/>
            <a:ext cx="1044427" cy="107235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870807" y="7430161"/>
            <a:ext cx="993479" cy="1021291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8444577" y="5770560"/>
            <a:ext cx="0" cy="766445"/>
          </a:xfrm>
          <a:custGeom>
            <a:avLst/>
            <a:gdLst/>
            <a:ahLst/>
            <a:cxnLst/>
            <a:rect l="l" t="t" r="r" b="b"/>
            <a:pathLst>
              <a:path w="0" h="766445">
                <a:moveTo>
                  <a:pt x="0" y="765968"/>
                </a:moveTo>
                <a:lnTo>
                  <a:pt x="0" y="0"/>
                </a:lnTo>
              </a:path>
            </a:pathLst>
          </a:custGeom>
          <a:ln w="764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9055949" y="5770560"/>
            <a:ext cx="0" cy="766445"/>
          </a:xfrm>
          <a:custGeom>
            <a:avLst/>
            <a:gdLst/>
            <a:ahLst/>
            <a:cxnLst/>
            <a:rect l="l" t="t" r="r" b="b"/>
            <a:pathLst>
              <a:path w="0" h="766445">
                <a:moveTo>
                  <a:pt x="0" y="765968"/>
                </a:moveTo>
                <a:lnTo>
                  <a:pt x="0" y="0"/>
                </a:lnTo>
              </a:path>
            </a:pathLst>
          </a:custGeom>
          <a:ln w="764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597724" y="2591791"/>
            <a:ext cx="4330700" cy="0"/>
          </a:xfrm>
          <a:custGeom>
            <a:avLst/>
            <a:gdLst/>
            <a:ahLst/>
            <a:cxnLst/>
            <a:rect l="l" t="t" r="r" b="b"/>
            <a:pathLst>
              <a:path w="4330700" h="0">
                <a:moveTo>
                  <a:pt x="0" y="0"/>
                </a:moveTo>
                <a:lnTo>
                  <a:pt x="4330552" y="0"/>
                </a:lnTo>
              </a:path>
            </a:pathLst>
          </a:custGeom>
          <a:ln w="6383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8457314" y="3115203"/>
            <a:ext cx="586105" cy="0"/>
          </a:xfrm>
          <a:custGeom>
            <a:avLst/>
            <a:gdLst/>
            <a:ahLst/>
            <a:cxnLst/>
            <a:rect l="l" t="t" r="r" b="b"/>
            <a:pathLst>
              <a:path w="586104" h="0">
                <a:moveTo>
                  <a:pt x="0" y="0"/>
                </a:moveTo>
                <a:lnTo>
                  <a:pt x="585898" y="0"/>
                </a:lnTo>
              </a:path>
            </a:pathLst>
          </a:custGeom>
          <a:ln w="6383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8457314" y="3753510"/>
            <a:ext cx="586105" cy="0"/>
          </a:xfrm>
          <a:custGeom>
            <a:avLst/>
            <a:gdLst/>
            <a:ahLst/>
            <a:cxnLst/>
            <a:rect l="l" t="t" r="r" b="b"/>
            <a:pathLst>
              <a:path w="586104" h="0">
                <a:moveTo>
                  <a:pt x="0" y="0"/>
                </a:moveTo>
                <a:lnTo>
                  <a:pt x="585898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8457314" y="4200325"/>
            <a:ext cx="586105" cy="0"/>
          </a:xfrm>
          <a:custGeom>
            <a:avLst/>
            <a:gdLst/>
            <a:ahLst/>
            <a:cxnLst/>
            <a:rect l="l" t="t" r="r" b="b"/>
            <a:pathLst>
              <a:path w="586104" h="0">
                <a:moveTo>
                  <a:pt x="0" y="0"/>
                </a:moveTo>
                <a:lnTo>
                  <a:pt x="585898" y="0"/>
                </a:lnTo>
              </a:path>
            </a:pathLst>
          </a:custGeom>
          <a:ln w="7659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8457314" y="5362044"/>
            <a:ext cx="586105" cy="0"/>
          </a:xfrm>
          <a:custGeom>
            <a:avLst/>
            <a:gdLst/>
            <a:ahLst/>
            <a:cxnLst/>
            <a:rect l="l" t="t" r="r" b="b"/>
            <a:pathLst>
              <a:path w="586104" h="0">
                <a:moveTo>
                  <a:pt x="0" y="0"/>
                </a:moveTo>
                <a:lnTo>
                  <a:pt x="585898" y="0"/>
                </a:lnTo>
              </a:path>
            </a:pathLst>
          </a:custGeom>
          <a:ln w="7659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$PPTXTitle"/>
          <p:cNvSpPr txBox="1">
            <a:spLocks noGrp="1"/>
          </p:cNvSpPr>
          <p:nvPr>
            <p:ph type="title"/>
          </p:nvPr>
        </p:nvSpPr>
        <p:spPr>
          <a:xfrm>
            <a:off x="1334769" y="593956"/>
            <a:ext cx="14834235" cy="554355"/>
          </a:xfrm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450" spc="45">
                <a:solidFill>
                  <a:srgbClr val="070F1F"/>
                </a:solidFill>
              </a:rPr>
              <a:t>Seizing</a:t>
            </a:r>
            <a:r>
              <a:rPr dirty="0" sz="3450" spc="-114">
                <a:solidFill>
                  <a:srgbClr val="070F1F"/>
                </a:solidFill>
              </a:rPr>
              <a:t> </a:t>
            </a:r>
            <a:r>
              <a:rPr dirty="0" sz="3450" spc="55">
                <a:solidFill>
                  <a:srgbClr val="070F1F"/>
                </a:solidFill>
              </a:rPr>
              <a:t>a</a:t>
            </a:r>
            <a:r>
              <a:rPr dirty="0" sz="3450" spc="-50">
                <a:solidFill>
                  <a:srgbClr val="070F1F"/>
                </a:solidFill>
              </a:rPr>
              <a:t> </a:t>
            </a:r>
            <a:r>
              <a:rPr dirty="0" sz="3450" spc="250">
                <a:solidFill>
                  <a:srgbClr val="070F1F"/>
                </a:solidFill>
              </a:rPr>
              <a:t>$576M</a:t>
            </a:r>
            <a:r>
              <a:rPr dirty="0" sz="3450" spc="-140">
                <a:solidFill>
                  <a:srgbClr val="070F1F"/>
                </a:solidFill>
              </a:rPr>
              <a:t> </a:t>
            </a:r>
            <a:r>
              <a:rPr dirty="0" sz="3450">
                <a:solidFill>
                  <a:srgbClr val="070F1F"/>
                </a:solidFill>
              </a:rPr>
              <a:t>Revenue</a:t>
            </a:r>
            <a:r>
              <a:rPr dirty="0" sz="3450" spc="55">
                <a:solidFill>
                  <a:srgbClr val="070F1F"/>
                </a:solidFill>
              </a:rPr>
              <a:t> </a:t>
            </a:r>
            <a:r>
              <a:rPr dirty="0" sz="3450">
                <a:solidFill>
                  <a:srgbClr val="070F1F"/>
                </a:solidFill>
              </a:rPr>
              <a:t>Opportunity</a:t>
            </a:r>
            <a:r>
              <a:rPr dirty="0" sz="3450" spc="-5">
                <a:solidFill>
                  <a:srgbClr val="070F1F"/>
                </a:solidFill>
              </a:rPr>
              <a:t> </a:t>
            </a:r>
            <a:r>
              <a:rPr dirty="0" sz="3450" spc="135">
                <a:solidFill>
                  <a:srgbClr val="070F1F"/>
                </a:solidFill>
              </a:rPr>
              <a:t>in</a:t>
            </a:r>
            <a:r>
              <a:rPr dirty="0" sz="3450" spc="-370">
                <a:solidFill>
                  <a:srgbClr val="070F1F"/>
                </a:solidFill>
              </a:rPr>
              <a:t> </a:t>
            </a:r>
            <a:r>
              <a:rPr dirty="0" sz="3450" spc="70">
                <a:solidFill>
                  <a:srgbClr val="070F1F"/>
                </a:solidFill>
              </a:rPr>
              <a:t>Mandatory</a:t>
            </a:r>
            <a:r>
              <a:rPr dirty="0" sz="3450" spc="10">
                <a:solidFill>
                  <a:srgbClr val="070F1F"/>
                </a:solidFill>
              </a:rPr>
              <a:t> </a:t>
            </a:r>
            <a:r>
              <a:rPr dirty="0" sz="3450">
                <a:solidFill>
                  <a:srgbClr val="070F1F"/>
                </a:solidFill>
              </a:rPr>
              <a:t>Security</a:t>
            </a:r>
            <a:r>
              <a:rPr dirty="0" sz="3450" spc="20">
                <a:solidFill>
                  <a:srgbClr val="070F1F"/>
                </a:solidFill>
              </a:rPr>
              <a:t> </a:t>
            </a:r>
            <a:r>
              <a:rPr dirty="0" sz="3450" spc="75">
                <a:solidFill>
                  <a:srgbClr val="070F1F"/>
                </a:solidFill>
              </a:rPr>
              <a:t>Markets</a:t>
            </a:r>
            <a:endParaRPr sz="3450"/>
          </a:p>
        </p:txBody>
      </p:sp>
      <p:sp>
        <p:nvSpPr>
          <p:cNvPr id="26" name="object 2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00"/>
              </a:lnSpc>
            </a:pPr>
            <a:r>
              <a:rPr dirty="0" sz="1300" spc="-20">
                <a:solidFill>
                  <a:srgbClr val="363838"/>
                </a:solidFill>
              </a:rPr>
              <a:t>Isl\</a:t>
            </a:r>
            <a:r>
              <a:rPr dirty="0" sz="1300" spc="-45">
                <a:solidFill>
                  <a:srgbClr val="363838"/>
                </a:solidFill>
              </a:rPr>
              <a:t> </a:t>
            </a:r>
            <a:r>
              <a:rPr dirty="0" spc="-10">
                <a:solidFill>
                  <a:srgbClr val="070F1F"/>
                </a:solidFill>
              </a:rPr>
              <a:t>N</a:t>
            </a:r>
            <a:r>
              <a:rPr dirty="0" spc="-10"/>
              <a:t>otebookLM</a:t>
            </a:r>
            <a:endParaRPr sz="1300"/>
          </a:p>
        </p:txBody>
      </p:sp>
      <p:sp>
        <p:nvSpPr>
          <p:cNvPr id="16" name="object 16"/>
          <p:cNvSpPr txBox="1"/>
          <p:nvPr/>
        </p:nvSpPr>
        <p:spPr>
          <a:xfrm>
            <a:off x="2620403" y="1232261"/>
            <a:ext cx="12302490" cy="7664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576070" marR="5080" indent="-1564005">
              <a:lnSpc>
                <a:spcPct val="108000"/>
              </a:lnSpc>
              <a:spcBef>
                <a:spcPts val="95"/>
              </a:spcBef>
            </a:pPr>
            <a:r>
              <a:rPr dirty="0" sz="2250" spc="-180">
                <a:solidFill>
                  <a:srgbClr val="242626"/>
                </a:solidFill>
                <a:latin typeface="Arial"/>
                <a:cs typeface="Arial"/>
              </a:rPr>
              <a:t>We</a:t>
            </a:r>
            <a:r>
              <a:rPr dirty="0" sz="2250" spc="-204">
                <a:solidFill>
                  <a:srgbClr val="242626"/>
                </a:solidFill>
                <a:latin typeface="Arial"/>
                <a:cs typeface="Arial"/>
              </a:rPr>
              <a:t> </a:t>
            </a:r>
            <a:r>
              <a:rPr dirty="0" sz="2250" spc="-20">
                <a:solidFill>
                  <a:srgbClr val="242626"/>
                </a:solidFill>
                <a:latin typeface="Arial"/>
                <a:cs typeface="Arial"/>
              </a:rPr>
              <a:t>are</a:t>
            </a:r>
            <a:r>
              <a:rPr dirty="0" sz="2250" spc="-220">
                <a:solidFill>
                  <a:srgbClr val="242626"/>
                </a:solidFill>
                <a:latin typeface="Arial"/>
                <a:cs typeface="Arial"/>
              </a:rPr>
              <a:t> </a:t>
            </a:r>
            <a:r>
              <a:rPr dirty="0" sz="2250" spc="-50">
                <a:solidFill>
                  <a:srgbClr val="242626"/>
                </a:solidFill>
                <a:latin typeface="Arial"/>
                <a:cs typeface="Arial"/>
              </a:rPr>
              <a:t>see</a:t>
            </a:r>
            <a:r>
              <a:rPr dirty="0" sz="2250" spc="-50">
                <a:solidFill>
                  <a:srgbClr val="070F1F"/>
                </a:solidFill>
                <a:latin typeface="Arial"/>
                <a:cs typeface="Arial"/>
              </a:rPr>
              <a:t>k</a:t>
            </a:r>
            <a:r>
              <a:rPr dirty="0" sz="2250" spc="-50">
                <a:solidFill>
                  <a:srgbClr val="242626"/>
                </a:solidFill>
                <a:latin typeface="Arial"/>
                <a:cs typeface="Arial"/>
              </a:rPr>
              <a:t>i</a:t>
            </a:r>
            <a:r>
              <a:rPr dirty="0" sz="2250" spc="-50">
                <a:solidFill>
                  <a:srgbClr val="070F1F"/>
                </a:solidFill>
                <a:latin typeface="Arial"/>
                <a:cs typeface="Arial"/>
              </a:rPr>
              <a:t>n</a:t>
            </a:r>
            <a:r>
              <a:rPr dirty="0" sz="2250" spc="-50">
                <a:solidFill>
                  <a:srgbClr val="242626"/>
                </a:solidFill>
                <a:latin typeface="Arial"/>
                <a:cs typeface="Arial"/>
              </a:rPr>
              <a:t>g</a:t>
            </a:r>
            <a:r>
              <a:rPr dirty="0" sz="2250" spc="-204">
                <a:solidFill>
                  <a:srgbClr val="242626"/>
                </a:solidFill>
                <a:latin typeface="Arial"/>
                <a:cs typeface="Arial"/>
              </a:rPr>
              <a:t> </a:t>
            </a:r>
            <a:r>
              <a:rPr dirty="0" sz="2250" spc="-120">
                <a:solidFill>
                  <a:srgbClr val="242626"/>
                </a:solidFill>
                <a:latin typeface="Arial"/>
                <a:cs typeface="Arial"/>
              </a:rPr>
              <a:t>a</a:t>
            </a:r>
            <a:r>
              <a:rPr dirty="0" sz="2250" spc="-145">
                <a:solidFill>
                  <a:srgbClr val="242626"/>
                </a:solidFill>
                <a:latin typeface="Arial"/>
                <a:cs typeface="Arial"/>
              </a:rPr>
              <a:t> </a:t>
            </a:r>
            <a:r>
              <a:rPr dirty="0" sz="2250" spc="-85">
                <a:solidFill>
                  <a:srgbClr val="242626"/>
                </a:solidFill>
                <a:latin typeface="Arial"/>
                <a:cs typeface="Arial"/>
              </a:rPr>
              <a:t>$</a:t>
            </a:r>
            <a:r>
              <a:rPr dirty="0" sz="2250" spc="-85">
                <a:solidFill>
                  <a:srgbClr val="070F1F"/>
                </a:solidFill>
                <a:latin typeface="Arial"/>
                <a:cs typeface="Arial"/>
              </a:rPr>
              <a:t>1</a:t>
            </a:r>
            <a:r>
              <a:rPr dirty="0" sz="2250" spc="-85">
                <a:solidFill>
                  <a:srgbClr val="242626"/>
                </a:solidFill>
                <a:latin typeface="Arial"/>
                <a:cs typeface="Arial"/>
              </a:rPr>
              <a:t>25M-</a:t>
            </a:r>
            <a:r>
              <a:rPr dirty="0" sz="2250" spc="-25">
                <a:solidFill>
                  <a:srgbClr val="242626"/>
                </a:solidFill>
                <a:latin typeface="Arial"/>
                <a:cs typeface="Arial"/>
              </a:rPr>
              <a:t>$</a:t>
            </a:r>
            <a:r>
              <a:rPr dirty="0" sz="2250" spc="-25">
                <a:solidFill>
                  <a:srgbClr val="070F1F"/>
                </a:solidFill>
                <a:latin typeface="Arial"/>
                <a:cs typeface="Arial"/>
              </a:rPr>
              <a:t>1</a:t>
            </a:r>
            <a:r>
              <a:rPr dirty="0" sz="2250" spc="-25">
                <a:solidFill>
                  <a:srgbClr val="242626"/>
                </a:solidFill>
                <a:latin typeface="Arial"/>
                <a:cs typeface="Arial"/>
              </a:rPr>
              <a:t>85Mi</a:t>
            </a:r>
            <a:r>
              <a:rPr dirty="0" sz="2250" spc="-25">
                <a:solidFill>
                  <a:srgbClr val="070F1F"/>
                </a:solidFill>
                <a:latin typeface="Arial"/>
                <a:cs typeface="Arial"/>
              </a:rPr>
              <a:t>n</a:t>
            </a:r>
            <a:r>
              <a:rPr dirty="0" sz="2250" spc="-25">
                <a:solidFill>
                  <a:srgbClr val="242626"/>
                </a:solidFill>
                <a:latin typeface="Arial"/>
                <a:cs typeface="Arial"/>
              </a:rPr>
              <a:t>vest</a:t>
            </a:r>
            <a:r>
              <a:rPr dirty="0" sz="2250" spc="-25">
                <a:solidFill>
                  <a:srgbClr val="070F1F"/>
                </a:solidFill>
                <a:latin typeface="Arial"/>
                <a:cs typeface="Arial"/>
              </a:rPr>
              <a:t>m</a:t>
            </a:r>
            <a:r>
              <a:rPr dirty="0" sz="2250" spc="-25">
                <a:solidFill>
                  <a:srgbClr val="242626"/>
                </a:solidFill>
                <a:latin typeface="Arial"/>
                <a:cs typeface="Arial"/>
              </a:rPr>
              <a:t>ent</a:t>
            </a:r>
            <a:r>
              <a:rPr dirty="0" sz="2250" spc="55">
                <a:solidFill>
                  <a:srgbClr val="242626"/>
                </a:solidFill>
                <a:latin typeface="Arial"/>
                <a:cs typeface="Arial"/>
              </a:rPr>
              <a:t> </a:t>
            </a:r>
            <a:r>
              <a:rPr dirty="0" sz="2250">
                <a:solidFill>
                  <a:srgbClr val="242626"/>
                </a:solidFill>
                <a:latin typeface="Arial"/>
                <a:cs typeface="Arial"/>
              </a:rPr>
              <a:t>to</a:t>
            </a:r>
            <a:r>
              <a:rPr dirty="0" sz="2250" spc="60">
                <a:solidFill>
                  <a:srgbClr val="242626"/>
                </a:solidFill>
                <a:latin typeface="Arial"/>
                <a:cs typeface="Arial"/>
              </a:rPr>
              <a:t> </a:t>
            </a:r>
            <a:r>
              <a:rPr dirty="0" sz="2250">
                <a:solidFill>
                  <a:srgbClr val="070F1F"/>
                </a:solidFill>
                <a:latin typeface="Arial"/>
                <a:cs typeface="Arial"/>
              </a:rPr>
              <a:t>l</a:t>
            </a:r>
            <a:r>
              <a:rPr dirty="0" sz="2250">
                <a:solidFill>
                  <a:srgbClr val="242626"/>
                </a:solidFill>
                <a:latin typeface="Arial"/>
                <a:cs typeface="Arial"/>
              </a:rPr>
              <a:t>aunc</a:t>
            </a:r>
            <a:r>
              <a:rPr dirty="0" sz="2250">
                <a:solidFill>
                  <a:srgbClr val="070F1F"/>
                </a:solidFill>
                <a:latin typeface="Arial"/>
                <a:cs typeface="Arial"/>
              </a:rPr>
              <a:t>h</a:t>
            </a:r>
            <a:r>
              <a:rPr dirty="0" sz="2250" spc="-210">
                <a:solidFill>
                  <a:srgbClr val="070F1F"/>
                </a:solidFill>
                <a:latin typeface="Arial"/>
                <a:cs typeface="Arial"/>
              </a:rPr>
              <a:t> </a:t>
            </a:r>
            <a:r>
              <a:rPr dirty="0" sz="2250" spc="-195">
                <a:solidFill>
                  <a:srgbClr val="242626"/>
                </a:solidFill>
                <a:latin typeface="Arial"/>
                <a:cs typeface="Arial"/>
              </a:rPr>
              <a:t>RLC-</a:t>
            </a:r>
            <a:r>
              <a:rPr dirty="0" sz="2250" spc="-235">
                <a:solidFill>
                  <a:srgbClr val="242626"/>
                </a:solidFill>
                <a:latin typeface="Arial"/>
                <a:cs typeface="Arial"/>
              </a:rPr>
              <a:t>H</a:t>
            </a:r>
            <a:r>
              <a:rPr dirty="0" sz="2250" spc="-120">
                <a:solidFill>
                  <a:srgbClr val="242626"/>
                </a:solidFill>
                <a:latin typeface="Arial"/>
                <a:cs typeface="Arial"/>
              </a:rPr>
              <a:t> </a:t>
            </a:r>
            <a:r>
              <a:rPr dirty="0" sz="2250">
                <a:solidFill>
                  <a:srgbClr val="242626"/>
                </a:solidFill>
                <a:latin typeface="Arial"/>
                <a:cs typeface="Arial"/>
              </a:rPr>
              <a:t>and</a:t>
            </a:r>
            <a:r>
              <a:rPr dirty="0" sz="2250" spc="-204">
                <a:solidFill>
                  <a:srgbClr val="242626"/>
                </a:solidFill>
                <a:latin typeface="Arial"/>
                <a:cs typeface="Arial"/>
              </a:rPr>
              <a:t> </a:t>
            </a:r>
            <a:r>
              <a:rPr dirty="0" sz="2250" spc="-15">
                <a:solidFill>
                  <a:srgbClr val="242626"/>
                </a:solidFill>
                <a:latin typeface="Arial"/>
                <a:cs typeface="Arial"/>
              </a:rPr>
              <a:t>capture</a:t>
            </a:r>
            <a:r>
              <a:rPr dirty="0" sz="2250" spc="-290">
                <a:solidFill>
                  <a:srgbClr val="242626"/>
                </a:solidFill>
                <a:latin typeface="Arial"/>
                <a:cs typeface="Arial"/>
              </a:rPr>
              <a:t> </a:t>
            </a:r>
            <a:r>
              <a:rPr dirty="0" sz="2250" spc="-10">
                <a:solidFill>
                  <a:srgbClr val="242626"/>
                </a:solidFill>
                <a:latin typeface="Arial"/>
                <a:cs typeface="Arial"/>
              </a:rPr>
              <a:t>10%</a:t>
            </a:r>
            <a:r>
              <a:rPr dirty="0" sz="2250" spc="-245">
                <a:solidFill>
                  <a:srgbClr val="242626"/>
                </a:solidFill>
                <a:latin typeface="Arial"/>
                <a:cs typeface="Arial"/>
              </a:rPr>
              <a:t> </a:t>
            </a:r>
            <a:r>
              <a:rPr dirty="0" sz="2250">
                <a:solidFill>
                  <a:srgbClr val="242626"/>
                </a:solidFill>
                <a:latin typeface="Arial"/>
                <a:cs typeface="Arial"/>
              </a:rPr>
              <a:t>of</a:t>
            </a:r>
            <a:r>
              <a:rPr dirty="0" sz="2250" spc="-165">
                <a:solidFill>
                  <a:srgbClr val="242626"/>
                </a:solidFill>
                <a:latin typeface="Arial"/>
                <a:cs typeface="Arial"/>
              </a:rPr>
              <a:t> </a:t>
            </a:r>
            <a:r>
              <a:rPr dirty="0" sz="2250" spc="-10">
                <a:solidFill>
                  <a:srgbClr val="242626"/>
                </a:solidFill>
                <a:latin typeface="Arial"/>
                <a:cs typeface="Arial"/>
              </a:rPr>
              <a:t>an</a:t>
            </a:r>
            <a:r>
              <a:rPr dirty="0" sz="2250" spc="-275">
                <a:solidFill>
                  <a:srgbClr val="242626"/>
                </a:solidFill>
                <a:latin typeface="Arial"/>
                <a:cs typeface="Arial"/>
              </a:rPr>
              <a:t> </a:t>
            </a:r>
            <a:r>
              <a:rPr dirty="0" sz="2250">
                <a:solidFill>
                  <a:srgbClr val="242626"/>
                </a:solidFill>
                <a:latin typeface="Arial"/>
                <a:cs typeface="Arial"/>
              </a:rPr>
              <a:t>untap</a:t>
            </a:r>
            <a:r>
              <a:rPr dirty="0" sz="2250">
                <a:solidFill>
                  <a:srgbClr val="070F1F"/>
                </a:solidFill>
                <a:latin typeface="Arial"/>
                <a:cs typeface="Arial"/>
              </a:rPr>
              <a:t>p</a:t>
            </a:r>
            <a:r>
              <a:rPr dirty="0" sz="2250">
                <a:solidFill>
                  <a:srgbClr val="242626"/>
                </a:solidFill>
                <a:latin typeface="Arial"/>
                <a:cs typeface="Arial"/>
              </a:rPr>
              <a:t>ed</a:t>
            </a:r>
            <a:r>
              <a:rPr dirty="0" sz="2250" spc="-100">
                <a:solidFill>
                  <a:srgbClr val="242626"/>
                </a:solidFill>
                <a:latin typeface="Arial"/>
                <a:cs typeface="Arial"/>
              </a:rPr>
              <a:t> </a:t>
            </a:r>
            <a:r>
              <a:rPr dirty="0" sz="2250" spc="-10">
                <a:solidFill>
                  <a:srgbClr val="242626"/>
                </a:solidFill>
                <a:latin typeface="Arial"/>
                <a:cs typeface="Arial"/>
              </a:rPr>
              <a:t>$5</a:t>
            </a:r>
            <a:r>
              <a:rPr dirty="0" sz="2250" spc="-10">
                <a:solidFill>
                  <a:srgbClr val="070F1F"/>
                </a:solidFill>
                <a:latin typeface="Arial"/>
                <a:cs typeface="Arial"/>
              </a:rPr>
              <a:t>.</a:t>
            </a:r>
            <a:r>
              <a:rPr dirty="0" sz="2250" spc="-10">
                <a:solidFill>
                  <a:srgbClr val="242626"/>
                </a:solidFill>
                <a:latin typeface="Arial"/>
                <a:cs typeface="Arial"/>
              </a:rPr>
              <a:t>76B </a:t>
            </a:r>
            <a:r>
              <a:rPr dirty="0" sz="2250" spc="-25">
                <a:solidFill>
                  <a:srgbClr val="242626"/>
                </a:solidFill>
                <a:latin typeface="Arial"/>
                <a:cs typeface="Arial"/>
              </a:rPr>
              <a:t>ma</a:t>
            </a:r>
            <a:r>
              <a:rPr dirty="0" sz="2250" spc="-25">
                <a:solidFill>
                  <a:srgbClr val="070F1F"/>
                </a:solidFill>
                <a:latin typeface="Arial"/>
                <a:cs typeface="Arial"/>
              </a:rPr>
              <a:t>r</a:t>
            </a:r>
            <a:r>
              <a:rPr dirty="0" sz="2250" spc="-25">
                <a:solidFill>
                  <a:srgbClr val="242626"/>
                </a:solidFill>
                <a:latin typeface="Arial"/>
                <a:cs typeface="Arial"/>
              </a:rPr>
              <a:t>ket</a:t>
            </a:r>
            <a:r>
              <a:rPr dirty="0" sz="2250" spc="-110">
                <a:solidFill>
                  <a:srgbClr val="242626"/>
                </a:solidFill>
                <a:latin typeface="Arial"/>
                <a:cs typeface="Arial"/>
              </a:rPr>
              <a:t> </a:t>
            </a:r>
            <a:r>
              <a:rPr dirty="0" sz="2250" spc="-25">
                <a:solidFill>
                  <a:srgbClr val="242626"/>
                </a:solidFill>
                <a:latin typeface="Arial"/>
                <a:cs typeface="Arial"/>
              </a:rPr>
              <a:t>c</a:t>
            </a:r>
            <a:r>
              <a:rPr dirty="0" sz="2250" spc="-25">
                <a:solidFill>
                  <a:srgbClr val="070F1F"/>
                </a:solidFill>
                <a:latin typeface="Arial"/>
                <a:cs typeface="Arial"/>
              </a:rPr>
              <a:t>r</a:t>
            </a:r>
            <a:r>
              <a:rPr dirty="0" sz="2250" spc="-25">
                <a:solidFill>
                  <a:srgbClr val="242626"/>
                </a:solidFill>
                <a:latin typeface="Arial"/>
                <a:cs typeface="Arial"/>
              </a:rPr>
              <a:t>eated</a:t>
            </a:r>
            <a:r>
              <a:rPr dirty="0" sz="2250" spc="-175">
                <a:solidFill>
                  <a:srgbClr val="242626"/>
                </a:solidFill>
                <a:latin typeface="Arial"/>
                <a:cs typeface="Arial"/>
              </a:rPr>
              <a:t> </a:t>
            </a:r>
            <a:r>
              <a:rPr dirty="0" sz="2250">
                <a:solidFill>
                  <a:srgbClr val="242626"/>
                </a:solidFill>
                <a:latin typeface="Arial"/>
                <a:cs typeface="Arial"/>
              </a:rPr>
              <a:t>by</a:t>
            </a:r>
            <a:r>
              <a:rPr dirty="0" sz="2250" spc="-270">
                <a:solidFill>
                  <a:srgbClr val="242626"/>
                </a:solidFill>
                <a:latin typeface="Arial"/>
                <a:cs typeface="Arial"/>
              </a:rPr>
              <a:t> </a:t>
            </a:r>
            <a:r>
              <a:rPr dirty="0" sz="2250">
                <a:solidFill>
                  <a:srgbClr val="242626"/>
                </a:solidFill>
                <a:latin typeface="Arial"/>
                <a:cs typeface="Arial"/>
              </a:rPr>
              <a:t>a</a:t>
            </a:r>
            <a:r>
              <a:rPr dirty="0" sz="2250" spc="-235">
                <a:solidFill>
                  <a:srgbClr val="242626"/>
                </a:solidFill>
                <a:latin typeface="Arial"/>
                <a:cs typeface="Arial"/>
              </a:rPr>
              <a:t> </a:t>
            </a:r>
            <a:r>
              <a:rPr dirty="0" sz="2250">
                <a:solidFill>
                  <a:srgbClr val="242626"/>
                </a:solidFill>
                <a:latin typeface="Arial"/>
                <a:cs typeface="Arial"/>
              </a:rPr>
              <a:t>perfect</a:t>
            </a:r>
            <a:r>
              <a:rPr dirty="0" sz="2250" spc="-20">
                <a:solidFill>
                  <a:srgbClr val="242626"/>
                </a:solidFill>
                <a:latin typeface="Arial"/>
                <a:cs typeface="Arial"/>
              </a:rPr>
              <a:t> </a:t>
            </a:r>
            <a:r>
              <a:rPr dirty="0" sz="2250">
                <a:solidFill>
                  <a:srgbClr val="242626"/>
                </a:solidFill>
                <a:latin typeface="Arial"/>
                <a:cs typeface="Arial"/>
              </a:rPr>
              <a:t>storm</a:t>
            </a:r>
            <a:r>
              <a:rPr dirty="0" sz="2250" spc="-140">
                <a:solidFill>
                  <a:srgbClr val="242626"/>
                </a:solidFill>
                <a:latin typeface="Arial"/>
                <a:cs typeface="Arial"/>
              </a:rPr>
              <a:t> </a:t>
            </a:r>
            <a:r>
              <a:rPr dirty="0" sz="2250" spc="90">
                <a:solidFill>
                  <a:srgbClr val="242626"/>
                </a:solidFill>
                <a:latin typeface="Arial"/>
                <a:cs typeface="Arial"/>
              </a:rPr>
              <a:t>of</a:t>
            </a:r>
            <a:r>
              <a:rPr dirty="0" sz="2250" spc="-245">
                <a:solidFill>
                  <a:srgbClr val="242626"/>
                </a:solidFill>
                <a:latin typeface="Arial"/>
                <a:cs typeface="Arial"/>
              </a:rPr>
              <a:t> </a:t>
            </a:r>
            <a:r>
              <a:rPr dirty="0" sz="2250">
                <a:solidFill>
                  <a:srgbClr val="070F1F"/>
                </a:solidFill>
                <a:latin typeface="Arial"/>
                <a:cs typeface="Arial"/>
              </a:rPr>
              <a:t>r</a:t>
            </a:r>
            <a:r>
              <a:rPr dirty="0" sz="2250">
                <a:solidFill>
                  <a:srgbClr val="242626"/>
                </a:solidFill>
                <a:latin typeface="Arial"/>
                <a:cs typeface="Arial"/>
              </a:rPr>
              <a:t>egu</a:t>
            </a:r>
            <a:r>
              <a:rPr dirty="0" sz="2250">
                <a:solidFill>
                  <a:srgbClr val="070F1F"/>
                </a:solidFill>
                <a:latin typeface="Arial"/>
                <a:cs typeface="Arial"/>
              </a:rPr>
              <a:t>l</a:t>
            </a:r>
            <a:r>
              <a:rPr dirty="0" sz="2250">
                <a:solidFill>
                  <a:srgbClr val="242626"/>
                </a:solidFill>
                <a:latin typeface="Arial"/>
                <a:cs typeface="Arial"/>
              </a:rPr>
              <a:t>atory</a:t>
            </a:r>
            <a:r>
              <a:rPr dirty="0" sz="2250" spc="-155">
                <a:solidFill>
                  <a:srgbClr val="242626"/>
                </a:solidFill>
                <a:latin typeface="Arial"/>
                <a:cs typeface="Arial"/>
              </a:rPr>
              <a:t> </a:t>
            </a:r>
            <a:r>
              <a:rPr dirty="0" sz="2250" spc="-45">
                <a:solidFill>
                  <a:srgbClr val="070F1F"/>
                </a:solidFill>
                <a:latin typeface="Arial"/>
                <a:cs typeface="Arial"/>
              </a:rPr>
              <a:t>pr</a:t>
            </a:r>
            <a:r>
              <a:rPr dirty="0" sz="2250" spc="-45">
                <a:solidFill>
                  <a:srgbClr val="242626"/>
                </a:solidFill>
                <a:latin typeface="Arial"/>
                <a:cs typeface="Arial"/>
              </a:rPr>
              <a:t>essure</a:t>
            </a:r>
            <a:r>
              <a:rPr dirty="0" sz="2250" spc="-315">
                <a:solidFill>
                  <a:srgbClr val="242626"/>
                </a:solidFill>
                <a:latin typeface="Arial"/>
                <a:cs typeface="Arial"/>
              </a:rPr>
              <a:t> </a:t>
            </a:r>
            <a:r>
              <a:rPr dirty="0" sz="2250">
                <a:solidFill>
                  <a:srgbClr val="242626"/>
                </a:solidFill>
                <a:latin typeface="Arial"/>
                <a:cs typeface="Arial"/>
              </a:rPr>
              <a:t>and</a:t>
            </a:r>
            <a:r>
              <a:rPr dirty="0" sz="2250" spc="-170">
                <a:solidFill>
                  <a:srgbClr val="242626"/>
                </a:solidFill>
                <a:latin typeface="Arial"/>
                <a:cs typeface="Arial"/>
              </a:rPr>
              <a:t> </a:t>
            </a:r>
            <a:r>
              <a:rPr dirty="0" sz="2250" spc="-20">
                <a:solidFill>
                  <a:srgbClr val="242626"/>
                </a:solidFill>
                <a:latin typeface="Arial"/>
                <a:cs typeface="Arial"/>
              </a:rPr>
              <a:t>market</a:t>
            </a:r>
            <a:r>
              <a:rPr dirty="0" sz="2250" spc="-105">
                <a:solidFill>
                  <a:srgbClr val="242626"/>
                </a:solidFill>
                <a:latin typeface="Arial"/>
                <a:cs typeface="Arial"/>
              </a:rPr>
              <a:t> </a:t>
            </a:r>
            <a:r>
              <a:rPr dirty="0" sz="2250" spc="-10">
                <a:solidFill>
                  <a:srgbClr val="070F1F"/>
                </a:solidFill>
                <a:latin typeface="Arial"/>
                <a:cs typeface="Arial"/>
              </a:rPr>
              <a:t>n</a:t>
            </a:r>
            <a:r>
              <a:rPr dirty="0" sz="2250" spc="-10">
                <a:solidFill>
                  <a:srgbClr val="242626"/>
                </a:solidFill>
                <a:latin typeface="Arial"/>
                <a:cs typeface="Arial"/>
              </a:rPr>
              <a:t>ee</a:t>
            </a:r>
            <a:r>
              <a:rPr dirty="0" sz="2250" spc="-10">
                <a:solidFill>
                  <a:srgbClr val="070F1F"/>
                </a:solidFill>
                <a:latin typeface="Arial"/>
                <a:cs typeface="Arial"/>
              </a:rPr>
              <a:t>d</a:t>
            </a:r>
            <a:r>
              <a:rPr dirty="0" sz="2250" spc="-10">
                <a:solidFill>
                  <a:srgbClr val="242626"/>
                </a:solidFill>
                <a:latin typeface="Arial"/>
                <a:cs typeface="Arial"/>
              </a:rPr>
              <a:t>.</a:t>
            </a:r>
            <a:endParaRPr sz="22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043542" y="3128036"/>
            <a:ext cx="250825" cy="3473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100" spc="-365">
                <a:solidFill>
                  <a:srgbClr val="7C7E80"/>
                </a:solidFill>
                <a:latin typeface="Arial"/>
                <a:cs typeface="Arial"/>
              </a:rPr>
              <a:t>◄</a:t>
            </a:r>
            <a:endParaRPr sz="21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2002194" y="2942928"/>
            <a:ext cx="2697480" cy="702310"/>
          </a:xfrm>
          <a:prstGeom prst="rect">
            <a:avLst/>
          </a:prstGeom>
        </p:spPr>
        <p:txBody>
          <a:bodyPr wrap="square" lIns="0" tIns="34290" rIns="0" bIns="0" rtlCol="0" vert="horz">
            <a:spAutoFit/>
          </a:bodyPr>
          <a:lstStyle/>
          <a:p>
            <a:pPr marL="12700" marR="5080" indent="1905">
              <a:lnSpc>
                <a:spcPts val="2610"/>
              </a:lnSpc>
              <a:spcBef>
                <a:spcPts val="270"/>
              </a:spcBef>
            </a:pPr>
            <a:r>
              <a:rPr dirty="0" sz="2250" spc="-30">
                <a:solidFill>
                  <a:srgbClr val="6B6E72"/>
                </a:solidFill>
                <a:latin typeface="Arial"/>
                <a:cs typeface="Arial"/>
              </a:rPr>
              <a:t>Total</a:t>
            </a:r>
            <a:r>
              <a:rPr dirty="0" sz="2250" spc="-260">
                <a:solidFill>
                  <a:srgbClr val="6B6E72"/>
                </a:solidFill>
                <a:latin typeface="Arial"/>
                <a:cs typeface="Arial"/>
              </a:rPr>
              <a:t> </a:t>
            </a:r>
            <a:r>
              <a:rPr dirty="0" sz="2250" spc="-45">
                <a:solidFill>
                  <a:srgbClr val="6B6E72"/>
                </a:solidFill>
                <a:latin typeface="Arial"/>
                <a:cs typeface="Arial"/>
              </a:rPr>
              <a:t>Enterprise</a:t>
            </a:r>
            <a:r>
              <a:rPr dirty="0" sz="2250" spc="-35">
                <a:solidFill>
                  <a:srgbClr val="6B6E72"/>
                </a:solidFill>
                <a:latin typeface="Arial"/>
                <a:cs typeface="Arial"/>
              </a:rPr>
              <a:t> </a:t>
            </a:r>
            <a:r>
              <a:rPr dirty="0" sz="2250" spc="-10">
                <a:solidFill>
                  <a:srgbClr val="6B6E72"/>
                </a:solidFill>
                <a:latin typeface="Arial"/>
                <a:cs typeface="Arial"/>
              </a:rPr>
              <a:t>Linux </a:t>
            </a:r>
            <a:r>
              <a:rPr dirty="0" sz="2250" spc="-30">
                <a:solidFill>
                  <a:srgbClr val="6B6E72"/>
                </a:solidFill>
                <a:latin typeface="Arial"/>
                <a:cs typeface="Arial"/>
              </a:rPr>
              <a:t>Market</a:t>
            </a:r>
            <a:r>
              <a:rPr dirty="0" sz="2250" spc="-65">
                <a:solidFill>
                  <a:srgbClr val="6B6E72"/>
                </a:solidFill>
                <a:latin typeface="Arial"/>
                <a:cs typeface="Arial"/>
              </a:rPr>
              <a:t> </a:t>
            </a:r>
            <a:r>
              <a:rPr dirty="0" sz="2250" spc="-100">
                <a:solidFill>
                  <a:srgbClr val="6B6E72"/>
                </a:solidFill>
                <a:latin typeface="Arial"/>
                <a:cs typeface="Arial"/>
              </a:rPr>
              <a:t>($14.4B</a:t>
            </a:r>
            <a:r>
              <a:rPr dirty="0" sz="2250" spc="-180">
                <a:solidFill>
                  <a:srgbClr val="6B6E72"/>
                </a:solidFill>
                <a:latin typeface="Arial"/>
                <a:cs typeface="Arial"/>
              </a:rPr>
              <a:t> </a:t>
            </a:r>
            <a:r>
              <a:rPr dirty="0" sz="2250" spc="-20">
                <a:solidFill>
                  <a:srgbClr val="6B6E72"/>
                </a:solidFill>
                <a:latin typeface="Arial"/>
                <a:cs typeface="Arial"/>
              </a:rPr>
              <a:t>TAM)</a:t>
            </a:r>
            <a:endParaRPr sz="22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100114" y="4525929"/>
            <a:ext cx="234315" cy="3549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150" spc="-540">
                <a:solidFill>
                  <a:srgbClr val="7C7E80"/>
                </a:solidFill>
                <a:latin typeface="Arial"/>
                <a:cs typeface="Arial"/>
              </a:rPr>
              <a:t>◄</a:t>
            </a:r>
            <a:endParaRPr sz="21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1054090" y="4347203"/>
            <a:ext cx="4067810" cy="702310"/>
          </a:xfrm>
          <a:prstGeom prst="rect">
            <a:avLst/>
          </a:prstGeom>
        </p:spPr>
        <p:txBody>
          <a:bodyPr wrap="square" lIns="0" tIns="34290" rIns="0" bIns="0" rtlCol="0" vert="horz">
            <a:spAutoFit/>
          </a:bodyPr>
          <a:lstStyle/>
          <a:p>
            <a:pPr marL="12700" marR="5080" indent="1905">
              <a:lnSpc>
                <a:spcPts val="2610"/>
              </a:lnSpc>
              <a:spcBef>
                <a:spcPts val="270"/>
              </a:spcBef>
            </a:pPr>
            <a:r>
              <a:rPr dirty="0" sz="2250" spc="-65">
                <a:solidFill>
                  <a:srgbClr val="6B6E72"/>
                </a:solidFill>
                <a:latin typeface="Arial"/>
                <a:cs typeface="Arial"/>
              </a:rPr>
              <a:t>Addressable</a:t>
            </a:r>
            <a:r>
              <a:rPr dirty="0" sz="2250" spc="-95">
                <a:solidFill>
                  <a:srgbClr val="6B6E72"/>
                </a:solidFill>
                <a:latin typeface="Arial"/>
                <a:cs typeface="Arial"/>
              </a:rPr>
              <a:t> </a:t>
            </a:r>
            <a:r>
              <a:rPr dirty="0" sz="2250" spc="-30">
                <a:solidFill>
                  <a:srgbClr val="6B6E72"/>
                </a:solidFill>
                <a:latin typeface="Arial"/>
                <a:cs typeface="Arial"/>
              </a:rPr>
              <a:t>Security</a:t>
            </a:r>
            <a:r>
              <a:rPr dirty="0" sz="2250" spc="-85">
                <a:solidFill>
                  <a:srgbClr val="6B6E72"/>
                </a:solidFill>
                <a:latin typeface="Arial"/>
                <a:cs typeface="Arial"/>
              </a:rPr>
              <a:t> </a:t>
            </a:r>
            <a:r>
              <a:rPr dirty="0" sz="2250" spc="-50">
                <a:solidFill>
                  <a:srgbClr val="6B6E72"/>
                </a:solidFill>
                <a:latin typeface="Arial"/>
                <a:cs typeface="Arial"/>
              </a:rPr>
              <a:t>&amp; </a:t>
            </a:r>
            <a:r>
              <a:rPr dirty="0" sz="2250" spc="-45">
                <a:solidFill>
                  <a:srgbClr val="6B6E72"/>
                </a:solidFill>
                <a:latin typeface="Arial"/>
                <a:cs typeface="Arial"/>
              </a:rPr>
              <a:t>Compliance</a:t>
            </a:r>
            <a:r>
              <a:rPr dirty="0" sz="2250" spc="-85">
                <a:solidFill>
                  <a:srgbClr val="6B6E72"/>
                </a:solidFill>
                <a:latin typeface="Arial"/>
                <a:cs typeface="Arial"/>
              </a:rPr>
              <a:t> </a:t>
            </a:r>
            <a:r>
              <a:rPr dirty="0" sz="2250" spc="-45">
                <a:solidFill>
                  <a:srgbClr val="6B6E72"/>
                </a:solidFill>
                <a:latin typeface="Arial"/>
                <a:cs typeface="Arial"/>
              </a:rPr>
              <a:t>Market</a:t>
            </a:r>
            <a:r>
              <a:rPr dirty="0" sz="2250" spc="-125">
                <a:solidFill>
                  <a:srgbClr val="6B6E72"/>
                </a:solidFill>
                <a:latin typeface="Arial"/>
                <a:cs typeface="Arial"/>
              </a:rPr>
              <a:t> </a:t>
            </a:r>
            <a:r>
              <a:rPr dirty="0" sz="2250" spc="-95">
                <a:solidFill>
                  <a:srgbClr val="6B6E72"/>
                </a:solidFill>
                <a:latin typeface="Arial"/>
                <a:cs typeface="Arial"/>
              </a:rPr>
              <a:t>($5.76B</a:t>
            </a:r>
            <a:r>
              <a:rPr dirty="0" sz="2250" spc="10">
                <a:solidFill>
                  <a:srgbClr val="6B6E72"/>
                </a:solidFill>
                <a:latin typeface="Arial"/>
                <a:cs typeface="Arial"/>
              </a:rPr>
              <a:t> </a:t>
            </a:r>
            <a:r>
              <a:rPr dirty="0" sz="2250" spc="-195">
                <a:solidFill>
                  <a:srgbClr val="6B6E72"/>
                </a:solidFill>
                <a:latin typeface="Arial"/>
                <a:cs typeface="Arial"/>
              </a:rPr>
              <a:t>SAM)</a:t>
            </a:r>
            <a:endParaRPr sz="225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209426" y="5949354"/>
            <a:ext cx="250825" cy="3473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100" spc="-365">
                <a:solidFill>
                  <a:srgbClr val="CA9718"/>
                </a:solidFill>
                <a:latin typeface="Arial"/>
                <a:cs typeface="Arial"/>
              </a:rPr>
              <a:t>◄</a:t>
            </a:r>
            <a:endParaRPr sz="21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0163078" y="5930205"/>
            <a:ext cx="3877310" cy="3702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250" spc="-50">
                <a:solidFill>
                  <a:srgbClr val="AF9759"/>
                </a:solidFill>
                <a:latin typeface="Arial"/>
                <a:cs typeface="Arial"/>
              </a:rPr>
              <a:t>Our</a:t>
            </a:r>
            <a:r>
              <a:rPr dirty="0" sz="2250" spc="-195">
                <a:solidFill>
                  <a:srgbClr val="AF9759"/>
                </a:solidFill>
                <a:latin typeface="Arial"/>
                <a:cs typeface="Arial"/>
              </a:rPr>
              <a:t> </a:t>
            </a:r>
            <a:r>
              <a:rPr dirty="0" sz="2250" spc="-120">
                <a:solidFill>
                  <a:srgbClr val="AF9759"/>
                </a:solidFill>
                <a:latin typeface="Arial"/>
                <a:cs typeface="Arial"/>
              </a:rPr>
              <a:t>3-</a:t>
            </a:r>
            <a:r>
              <a:rPr dirty="0" sz="2250" spc="-150">
                <a:solidFill>
                  <a:srgbClr val="AF9759"/>
                </a:solidFill>
                <a:latin typeface="Arial"/>
                <a:cs typeface="Arial"/>
              </a:rPr>
              <a:t>Year</a:t>
            </a:r>
            <a:r>
              <a:rPr dirty="0" sz="2250" spc="-204">
                <a:solidFill>
                  <a:srgbClr val="AF9759"/>
                </a:solidFill>
                <a:latin typeface="Arial"/>
                <a:cs typeface="Arial"/>
              </a:rPr>
              <a:t> </a:t>
            </a:r>
            <a:r>
              <a:rPr dirty="0" sz="2250" spc="-75">
                <a:solidFill>
                  <a:srgbClr val="AF9759"/>
                </a:solidFill>
                <a:latin typeface="Arial"/>
                <a:cs typeface="Arial"/>
              </a:rPr>
              <a:t>Target</a:t>
            </a:r>
            <a:r>
              <a:rPr dirty="0" sz="2250" spc="-55">
                <a:solidFill>
                  <a:srgbClr val="AF9759"/>
                </a:solidFill>
                <a:latin typeface="Arial"/>
                <a:cs typeface="Arial"/>
              </a:rPr>
              <a:t> </a:t>
            </a:r>
            <a:r>
              <a:rPr dirty="0" sz="2050" spc="75" b="1">
                <a:solidFill>
                  <a:srgbClr val="B58C2A"/>
                </a:solidFill>
                <a:latin typeface="Arial"/>
                <a:cs typeface="Arial"/>
              </a:rPr>
              <a:t>($576M</a:t>
            </a:r>
            <a:r>
              <a:rPr dirty="0" sz="2050" spc="-155" b="1">
                <a:solidFill>
                  <a:srgbClr val="B58C2A"/>
                </a:solidFill>
                <a:latin typeface="Arial"/>
                <a:cs typeface="Arial"/>
              </a:rPr>
              <a:t> </a:t>
            </a:r>
            <a:r>
              <a:rPr dirty="0" sz="2050" spc="-20" b="1">
                <a:solidFill>
                  <a:srgbClr val="B58C2A"/>
                </a:solidFill>
                <a:latin typeface="Arial"/>
                <a:cs typeface="Arial"/>
              </a:rPr>
              <a:t>SOM)</a:t>
            </a:r>
            <a:endParaRPr sz="205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203894" y="7274885"/>
            <a:ext cx="3312795" cy="1774189"/>
          </a:xfrm>
          <a:prstGeom prst="rect">
            <a:avLst/>
          </a:prstGeom>
        </p:spPr>
        <p:txBody>
          <a:bodyPr wrap="square" lIns="0" tIns="144145" rIns="0" bIns="0" rtlCol="0" vert="horz">
            <a:spAutoFit/>
          </a:bodyPr>
          <a:lstStyle/>
          <a:p>
            <a:pPr marL="18415">
              <a:lnSpc>
                <a:spcPct val="100000"/>
              </a:lnSpc>
              <a:spcBef>
                <a:spcPts val="1135"/>
              </a:spcBef>
            </a:pPr>
            <a:r>
              <a:rPr dirty="0" sz="2300" spc="50" b="1">
                <a:solidFill>
                  <a:srgbClr val="070F1F"/>
                </a:solidFill>
                <a:latin typeface="Arial"/>
                <a:cs typeface="Arial"/>
              </a:rPr>
              <a:t>The</a:t>
            </a:r>
            <a:r>
              <a:rPr dirty="0" sz="2300" spc="-140" b="1">
                <a:solidFill>
                  <a:srgbClr val="070F1F"/>
                </a:solidFill>
                <a:latin typeface="Arial"/>
                <a:cs typeface="Arial"/>
              </a:rPr>
              <a:t> </a:t>
            </a:r>
            <a:r>
              <a:rPr dirty="0" sz="2300" spc="55" b="1">
                <a:solidFill>
                  <a:srgbClr val="070F1F"/>
                </a:solidFill>
                <a:latin typeface="Arial"/>
                <a:cs typeface="Arial"/>
              </a:rPr>
              <a:t>Opportunity</a:t>
            </a:r>
            <a:endParaRPr sz="2300">
              <a:latin typeface="Arial"/>
              <a:cs typeface="Arial"/>
            </a:endParaRPr>
          </a:p>
          <a:p>
            <a:pPr marL="15240" marR="5080" indent="-3175">
              <a:lnSpc>
                <a:spcPct val="99900"/>
              </a:lnSpc>
              <a:spcBef>
                <a:spcPts val="855"/>
              </a:spcBef>
            </a:pPr>
            <a:r>
              <a:rPr dirty="0" sz="1900" spc="-110">
                <a:solidFill>
                  <a:srgbClr val="242626"/>
                </a:solidFill>
                <a:latin typeface="Arial"/>
                <a:cs typeface="Arial"/>
              </a:rPr>
              <a:t>A</a:t>
            </a:r>
            <a:r>
              <a:rPr dirty="0" sz="1900" spc="-85">
                <a:solidFill>
                  <a:srgbClr val="242626"/>
                </a:solidFill>
                <a:latin typeface="Arial"/>
                <a:cs typeface="Arial"/>
              </a:rPr>
              <a:t> $5</a:t>
            </a:r>
            <a:r>
              <a:rPr dirty="0" sz="1900" spc="-85">
                <a:solidFill>
                  <a:srgbClr val="070F1F"/>
                </a:solidFill>
                <a:latin typeface="Arial"/>
                <a:cs typeface="Arial"/>
              </a:rPr>
              <a:t>.</a:t>
            </a:r>
            <a:r>
              <a:rPr dirty="0" sz="1900" spc="-85">
                <a:solidFill>
                  <a:srgbClr val="242626"/>
                </a:solidFill>
                <a:latin typeface="Arial"/>
                <a:cs typeface="Arial"/>
              </a:rPr>
              <a:t>76Bserviceable</a:t>
            </a:r>
            <a:r>
              <a:rPr dirty="0" sz="1900" spc="-40">
                <a:solidFill>
                  <a:srgbClr val="242626"/>
                </a:solidFill>
                <a:latin typeface="Arial"/>
                <a:cs typeface="Arial"/>
              </a:rPr>
              <a:t> </a:t>
            </a:r>
            <a:r>
              <a:rPr dirty="0" sz="1900" spc="-10">
                <a:solidFill>
                  <a:srgbClr val="242626"/>
                </a:solidFill>
                <a:latin typeface="Arial"/>
                <a:cs typeface="Arial"/>
              </a:rPr>
              <a:t>market, </a:t>
            </a:r>
            <a:r>
              <a:rPr dirty="0" sz="1900" spc="-40">
                <a:solidFill>
                  <a:srgbClr val="242626"/>
                </a:solidFill>
                <a:latin typeface="Arial"/>
                <a:cs typeface="Arial"/>
              </a:rPr>
              <a:t>driven</a:t>
            </a:r>
            <a:r>
              <a:rPr dirty="0" sz="1900" spc="-50">
                <a:solidFill>
                  <a:srgbClr val="242626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242626"/>
                </a:solidFill>
                <a:latin typeface="Arial"/>
                <a:cs typeface="Arial"/>
              </a:rPr>
              <a:t>bynon</a:t>
            </a:r>
            <a:r>
              <a:rPr dirty="0" sz="1900">
                <a:solidFill>
                  <a:srgbClr val="494B4D"/>
                </a:solidFill>
                <a:latin typeface="Arial"/>
                <a:cs typeface="Arial"/>
              </a:rPr>
              <a:t>-</a:t>
            </a:r>
            <a:r>
              <a:rPr dirty="0" sz="1900" spc="-10">
                <a:solidFill>
                  <a:srgbClr val="242626"/>
                </a:solidFill>
                <a:latin typeface="Arial"/>
                <a:cs typeface="Arial"/>
              </a:rPr>
              <a:t>negotiable </a:t>
            </a:r>
            <a:r>
              <a:rPr dirty="0" sz="1900" spc="-65">
                <a:solidFill>
                  <a:srgbClr val="242626"/>
                </a:solidFill>
                <a:latin typeface="Arial"/>
                <a:cs typeface="Arial"/>
              </a:rPr>
              <a:t>compliance</a:t>
            </a:r>
            <a:r>
              <a:rPr dirty="0" sz="1900" spc="-60">
                <a:solidFill>
                  <a:srgbClr val="242626"/>
                </a:solidFill>
                <a:latin typeface="Arial"/>
                <a:cs typeface="Arial"/>
              </a:rPr>
              <a:t> </a:t>
            </a:r>
            <a:r>
              <a:rPr dirty="0" sz="1900" spc="-80">
                <a:solidFill>
                  <a:srgbClr val="242626"/>
                </a:solidFill>
                <a:latin typeface="Arial"/>
                <a:cs typeface="Arial"/>
              </a:rPr>
              <a:t>mandates</a:t>
            </a:r>
            <a:r>
              <a:rPr dirty="0" sz="1900" spc="-130">
                <a:solidFill>
                  <a:srgbClr val="242626"/>
                </a:solidFill>
                <a:latin typeface="Arial"/>
                <a:cs typeface="Arial"/>
              </a:rPr>
              <a:t> </a:t>
            </a:r>
            <a:r>
              <a:rPr dirty="0" sz="1900" spc="-20">
                <a:solidFill>
                  <a:srgbClr val="242626"/>
                </a:solidFill>
                <a:latin typeface="Arial"/>
                <a:cs typeface="Arial"/>
              </a:rPr>
              <a:t>like</a:t>
            </a:r>
            <a:r>
              <a:rPr dirty="0" sz="1900" spc="-225">
                <a:solidFill>
                  <a:srgbClr val="242626"/>
                </a:solidFill>
                <a:latin typeface="Arial"/>
                <a:cs typeface="Arial"/>
              </a:rPr>
              <a:t> </a:t>
            </a:r>
            <a:r>
              <a:rPr dirty="0" sz="1900" spc="-280">
                <a:solidFill>
                  <a:srgbClr val="242626"/>
                </a:solidFill>
                <a:latin typeface="Arial"/>
                <a:cs typeface="Arial"/>
              </a:rPr>
              <a:t>CMMC </a:t>
            </a:r>
            <a:r>
              <a:rPr dirty="0" sz="1900" spc="-30">
                <a:solidFill>
                  <a:srgbClr val="242626"/>
                </a:solidFill>
                <a:latin typeface="Arial"/>
                <a:cs typeface="Arial"/>
              </a:rPr>
              <a:t>and</a:t>
            </a:r>
            <a:r>
              <a:rPr dirty="0" sz="1900" spc="-225">
                <a:solidFill>
                  <a:srgbClr val="242626"/>
                </a:solidFill>
                <a:latin typeface="Arial"/>
                <a:cs typeface="Arial"/>
              </a:rPr>
              <a:t> </a:t>
            </a:r>
            <a:r>
              <a:rPr dirty="0" sz="1900" spc="-190">
                <a:solidFill>
                  <a:srgbClr val="242626"/>
                </a:solidFill>
                <a:latin typeface="Arial"/>
                <a:cs typeface="Arial"/>
              </a:rPr>
              <a:t>DISA</a:t>
            </a:r>
            <a:r>
              <a:rPr dirty="0" sz="1900" spc="-160">
                <a:solidFill>
                  <a:srgbClr val="242626"/>
                </a:solidFill>
                <a:latin typeface="Arial"/>
                <a:cs typeface="Arial"/>
              </a:rPr>
              <a:t> </a:t>
            </a:r>
            <a:r>
              <a:rPr dirty="0" sz="1900" spc="-10">
                <a:solidFill>
                  <a:srgbClr val="242626"/>
                </a:solidFill>
                <a:latin typeface="Arial"/>
                <a:cs typeface="Arial"/>
              </a:rPr>
              <a:t>STIGs.</a:t>
            </a:r>
            <a:endParaRPr sz="19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697886" y="7290338"/>
            <a:ext cx="2964815" cy="1758950"/>
          </a:xfrm>
          <a:prstGeom prst="rect">
            <a:avLst/>
          </a:prstGeom>
        </p:spPr>
        <p:txBody>
          <a:bodyPr wrap="square" lIns="0" tIns="128270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1010"/>
              </a:spcBef>
            </a:pPr>
            <a:r>
              <a:rPr dirty="0" sz="2300" spc="50" b="1">
                <a:solidFill>
                  <a:srgbClr val="070F1F"/>
                </a:solidFill>
                <a:latin typeface="Arial"/>
                <a:cs typeface="Arial"/>
              </a:rPr>
              <a:t>The</a:t>
            </a:r>
            <a:r>
              <a:rPr dirty="0" sz="2300" spc="-120" b="1">
                <a:solidFill>
                  <a:srgbClr val="070F1F"/>
                </a:solidFill>
                <a:latin typeface="Arial"/>
                <a:cs typeface="Arial"/>
              </a:rPr>
              <a:t> </a:t>
            </a:r>
            <a:r>
              <a:rPr dirty="0" sz="2300" spc="40" b="1">
                <a:solidFill>
                  <a:srgbClr val="070F1F"/>
                </a:solidFill>
                <a:latin typeface="Arial"/>
                <a:cs typeface="Arial"/>
              </a:rPr>
              <a:t>Solution</a:t>
            </a:r>
            <a:endParaRPr sz="2300">
              <a:latin typeface="Arial"/>
              <a:cs typeface="Arial"/>
            </a:endParaRPr>
          </a:p>
          <a:p>
            <a:pPr marL="12700" marR="5080" indent="1270">
              <a:lnSpc>
                <a:spcPct val="101400"/>
              </a:lnSpc>
              <a:spcBef>
                <a:spcPts val="725"/>
              </a:spcBef>
            </a:pPr>
            <a:r>
              <a:rPr dirty="0" sz="1900" spc="-215">
                <a:solidFill>
                  <a:srgbClr val="242626"/>
                </a:solidFill>
                <a:latin typeface="Arial"/>
                <a:cs typeface="Arial"/>
              </a:rPr>
              <a:t>RLC-</a:t>
            </a:r>
            <a:r>
              <a:rPr dirty="0" sz="1900" spc="-254">
                <a:solidFill>
                  <a:srgbClr val="242626"/>
                </a:solidFill>
                <a:latin typeface="Arial"/>
                <a:cs typeface="Arial"/>
              </a:rPr>
              <a:t>H</a:t>
            </a:r>
            <a:r>
              <a:rPr dirty="0" sz="1900" spc="-70">
                <a:solidFill>
                  <a:srgbClr val="242626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242626"/>
                </a:solidFill>
                <a:latin typeface="Arial"/>
                <a:cs typeface="Arial"/>
              </a:rPr>
              <a:t>is</a:t>
            </a:r>
            <a:r>
              <a:rPr dirty="0" sz="1900" spc="-280">
                <a:solidFill>
                  <a:srgbClr val="242626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242626"/>
                </a:solidFill>
                <a:latin typeface="Arial"/>
                <a:cs typeface="Arial"/>
              </a:rPr>
              <a:t>the</a:t>
            </a:r>
            <a:r>
              <a:rPr dirty="0" sz="1900" spc="-310">
                <a:solidFill>
                  <a:srgbClr val="242626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242626"/>
                </a:solidFill>
                <a:latin typeface="Arial"/>
                <a:cs typeface="Arial"/>
              </a:rPr>
              <a:t>only</a:t>
            </a:r>
            <a:r>
              <a:rPr dirty="0" sz="1900" spc="-175">
                <a:solidFill>
                  <a:srgbClr val="242626"/>
                </a:solidFill>
                <a:latin typeface="Arial"/>
                <a:cs typeface="Arial"/>
              </a:rPr>
              <a:t> </a:t>
            </a:r>
            <a:r>
              <a:rPr dirty="0" sz="1900" spc="-10">
                <a:solidFill>
                  <a:srgbClr val="242626"/>
                </a:solidFill>
                <a:latin typeface="Arial"/>
                <a:cs typeface="Arial"/>
              </a:rPr>
              <a:t>turnkey, </a:t>
            </a:r>
            <a:r>
              <a:rPr dirty="0" sz="1900" spc="-60">
                <a:solidFill>
                  <a:srgbClr val="242626"/>
                </a:solidFill>
                <a:latin typeface="Arial"/>
                <a:cs typeface="Arial"/>
              </a:rPr>
              <a:t>pre</a:t>
            </a:r>
            <a:r>
              <a:rPr dirty="0" sz="1900" spc="-60">
                <a:solidFill>
                  <a:srgbClr val="494B4D"/>
                </a:solidFill>
                <a:latin typeface="Arial"/>
                <a:cs typeface="Arial"/>
              </a:rPr>
              <a:t>-</a:t>
            </a:r>
            <a:r>
              <a:rPr dirty="0" sz="1900" spc="-70">
                <a:solidFill>
                  <a:srgbClr val="242626"/>
                </a:solidFill>
                <a:latin typeface="Arial"/>
                <a:cs typeface="Arial"/>
              </a:rPr>
              <a:t>hardened</a:t>
            </a:r>
            <a:r>
              <a:rPr dirty="0" sz="1900" spc="-135">
                <a:solidFill>
                  <a:srgbClr val="242626"/>
                </a:solidFill>
                <a:latin typeface="Arial"/>
                <a:cs typeface="Arial"/>
              </a:rPr>
              <a:t> </a:t>
            </a:r>
            <a:r>
              <a:rPr dirty="0" sz="1900" spc="-70">
                <a:solidFill>
                  <a:srgbClr val="363838"/>
                </a:solidFill>
                <a:latin typeface="Arial"/>
                <a:cs typeface="Arial"/>
              </a:rPr>
              <a:t>Linux</a:t>
            </a:r>
            <a:r>
              <a:rPr dirty="0" sz="1900" spc="-110">
                <a:solidFill>
                  <a:srgbClr val="363838"/>
                </a:solidFill>
                <a:latin typeface="Arial"/>
                <a:cs typeface="Arial"/>
              </a:rPr>
              <a:t> </a:t>
            </a:r>
            <a:r>
              <a:rPr dirty="0" sz="1900" spc="-10">
                <a:solidFill>
                  <a:srgbClr val="242626"/>
                </a:solidFill>
                <a:latin typeface="Arial"/>
                <a:cs typeface="Arial"/>
              </a:rPr>
              <a:t>platform </a:t>
            </a:r>
            <a:r>
              <a:rPr dirty="0" sz="1900" spc="-80">
                <a:solidFill>
                  <a:srgbClr val="242626"/>
                </a:solidFill>
                <a:latin typeface="Arial"/>
                <a:cs typeface="Arial"/>
              </a:rPr>
              <a:t>designed </a:t>
            </a:r>
            <a:r>
              <a:rPr dirty="0" sz="1900">
                <a:solidFill>
                  <a:srgbClr val="242626"/>
                </a:solidFill>
                <a:latin typeface="Arial"/>
                <a:cs typeface="Arial"/>
              </a:rPr>
              <a:t>to</a:t>
            </a:r>
            <a:r>
              <a:rPr dirty="0" sz="1900" spc="-145">
                <a:solidFill>
                  <a:srgbClr val="242626"/>
                </a:solidFill>
                <a:latin typeface="Arial"/>
                <a:cs typeface="Arial"/>
              </a:rPr>
              <a:t> </a:t>
            </a:r>
            <a:r>
              <a:rPr dirty="0" sz="1900" spc="-65">
                <a:solidFill>
                  <a:srgbClr val="242626"/>
                </a:solidFill>
                <a:latin typeface="Arial"/>
                <a:cs typeface="Arial"/>
              </a:rPr>
              <a:t>meet</a:t>
            </a:r>
            <a:r>
              <a:rPr dirty="0" sz="1900" spc="-125">
                <a:solidFill>
                  <a:srgbClr val="242626"/>
                </a:solidFill>
                <a:latin typeface="Arial"/>
                <a:cs typeface="Arial"/>
              </a:rPr>
              <a:t> </a:t>
            </a:r>
            <a:r>
              <a:rPr dirty="0" sz="1900" spc="-10">
                <a:solidFill>
                  <a:srgbClr val="242626"/>
                </a:solidFill>
                <a:latin typeface="Arial"/>
                <a:cs typeface="Arial"/>
              </a:rPr>
              <a:t>these </a:t>
            </a:r>
            <a:r>
              <a:rPr dirty="0" sz="1900" spc="-60">
                <a:solidFill>
                  <a:srgbClr val="242626"/>
                </a:solidFill>
                <a:latin typeface="Arial"/>
                <a:cs typeface="Arial"/>
              </a:rPr>
              <a:t>requirements</a:t>
            </a:r>
            <a:r>
              <a:rPr dirty="0" sz="1900" spc="25">
                <a:solidFill>
                  <a:srgbClr val="242626"/>
                </a:solidFill>
                <a:latin typeface="Arial"/>
                <a:cs typeface="Arial"/>
              </a:rPr>
              <a:t> </a:t>
            </a:r>
            <a:r>
              <a:rPr dirty="0" sz="1900" spc="-35">
                <a:solidFill>
                  <a:srgbClr val="242626"/>
                </a:solidFill>
                <a:latin typeface="Arial"/>
                <a:cs typeface="Arial"/>
              </a:rPr>
              <a:t>out</a:t>
            </a:r>
            <a:r>
              <a:rPr dirty="0" sz="1900" spc="-35">
                <a:solidFill>
                  <a:srgbClr val="070F1F"/>
                </a:solidFill>
                <a:latin typeface="Arial"/>
                <a:cs typeface="Arial"/>
              </a:rPr>
              <a:t>-</a:t>
            </a:r>
            <a:r>
              <a:rPr dirty="0" sz="1900" spc="-30">
                <a:solidFill>
                  <a:srgbClr val="242626"/>
                </a:solidFill>
                <a:latin typeface="Arial"/>
                <a:cs typeface="Arial"/>
              </a:rPr>
              <a:t>of-</a:t>
            </a:r>
            <a:r>
              <a:rPr dirty="0" sz="1900" spc="-35">
                <a:solidFill>
                  <a:srgbClr val="242626"/>
                </a:solidFill>
                <a:latin typeface="Arial"/>
                <a:cs typeface="Arial"/>
              </a:rPr>
              <a:t>the-</a:t>
            </a:r>
            <a:r>
              <a:rPr dirty="0" sz="1900" spc="-20">
                <a:solidFill>
                  <a:srgbClr val="242626"/>
                </a:solidFill>
                <a:latin typeface="Arial"/>
                <a:cs typeface="Arial"/>
              </a:rPr>
              <a:t>box.</a:t>
            </a:r>
            <a:endParaRPr sz="19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3236269" y="7290338"/>
            <a:ext cx="3201035" cy="1758950"/>
          </a:xfrm>
          <a:prstGeom prst="rect">
            <a:avLst/>
          </a:prstGeom>
        </p:spPr>
        <p:txBody>
          <a:bodyPr wrap="square" lIns="0" tIns="128270" rIns="0" bIns="0" rtlCol="0" vert="horz">
            <a:spAutoFit/>
          </a:bodyPr>
          <a:lstStyle/>
          <a:p>
            <a:pPr marL="15875">
              <a:lnSpc>
                <a:spcPct val="100000"/>
              </a:lnSpc>
              <a:spcBef>
                <a:spcPts val="1010"/>
              </a:spcBef>
            </a:pPr>
            <a:r>
              <a:rPr dirty="0" sz="2300" spc="90" b="1">
                <a:solidFill>
                  <a:srgbClr val="070F1F"/>
                </a:solidFill>
                <a:latin typeface="Arial"/>
                <a:cs typeface="Arial"/>
              </a:rPr>
              <a:t>The</a:t>
            </a:r>
            <a:r>
              <a:rPr dirty="0" sz="2300" spc="-225" b="1">
                <a:solidFill>
                  <a:srgbClr val="070F1F"/>
                </a:solidFill>
                <a:latin typeface="Arial"/>
                <a:cs typeface="Arial"/>
              </a:rPr>
              <a:t> </a:t>
            </a:r>
            <a:r>
              <a:rPr dirty="0" sz="2300" spc="45" b="1">
                <a:solidFill>
                  <a:srgbClr val="070F1F"/>
                </a:solidFill>
                <a:latin typeface="Arial"/>
                <a:cs typeface="Arial"/>
              </a:rPr>
              <a:t>Return</a:t>
            </a:r>
            <a:endParaRPr sz="2300">
              <a:latin typeface="Arial"/>
              <a:cs typeface="Arial"/>
            </a:endParaRPr>
          </a:p>
          <a:p>
            <a:pPr marL="12700" marR="5080" indent="10160">
              <a:lnSpc>
                <a:spcPct val="101400"/>
              </a:lnSpc>
              <a:spcBef>
                <a:spcPts val="725"/>
              </a:spcBef>
            </a:pPr>
            <a:r>
              <a:rPr dirty="0" sz="1900" spc="-110">
                <a:solidFill>
                  <a:srgbClr val="242626"/>
                </a:solidFill>
                <a:latin typeface="Arial"/>
                <a:cs typeface="Arial"/>
              </a:rPr>
              <a:t>A</a:t>
            </a:r>
            <a:r>
              <a:rPr dirty="0" sz="1900" spc="-325">
                <a:solidFill>
                  <a:srgbClr val="242626"/>
                </a:solidFill>
                <a:latin typeface="Arial"/>
                <a:cs typeface="Arial"/>
              </a:rPr>
              <a:t> </a:t>
            </a:r>
            <a:r>
              <a:rPr dirty="0" sz="1900" spc="-50">
                <a:solidFill>
                  <a:srgbClr val="242626"/>
                </a:solidFill>
                <a:latin typeface="Arial"/>
                <a:cs typeface="Arial"/>
              </a:rPr>
              <a:t>projected</a:t>
            </a:r>
            <a:r>
              <a:rPr dirty="0" sz="1900" spc="-85">
                <a:solidFill>
                  <a:srgbClr val="242626"/>
                </a:solidFill>
                <a:latin typeface="Arial"/>
                <a:cs typeface="Arial"/>
              </a:rPr>
              <a:t> </a:t>
            </a:r>
            <a:r>
              <a:rPr dirty="0" sz="1900" spc="-75">
                <a:solidFill>
                  <a:srgbClr val="242626"/>
                </a:solidFill>
                <a:latin typeface="Arial"/>
                <a:cs typeface="Arial"/>
              </a:rPr>
              <a:t>$576</a:t>
            </a:r>
            <a:r>
              <a:rPr dirty="0" sz="1900" spc="-75">
                <a:solidFill>
                  <a:srgbClr val="070F1F"/>
                </a:solidFill>
                <a:latin typeface="Arial"/>
                <a:cs typeface="Arial"/>
              </a:rPr>
              <a:t>M</a:t>
            </a:r>
            <a:r>
              <a:rPr dirty="0" sz="1900" spc="-75">
                <a:solidFill>
                  <a:srgbClr val="242626"/>
                </a:solidFill>
                <a:latin typeface="Arial"/>
                <a:cs typeface="Arial"/>
              </a:rPr>
              <a:t>in</a:t>
            </a:r>
            <a:r>
              <a:rPr dirty="0" sz="1900" spc="20">
                <a:solidFill>
                  <a:srgbClr val="242626"/>
                </a:solidFill>
                <a:latin typeface="Arial"/>
                <a:cs typeface="Arial"/>
              </a:rPr>
              <a:t> </a:t>
            </a:r>
            <a:r>
              <a:rPr dirty="0" sz="1900" spc="-10">
                <a:solidFill>
                  <a:srgbClr val="242626"/>
                </a:solidFill>
                <a:latin typeface="Arial"/>
                <a:cs typeface="Arial"/>
              </a:rPr>
              <a:t>Annual </a:t>
            </a:r>
            <a:r>
              <a:rPr dirty="0" sz="1900" spc="-75">
                <a:solidFill>
                  <a:srgbClr val="242626"/>
                </a:solidFill>
                <a:latin typeface="Arial"/>
                <a:cs typeface="Arial"/>
              </a:rPr>
              <a:t>Recurring</a:t>
            </a:r>
            <a:r>
              <a:rPr dirty="0" sz="1900" spc="-240">
                <a:solidFill>
                  <a:srgbClr val="242626"/>
                </a:solidFill>
                <a:latin typeface="Arial"/>
                <a:cs typeface="Arial"/>
              </a:rPr>
              <a:t> </a:t>
            </a:r>
            <a:r>
              <a:rPr dirty="0" sz="1900" spc="-130">
                <a:solidFill>
                  <a:srgbClr val="242626"/>
                </a:solidFill>
                <a:latin typeface="Arial"/>
                <a:cs typeface="Arial"/>
              </a:rPr>
              <a:t>Revenue</a:t>
            </a:r>
            <a:r>
              <a:rPr dirty="0" sz="1900" spc="-90">
                <a:solidFill>
                  <a:srgbClr val="242626"/>
                </a:solidFill>
                <a:latin typeface="Arial"/>
                <a:cs typeface="Arial"/>
              </a:rPr>
              <a:t> </a:t>
            </a:r>
            <a:r>
              <a:rPr dirty="0" sz="1900" spc="-215">
                <a:solidFill>
                  <a:srgbClr val="242626"/>
                </a:solidFill>
                <a:latin typeface="Arial"/>
                <a:cs typeface="Arial"/>
              </a:rPr>
              <a:t>(ARR)</a:t>
            </a:r>
            <a:r>
              <a:rPr dirty="0" sz="1900" spc="-35">
                <a:solidFill>
                  <a:srgbClr val="242626"/>
                </a:solidFill>
                <a:latin typeface="Arial"/>
                <a:cs typeface="Arial"/>
              </a:rPr>
              <a:t> </a:t>
            </a:r>
            <a:r>
              <a:rPr dirty="0" sz="1900" spc="-10">
                <a:solidFill>
                  <a:srgbClr val="242626"/>
                </a:solidFill>
                <a:latin typeface="Arial"/>
                <a:cs typeface="Arial"/>
              </a:rPr>
              <a:t>within </a:t>
            </a:r>
            <a:r>
              <a:rPr dirty="0" sz="1900" spc="95">
                <a:solidFill>
                  <a:srgbClr val="242626"/>
                </a:solidFill>
                <a:latin typeface="Arial"/>
                <a:cs typeface="Arial"/>
              </a:rPr>
              <a:t>3</a:t>
            </a:r>
            <a:r>
              <a:rPr dirty="0" sz="1900" spc="-325">
                <a:solidFill>
                  <a:srgbClr val="242626"/>
                </a:solidFill>
                <a:latin typeface="Arial"/>
                <a:cs typeface="Arial"/>
              </a:rPr>
              <a:t> </a:t>
            </a:r>
            <a:r>
              <a:rPr dirty="0" sz="1900" spc="-80">
                <a:solidFill>
                  <a:srgbClr val="242626"/>
                </a:solidFill>
                <a:latin typeface="Arial"/>
                <a:cs typeface="Arial"/>
              </a:rPr>
              <a:t>years,</a:t>
            </a:r>
            <a:r>
              <a:rPr dirty="0" sz="1900" spc="-125">
                <a:solidFill>
                  <a:srgbClr val="242626"/>
                </a:solidFill>
                <a:latin typeface="Arial"/>
                <a:cs typeface="Arial"/>
              </a:rPr>
              <a:t> </a:t>
            </a:r>
            <a:r>
              <a:rPr dirty="0" sz="1900" spc="-65">
                <a:solidFill>
                  <a:srgbClr val="242626"/>
                </a:solidFill>
                <a:latin typeface="Arial"/>
                <a:cs typeface="Arial"/>
              </a:rPr>
              <a:t>representing</a:t>
            </a:r>
            <a:r>
              <a:rPr dirty="0" sz="1900" spc="-160">
                <a:solidFill>
                  <a:srgbClr val="242626"/>
                </a:solidFill>
                <a:latin typeface="Arial"/>
                <a:cs typeface="Arial"/>
              </a:rPr>
              <a:t> </a:t>
            </a:r>
            <a:r>
              <a:rPr dirty="0" sz="1900" spc="-50">
                <a:solidFill>
                  <a:srgbClr val="242626"/>
                </a:solidFill>
                <a:latin typeface="Arial"/>
                <a:cs typeface="Arial"/>
              </a:rPr>
              <a:t>a</a:t>
            </a:r>
            <a:r>
              <a:rPr dirty="0" sz="1900" spc="-229">
                <a:solidFill>
                  <a:srgbClr val="242626"/>
                </a:solidFill>
                <a:latin typeface="Arial"/>
                <a:cs typeface="Arial"/>
              </a:rPr>
              <a:t> </a:t>
            </a:r>
            <a:r>
              <a:rPr dirty="0" sz="1900" spc="-135">
                <a:solidFill>
                  <a:srgbClr val="242626"/>
                </a:solidFill>
                <a:latin typeface="Arial"/>
                <a:cs typeface="Arial"/>
              </a:rPr>
              <a:t>3</a:t>
            </a:r>
            <a:r>
              <a:rPr dirty="0" sz="1900" spc="-135">
                <a:solidFill>
                  <a:srgbClr val="070F1F"/>
                </a:solidFill>
                <a:latin typeface="Arial"/>
                <a:cs typeface="Arial"/>
              </a:rPr>
              <a:t>-</a:t>
            </a:r>
            <a:r>
              <a:rPr dirty="0" sz="1900" spc="-20">
                <a:solidFill>
                  <a:srgbClr val="242626"/>
                </a:solidFill>
                <a:latin typeface="Arial"/>
                <a:cs typeface="Arial"/>
              </a:rPr>
              <a:t>4.Gx return</a:t>
            </a:r>
            <a:r>
              <a:rPr dirty="0" sz="1900" spc="-200">
                <a:solidFill>
                  <a:srgbClr val="242626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242626"/>
                </a:solidFill>
                <a:latin typeface="Arial"/>
                <a:cs typeface="Arial"/>
              </a:rPr>
              <a:t>on</a:t>
            </a:r>
            <a:r>
              <a:rPr dirty="0" sz="1900" spc="-220">
                <a:solidFill>
                  <a:srgbClr val="242626"/>
                </a:solidFill>
                <a:latin typeface="Arial"/>
                <a:cs typeface="Arial"/>
              </a:rPr>
              <a:t> </a:t>
            </a:r>
            <a:r>
              <a:rPr dirty="0" sz="1900" spc="-10">
                <a:solidFill>
                  <a:srgbClr val="363838"/>
                </a:solidFill>
                <a:latin typeface="Arial"/>
                <a:cs typeface="Arial"/>
              </a:rPr>
              <a:t>investment.</a:t>
            </a:r>
            <a:endParaRPr sz="1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9688" y="3702446"/>
            <a:ext cx="1018953" cy="125108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10537" y="3676914"/>
            <a:ext cx="968005" cy="130214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056860" y="3676914"/>
            <a:ext cx="1248217" cy="130214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18953" y="6408869"/>
            <a:ext cx="3311598" cy="24511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425320" y="6383337"/>
            <a:ext cx="1655799" cy="2706422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1304015" y="7021642"/>
            <a:ext cx="114935" cy="996315"/>
          </a:xfrm>
          <a:custGeom>
            <a:avLst/>
            <a:gdLst/>
            <a:ahLst/>
            <a:cxnLst/>
            <a:rect l="l" t="t" r="r" b="b"/>
            <a:pathLst>
              <a:path w="114934" h="996315">
                <a:moveTo>
                  <a:pt x="0" y="0"/>
                </a:moveTo>
                <a:lnTo>
                  <a:pt x="114632" y="0"/>
                </a:lnTo>
                <a:lnTo>
                  <a:pt x="114632" y="995759"/>
                </a:lnTo>
                <a:lnTo>
                  <a:pt x="0" y="99575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1807124" y="8068466"/>
            <a:ext cx="0" cy="1021715"/>
          </a:xfrm>
          <a:custGeom>
            <a:avLst/>
            <a:gdLst/>
            <a:ahLst/>
            <a:cxnLst/>
            <a:rect l="l" t="t" r="r" b="b"/>
            <a:pathLst>
              <a:path w="0" h="1021715">
                <a:moveTo>
                  <a:pt x="0" y="1021291"/>
                </a:moveTo>
                <a:lnTo>
                  <a:pt x="0" y="0"/>
                </a:lnTo>
              </a:path>
            </a:pathLst>
          </a:custGeom>
          <a:ln w="382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1565121" y="7647183"/>
            <a:ext cx="484505" cy="153670"/>
          </a:xfrm>
          <a:custGeom>
            <a:avLst/>
            <a:gdLst/>
            <a:ahLst/>
            <a:cxnLst/>
            <a:rect l="l" t="t" r="r" b="b"/>
            <a:pathLst>
              <a:path w="484504" h="153670">
                <a:moveTo>
                  <a:pt x="0" y="0"/>
                </a:moveTo>
                <a:lnTo>
                  <a:pt x="484003" y="0"/>
                </a:lnTo>
                <a:lnTo>
                  <a:pt x="484003" y="153193"/>
                </a:lnTo>
                <a:lnTo>
                  <a:pt x="0" y="15319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1081119" y="7947187"/>
            <a:ext cx="968375" cy="114935"/>
          </a:xfrm>
          <a:custGeom>
            <a:avLst/>
            <a:gdLst/>
            <a:ahLst/>
            <a:cxnLst/>
            <a:rect l="l" t="t" r="r" b="b"/>
            <a:pathLst>
              <a:path w="968375" h="114934">
                <a:moveTo>
                  <a:pt x="0" y="0"/>
                </a:moveTo>
                <a:lnTo>
                  <a:pt x="968006" y="0"/>
                </a:lnTo>
                <a:lnTo>
                  <a:pt x="968006" y="114895"/>
                </a:lnTo>
                <a:lnTo>
                  <a:pt x="0" y="11489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0928277" y="9051459"/>
            <a:ext cx="917575" cy="0"/>
          </a:xfrm>
          <a:custGeom>
            <a:avLst/>
            <a:gdLst/>
            <a:ahLst/>
            <a:cxnLst/>
            <a:rect l="l" t="t" r="r" b="b"/>
            <a:pathLst>
              <a:path w="917575" h="0">
                <a:moveTo>
                  <a:pt x="0" y="0"/>
                </a:moveTo>
                <a:lnTo>
                  <a:pt x="917058" y="0"/>
                </a:lnTo>
              </a:path>
            </a:pathLst>
          </a:custGeom>
          <a:ln w="3829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2" name="object 12"/>
          <p:cNvGrpSpPr/>
          <p:nvPr/>
        </p:nvGrpSpPr>
        <p:grpSpPr>
          <a:xfrm>
            <a:off x="10157693" y="2757751"/>
            <a:ext cx="1115060" cy="472440"/>
            <a:chOff x="10157693" y="2757751"/>
            <a:chExt cx="1115060" cy="472440"/>
          </a:xfrm>
        </p:grpSpPr>
        <p:sp>
          <p:nvSpPr>
            <p:cNvPr id="13" name="object 13"/>
            <p:cNvSpPr/>
            <p:nvPr/>
          </p:nvSpPr>
          <p:spPr>
            <a:xfrm>
              <a:off x="10176798" y="2757751"/>
              <a:ext cx="0" cy="472440"/>
            </a:xfrm>
            <a:custGeom>
              <a:avLst/>
              <a:gdLst/>
              <a:ahLst/>
              <a:cxnLst/>
              <a:rect l="l" t="t" r="r" b="b"/>
              <a:pathLst>
                <a:path w="0" h="472439">
                  <a:moveTo>
                    <a:pt x="0" y="472347"/>
                  </a:moveTo>
                  <a:lnTo>
                    <a:pt x="0" y="0"/>
                  </a:lnTo>
                </a:path>
              </a:pathLst>
            </a:custGeom>
            <a:ln w="382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0164061" y="2962009"/>
              <a:ext cx="1108710" cy="0"/>
            </a:xfrm>
            <a:custGeom>
              <a:avLst/>
              <a:gdLst/>
              <a:ahLst/>
              <a:cxnLst/>
              <a:rect l="l" t="t" r="r" b="b"/>
              <a:pathLst>
                <a:path w="1108709" h="0">
                  <a:moveTo>
                    <a:pt x="0" y="0"/>
                  </a:moveTo>
                  <a:lnTo>
                    <a:pt x="1108111" y="0"/>
                  </a:lnTo>
                </a:path>
              </a:pathLst>
            </a:custGeom>
            <a:ln w="510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1246699" y="2757751"/>
              <a:ext cx="0" cy="472440"/>
            </a:xfrm>
            <a:custGeom>
              <a:avLst/>
              <a:gdLst/>
              <a:ahLst/>
              <a:cxnLst/>
              <a:rect l="l" t="t" r="r" b="b"/>
              <a:pathLst>
                <a:path w="0" h="472439">
                  <a:moveTo>
                    <a:pt x="0" y="472347"/>
                  </a:moveTo>
                  <a:lnTo>
                    <a:pt x="0" y="0"/>
                  </a:lnTo>
                </a:path>
              </a:pathLst>
            </a:custGeom>
            <a:ln w="382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/>
          <p:nvPr/>
        </p:nvSpPr>
        <p:spPr>
          <a:xfrm>
            <a:off x="10176798" y="3727978"/>
            <a:ext cx="1452245" cy="0"/>
          </a:xfrm>
          <a:custGeom>
            <a:avLst/>
            <a:gdLst/>
            <a:ahLst/>
            <a:cxnLst/>
            <a:rect l="l" t="t" r="r" b="b"/>
            <a:pathLst>
              <a:path w="1452245" h="0">
                <a:moveTo>
                  <a:pt x="0" y="0"/>
                </a:moveTo>
                <a:lnTo>
                  <a:pt x="1452008" y="0"/>
                </a:lnTo>
              </a:path>
            </a:pathLst>
          </a:custGeom>
          <a:ln w="5106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9807427" y="3702445"/>
            <a:ext cx="1095375" cy="1136650"/>
          </a:xfrm>
          <a:custGeom>
            <a:avLst/>
            <a:gdLst/>
            <a:ahLst/>
            <a:cxnLst/>
            <a:rect l="l" t="t" r="r" b="b"/>
            <a:pathLst>
              <a:path w="1095375" h="1136650">
                <a:moveTo>
                  <a:pt x="0" y="382984"/>
                </a:moveTo>
                <a:lnTo>
                  <a:pt x="1095375" y="382984"/>
                </a:lnTo>
              </a:path>
              <a:path w="1095375" h="1136650">
                <a:moveTo>
                  <a:pt x="369370" y="1136186"/>
                </a:moveTo>
                <a:lnTo>
                  <a:pt x="369370" y="25532"/>
                </a:lnTo>
              </a:path>
              <a:path w="1095375" h="1136650">
                <a:moveTo>
                  <a:pt x="738741" y="1136186"/>
                </a:moveTo>
                <a:lnTo>
                  <a:pt x="738741" y="0"/>
                </a:lnTo>
              </a:path>
              <a:path w="1095375" h="1136650">
                <a:moveTo>
                  <a:pt x="1069901" y="1136186"/>
                </a:moveTo>
                <a:lnTo>
                  <a:pt x="1069901" y="0"/>
                </a:lnTo>
              </a:path>
            </a:pathLst>
          </a:custGeom>
          <a:ln w="5100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1399542" y="3702445"/>
            <a:ext cx="255270" cy="766445"/>
          </a:xfrm>
          <a:custGeom>
            <a:avLst/>
            <a:gdLst/>
            <a:ahLst/>
            <a:cxnLst/>
            <a:rect l="l" t="t" r="r" b="b"/>
            <a:pathLst>
              <a:path w="255270" h="766445">
                <a:moveTo>
                  <a:pt x="0" y="382984"/>
                </a:moveTo>
                <a:lnTo>
                  <a:pt x="254738" y="382984"/>
                </a:lnTo>
              </a:path>
              <a:path w="255270" h="766445">
                <a:moveTo>
                  <a:pt x="229264" y="765968"/>
                </a:moveTo>
                <a:lnTo>
                  <a:pt x="229264" y="0"/>
                </a:lnTo>
              </a:path>
            </a:pathLst>
          </a:custGeom>
          <a:ln w="5100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9781954" y="4085430"/>
            <a:ext cx="1872614" cy="727710"/>
          </a:xfrm>
          <a:custGeom>
            <a:avLst/>
            <a:gdLst/>
            <a:ahLst/>
            <a:cxnLst/>
            <a:rect l="l" t="t" r="r" b="b"/>
            <a:pathLst>
              <a:path w="1872615" h="727710">
                <a:moveTo>
                  <a:pt x="25473" y="727670"/>
                </a:moveTo>
                <a:lnTo>
                  <a:pt x="25473" y="0"/>
                </a:lnTo>
              </a:path>
              <a:path w="1872615" h="727710">
                <a:moveTo>
                  <a:pt x="0" y="357451"/>
                </a:moveTo>
                <a:lnTo>
                  <a:pt x="1872327" y="357451"/>
                </a:lnTo>
              </a:path>
              <a:path w="1872615" h="727710">
                <a:moveTo>
                  <a:pt x="0" y="727670"/>
                </a:moveTo>
                <a:lnTo>
                  <a:pt x="1617588" y="727670"/>
                </a:lnTo>
              </a:path>
            </a:pathLst>
          </a:custGeom>
          <a:ln w="5100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920725" y="417403"/>
            <a:ext cx="15664815" cy="1532255"/>
          </a:xfrm>
          <a:prstGeom prst="rect">
            <a:avLst/>
          </a:prstGeom>
        </p:spPr>
        <p:txBody>
          <a:bodyPr wrap="square" lIns="0" tIns="1911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05"/>
              </a:spcBef>
            </a:pPr>
            <a:r>
              <a:rPr dirty="0" sz="3250" spc="170" b="1">
                <a:solidFill>
                  <a:srgbClr val="1D1F21"/>
                </a:solidFill>
                <a:latin typeface="Arial"/>
                <a:cs typeface="Arial"/>
              </a:rPr>
              <a:t>The</a:t>
            </a:r>
            <a:r>
              <a:rPr dirty="0" sz="3250" spc="-145" b="1">
                <a:solidFill>
                  <a:srgbClr val="1D1F21"/>
                </a:solidFill>
                <a:latin typeface="Arial"/>
                <a:cs typeface="Arial"/>
              </a:rPr>
              <a:t> </a:t>
            </a:r>
            <a:r>
              <a:rPr dirty="0" sz="3250" spc="65" b="1">
                <a:solidFill>
                  <a:srgbClr val="1D1F21"/>
                </a:solidFill>
                <a:latin typeface="Arial"/>
                <a:cs typeface="Arial"/>
              </a:rPr>
              <a:t>Compliance</a:t>
            </a:r>
            <a:r>
              <a:rPr dirty="0" sz="3250" spc="90" b="1">
                <a:solidFill>
                  <a:srgbClr val="1D1F21"/>
                </a:solidFill>
                <a:latin typeface="Arial"/>
                <a:cs typeface="Arial"/>
              </a:rPr>
              <a:t> </a:t>
            </a:r>
            <a:r>
              <a:rPr dirty="0" sz="3250" spc="75" b="1">
                <a:solidFill>
                  <a:srgbClr val="1D1F21"/>
                </a:solidFill>
                <a:latin typeface="Arial"/>
                <a:cs typeface="Arial"/>
              </a:rPr>
              <a:t>Gauntlet:</a:t>
            </a:r>
            <a:r>
              <a:rPr dirty="0" sz="3250" spc="15" b="1">
                <a:solidFill>
                  <a:srgbClr val="1D1F21"/>
                </a:solidFill>
                <a:latin typeface="Arial"/>
                <a:cs typeface="Arial"/>
              </a:rPr>
              <a:t> </a:t>
            </a:r>
            <a:r>
              <a:rPr dirty="0" sz="3250" b="1">
                <a:solidFill>
                  <a:srgbClr val="1D1F21"/>
                </a:solidFill>
                <a:latin typeface="Arial"/>
                <a:cs typeface="Arial"/>
              </a:rPr>
              <a:t>A</a:t>
            </a:r>
            <a:r>
              <a:rPr dirty="0" sz="3250" spc="-155" b="1">
                <a:solidFill>
                  <a:srgbClr val="1D1F21"/>
                </a:solidFill>
                <a:latin typeface="Arial"/>
                <a:cs typeface="Arial"/>
              </a:rPr>
              <a:t> </a:t>
            </a:r>
            <a:r>
              <a:rPr dirty="0" sz="3250" spc="120" b="1">
                <a:solidFill>
                  <a:srgbClr val="1D1F21"/>
                </a:solidFill>
                <a:latin typeface="Arial"/>
                <a:cs typeface="Arial"/>
              </a:rPr>
              <a:t>State</a:t>
            </a:r>
            <a:r>
              <a:rPr dirty="0" sz="3250" spc="-55" b="1">
                <a:solidFill>
                  <a:srgbClr val="1D1F21"/>
                </a:solidFill>
                <a:latin typeface="Arial"/>
                <a:cs typeface="Arial"/>
              </a:rPr>
              <a:t> </a:t>
            </a:r>
            <a:r>
              <a:rPr dirty="0" sz="3250" spc="105" b="1">
                <a:solidFill>
                  <a:srgbClr val="1D1F21"/>
                </a:solidFill>
                <a:latin typeface="Arial"/>
                <a:cs typeface="Arial"/>
              </a:rPr>
              <a:t>of</a:t>
            </a:r>
            <a:r>
              <a:rPr dirty="0" sz="3250" spc="-160" b="1">
                <a:solidFill>
                  <a:srgbClr val="1D1F21"/>
                </a:solidFill>
                <a:latin typeface="Arial"/>
                <a:cs typeface="Arial"/>
              </a:rPr>
              <a:t> </a:t>
            </a:r>
            <a:r>
              <a:rPr dirty="0" sz="3250" spc="100" b="1">
                <a:solidFill>
                  <a:srgbClr val="1D1F21"/>
                </a:solidFill>
                <a:latin typeface="Arial"/>
                <a:cs typeface="Arial"/>
              </a:rPr>
              <a:t>High</a:t>
            </a:r>
            <a:r>
              <a:rPr dirty="0" sz="3250" spc="-130" b="1">
                <a:solidFill>
                  <a:srgbClr val="1D1F21"/>
                </a:solidFill>
                <a:latin typeface="Arial"/>
                <a:cs typeface="Arial"/>
              </a:rPr>
              <a:t> </a:t>
            </a:r>
            <a:r>
              <a:rPr dirty="0" sz="3250" spc="75" b="1">
                <a:solidFill>
                  <a:srgbClr val="1D1F21"/>
                </a:solidFill>
                <a:latin typeface="Arial"/>
                <a:cs typeface="Arial"/>
              </a:rPr>
              <a:t>Cost,</a:t>
            </a:r>
            <a:r>
              <a:rPr dirty="0" sz="3250" spc="-175" b="1">
                <a:solidFill>
                  <a:srgbClr val="1D1F21"/>
                </a:solidFill>
                <a:latin typeface="Arial"/>
                <a:cs typeface="Arial"/>
              </a:rPr>
              <a:t> </a:t>
            </a:r>
            <a:r>
              <a:rPr dirty="0" sz="3250" spc="100" b="1">
                <a:solidFill>
                  <a:srgbClr val="1D1F21"/>
                </a:solidFill>
                <a:latin typeface="Arial"/>
                <a:cs typeface="Arial"/>
              </a:rPr>
              <a:t>High</a:t>
            </a:r>
            <a:r>
              <a:rPr dirty="0" sz="3250" spc="-215" b="1">
                <a:solidFill>
                  <a:srgbClr val="1D1F21"/>
                </a:solidFill>
                <a:latin typeface="Arial"/>
                <a:cs typeface="Arial"/>
              </a:rPr>
              <a:t> </a:t>
            </a:r>
            <a:r>
              <a:rPr dirty="0" sz="3250" b="1">
                <a:solidFill>
                  <a:srgbClr val="1D1F21"/>
                </a:solidFill>
                <a:latin typeface="Arial"/>
                <a:cs typeface="Arial"/>
              </a:rPr>
              <a:t>Risk</a:t>
            </a:r>
            <a:r>
              <a:rPr dirty="0" sz="3250" b="1">
                <a:solidFill>
                  <a:srgbClr val="010101"/>
                </a:solidFill>
                <a:latin typeface="Arial"/>
                <a:cs typeface="Arial"/>
              </a:rPr>
              <a:t>,</a:t>
            </a:r>
            <a:r>
              <a:rPr dirty="0" sz="3250" spc="-275" b="1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dirty="0" sz="3250" spc="110" b="1">
                <a:solidFill>
                  <a:srgbClr val="1D1F21"/>
                </a:solidFill>
                <a:latin typeface="Arial"/>
                <a:cs typeface="Arial"/>
              </a:rPr>
              <a:t>and</a:t>
            </a:r>
            <a:r>
              <a:rPr dirty="0" sz="3250" spc="-215" b="1">
                <a:solidFill>
                  <a:srgbClr val="1D1F21"/>
                </a:solidFill>
                <a:latin typeface="Arial"/>
                <a:cs typeface="Arial"/>
              </a:rPr>
              <a:t> </a:t>
            </a:r>
            <a:r>
              <a:rPr dirty="0" sz="3250" spc="120" b="1">
                <a:solidFill>
                  <a:srgbClr val="1D1F21"/>
                </a:solidFill>
                <a:latin typeface="Arial"/>
                <a:cs typeface="Arial"/>
              </a:rPr>
              <a:t>High</a:t>
            </a:r>
            <a:r>
              <a:rPr dirty="0" sz="3250" spc="-185" b="1">
                <a:solidFill>
                  <a:srgbClr val="1D1F21"/>
                </a:solidFill>
                <a:latin typeface="Arial"/>
                <a:cs typeface="Arial"/>
              </a:rPr>
              <a:t> </a:t>
            </a:r>
            <a:r>
              <a:rPr dirty="0" sz="3250" spc="75" b="1">
                <a:solidFill>
                  <a:srgbClr val="1D1F21"/>
                </a:solidFill>
                <a:latin typeface="Arial"/>
                <a:cs typeface="Arial"/>
              </a:rPr>
              <a:t>Urgency</a:t>
            </a:r>
            <a:endParaRPr sz="3250">
              <a:latin typeface="Arial"/>
              <a:cs typeface="Arial"/>
            </a:endParaRPr>
          </a:p>
          <a:p>
            <a:pPr marL="2872105" marR="1617345" indent="-1132840">
              <a:lnSpc>
                <a:spcPts val="2710"/>
              </a:lnSpc>
              <a:spcBef>
                <a:spcPts val="1205"/>
              </a:spcBef>
            </a:pPr>
            <a:r>
              <a:rPr dirty="0" sz="2350" spc="-35">
                <a:solidFill>
                  <a:srgbClr val="1D1F21"/>
                </a:solidFill>
                <a:latin typeface="Arial"/>
                <a:cs typeface="Arial"/>
              </a:rPr>
              <a:t>Org</a:t>
            </a:r>
            <a:r>
              <a:rPr dirty="0" sz="2350" spc="-35">
                <a:solidFill>
                  <a:srgbClr val="31363B"/>
                </a:solidFill>
                <a:latin typeface="Arial"/>
                <a:cs typeface="Arial"/>
              </a:rPr>
              <a:t>a</a:t>
            </a:r>
            <a:r>
              <a:rPr dirty="0" sz="2350" spc="-35">
                <a:solidFill>
                  <a:srgbClr val="1D1F21"/>
                </a:solidFill>
                <a:latin typeface="Arial"/>
                <a:cs typeface="Arial"/>
              </a:rPr>
              <a:t>n</a:t>
            </a:r>
            <a:r>
              <a:rPr dirty="0" sz="2350" spc="-35">
                <a:solidFill>
                  <a:srgbClr val="31363B"/>
                </a:solidFill>
                <a:latin typeface="Arial"/>
                <a:cs typeface="Arial"/>
              </a:rPr>
              <a:t>i</a:t>
            </a:r>
            <a:r>
              <a:rPr dirty="0" sz="2350" spc="-35">
                <a:solidFill>
                  <a:srgbClr val="1D1F21"/>
                </a:solidFill>
                <a:latin typeface="Arial"/>
                <a:cs typeface="Arial"/>
              </a:rPr>
              <a:t>zations</a:t>
            </a:r>
            <a:r>
              <a:rPr dirty="0" sz="2350" spc="-195">
                <a:solidFill>
                  <a:srgbClr val="1D1F21"/>
                </a:solidFill>
                <a:latin typeface="Arial"/>
                <a:cs typeface="Arial"/>
              </a:rPr>
              <a:t> </a:t>
            </a:r>
            <a:r>
              <a:rPr dirty="0" sz="2350" spc="-10">
                <a:solidFill>
                  <a:srgbClr val="1D1F21"/>
                </a:solidFill>
                <a:latin typeface="Arial"/>
                <a:cs typeface="Arial"/>
              </a:rPr>
              <a:t>are</a:t>
            </a:r>
            <a:r>
              <a:rPr dirty="0" sz="2350" spc="-170">
                <a:solidFill>
                  <a:srgbClr val="1D1F21"/>
                </a:solidFill>
                <a:latin typeface="Arial"/>
                <a:cs typeface="Arial"/>
              </a:rPr>
              <a:t> </a:t>
            </a:r>
            <a:r>
              <a:rPr dirty="0" sz="2350">
                <a:solidFill>
                  <a:srgbClr val="31363B"/>
                </a:solidFill>
                <a:latin typeface="Arial"/>
                <a:cs typeface="Arial"/>
              </a:rPr>
              <a:t>s</a:t>
            </a:r>
            <a:r>
              <a:rPr dirty="0" sz="2350">
                <a:solidFill>
                  <a:srgbClr val="1D1F21"/>
                </a:solidFill>
                <a:latin typeface="Arial"/>
                <a:cs typeface="Arial"/>
              </a:rPr>
              <a:t>t</a:t>
            </a:r>
            <a:r>
              <a:rPr dirty="0" sz="2350">
                <a:solidFill>
                  <a:srgbClr val="31363B"/>
                </a:solidFill>
                <a:latin typeface="Arial"/>
                <a:cs typeface="Arial"/>
              </a:rPr>
              <a:t>r</a:t>
            </a:r>
            <a:r>
              <a:rPr dirty="0" sz="2350">
                <a:solidFill>
                  <a:srgbClr val="1D1F21"/>
                </a:solidFill>
                <a:latin typeface="Arial"/>
                <a:cs typeface="Arial"/>
              </a:rPr>
              <a:t>uggling</a:t>
            </a:r>
            <a:r>
              <a:rPr dirty="0" sz="2350" spc="-155">
                <a:solidFill>
                  <a:srgbClr val="1D1F21"/>
                </a:solidFill>
                <a:latin typeface="Arial"/>
                <a:cs typeface="Arial"/>
              </a:rPr>
              <a:t> </a:t>
            </a:r>
            <a:r>
              <a:rPr dirty="0" sz="2350" spc="65">
                <a:solidFill>
                  <a:srgbClr val="1D1F21"/>
                </a:solidFill>
                <a:latin typeface="Arial"/>
                <a:cs typeface="Arial"/>
              </a:rPr>
              <a:t>to</a:t>
            </a:r>
            <a:r>
              <a:rPr dirty="0" sz="2350" spc="-185">
                <a:solidFill>
                  <a:srgbClr val="1D1F21"/>
                </a:solidFill>
                <a:latin typeface="Arial"/>
                <a:cs typeface="Arial"/>
              </a:rPr>
              <a:t> </a:t>
            </a:r>
            <a:r>
              <a:rPr dirty="0" sz="2350" spc="-25">
                <a:solidFill>
                  <a:srgbClr val="1D1F21"/>
                </a:solidFill>
                <a:latin typeface="Arial"/>
                <a:cs typeface="Arial"/>
              </a:rPr>
              <a:t>secure</a:t>
            </a:r>
            <a:r>
              <a:rPr dirty="0" sz="2350" spc="-55">
                <a:solidFill>
                  <a:srgbClr val="1D1F21"/>
                </a:solidFill>
                <a:latin typeface="Arial"/>
                <a:cs typeface="Arial"/>
              </a:rPr>
              <a:t> </a:t>
            </a:r>
            <a:r>
              <a:rPr dirty="0" sz="2350">
                <a:solidFill>
                  <a:srgbClr val="1D1F21"/>
                </a:solidFill>
                <a:latin typeface="Arial"/>
                <a:cs typeface="Arial"/>
              </a:rPr>
              <a:t>the</a:t>
            </a:r>
            <a:r>
              <a:rPr dirty="0" sz="2350">
                <a:solidFill>
                  <a:srgbClr val="31363B"/>
                </a:solidFill>
                <a:latin typeface="Arial"/>
                <a:cs typeface="Arial"/>
              </a:rPr>
              <a:t>i</a:t>
            </a:r>
            <a:r>
              <a:rPr dirty="0" sz="2350">
                <a:solidFill>
                  <a:srgbClr val="1D1F21"/>
                </a:solidFill>
                <a:latin typeface="Arial"/>
                <a:cs typeface="Arial"/>
              </a:rPr>
              <a:t>r</a:t>
            </a:r>
            <a:r>
              <a:rPr dirty="0" sz="2350" spc="-185">
                <a:solidFill>
                  <a:srgbClr val="1D1F21"/>
                </a:solidFill>
                <a:latin typeface="Arial"/>
                <a:cs typeface="Arial"/>
              </a:rPr>
              <a:t> </a:t>
            </a:r>
            <a:r>
              <a:rPr dirty="0" sz="2350" spc="-45">
                <a:solidFill>
                  <a:srgbClr val="1D1F21"/>
                </a:solidFill>
                <a:latin typeface="Arial"/>
                <a:cs typeface="Arial"/>
              </a:rPr>
              <a:t>Linux</a:t>
            </a:r>
            <a:r>
              <a:rPr dirty="0" sz="2350" spc="-50">
                <a:solidFill>
                  <a:srgbClr val="1D1F21"/>
                </a:solidFill>
                <a:latin typeface="Arial"/>
                <a:cs typeface="Arial"/>
              </a:rPr>
              <a:t> </a:t>
            </a:r>
            <a:r>
              <a:rPr dirty="0" sz="2350">
                <a:solidFill>
                  <a:srgbClr val="1D1F21"/>
                </a:solidFill>
                <a:latin typeface="Arial"/>
                <a:cs typeface="Arial"/>
              </a:rPr>
              <a:t>infrastructu</a:t>
            </a:r>
            <a:r>
              <a:rPr dirty="0" sz="2350">
                <a:solidFill>
                  <a:srgbClr val="31363B"/>
                </a:solidFill>
                <a:latin typeface="Arial"/>
                <a:cs typeface="Arial"/>
              </a:rPr>
              <a:t>r</a:t>
            </a:r>
            <a:r>
              <a:rPr dirty="0" sz="2350">
                <a:solidFill>
                  <a:srgbClr val="1D1F21"/>
                </a:solidFill>
                <a:latin typeface="Arial"/>
                <a:cs typeface="Arial"/>
              </a:rPr>
              <a:t>e</a:t>
            </a:r>
            <a:r>
              <a:rPr dirty="0" sz="2350" spc="-130">
                <a:solidFill>
                  <a:srgbClr val="1D1F21"/>
                </a:solidFill>
                <a:latin typeface="Arial"/>
                <a:cs typeface="Arial"/>
              </a:rPr>
              <a:t> </a:t>
            </a:r>
            <a:r>
              <a:rPr dirty="0" sz="2350" spc="-25">
                <a:solidFill>
                  <a:srgbClr val="1D1F21"/>
                </a:solidFill>
                <a:latin typeface="Arial"/>
                <a:cs typeface="Arial"/>
              </a:rPr>
              <a:t>against</a:t>
            </a:r>
            <a:r>
              <a:rPr dirty="0" sz="2350" spc="15">
                <a:solidFill>
                  <a:srgbClr val="1D1F21"/>
                </a:solidFill>
                <a:latin typeface="Arial"/>
                <a:cs typeface="Arial"/>
              </a:rPr>
              <a:t> </a:t>
            </a:r>
            <a:r>
              <a:rPr dirty="0" sz="2350" spc="-10">
                <a:solidFill>
                  <a:srgbClr val="1D1F21"/>
                </a:solidFill>
                <a:latin typeface="Arial"/>
                <a:cs typeface="Arial"/>
              </a:rPr>
              <a:t>mandatory compliance </a:t>
            </a:r>
            <a:r>
              <a:rPr dirty="0" sz="2350" spc="-10">
                <a:solidFill>
                  <a:srgbClr val="31363B"/>
                </a:solidFill>
                <a:latin typeface="Arial"/>
                <a:cs typeface="Arial"/>
              </a:rPr>
              <a:t>fr</a:t>
            </a:r>
            <a:r>
              <a:rPr dirty="0" sz="2350" spc="-10">
                <a:solidFill>
                  <a:srgbClr val="1D1F21"/>
                </a:solidFill>
                <a:latin typeface="Arial"/>
                <a:cs typeface="Arial"/>
              </a:rPr>
              <a:t>ameworks</a:t>
            </a:r>
            <a:r>
              <a:rPr dirty="0" sz="2350" spc="-10">
                <a:solidFill>
                  <a:srgbClr val="31363B"/>
                </a:solidFill>
                <a:latin typeface="Arial"/>
                <a:cs typeface="Arial"/>
              </a:rPr>
              <a:t>.</a:t>
            </a:r>
            <a:r>
              <a:rPr dirty="0" sz="2350" spc="-300">
                <a:solidFill>
                  <a:srgbClr val="31363B"/>
                </a:solidFill>
                <a:latin typeface="Arial"/>
                <a:cs typeface="Arial"/>
              </a:rPr>
              <a:t> </a:t>
            </a:r>
            <a:r>
              <a:rPr dirty="0" sz="2350" spc="-20">
                <a:solidFill>
                  <a:srgbClr val="1D1F21"/>
                </a:solidFill>
                <a:latin typeface="Arial"/>
                <a:cs typeface="Arial"/>
              </a:rPr>
              <a:t>C</a:t>
            </a:r>
            <a:r>
              <a:rPr dirty="0" sz="2350" spc="-20">
                <a:solidFill>
                  <a:srgbClr val="31363B"/>
                </a:solidFill>
                <a:latin typeface="Arial"/>
                <a:cs typeface="Arial"/>
              </a:rPr>
              <a:t>ur</a:t>
            </a:r>
            <a:r>
              <a:rPr dirty="0" sz="2350" spc="-20">
                <a:solidFill>
                  <a:srgbClr val="1D1F21"/>
                </a:solidFill>
                <a:latin typeface="Arial"/>
                <a:cs typeface="Arial"/>
              </a:rPr>
              <a:t>ren</a:t>
            </a:r>
            <a:r>
              <a:rPr dirty="0" sz="2350" spc="-20">
                <a:solidFill>
                  <a:srgbClr val="31363B"/>
                </a:solidFill>
                <a:latin typeface="Arial"/>
                <a:cs typeface="Arial"/>
              </a:rPr>
              <a:t>t</a:t>
            </a:r>
            <a:r>
              <a:rPr dirty="0" sz="2350" spc="50">
                <a:solidFill>
                  <a:srgbClr val="31363B"/>
                </a:solidFill>
                <a:latin typeface="Arial"/>
                <a:cs typeface="Arial"/>
              </a:rPr>
              <a:t> </a:t>
            </a:r>
            <a:r>
              <a:rPr dirty="0" sz="2350" spc="-25">
                <a:solidFill>
                  <a:srgbClr val="1D1F21"/>
                </a:solidFill>
                <a:latin typeface="Arial"/>
                <a:cs typeface="Arial"/>
              </a:rPr>
              <a:t>approa</a:t>
            </a:r>
            <a:r>
              <a:rPr dirty="0" sz="2350" spc="-25">
                <a:solidFill>
                  <a:srgbClr val="31363B"/>
                </a:solidFill>
                <a:latin typeface="Arial"/>
                <a:cs typeface="Arial"/>
              </a:rPr>
              <a:t>c</a:t>
            </a:r>
            <a:r>
              <a:rPr dirty="0" sz="2350" spc="-25">
                <a:solidFill>
                  <a:srgbClr val="1D1F21"/>
                </a:solidFill>
                <a:latin typeface="Arial"/>
                <a:cs typeface="Arial"/>
              </a:rPr>
              <a:t>hes</a:t>
            </a:r>
            <a:r>
              <a:rPr dirty="0" sz="2350" spc="-165">
                <a:solidFill>
                  <a:srgbClr val="1D1F21"/>
                </a:solidFill>
                <a:latin typeface="Arial"/>
                <a:cs typeface="Arial"/>
              </a:rPr>
              <a:t> </a:t>
            </a:r>
            <a:r>
              <a:rPr dirty="0" sz="2350" spc="-40">
                <a:solidFill>
                  <a:srgbClr val="1D1F21"/>
                </a:solidFill>
                <a:latin typeface="Arial"/>
                <a:cs typeface="Arial"/>
              </a:rPr>
              <a:t>are</a:t>
            </a:r>
            <a:r>
              <a:rPr dirty="0" sz="2350" spc="-135">
                <a:solidFill>
                  <a:srgbClr val="1D1F21"/>
                </a:solidFill>
                <a:latin typeface="Arial"/>
                <a:cs typeface="Arial"/>
              </a:rPr>
              <a:t> </a:t>
            </a:r>
            <a:r>
              <a:rPr dirty="0" sz="2350" spc="-65">
                <a:solidFill>
                  <a:srgbClr val="1D1F21"/>
                </a:solidFill>
                <a:latin typeface="Arial"/>
                <a:cs typeface="Arial"/>
              </a:rPr>
              <a:t>manual,</a:t>
            </a:r>
            <a:r>
              <a:rPr dirty="0" sz="2350" spc="-80">
                <a:solidFill>
                  <a:srgbClr val="1D1F21"/>
                </a:solidFill>
                <a:latin typeface="Arial"/>
                <a:cs typeface="Arial"/>
              </a:rPr>
              <a:t> </a:t>
            </a:r>
            <a:r>
              <a:rPr dirty="0" sz="2350" spc="-10">
                <a:solidFill>
                  <a:srgbClr val="1D1F21"/>
                </a:solidFill>
                <a:latin typeface="Arial"/>
                <a:cs typeface="Arial"/>
              </a:rPr>
              <a:t>error-prone</a:t>
            </a:r>
            <a:r>
              <a:rPr dirty="0" sz="2350" spc="-10">
                <a:solidFill>
                  <a:srgbClr val="31363B"/>
                </a:solidFill>
                <a:latin typeface="Arial"/>
                <a:cs typeface="Arial"/>
              </a:rPr>
              <a:t>,</a:t>
            </a:r>
            <a:r>
              <a:rPr dirty="0" sz="2350" spc="-155">
                <a:solidFill>
                  <a:srgbClr val="31363B"/>
                </a:solidFill>
                <a:latin typeface="Arial"/>
                <a:cs typeface="Arial"/>
              </a:rPr>
              <a:t> </a:t>
            </a:r>
            <a:r>
              <a:rPr dirty="0" sz="2350" spc="-20">
                <a:solidFill>
                  <a:srgbClr val="1D1F21"/>
                </a:solidFill>
                <a:latin typeface="Arial"/>
                <a:cs typeface="Arial"/>
              </a:rPr>
              <a:t>and</a:t>
            </a:r>
            <a:r>
              <a:rPr dirty="0" sz="2350" spc="-80">
                <a:solidFill>
                  <a:srgbClr val="1D1F21"/>
                </a:solidFill>
                <a:latin typeface="Arial"/>
                <a:cs typeface="Arial"/>
              </a:rPr>
              <a:t> </a:t>
            </a:r>
            <a:r>
              <a:rPr dirty="0" sz="2350" spc="-10">
                <a:solidFill>
                  <a:srgbClr val="1D1F21"/>
                </a:solidFill>
                <a:latin typeface="Arial"/>
                <a:cs typeface="Arial"/>
              </a:rPr>
              <a:t>unsustainab</a:t>
            </a:r>
            <a:r>
              <a:rPr dirty="0" sz="2350" spc="-10">
                <a:solidFill>
                  <a:srgbClr val="010101"/>
                </a:solidFill>
                <a:latin typeface="Arial"/>
                <a:cs typeface="Arial"/>
              </a:rPr>
              <a:t>l</a:t>
            </a:r>
            <a:r>
              <a:rPr dirty="0" sz="2350" spc="-10">
                <a:solidFill>
                  <a:srgbClr val="1D1F21"/>
                </a:solidFill>
                <a:latin typeface="Arial"/>
                <a:cs typeface="Arial"/>
              </a:rPr>
              <a:t>e</a:t>
            </a:r>
            <a:r>
              <a:rPr dirty="0" sz="2350" spc="-10">
                <a:solidFill>
                  <a:srgbClr val="31363B"/>
                </a:solidFill>
                <a:latin typeface="Arial"/>
                <a:cs typeface="Arial"/>
              </a:rPr>
              <a:t>.</a:t>
            </a:r>
            <a:endParaRPr sz="2350">
              <a:latin typeface="Arial"/>
              <a:cs typeface="Arial"/>
            </a:endParaRPr>
          </a:p>
        </p:txBody>
      </p:sp>
      <p:sp>
        <p:nvSpPr>
          <p:cNvPr id="46" name="object 4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00"/>
              </a:lnSpc>
            </a:pPr>
            <a:r>
              <a:rPr dirty="0" sz="1300" spc="-20">
                <a:solidFill>
                  <a:srgbClr val="363838"/>
                </a:solidFill>
              </a:rPr>
              <a:t>Isl\</a:t>
            </a:r>
            <a:r>
              <a:rPr dirty="0" sz="1300" spc="-45">
                <a:solidFill>
                  <a:srgbClr val="363838"/>
                </a:solidFill>
              </a:rPr>
              <a:t> </a:t>
            </a:r>
            <a:r>
              <a:rPr dirty="0" spc="-10">
                <a:solidFill>
                  <a:srgbClr val="070F1F"/>
                </a:solidFill>
              </a:rPr>
              <a:t>N</a:t>
            </a:r>
            <a:r>
              <a:rPr dirty="0" spc="-10"/>
              <a:t>otebookLM</a:t>
            </a:r>
            <a:endParaRPr sz="1300"/>
          </a:p>
        </p:txBody>
      </p:sp>
      <p:sp>
        <p:nvSpPr>
          <p:cNvPr id="21" name="object 21"/>
          <p:cNvSpPr txBox="1"/>
          <p:nvPr/>
        </p:nvSpPr>
        <p:spPr>
          <a:xfrm>
            <a:off x="2458415" y="2642922"/>
            <a:ext cx="4208780" cy="454659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2800" spc="-60" b="1">
                <a:solidFill>
                  <a:srgbClr val="010101"/>
                </a:solidFill>
                <a:latin typeface="Arial"/>
                <a:cs typeface="Arial"/>
              </a:rPr>
              <a:t>Massive</a:t>
            </a:r>
            <a:r>
              <a:rPr dirty="0" sz="2800" spc="-90" b="1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dirty="0" sz="2800" spc="-30" b="1">
                <a:solidFill>
                  <a:srgbClr val="010101"/>
                </a:solidFill>
                <a:latin typeface="Arial"/>
                <a:cs typeface="Arial"/>
              </a:rPr>
              <a:t>Unpreparedness</a:t>
            </a:r>
            <a:endParaRPr sz="28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21500" y="6785537"/>
            <a:ext cx="153035" cy="2019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50" spc="-20">
                <a:solidFill>
                  <a:srgbClr val="1D1F21"/>
                </a:solidFill>
                <a:latin typeface="Arial"/>
                <a:cs typeface="Arial"/>
              </a:rPr>
              <a:t>-</a:t>
            </a:r>
            <a:r>
              <a:rPr dirty="0" sz="1150" spc="-50">
                <a:solidFill>
                  <a:srgbClr val="1D1F21"/>
                </a:solidFill>
                <a:latin typeface="Arial"/>
                <a:cs typeface="Arial"/>
              </a:rPr>
              <a:t>0</a:t>
            </a:r>
            <a:endParaRPr sz="115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59596" y="6925964"/>
            <a:ext cx="143510" cy="156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 spc="-25">
                <a:solidFill>
                  <a:srgbClr val="31363B"/>
                </a:solidFill>
                <a:latin typeface="Arial"/>
                <a:cs typeface="Arial"/>
              </a:rPr>
              <a:t>Q)</a:t>
            </a:r>
            <a:endParaRPr sz="85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96497" y="7002560"/>
            <a:ext cx="166370" cy="2476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50" spc="-25">
                <a:solidFill>
                  <a:srgbClr val="31363B"/>
                </a:solidFill>
                <a:latin typeface="Arial"/>
                <a:cs typeface="Arial"/>
              </a:rPr>
              <a:t>.c</a:t>
            </a:r>
            <a:endParaRPr sz="145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45688" y="7181288"/>
            <a:ext cx="114300" cy="140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25">
                <a:solidFill>
                  <a:srgbClr val="31363B"/>
                </a:solidFill>
                <a:latin typeface="Arial"/>
                <a:cs typeface="Arial"/>
              </a:rPr>
              <a:t>(/)</a:t>
            </a:r>
            <a:endParaRPr sz="75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77844" y="7123840"/>
            <a:ext cx="213995" cy="3930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400" spc="-35">
                <a:solidFill>
                  <a:srgbClr val="31363B"/>
                </a:solidFill>
                <a:latin typeface="Arial"/>
                <a:cs typeface="Arial"/>
              </a:rPr>
              <a:t>·</a:t>
            </a:r>
            <a:r>
              <a:rPr dirty="0" sz="2400" spc="-640">
                <a:solidFill>
                  <a:srgbClr val="31363B"/>
                </a:solidFill>
                <a:latin typeface="Arial"/>
                <a:cs typeface="Arial"/>
              </a:rPr>
              <a:t>-</a:t>
            </a:r>
            <a:endParaRPr sz="24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08547" y="7053626"/>
            <a:ext cx="154305" cy="5391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350" spc="-880">
                <a:solidFill>
                  <a:srgbClr val="31363B"/>
                </a:solidFill>
                <a:latin typeface="Times New Roman"/>
                <a:cs typeface="Times New Roman"/>
              </a:rPr>
              <a:t>-</a:t>
            </a:r>
            <a:endParaRPr sz="335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12712" y="7385546"/>
            <a:ext cx="145415" cy="2019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50" spc="-25">
                <a:solidFill>
                  <a:srgbClr val="31363B"/>
                </a:solidFill>
                <a:latin typeface="Arial"/>
                <a:cs typeface="Arial"/>
              </a:rPr>
              <a:t>.0</a:t>
            </a:r>
            <a:endParaRPr sz="115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50496" y="7481292"/>
            <a:ext cx="150495" cy="2095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200" spc="-25">
                <a:solidFill>
                  <a:srgbClr val="31363B"/>
                </a:solidFill>
                <a:latin typeface="Arial"/>
                <a:cs typeface="Arial"/>
              </a:rPr>
              <a:t>::,</a:t>
            </a:r>
            <a:endParaRPr sz="12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19035" y="7647251"/>
            <a:ext cx="193040" cy="1943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25">
                <a:solidFill>
                  <a:srgbClr val="1D1F21"/>
                </a:solidFill>
                <a:latin typeface="Arial"/>
                <a:cs typeface="Arial"/>
              </a:rPr>
              <a:t>Cl.</a:t>
            </a:r>
            <a:endParaRPr sz="11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45299" y="7838744"/>
            <a:ext cx="120014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25">
                <a:solidFill>
                  <a:srgbClr val="31363B"/>
                </a:solidFill>
                <a:latin typeface="Arial"/>
                <a:cs typeface="Arial"/>
              </a:rPr>
              <a:t>(/)</a:t>
            </a:r>
            <a:endParaRPr sz="8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24698" y="7864276"/>
            <a:ext cx="179070" cy="2863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-50">
                <a:solidFill>
                  <a:srgbClr val="31363B"/>
                </a:solidFill>
                <a:latin typeface="Times New Roman"/>
                <a:cs typeface="Times New Roman"/>
              </a:rPr>
              <a:t>w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20838" y="7985554"/>
            <a:ext cx="177165" cy="3549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150" spc="-50">
                <a:solidFill>
                  <a:srgbClr val="31363B"/>
                </a:solidFill>
                <a:latin typeface="Times New Roman"/>
                <a:cs typeface="Times New Roman"/>
              </a:rPr>
              <a:t>&gt;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62152" y="8208962"/>
            <a:ext cx="123189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50">
                <a:solidFill>
                  <a:srgbClr val="31363B"/>
                </a:solidFill>
                <a:latin typeface="Arial"/>
                <a:cs typeface="Arial"/>
              </a:rPr>
              <a:t>0</a:t>
            </a:r>
            <a:endParaRPr sz="14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690081" y="3517403"/>
            <a:ext cx="3406140" cy="1899920"/>
          </a:xfrm>
          <a:prstGeom prst="rect">
            <a:avLst/>
          </a:prstGeom>
        </p:spPr>
        <p:txBody>
          <a:bodyPr wrap="square" lIns="0" tIns="31750" rIns="0" bIns="0" rtlCol="0" vert="horz">
            <a:spAutoFit/>
          </a:bodyPr>
          <a:lstStyle/>
          <a:p>
            <a:pPr marL="13335" marR="5080" indent="-1270">
              <a:lnSpc>
                <a:spcPct val="95100"/>
              </a:lnSpc>
              <a:spcBef>
                <a:spcPts val="250"/>
              </a:spcBef>
            </a:pPr>
            <a:r>
              <a:rPr dirty="0" sz="2350">
                <a:solidFill>
                  <a:srgbClr val="1D1F21"/>
                </a:solidFill>
                <a:latin typeface="Arial"/>
                <a:cs typeface="Arial"/>
              </a:rPr>
              <a:t>of</a:t>
            </a:r>
            <a:r>
              <a:rPr dirty="0" sz="2350" spc="85">
                <a:solidFill>
                  <a:srgbClr val="1D1F21"/>
                </a:solidFill>
                <a:latin typeface="Arial"/>
                <a:cs typeface="Arial"/>
              </a:rPr>
              <a:t> </a:t>
            </a:r>
            <a:r>
              <a:rPr dirty="0" sz="2350" spc="-60">
                <a:solidFill>
                  <a:srgbClr val="1D1F21"/>
                </a:solidFill>
                <a:latin typeface="Arial"/>
                <a:cs typeface="Arial"/>
              </a:rPr>
              <a:t>De</a:t>
            </a:r>
            <a:r>
              <a:rPr dirty="0" sz="2350" spc="-60">
                <a:solidFill>
                  <a:srgbClr val="31363B"/>
                </a:solidFill>
                <a:latin typeface="Arial"/>
                <a:cs typeface="Arial"/>
              </a:rPr>
              <a:t>f</a:t>
            </a:r>
            <a:r>
              <a:rPr dirty="0" sz="2350" spc="-60">
                <a:solidFill>
                  <a:srgbClr val="1D1F21"/>
                </a:solidFill>
                <a:latin typeface="Arial"/>
                <a:cs typeface="Arial"/>
              </a:rPr>
              <a:t>ense</a:t>
            </a:r>
            <a:r>
              <a:rPr dirty="0" sz="2350" spc="-180">
                <a:solidFill>
                  <a:srgbClr val="1D1F21"/>
                </a:solidFill>
                <a:latin typeface="Arial"/>
                <a:cs typeface="Arial"/>
              </a:rPr>
              <a:t> </a:t>
            </a:r>
            <a:r>
              <a:rPr dirty="0" sz="2350" spc="-20">
                <a:solidFill>
                  <a:srgbClr val="1D1F21"/>
                </a:solidFill>
                <a:latin typeface="Arial"/>
                <a:cs typeface="Arial"/>
              </a:rPr>
              <a:t>Industr</a:t>
            </a:r>
            <a:r>
              <a:rPr dirty="0" sz="2350" spc="-20">
                <a:solidFill>
                  <a:srgbClr val="31363B"/>
                </a:solidFill>
                <a:latin typeface="Arial"/>
                <a:cs typeface="Arial"/>
              </a:rPr>
              <a:t>i</a:t>
            </a:r>
            <a:r>
              <a:rPr dirty="0" sz="2350" spc="-20">
                <a:solidFill>
                  <a:srgbClr val="1D1F21"/>
                </a:solidFill>
                <a:latin typeface="Arial"/>
                <a:cs typeface="Arial"/>
              </a:rPr>
              <a:t>al</a:t>
            </a:r>
            <a:r>
              <a:rPr dirty="0" sz="2350" spc="-170">
                <a:solidFill>
                  <a:srgbClr val="1D1F21"/>
                </a:solidFill>
                <a:latin typeface="Arial"/>
                <a:cs typeface="Arial"/>
              </a:rPr>
              <a:t> </a:t>
            </a:r>
            <a:r>
              <a:rPr dirty="0" sz="2350" spc="-45">
                <a:solidFill>
                  <a:srgbClr val="1D1F21"/>
                </a:solidFill>
                <a:latin typeface="Arial"/>
                <a:cs typeface="Arial"/>
              </a:rPr>
              <a:t>Base </a:t>
            </a:r>
            <a:r>
              <a:rPr dirty="0" sz="2350" spc="-90">
                <a:solidFill>
                  <a:srgbClr val="1D1F21"/>
                </a:solidFill>
                <a:latin typeface="Arial"/>
                <a:cs typeface="Arial"/>
              </a:rPr>
              <a:t>(DIB)</a:t>
            </a:r>
            <a:r>
              <a:rPr dirty="0" sz="2350" spc="-25">
                <a:solidFill>
                  <a:srgbClr val="1D1F21"/>
                </a:solidFill>
                <a:latin typeface="Arial"/>
                <a:cs typeface="Arial"/>
              </a:rPr>
              <a:t> </a:t>
            </a:r>
            <a:r>
              <a:rPr dirty="0" sz="2350">
                <a:solidFill>
                  <a:srgbClr val="1D1F21"/>
                </a:solidFill>
                <a:latin typeface="Arial"/>
                <a:cs typeface="Arial"/>
              </a:rPr>
              <a:t>contracto</a:t>
            </a:r>
            <a:r>
              <a:rPr dirty="0" sz="2350">
                <a:solidFill>
                  <a:srgbClr val="31363B"/>
                </a:solidFill>
                <a:latin typeface="Arial"/>
                <a:cs typeface="Arial"/>
              </a:rPr>
              <a:t>r</a:t>
            </a:r>
            <a:r>
              <a:rPr dirty="0" sz="2350">
                <a:solidFill>
                  <a:srgbClr val="1D1F21"/>
                </a:solidFill>
                <a:latin typeface="Arial"/>
                <a:cs typeface="Arial"/>
              </a:rPr>
              <a:t>s</a:t>
            </a:r>
            <a:r>
              <a:rPr dirty="0" sz="2350" spc="-190">
                <a:solidFill>
                  <a:srgbClr val="1D1F21"/>
                </a:solidFill>
                <a:latin typeface="Arial"/>
                <a:cs typeface="Arial"/>
              </a:rPr>
              <a:t> </a:t>
            </a:r>
            <a:r>
              <a:rPr dirty="0" sz="2350" spc="-25">
                <a:solidFill>
                  <a:srgbClr val="1D1F21"/>
                </a:solidFill>
                <a:latin typeface="Arial"/>
                <a:cs typeface="Arial"/>
              </a:rPr>
              <a:t>are </a:t>
            </a:r>
            <a:r>
              <a:rPr dirty="0" sz="2350" spc="-45">
                <a:solidFill>
                  <a:srgbClr val="1D1F21"/>
                </a:solidFill>
                <a:latin typeface="Arial"/>
                <a:cs typeface="Arial"/>
              </a:rPr>
              <a:t>unprepared</a:t>
            </a:r>
            <a:r>
              <a:rPr dirty="0" sz="2350" spc="90">
                <a:solidFill>
                  <a:srgbClr val="1D1F21"/>
                </a:solidFill>
                <a:latin typeface="Arial"/>
                <a:cs typeface="Arial"/>
              </a:rPr>
              <a:t> </a:t>
            </a:r>
            <a:r>
              <a:rPr dirty="0" sz="2350">
                <a:solidFill>
                  <a:srgbClr val="1D1F21"/>
                </a:solidFill>
                <a:latin typeface="Arial"/>
                <a:cs typeface="Arial"/>
              </a:rPr>
              <a:t>for</a:t>
            </a:r>
            <a:r>
              <a:rPr dirty="0" sz="2350" spc="-45">
                <a:solidFill>
                  <a:srgbClr val="1D1F21"/>
                </a:solidFill>
                <a:latin typeface="Arial"/>
                <a:cs typeface="Arial"/>
              </a:rPr>
              <a:t> </a:t>
            </a:r>
            <a:r>
              <a:rPr dirty="0" sz="2350">
                <a:solidFill>
                  <a:srgbClr val="1D1F21"/>
                </a:solidFill>
                <a:latin typeface="Arial"/>
                <a:cs typeface="Arial"/>
              </a:rPr>
              <a:t>the</a:t>
            </a:r>
            <a:r>
              <a:rPr dirty="0" sz="2350" spc="-229">
                <a:solidFill>
                  <a:srgbClr val="1D1F21"/>
                </a:solidFill>
                <a:latin typeface="Arial"/>
                <a:cs typeface="Arial"/>
              </a:rPr>
              <a:t> </a:t>
            </a:r>
            <a:r>
              <a:rPr dirty="0" sz="2350" spc="-50">
                <a:solidFill>
                  <a:srgbClr val="1D1F21"/>
                </a:solidFill>
                <a:latin typeface="Arial"/>
                <a:cs typeface="Arial"/>
              </a:rPr>
              <a:t>CMMC </a:t>
            </a:r>
            <a:r>
              <a:rPr dirty="0" sz="2350" spc="-45">
                <a:solidFill>
                  <a:srgbClr val="1D1F21"/>
                </a:solidFill>
                <a:latin typeface="Arial"/>
                <a:cs typeface="Arial"/>
              </a:rPr>
              <a:t>Level</a:t>
            </a:r>
            <a:r>
              <a:rPr dirty="0" sz="2350" spc="-120">
                <a:solidFill>
                  <a:srgbClr val="1D1F21"/>
                </a:solidFill>
                <a:latin typeface="Arial"/>
                <a:cs typeface="Arial"/>
              </a:rPr>
              <a:t> </a:t>
            </a:r>
            <a:r>
              <a:rPr dirty="0" sz="2350" spc="65">
                <a:solidFill>
                  <a:srgbClr val="1D1F21"/>
                </a:solidFill>
                <a:latin typeface="Arial"/>
                <a:cs typeface="Arial"/>
              </a:rPr>
              <a:t>2</a:t>
            </a:r>
            <a:r>
              <a:rPr dirty="0" sz="2350" spc="-229">
                <a:solidFill>
                  <a:srgbClr val="1D1F21"/>
                </a:solidFill>
                <a:latin typeface="Arial"/>
                <a:cs typeface="Arial"/>
              </a:rPr>
              <a:t> </a:t>
            </a:r>
            <a:r>
              <a:rPr dirty="0" sz="2350" spc="-10">
                <a:solidFill>
                  <a:srgbClr val="1D1F21"/>
                </a:solidFill>
                <a:latin typeface="Arial"/>
                <a:cs typeface="Arial"/>
              </a:rPr>
              <a:t>ma</a:t>
            </a:r>
            <a:r>
              <a:rPr dirty="0" sz="2350" spc="-10">
                <a:solidFill>
                  <a:srgbClr val="31363B"/>
                </a:solidFill>
                <a:latin typeface="Arial"/>
                <a:cs typeface="Arial"/>
              </a:rPr>
              <a:t>n</a:t>
            </a:r>
            <a:r>
              <a:rPr dirty="0" sz="2350" spc="-10">
                <a:solidFill>
                  <a:srgbClr val="1D1F21"/>
                </a:solidFill>
                <a:latin typeface="Arial"/>
                <a:cs typeface="Arial"/>
              </a:rPr>
              <a:t>da</a:t>
            </a:r>
            <a:r>
              <a:rPr dirty="0" sz="2350" spc="-10">
                <a:solidFill>
                  <a:srgbClr val="010101"/>
                </a:solidFill>
                <a:latin typeface="Arial"/>
                <a:cs typeface="Arial"/>
              </a:rPr>
              <a:t>t</a:t>
            </a:r>
            <a:r>
              <a:rPr dirty="0" sz="2350" spc="-10">
                <a:solidFill>
                  <a:srgbClr val="1D1F21"/>
                </a:solidFill>
                <a:latin typeface="Arial"/>
                <a:cs typeface="Arial"/>
              </a:rPr>
              <a:t>e</a:t>
            </a:r>
            <a:r>
              <a:rPr dirty="0" sz="2350" spc="-10">
                <a:solidFill>
                  <a:srgbClr val="010101"/>
                </a:solidFill>
                <a:latin typeface="Arial"/>
                <a:cs typeface="Arial"/>
              </a:rPr>
              <a:t>.</a:t>
            </a:r>
            <a:endParaRPr sz="2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900"/>
              </a:spcBef>
            </a:pPr>
            <a:r>
              <a:rPr dirty="0" sz="1650" spc="-20">
                <a:solidFill>
                  <a:srgbClr val="75797E"/>
                </a:solidFill>
                <a:latin typeface="Arial"/>
                <a:cs typeface="Arial"/>
              </a:rPr>
              <a:t>Source:</a:t>
            </a:r>
            <a:r>
              <a:rPr dirty="0" sz="1650" spc="-70">
                <a:solidFill>
                  <a:srgbClr val="75797E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85898C"/>
                </a:solidFill>
                <a:latin typeface="Arial"/>
                <a:cs typeface="Arial"/>
              </a:rPr>
              <a:t>Kiteworks/Coa</a:t>
            </a:r>
            <a:r>
              <a:rPr dirty="0" sz="1650">
                <a:solidFill>
                  <a:srgbClr val="646769"/>
                </a:solidFill>
                <a:latin typeface="Arial"/>
                <a:cs typeface="Arial"/>
              </a:rPr>
              <a:t>lfi</a:t>
            </a:r>
            <a:r>
              <a:rPr dirty="0" sz="1650">
                <a:solidFill>
                  <a:srgbClr val="85898C"/>
                </a:solidFill>
                <a:latin typeface="Arial"/>
                <a:cs typeface="Arial"/>
              </a:rPr>
              <a:t>re</a:t>
            </a:r>
            <a:r>
              <a:rPr dirty="0" sz="1650" spc="-35">
                <a:solidFill>
                  <a:srgbClr val="85898C"/>
                </a:solidFill>
                <a:latin typeface="Arial"/>
                <a:cs typeface="Arial"/>
              </a:rPr>
              <a:t> </a:t>
            </a:r>
            <a:r>
              <a:rPr dirty="0" sz="1650" spc="-20">
                <a:solidFill>
                  <a:srgbClr val="75797E"/>
                </a:solidFill>
                <a:latin typeface="Arial"/>
                <a:cs typeface="Arial"/>
              </a:rPr>
              <a:t>2025</a:t>
            </a:r>
            <a:endParaRPr sz="165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686661" y="6255742"/>
            <a:ext cx="3592829" cy="454659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2800" spc="-95" b="1">
                <a:solidFill>
                  <a:srgbClr val="010101"/>
                </a:solidFill>
                <a:latin typeface="Arial"/>
                <a:cs typeface="Arial"/>
              </a:rPr>
              <a:t>Exploding</a:t>
            </a:r>
            <a:r>
              <a:rPr dirty="0" sz="2800" spc="-110" b="1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dirty="0" sz="2800" spc="-40" b="1">
                <a:solidFill>
                  <a:srgbClr val="010101"/>
                </a:solidFill>
                <a:latin typeface="Arial"/>
                <a:cs typeface="Arial"/>
              </a:rPr>
              <a:t>Complexity</a:t>
            </a:r>
            <a:endParaRPr sz="28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687656" y="7028093"/>
            <a:ext cx="3785235" cy="1725930"/>
          </a:xfrm>
          <a:prstGeom prst="rect">
            <a:avLst/>
          </a:prstGeom>
        </p:spPr>
        <p:txBody>
          <a:bodyPr wrap="square" lIns="0" tIns="36830" rIns="0" bIns="0" rtlCol="0" vert="horz">
            <a:spAutoFit/>
          </a:bodyPr>
          <a:lstStyle/>
          <a:p>
            <a:pPr marL="12700" marR="5080" indent="9525">
              <a:lnSpc>
                <a:spcPct val="93600"/>
              </a:lnSpc>
              <a:spcBef>
                <a:spcPts val="290"/>
              </a:spcBef>
            </a:pPr>
            <a:r>
              <a:rPr dirty="0" sz="2350" spc="-210">
                <a:solidFill>
                  <a:srgbClr val="1D1F21"/>
                </a:solidFill>
                <a:latin typeface="Arial"/>
                <a:cs typeface="Arial"/>
              </a:rPr>
              <a:t>CVEs</a:t>
            </a:r>
            <a:r>
              <a:rPr dirty="0" sz="2350" spc="-155">
                <a:solidFill>
                  <a:srgbClr val="1D1F21"/>
                </a:solidFill>
                <a:latin typeface="Arial"/>
                <a:cs typeface="Arial"/>
              </a:rPr>
              <a:t> </a:t>
            </a:r>
            <a:r>
              <a:rPr dirty="0" sz="2350" spc="-75">
                <a:solidFill>
                  <a:srgbClr val="1D1F21"/>
                </a:solidFill>
                <a:latin typeface="Arial"/>
                <a:cs typeface="Arial"/>
              </a:rPr>
              <a:t>grew</a:t>
            </a:r>
            <a:r>
              <a:rPr dirty="0" sz="2350" spc="-305">
                <a:solidFill>
                  <a:srgbClr val="1D1F21"/>
                </a:solidFill>
                <a:latin typeface="Arial"/>
                <a:cs typeface="Arial"/>
              </a:rPr>
              <a:t> </a:t>
            </a:r>
            <a:r>
              <a:rPr dirty="0" sz="2350" spc="-229">
                <a:solidFill>
                  <a:srgbClr val="1D1F21"/>
                </a:solidFill>
                <a:latin typeface="Arial"/>
                <a:cs typeface="Arial"/>
              </a:rPr>
              <a:t>18%</a:t>
            </a:r>
            <a:r>
              <a:rPr dirty="0" sz="2350" spc="-25">
                <a:solidFill>
                  <a:srgbClr val="1D1F21"/>
                </a:solidFill>
                <a:latin typeface="Arial"/>
                <a:cs typeface="Arial"/>
              </a:rPr>
              <a:t> </a:t>
            </a:r>
            <a:r>
              <a:rPr dirty="0" sz="2350" spc="-270">
                <a:solidFill>
                  <a:srgbClr val="1D1F21"/>
                </a:solidFill>
                <a:latin typeface="Arial"/>
                <a:cs typeface="Arial"/>
              </a:rPr>
              <a:t>YoY</a:t>
            </a:r>
            <a:r>
              <a:rPr dirty="0" sz="2350" spc="-114">
                <a:solidFill>
                  <a:srgbClr val="1D1F21"/>
                </a:solidFill>
                <a:latin typeface="Arial"/>
                <a:cs typeface="Arial"/>
              </a:rPr>
              <a:t> </a:t>
            </a:r>
            <a:r>
              <a:rPr dirty="0" sz="2350">
                <a:solidFill>
                  <a:srgbClr val="1D1F21"/>
                </a:solidFill>
                <a:latin typeface="Arial"/>
                <a:cs typeface="Arial"/>
              </a:rPr>
              <a:t>in</a:t>
            </a:r>
            <a:r>
              <a:rPr dirty="0" sz="2350" spc="-275">
                <a:solidFill>
                  <a:srgbClr val="1D1F21"/>
                </a:solidFill>
                <a:latin typeface="Arial"/>
                <a:cs typeface="Arial"/>
              </a:rPr>
              <a:t> </a:t>
            </a:r>
            <a:r>
              <a:rPr dirty="0" sz="2350" spc="-25">
                <a:solidFill>
                  <a:srgbClr val="1D1F21"/>
                </a:solidFill>
                <a:latin typeface="Arial"/>
                <a:cs typeface="Arial"/>
              </a:rPr>
              <a:t>H1 </a:t>
            </a:r>
            <a:r>
              <a:rPr dirty="0" sz="2350" spc="-75">
                <a:solidFill>
                  <a:srgbClr val="1D1F21"/>
                </a:solidFill>
                <a:latin typeface="Arial"/>
                <a:cs typeface="Arial"/>
              </a:rPr>
              <a:t>2025</a:t>
            </a:r>
            <a:r>
              <a:rPr dirty="0" sz="2350" spc="-75">
                <a:solidFill>
                  <a:srgbClr val="31363B"/>
                </a:solidFill>
                <a:latin typeface="Arial"/>
                <a:cs typeface="Arial"/>
              </a:rPr>
              <a:t>,</a:t>
            </a:r>
            <a:r>
              <a:rPr dirty="0" sz="2350" spc="-175">
                <a:solidFill>
                  <a:srgbClr val="31363B"/>
                </a:solidFill>
                <a:latin typeface="Arial"/>
                <a:cs typeface="Arial"/>
              </a:rPr>
              <a:t> </a:t>
            </a:r>
            <a:r>
              <a:rPr dirty="0" sz="2350" spc="-10">
                <a:solidFill>
                  <a:srgbClr val="1D1F21"/>
                </a:solidFill>
                <a:latin typeface="Arial"/>
                <a:cs typeface="Arial"/>
              </a:rPr>
              <a:t>w</a:t>
            </a:r>
            <a:r>
              <a:rPr dirty="0" sz="2350" spc="-10">
                <a:solidFill>
                  <a:srgbClr val="31363B"/>
                </a:solidFill>
                <a:latin typeface="Arial"/>
                <a:cs typeface="Arial"/>
              </a:rPr>
              <a:t>it</a:t>
            </a:r>
            <a:r>
              <a:rPr dirty="0" sz="2350" spc="-10">
                <a:solidFill>
                  <a:srgbClr val="1D1F21"/>
                </a:solidFill>
                <a:latin typeface="Arial"/>
                <a:cs typeface="Arial"/>
              </a:rPr>
              <a:t>h</a:t>
            </a:r>
            <a:r>
              <a:rPr dirty="0" sz="2350" spc="-200">
                <a:solidFill>
                  <a:srgbClr val="1D1F21"/>
                </a:solidFill>
                <a:latin typeface="Arial"/>
                <a:cs typeface="Arial"/>
              </a:rPr>
              <a:t> </a:t>
            </a:r>
            <a:r>
              <a:rPr dirty="0" sz="2300" spc="-10" b="1">
                <a:solidFill>
                  <a:srgbClr val="010101"/>
                </a:solidFill>
                <a:latin typeface="Arial"/>
                <a:cs typeface="Arial"/>
              </a:rPr>
              <a:t>38</a:t>
            </a:r>
            <a:r>
              <a:rPr dirty="0" sz="2300" spc="-10" b="1">
                <a:solidFill>
                  <a:srgbClr val="1D1F21"/>
                </a:solidFill>
                <a:latin typeface="Arial"/>
                <a:cs typeface="Arial"/>
              </a:rPr>
              <a:t>%</a:t>
            </a:r>
            <a:r>
              <a:rPr dirty="0" sz="2300" spc="-10" b="1">
                <a:solidFill>
                  <a:srgbClr val="010101"/>
                </a:solidFill>
                <a:latin typeface="Arial"/>
                <a:cs typeface="Arial"/>
              </a:rPr>
              <a:t>r</a:t>
            </a:r>
            <a:r>
              <a:rPr dirty="0" sz="2300" spc="-10" b="1">
                <a:solidFill>
                  <a:srgbClr val="1D1F21"/>
                </a:solidFill>
                <a:latin typeface="Arial"/>
                <a:cs typeface="Arial"/>
              </a:rPr>
              <a:t>a</a:t>
            </a:r>
            <a:r>
              <a:rPr dirty="0" sz="2300" spc="-10" b="1">
                <a:solidFill>
                  <a:srgbClr val="010101"/>
                </a:solidFill>
                <a:latin typeface="Arial"/>
                <a:cs typeface="Arial"/>
              </a:rPr>
              <a:t>ted </a:t>
            </a:r>
            <a:r>
              <a:rPr dirty="0" sz="2300" spc="-70" b="1">
                <a:solidFill>
                  <a:srgbClr val="010101"/>
                </a:solidFill>
                <a:latin typeface="Arial"/>
                <a:cs typeface="Arial"/>
              </a:rPr>
              <a:t>critical/high</a:t>
            </a:r>
            <a:r>
              <a:rPr dirty="0" sz="2300" spc="-70" b="1">
                <a:solidFill>
                  <a:srgbClr val="1D1F21"/>
                </a:solidFill>
                <a:latin typeface="Arial"/>
                <a:cs typeface="Arial"/>
              </a:rPr>
              <a:t>,</a:t>
            </a:r>
            <a:r>
              <a:rPr dirty="0" sz="2300" spc="-130" b="1">
                <a:solidFill>
                  <a:srgbClr val="1D1F21"/>
                </a:solidFill>
                <a:latin typeface="Arial"/>
                <a:cs typeface="Arial"/>
              </a:rPr>
              <a:t> </a:t>
            </a:r>
            <a:r>
              <a:rPr dirty="0" sz="2350" spc="-10">
                <a:solidFill>
                  <a:srgbClr val="1D1F21"/>
                </a:solidFill>
                <a:latin typeface="Arial"/>
                <a:cs typeface="Arial"/>
              </a:rPr>
              <a:t>demanding </a:t>
            </a:r>
            <a:r>
              <a:rPr dirty="0" sz="2350" spc="-50">
                <a:solidFill>
                  <a:srgbClr val="1D1F21"/>
                </a:solidFill>
                <a:latin typeface="Arial"/>
                <a:cs typeface="Arial"/>
              </a:rPr>
              <a:t>c</a:t>
            </a:r>
            <a:r>
              <a:rPr dirty="0" sz="2350" spc="-50">
                <a:solidFill>
                  <a:srgbClr val="31363B"/>
                </a:solidFill>
                <a:latin typeface="Arial"/>
                <a:cs typeface="Arial"/>
              </a:rPr>
              <a:t>o</a:t>
            </a:r>
            <a:r>
              <a:rPr dirty="0" sz="2350" spc="-50">
                <a:solidFill>
                  <a:srgbClr val="1D1F21"/>
                </a:solidFill>
                <a:latin typeface="Arial"/>
                <a:cs typeface="Arial"/>
              </a:rPr>
              <a:t>nsta</a:t>
            </a:r>
            <a:r>
              <a:rPr dirty="0" sz="2350" spc="-50">
                <a:solidFill>
                  <a:srgbClr val="31363B"/>
                </a:solidFill>
                <a:latin typeface="Arial"/>
                <a:cs typeface="Arial"/>
              </a:rPr>
              <a:t>n</a:t>
            </a:r>
            <a:r>
              <a:rPr dirty="0" sz="2350" spc="-50">
                <a:solidFill>
                  <a:srgbClr val="1D1F21"/>
                </a:solidFill>
                <a:latin typeface="Arial"/>
                <a:cs typeface="Arial"/>
              </a:rPr>
              <a:t>t</a:t>
            </a:r>
            <a:r>
              <a:rPr dirty="0" sz="2350" spc="-50">
                <a:solidFill>
                  <a:srgbClr val="31363B"/>
                </a:solidFill>
                <a:latin typeface="Arial"/>
                <a:cs typeface="Arial"/>
              </a:rPr>
              <a:t>,</a:t>
            </a:r>
            <a:r>
              <a:rPr dirty="0" sz="2350" spc="-155">
                <a:solidFill>
                  <a:srgbClr val="31363B"/>
                </a:solidFill>
                <a:latin typeface="Arial"/>
                <a:cs typeface="Arial"/>
              </a:rPr>
              <a:t> </a:t>
            </a:r>
            <a:r>
              <a:rPr dirty="0" sz="2350" spc="-85">
                <a:solidFill>
                  <a:srgbClr val="1D1F21"/>
                </a:solidFill>
                <a:latin typeface="Arial"/>
                <a:cs typeface="Arial"/>
              </a:rPr>
              <a:t>va</a:t>
            </a:r>
            <a:r>
              <a:rPr dirty="0" sz="2350" spc="-85">
                <a:solidFill>
                  <a:srgbClr val="31363B"/>
                </a:solidFill>
                <a:latin typeface="Arial"/>
                <a:cs typeface="Arial"/>
              </a:rPr>
              <a:t>l</a:t>
            </a:r>
            <a:r>
              <a:rPr dirty="0" sz="2350" spc="-85">
                <a:solidFill>
                  <a:srgbClr val="1D1F21"/>
                </a:solidFill>
                <a:latin typeface="Arial"/>
                <a:cs typeface="Arial"/>
              </a:rPr>
              <a:t>idated</a:t>
            </a:r>
            <a:r>
              <a:rPr dirty="0" sz="2350" spc="-114">
                <a:solidFill>
                  <a:srgbClr val="1D1F21"/>
                </a:solidFill>
                <a:latin typeface="Arial"/>
                <a:cs typeface="Arial"/>
              </a:rPr>
              <a:t> </a:t>
            </a:r>
            <a:r>
              <a:rPr dirty="0" sz="2350" spc="-10">
                <a:solidFill>
                  <a:srgbClr val="1D1F21"/>
                </a:solidFill>
                <a:latin typeface="Arial"/>
                <a:cs typeface="Arial"/>
              </a:rPr>
              <a:t>patching </a:t>
            </a:r>
            <a:r>
              <a:rPr dirty="0" sz="2350" spc="-20">
                <a:solidFill>
                  <a:srgbClr val="1D1F21"/>
                </a:solidFill>
                <a:latin typeface="Arial"/>
                <a:cs typeface="Arial"/>
              </a:rPr>
              <a:t>that</a:t>
            </a:r>
            <a:r>
              <a:rPr dirty="0" sz="2350" spc="-85">
                <a:solidFill>
                  <a:srgbClr val="1D1F21"/>
                </a:solidFill>
                <a:latin typeface="Arial"/>
                <a:cs typeface="Arial"/>
              </a:rPr>
              <a:t> </a:t>
            </a:r>
            <a:r>
              <a:rPr dirty="0" sz="2350" spc="-80">
                <a:solidFill>
                  <a:srgbClr val="1D1F21"/>
                </a:solidFill>
                <a:latin typeface="Arial"/>
                <a:cs typeface="Arial"/>
              </a:rPr>
              <a:t>doesn</a:t>
            </a:r>
            <a:r>
              <a:rPr dirty="0" sz="2350" spc="-80">
                <a:solidFill>
                  <a:srgbClr val="31363B"/>
                </a:solidFill>
                <a:latin typeface="Arial"/>
                <a:cs typeface="Arial"/>
              </a:rPr>
              <a:t>'</a:t>
            </a:r>
            <a:r>
              <a:rPr dirty="0" sz="2350" spc="-80">
                <a:solidFill>
                  <a:srgbClr val="1D1F21"/>
                </a:solidFill>
                <a:latin typeface="Arial"/>
                <a:cs typeface="Arial"/>
              </a:rPr>
              <a:t>t</a:t>
            </a:r>
            <a:r>
              <a:rPr dirty="0" sz="2350" spc="-50">
                <a:solidFill>
                  <a:srgbClr val="1D1F21"/>
                </a:solidFill>
                <a:latin typeface="Arial"/>
                <a:cs typeface="Arial"/>
              </a:rPr>
              <a:t> </a:t>
            </a:r>
            <a:r>
              <a:rPr dirty="0" sz="2350" spc="-114">
                <a:solidFill>
                  <a:srgbClr val="1D1F21"/>
                </a:solidFill>
                <a:latin typeface="Arial"/>
                <a:cs typeface="Arial"/>
              </a:rPr>
              <a:t>break</a:t>
            </a:r>
            <a:r>
              <a:rPr dirty="0" sz="2350" spc="-110">
                <a:solidFill>
                  <a:srgbClr val="1D1F21"/>
                </a:solidFill>
                <a:latin typeface="Arial"/>
                <a:cs typeface="Arial"/>
              </a:rPr>
              <a:t> </a:t>
            </a:r>
            <a:r>
              <a:rPr dirty="0" sz="2350" spc="-85">
                <a:solidFill>
                  <a:srgbClr val="1D1F21"/>
                </a:solidFill>
                <a:latin typeface="Arial"/>
                <a:cs typeface="Arial"/>
              </a:rPr>
              <a:t>compliance.</a:t>
            </a:r>
            <a:endParaRPr sz="235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0014102" y="2266322"/>
            <a:ext cx="1386840" cy="10318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ts val="3950"/>
              </a:lnSpc>
              <a:spcBef>
                <a:spcPts val="120"/>
              </a:spcBef>
              <a:tabLst>
                <a:tab pos="1209675" algn="l"/>
              </a:tabLst>
            </a:pPr>
            <a:r>
              <a:rPr dirty="0" sz="4150" spc="-535">
                <a:solidFill>
                  <a:srgbClr val="31363B"/>
                </a:solidFill>
                <a:latin typeface="Arial"/>
                <a:cs typeface="Arial"/>
              </a:rPr>
              <a:t>..</a:t>
            </a:r>
            <a:r>
              <a:rPr dirty="0" sz="4150">
                <a:solidFill>
                  <a:srgbClr val="31363B"/>
                </a:solidFill>
                <a:latin typeface="Arial"/>
                <a:cs typeface="Arial"/>
              </a:rPr>
              <a:t>	</a:t>
            </a:r>
            <a:r>
              <a:rPr dirty="0" sz="4150" spc="-540">
                <a:solidFill>
                  <a:srgbClr val="31363B"/>
                </a:solidFill>
                <a:latin typeface="Arial"/>
                <a:cs typeface="Arial"/>
              </a:rPr>
              <a:t>..</a:t>
            </a:r>
            <a:endParaRPr sz="4150">
              <a:latin typeface="Arial"/>
              <a:cs typeface="Arial"/>
            </a:endParaRPr>
          </a:p>
          <a:p>
            <a:pPr marL="12700">
              <a:lnSpc>
                <a:spcPts val="3950"/>
              </a:lnSpc>
            </a:pPr>
            <a:r>
              <a:rPr dirty="0" sz="4150" spc="-565">
                <a:solidFill>
                  <a:srgbClr val="31363B"/>
                </a:solidFill>
                <a:latin typeface="Arial"/>
                <a:cs typeface="Arial"/>
              </a:rPr>
              <a:t>.</a:t>
            </a:r>
            <a:endParaRPr sz="4150">
              <a:latin typeface="Arial"/>
              <a:cs typeface="Arial"/>
            </a:endParaRPr>
          </a:p>
        </p:txBody>
      </p:sp>
      <p:graphicFrame>
        <p:nvGraphicFramePr>
          <p:cNvPr id="39" name="object 39"/>
          <p:cNvGraphicFramePr>
            <a:graphicFrameLocks noGrp="1"/>
          </p:cNvGraphicFramePr>
          <p:nvPr/>
        </p:nvGraphicFramePr>
        <p:xfrm>
          <a:off x="9539952" y="2738602"/>
          <a:ext cx="2445385" cy="25260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3870"/>
                <a:gridCol w="1350010"/>
                <a:gridCol w="483869"/>
              </a:tblGrid>
              <a:tr h="2038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38100">
                      <a:solidFill>
                        <a:srgbClr val="000000"/>
                      </a:solidFill>
                      <a:prstDash val="solid"/>
                    </a:lnR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59055">
                        <a:lnSpc>
                          <a:spcPts val="3620"/>
                        </a:lnSpc>
                        <a:tabLst>
                          <a:tab pos="1174115" algn="l"/>
                        </a:tabLst>
                      </a:pPr>
                      <a:r>
                        <a:rPr dirty="0" sz="4150" spc="-560">
                          <a:solidFill>
                            <a:srgbClr val="31363B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dirty="0" sz="4150">
                          <a:solidFill>
                            <a:srgbClr val="31363B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4150" spc="-540">
                          <a:solidFill>
                            <a:srgbClr val="31363B"/>
                          </a:solidFill>
                          <a:latin typeface="Arial"/>
                          <a:cs typeface="Arial"/>
                        </a:rPr>
                        <a:t>..</a:t>
                      </a:r>
                      <a:endParaRPr sz="41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3810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57150">
                      <a:solidFill>
                        <a:srgbClr val="000000"/>
                      </a:solidFill>
                      <a:prstDash val="solid"/>
                    </a:lnL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79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3810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571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344170">
                <a:tc gridSpan="3">
                  <a:txBody>
                    <a:bodyPr/>
                    <a:lstStyle/>
                    <a:p>
                      <a:pPr marL="399415">
                        <a:lnSpc>
                          <a:spcPts val="2350"/>
                        </a:lnSpc>
                      </a:pPr>
                      <a:r>
                        <a:rPr dirty="0" sz="2200" spc="-10" b="1">
                          <a:solidFill>
                            <a:srgbClr val="010101"/>
                          </a:solidFill>
                          <a:latin typeface="Arial"/>
                          <a:cs typeface="Arial"/>
                        </a:rPr>
                        <a:t>NO</a:t>
                      </a:r>
                      <a:r>
                        <a:rPr dirty="0" sz="2200" spc="-10" b="1">
                          <a:solidFill>
                            <a:srgbClr val="1D1F21"/>
                          </a:solidFill>
                          <a:latin typeface="Arial"/>
                          <a:cs typeface="Arial"/>
                        </a:rPr>
                        <a:t>VEM</a:t>
                      </a:r>
                      <a:r>
                        <a:rPr dirty="0" sz="2200" spc="-10" b="1">
                          <a:solidFill>
                            <a:srgbClr val="010101"/>
                          </a:solidFill>
                          <a:latin typeface="Arial"/>
                          <a:cs typeface="Arial"/>
                        </a:rPr>
                        <a:t>BE</a:t>
                      </a:r>
                      <a:r>
                        <a:rPr dirty="0" sz="2200" spc="-10" b="1">
                          <a:solidFill>
                            <a:srgbClr val="1D1F21"/>
                          </a:solidFill>
                          <a:latin typeface="Arial"/>
                          <a:cs typeface="Arial"/>
                        </a:rPr>
                        <a:t>R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571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710055">
                <a:tc gridSpan="3">
                  <a:txBody>
                    <a:bodyPr/>
                    <a:lstStyle/>
                    <a:p>
                      <a:pPr algn="ctr" marL="769620">
                        <a:lnSpc>
                          <a:spcPct val="100000"/>
                        </a:lnSpc>
                        <a:spcBef>
                          <a:spcPts val="1430"/>
                        </a:spcBef>
                      </a:pPr>
                      <a:r>
                        <a:rPr dirty="0" sz="3600" spc="-1035" b="1">
                          <a:solidFill>
                            <a:srgbClr val="4F492F"/>
                          </a:solidFill>
                          <a:latin typeface="Arial"/>
                          <a:cs typeface="Arial"/>
                        </a:rPr>
                        <a:t>f</a:t>
                      </a:r>
                      <a:r>
                        <a:rPr dirty="0" baseline="-23640" sz="7050" spc="-1552">
                          <a:solidFill>
                            <a:srgbClr val="31363B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dirty="0" sz="3600" spc="-685" b="1">
                          <a:solidFill>
                            <a:srgbClr val="4F492F"/>
                          </a:solidFill>
                          <a:latin typeface="Arial"/>
                          <a:cs typeface="Arial"/>
                        </a:rPr>
                        <a:t>ro)</a:t>
                      </a:r>
                      <a:endParaRPr sz="3600">
                        <a:latin typeface="Arial"/>
                        <a:cs typeface="Arial"/>
                      </a:endParaRPr>
                    </a:p>
                    <a:p>
                      <a:pPr algn="ctr" marL="23495">
                        <a:lnSpc>
                          <a:spcPct val="100000"/>
                        </a:lnSpc>
                        <a:spcBef>
                          <a:spcPts val="3395"/>
                        </a:spcBef>
                      </a:pPr>
                      <a:r>
                        <a:rPr dirty="0" sz="2100" spc="130" b="1">
                          <a:solidFill>
                            <a:srgbClr val="1D1F21"/>
                          </a:solidFill>
                          <a:latin typeface="Arial"/>
                          <a:cs typeface="Arial"/>
                        </a:rPr>
                        <a:t>2</a:t>
                      </a:r>
                      <a:r>
                        <a:rPr dirty="0" sz="2100" spc="130" b="1">
                          <a:solidFill>
                            <a:srgbClr val="010101"/>
                          </a:solidFill>
                          <a:latin typeface="Arial"/>
                          <a:cs typeface="Arial"/>
                        </a:rPr>
                        <a:t>0</a:t>
                      </a:r>
                      <a:r>
                        <a:rPr dirty="0" sz="2100" spc="130" b="1">
                          <a:solidFill>
                            <a:srgbClr val="1D1F21"/>
                          </a:solidFill>
                          <a:latin typeface="Arial"/>
                          <a:cs typeface="Arial"/>
                        </a:rPr>
                        <a:t>25</a:t>
                      </a:r>
                      <a:endParaRPr sz="2100">
                        <a:latin typeface="Arial"/>
                        <a:cs typeface="Arial"/>
                      </a:endParaRPr>
                    </a:p>
                  </a:txBody>
                  <a:tcPr marL="0" marR="0" marB="0" marT="181610">
                    <a:lnL w="571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40" name="object 40"/>
          <p:cNvSpPr txBox="1"/>
          <p:nvPr/>
        </p:nvSpPr>
        <p:spPr>
          <a:xfrm>
            <a:off x="12518440" y="2642922"/>
            <a:ext cx="2971800" cy="454659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2800" spc="-105" b="1">
                <a:solidFill>
                  <a:srgbClr val="010101"/>
                </a:solidFill>
                <a:latin typeface="Arial"/>
                <a:cs typeface="Arial"/>
              </a:rPr>
              <a:t>Looming</a:t>
            </a:r>
            <a:r>
              <a:rPr dirty="0" sz="2800" spc="-70" b="1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dirty="0" sz="2800" spc="-35" b="1">
                <a:solidFill>
                  <a:srgbClr val="010101"/>
                </a:solidFill>
                <a:latin typeface="Arial"/>
                <a:cs typeface="Arial"/>
              </a:rPr>
              <a:t>Deadline</a:t>
            </a:r>
            <a:endParaRPr sz="28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2526147" y="3568469"/>
            <a:ext cx="3938904" cy="1394460"/>
          </a:xfrm>
          <a:prstGeom prst="rect">
            <a:avLst/>
          </a:prstGeom>
        </p:spPr>
        <p:txBody>
          <a:bodyPr wrap="square" lIns="0" tIns="36194" rIns="0" bIns="0" rtlCol="0" vert="horz">
            <a:spAutoFit/>
          </a:bodyPr>
          <a:lstStyle/>
          <a:p>
            <a:pPr marL="12700" marR="5080" indent="12700">
              <a:lnSpc>
                <a:spcPct val="93900"/>
              </a:lnSpc>
              <a:spcBef>
                <a:spcPts val="284"/>
              </a:spcBef>
            </a:pPr>
            <a:r>
              <a:rPr dirty="0" sz="2350" spc="-120">
                <a:solidFill>
                  <a:srgbClr val="1D1F21"/>
                </a:solidFill>
                <a:latin typeface="Arial"/>
                <a:cs typeface="Arial"/>
              </a:rPr>
              <a:t>The</a:t>
            </a:r>
            <a:r>
              <a:rPr dirty="0" sz="2350" spc="-50">
                <a:solidFill>
                  <a:srgbClr val="1D1F21"/>
                </a:solidFill>
                <a:latin typeface="Arial"/>
                <a:cs typeface="Arial"/>
              </a:rPr>
              <a:t> </a:t>
            </a:r>
            <a:r>
              <a:rPr dirty="0" sz="2350" spc="-160">
                <a:solidFill>
                  <a:srgbClr val="1D1F21"/>
                </a:solidFill>
                <a:latin typeface="Arial"/>
                <a:cs typeface="Arial"/>
              </a:rPr>
              <a:t>CMMC</a:t>
            </a:r>
            <a:r>
              <a:rPr dirty="0" sz="2350" spc="-50">
                <a:solidFill>
                  <a:srgbClr val="1D1F21"/>
                </a:solidFill>
                <a:latin typeface="Arial"/>
                <a:cs typeface="Arial"/>
              </a:rPr>
              <a:t> </a:t>
            </a:r>
            <a:r>
              <a:rPr dirty="0" sz="2350" spc="-10">
                <a:solidFill>
                  <a:srgbClr val="1D1F21"/>
                </a:solidFill>
                <a:latin typeface="Arial"/>
                <a:cs typeface="Arial"/>
              </a:rPr>
              <a:t>fina</a:t>
            </a:r>
            <a:r>
              <a:rPr dirty="0" sz="2350" spc="-10">
                <a:solidFill>
                  <a:srgbClr val="31363B"/>
                </a:solidFill>
                <a:latin typeface="Arial"/>
                <a:cs typeface="Arial"/>
              </a:rPr>
              <a:t>l</a:t>
            </a:r>
            <a:r>
              <a:rPr dirty="0" sz="2350" spc="-190">
                <a:solidFill>
                  <a:srgbClr val="31363B"/>
                </a:solidFill>
                <a:latin typeface="Arial"/>
                <a:cs typeface="Arial"/>
              </a:rPr>
              <a:t> </a:t>
            </a:r>
            <a:r>
              <a:rPr dirty="0" sz="2350" spc="-60">
                <a:solidFill>
                  <a:srgbClr val="1D1F21"/>
                </a:solidFill>
                <a:latin typeface="Arial"/>
                <a:cs typeface="Arial"/>
              </a:rPr>
              <a:t>rule</a:t>
            </a:r>
            <a:r>
              <a:rPr dirty="0" sz="2350" spc="-85">
                <a:solidFill>
                  <a:srgbClr val="1D1F21"/>
                </a:solidFill>
                <a:latin typeface="Arial"/>
                <a:cs typeface="Arial"/>
              </a:rPr>
              <a:t> </a:t>
            </a:r>
            <a:r>
              <a:rPr dirty="0" sz="2350" spc="-10">
                <a:solidFill>
                  <a:srgbClr val="1D1F21"/>
                </a:solidFill>
                <a:latin typeface="Arial"/>
                <a:cs typeface="Arial"/>
              </a:rPr>
              <a:t>become</a:t>
            </a:r>
            <a:r>
              <a:rPr dirty="0" sz="2350" spc="-10">
                <a:solidFill>
                  <a:srgbClr val="31363B"/>
                </a:solidFill>
                <a:latin typeface="Arial"/>
                <a:cs typeface="Arial"/>
              </a:rPr>
              <a:t>s </a:t>
            </a:r>
            <a:r>
              <a:rPr dirty="0" sz="2350" spc="-10">
                <a:solidFill>
                  <a:srgbClr val="1D1F21"/>
                </a:solidFill>
                <a:latin typeface="Arial"/>
                <a:cs typeface="Arial"/>
              </a:rPr>
              <a:t>e</a:t>
            </a:r>
            <a:r>
              <a:rPr dirty="0" sz="2350" spc="-10">
                <a:solidFill>
                  <a:srgbClr val="31363B"/>
                </a:solidFill>
                <a:latin typeface="Arial"/>
                <a:cs typeface="Arial"/>
              </a:rPr>
              <a:t>f</a:t>
            </a:r>
            <a:r>
              <a:rPr dirty="0" sz="2350" spc="-10">
                <a:solidFill>
                  <a:srgbClr val="1D1F21"/>
                </a:solidFill>
                <a:latin typeface="Arial"/>
                <a:cs typeface="Arial"/>
              </a:rPr>
              <a:t>fect</a:t>
            </a:r>
            <a:r>
              <a:rPr dirty="0" sz="2350" spc="-10">
                <a:solidFill>
                  <a:srgbClr val="31363B"/>
                </a:solidFill>
                <a:latin typeface="Arial"/>
                <a:cs typeface="Arial"/>
              </a:rPr>
              <a:t>i</a:t>
            </a:r>
            <a:r>
              <a:rPr dirty="0" sz="2350" spc="-10">
                <a:solidFill>
                  <a:srgbClr val="1D1F21"/>
                </a:solidFill>
                <a:latin typeface="Arial"/>
                <a:cs typeface="Arial"/>
              </a:rPr>
              <a:t>v</a:t>
            </a:r>
            <a:r>
              <a:rPr dirty="0" sz="2350" spc="-10">
                <a:solidFill>
                  <a:srgbClr val="31363B"/>
                </a:solidFill>
                <a:latin typeface="Arial"/>
                <a:cs typeface="Arial"/>
              </a:rPr>
              <a:t>e</a:t>
            </a:r>
            <a:r>
              <a:rPr dirty="0" sz="2350" spc="-10">
                <a:solidFill>
                  <a:srgbClr val="1D1F21"/>
                </a:solidFill>
                <a:latin typeface="Arial"/>
                <a:cs typeface="Arial"/>
              </a:rPr>
              <a:t>,</a:t>
            </a:r>
            <a:r>
              <a:rPr dirty="0" sz="2350" spc="-350">
                <a:solidFill>
                  <a:srgbClr val="1D1F21"/>
                </a:solidFill>
                <a:latin typeface="Arial"/>
                <a:cs typeface="Arial"/>
              </a:rPr>
              <a:t> </a:t>
            </a:r>
            <a:r>
              <a:rPr dirty="0" sz="2350" spc="-85">
                <a:solidFill>
                  <a:srgbClr val="1D1F21"/>
                </a:solidFill>
                <a:latin typeface="Arial"/>
                <a:cs typeface="Arial"/>
              </a:rPr>
              <a:t>making</a:t>
            </a:r>
            <a:r>
              <a:rPr dirty="0" sz="2350" spc="15">
                <a:solidFill>
                  <a:srgbClr val="1D1F21"/>
                </a:solidFill>
                <a:latin typeface="Arial"/>
                <a:cs typeface="Arial"/>
              </a:rPr>
              <a:t> </a:t>
            </a:r>
            <a:r>
              <a:rPr dirty="0" sz="2350" spc="-80">
                <a:solidFill>
                  <a:srgbClr val="1D1F21"/>
                </a:solidFill>
                <a:latin typeface="Arial"/>
                <a:cs typeface="Arial"/>
              </a:rPr>
              <a:t>compliance</a:t>
            </a:r>
            <a:r>
              <a:rPr dirty="0" sz="2350" spc="-15">
                <a:solidFill>
                  <a:srgbClr val="1D1F21"/>
                </a:solidFill>
                <a:latin typeface="Arial"/>
                <a:cs typeface="Arial"/>
              </a:rPr>
              <a:t> </a:t>
            </a:r>
            <a:r>
              <a:rPr dirty="0" sz="2350" spc="-50">
                <a:solidFill>
                  <a:srgbClr val="1D1F21"/>
                </a:solidFill>
                <a:latin typeface="Arial"/>
                <a:cs typeface="Arial"/>
              </a:rPr>
              <a:t>a </a:t>
            </a:r>
            <a:r>
              <a:rPr dirty="0" sz="2350" spc="-60">
                <a:solidFill>
                  <a:srgbClr val="1D1F21"/>
                </a:solidFill>
                <a:latin typeface="Arial"/>
                <a:cs typeface="Arial"/>
              </a:rPr>
              <a:t>complianc</a:t>
            </a:r>
            <a:r>
              <a:rPr dirty="0" sz="2350" spc="-60">
                <a:solidFill>
                  <a:srgbClr val="31363B"/>
                </a:solidFill>
                <a:latin typeface="Arial"/>
                <a:cs typeface="Arial"/>
              </a:rPr>
              <a:t>e</a:t>
            </a:r>
            <a:r>
              <a:rPr dirty="0" sz="2350" spc="-270">
                <a:solidFill>
                  <a:srgbClr val="31363B"/>
                </a:solidFill>
                <a:latin typeface="Arial"/>
                <a:cs typeface="Arial"/>
              </a:rPr>
              <a:t> </a:t>
            </a:r>
            <a:r>
              <a:rPr dirty="0" sz="2350" spc="50">
                <a:solidFill>
                  <a:srgbClr val="1D1F21"/>
                </a:solidFill>
                <a:latin typeface="Arial"/>
                <a:cs typeface="Arial"/>
              </a:rPr>
              <a:t>a</a:t>
            </a:r>
            <a:r>
              <a:rPr dirty="0" sz="2350" spc="-190">
                <a:solidFill>
                  <a:srgbClr val="1D1F21"/>
                </a:solidFill>
                <a:latin typeface="Arial"/>
                <a:cs typeface="Arial"/>
              </a:rPr>
              <a:t> </a:t>
            </a:r>
            <a:r>
              <a:rPr dirty="0" sz="2350" spc="-10">
                <a:solidFill>
                  <a:srgbClr val="1D1F21"/>
                </a:solidFill>
                <a:latin typeface="Arial"/>
                <a:cs typeface="Arial"/>
              </a:rPr>
              <a:t>contrac</a:t>
            </a:r>
            <a:r>
              <a:rPr dirty="0" sz="2350" spc="-10">
                <a:solidFill>
                  <a:srgbClr val="31363B"/>
                </a:solidFill>
                <a:latin typeface="Arial"/>
                <a:cs typeface="Arial"/>
              </a:rPr>
              <a:t>tu</a:t>
            </a:r>
            <a:r>
              <a:rPr dirty="0" sz="2350" spc="-10">
                <a:solidFill>
                  <a:srgbClr val="1D1F21"/>
                </a:solidFill>
                <a:latin typeface="Arial"/>
                <a:cs typeface="Arial"/>
              </a:rPr>
              <a:t>a</a:t>
            </a:r>
            <a:r>
              <a:rPr dirty="0" sz="2350" spc="-10">
                <a:solidFill>
                  <a:srgbClr val="31363B"/>
                </a:solidFill>
                <a:latin typeface="Arial"/>
                <a:cs typeface="Arial"/>
              </a:rPr>
              <a:t>l </a:t>
            </a:r>
            <a:r>
              <a:rPr dirty="0" sz="2350" spc="-40">
                <a:solidFill>
                  <a:srgbClr val="1D1F21"/>
                </a:solidFill>
                <a:latin typeface="Arial"/>
                <a:cs typeface="Arial"/>
              </a:rPr>
              <a:t>nece</a:t>
            </a:r>
            <a:r>
              <a:rPr dirty="0" sz="2350" spc="-40">
                <a:solidFill>
                  <a:srgbClr val="31363B"/>
                </a:solidFill>
                <a:latin typeface="Arial"/>
                <a:cs typeface="Arial"/>
              </a:rPr>
              <a:t>s</a:t>
            </a:r>
            <a:r>
              <a:rPr dirty="0" sz="2350" spc="-40">
                <a:solidFill>
                  <a:srgbClr val="1D1F21"/>
                </a:solidFill>
                <a:latin typeface="Arial"/>
                <a:cs typeface="Arial"/>
              </a:rPr>
              <a:t>s</a:t>
            </a:r>
            <a:r>
              <a:rPr dirty="0" sz="2350" spc="-40">
                <a:solidFill>
                  <a:srgbClr val="31363B"/>
                </a:solidFill>
                <a:latin typeface="Arial"/>
                <a:cs typeface="Arial"/>
              </a:rPr>
              <a:t>i</a:t>
            </a:r>
            <a:r>
              <a:rPr dirty="0" sz="2350" spc="-40">
                <a:solidFill>
                  <a:srgbClr val="1D1F21"/>
                </a:solidFill>
                <a:latin typeface="Arial"/>
                <a:cs typeface="Arial"/>
              </a:rPr>
              <a:t>ty</a:t>
            </a:r>
            <a:r>
              <a:rPr dirty="0" sz="2350" spc="-110">
                <a:solidFill>
                  <a:srgbClr val="1D1F21"/>
                </a:solidFill>
                <a:latin typeface="Arial"/>
                <a:cs typeface="Arial"/>
              </a:rPr>
              <a:t> </a:t>
            </a:r>
            <a:r>
              <a:rPr dirty="0" sz="2350">
                <a:solidFill>
                  <a:srgbClr val="1D1F21"/>
                </a:solidFill>
                <a:latin typeface="Arial"/>
                <a:cs typeface="Arial"/>
              </a:rPr>
              <a:t>for</a:t>
            </a:r>
            <a:r>
              <a:rPr dirty="0" sz="2350" spc="-145">
                <a:solidFill>
                  <a:srgbClr val="1D1F21"/>
                </a:solidFill>
                <a:latin typeface="Arial"/>
                <a:cs typeface="Arial"/>
              </a:rPr>
              <a:t> </a:t>
            </a:r>
            <a:r>
              <a:rPr dirty="0" sz="2350" spc="-35">
                <a:solidFill>
                  <a:srgbClr val="1D1F21"/>
                </a:solidFill>
                <a:latin typeface="Arial"/>
                <a:cs typeface="Arial"/>
              </a:rPr>
              <a:t>all</a:t>
            </a:r>
            <a:r>
              <a:rPr dirty="0" sz="2350" spc="-245">
                <a:solidFill>
                  <a:srgbClr val="1D1F21"/>
                </a:solidFill>
                <a:latin typeface="Arial"/>
                <a:cs typeface="Arial"/>
              </a:rPr>
              <a:t> </a:t>
            </a:r>
            <a:r>
              <a:rPr dirty="0" sz="2350" spc="-105">
                <a:solidFill>
                  <a:srgbClr val="1D1F21"/>
                </a:solidFill>
                <a:latin typeface="Arial"/>
                <a:cs typeface="Arial"/>
              </a:rPr>
              <a:t>DoD</a:t>
            </a:r>
            <a:r>
              <a:rPr dirty="0" sz="2350" spc="-75">
                <a:solidFill>
                  <a:srgbClr val="1D1F21"/>
                </a:solidFill>
                <a:latin typeface="Arial"/>
                <a:cs typeface="Arial"/>
              </a:rPr>
              <a:t> </a:t>
            </a:r>
            <a:r>
              <a:rPr dirty="0" sz="2350" spc="-10">
                <a:solidFill>
                  <a:srgbClr val="1D1F21"/>
                </a:solidFill>
                <a:latin typeface="Arial"/>
                <a:cs typeface="Arial"/>
              </a:rPr>
              <a:t>work.</a:t>
            </a:r>
            <a:endParaRPr sz="235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1553352" y="7430227"/>
            <a:ext cx="217170" cy="7454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4700" spc="-50">
                <a:solidFill>
                  <a:srgbClr val="31363B"/>
                </a:solidFill>
                <a:latin typeface="Times New Roman"/>
                <a:cs typeface="Times New Roman"/>
              </a:rPr>
              <a:t>-</a:t>
            </a:r>
            <a:endParaRPr sz="47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204087" y="8891951"/>
            <a:ext cx="2985135" cy="2787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814705" algn="l"/>
                <a:tab pos="1630045" algn="l"/>
                <a:tab pos="2458085" algn="l"/>
              </a:tabLst>
            </a:pPr>
            <a:r>
              <a:rPr dirty="0" sz="1650" spc="75">
                <a:solidFill>
                  <a:srgbClr val="31363B"/>
                </a:solidFill>
                <a:latin typeface="Arial"/>
                <a:cs typeface="Arial"/>
              </a:rPr>
              <a:t>2022</a:t>
            </a:r>
            <a:r>
              <a:rPr dirty="0" sz="1650">
                <a:solidFill>
                  <a:srgbClr val="31363B"/>
                </a:solidFill>
                <a:latin typeface="Arial"/>
                <a:cs typeface="Arial"/>
              </a:rPr>
              <a:t>	</a:t>
            </a:r>
            <a:r>
              <a:rPr dirty="0" sz="1650" spc="100">
                <a:solidFill>
                  <a:srgbClr val="31363B"/>
                </a:solidFill>
                <a:latin typeface="Arial"/>
                <a:cs typeface="Arial"/>
              </a:rPr>
              <a:t>2023</a:t>
            </a:r>
            <a:r>
              <a:rPr dirty="0" sz="1650">
                <a:solidFill>
                  <a:srgbClr val="31363B"/>
                </a:solidFill>
                <a:latin typeface="Arial"/>
                <a:cs typeface="Arial"/>
              </a:rPr>
              <a:t>	</a:t>
            </a:r>
            <a:r>
              <a:rPr dirty="0" sz="1650" spc="70">
                <a:solidFill>
                  <a:srgbClr val="31363B"/>
                </a:solidFill>
                <a:latin typeface="Arial"/>
                <a:cs typeface="Arial"/>
              </a:rPr>
              <a:t>202</a:t>
            </a:r>
            <a:r>
              <a:rPr dirty="0" sz="1650" spc="70">
                <a:solidFill>
                  <a:srgbClr val="1D1F21"/>
                </a:solidFill>
                <a:latin typeface="Arial"/>
                <a:cs typeface="Arial"/>
              </a:rPr>
              <a:t>4</a:t>
            </a:r>
            <a:r>
              <a:rPr dirty="0" sz="1650">
                <a:solidFill>
                  <a:srgbClr val="1D1F21"/>
                </a:solidFill>
                <a:latin typeface="Arial"/>
                <a:cs typeface="Arial"/>
              </a:rPr>
              <a:t>	</a:t>
            </a:r>
            <a:r>
              <a:rPr dirty="0" sz="1650" spc="65">
                <a:solidFill>
                  <a:srgbClr val="31363B"/>
                </a:solidFill>
                <a:latin typeface="Arial"/>
                <a:cs typeface="Arial"/>
              </a:rPr>
              <a:t>2025</a:t>
            </a:r>
            <a:endParaRPr sz="165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2519866" y="6217443"/>
            <a:ext cx="2365375" cy="862965"/>
          </a:xfrm>
          <a:prstGeom prst="rect">
            <a:avLst/>
          </a:prstGeom>
        </p:spPr>
        <p:txBody>
          <a:bodyPr wrap="square" lIns="0" tIns="42545" rIns="0" bIns="0" rtlCol="0" vert="horz">
            <a:spAutoFit/>
          </a:bodyPr>
          <a:lstStyle/>
          <a:p>
            <a:pPr marL="13335" marR="5080" indent="-1270">
              <a:lnSpc>
                <a:spcPts val="3220"/>
              </a:lnSpc>
              <a:spcBef>
                <a:spcPts val="335"/>
              </a:spcBef>
            </a:pPr>
            <a:r>
              <a:rPr dirty="0" sz="2800" spc="-70" b="1">
                <a:solidFill>
                  <a:srgbClr val="010101"/>
                </a:solidFill>
                <a:latin typeface="Arial"/>
                <a:cs typeface="Arial"/>
              </a:rPr>
              <a:t>Unsustainable </a:t>
            </a:r>
            <a:r>
              <a:rPr dirty="0" sz="2800" spc="-30" b="1">
                <a:solidFill>
                  <a:srgbClr val="010101"/>
                </a:solidFill>
                <a:latin typeface="Arial"/>
                <a:cs typeface="Arial"/>
              </a:rPr>
              <a:t>Manual</a:t>
            </a:r>
            <a:r>
              <a:rPr dirty="0" sz="2800" spc="-165" b="1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dirty="0" sz="2800" spc="-10" b="1">
                <a:solidFill>
                  <a:srgbClr val="010101"/>
                </a:solidFill>
                <a:latin typeface="Arial"/>
                <a:cs typeface="Arial"/>
              </a:rPr>
              <a:t>Effort</a:t>
            </a:r>
            <a:endParaRPr sz="280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2523451" y="7296183"/>
            <a:ext cx="4011929" cy="1394460"/>
          </a:xfrm>
          <a:prstGeom prst="rect">
            <a:avLst/>
          </a:prstGeom>
        </p:spPr>
        <p:txBody>
          <a:bodyPr wrap="square" lIns="0" tIns="40640" rIns="0" bIns="0" rtlCol="0" vert="horz">
            <a:spAutoFit/>
          </a:bodyPr>
          <a:lstStyle/>
          <a:p>
            <a:pPr marL="15240" marR="5080" indent="-3175">
              <a:lnSpc>
                <a:spcPct val="92600"/>
              </a:lnSpc>
              <a:spcBef>
                <a:spcPts val="320"/>
              </a:spcBef>
            </a:pPr>
            <a:r>
              <a:rPr dirty="0" sz="2350" spc="-90">
                <a:solidFill>
                  <a:srgbClr val="1D1F21"/>
                </a:solidFill>
                <a:latin typeface="Arial"/>
                <a:cs typeface="Arial"/>
              </a:rPr>
              <a:t>Manua</a:t>
            </a:r>
            <a:r>
              <a:rPr dirty="0" sz="2350" spc="-90">
                <a:solidFill>
                  <a:srgbClr val="31363B"/>
                </a:solidFill>
                <a:latin typeface="Arial"/>
                <a:cs typeface="Arial"/>
              </a:rPr>
              <a:t>l</a:t>
            </a:r>
            <a:r>
              <a:rPr dirty="0" sz="2350" spc="-260">
                <a:solidFill>
                  <a:srgbClr val="31363B"/>
                </a:solidFill>
                <a:latin typeface="Arial"/>
                <a:cs typeface="Arial"/>
              </a:rPr>
              <a:t> </a:t>
            </a:r>
            <a:r>
              <a:rPr dirty="0" sz="2350" spc="-85">
                <a:solidFill>
                  <a:srgbClr val="1D1F21"/>
                </a:solidFill>
                <a:latin typeface="Arial"/>
                <a:cs typeface="Arial"/>
              </a:rPr>
              <a:t>ST</a:t>
            </a:r>
            <a:r>
              <a:rPr dirty="0" sz="2350" spc="-85">
                <a:solidFill>
                  <a:srgbClr val="31363B"/>
                </a:solidFill>
                <a:latin typeface="Arial"/>
                <a:cs typeface="Arial"/>
              </a:rPr>
              <a:t>I</a:t>
            </a:r>
            <a:r>
              <a:rPr dirty="0" sz="2350" spc="-85">
                <a:solidFill>
                  <a:srgbClr val="1D1F21"/>
                </a:solidFill>
                <a:latin typeface="Arial"/>
                <a:cs typeface="Arial"/>
              </a:rPr>
              <a:t>Ghardening</a:t>
            </a:r>
            <a:r>
              <a:rPr dirty="0" sz="2350" spc="-40">
                <a:solidFill>
                  <a:srgbClr val="1D1F21"/>
                </a:solidFill>
                <a:latin typeface="Arial"/>
                <a:cs typeface="Arial"/>
              </a:rPr>
              <a:t> </a:t>
            </a:r>
            <a:r>
              <a:rPr dirty="0" sz="2350" spc="-10">
                <a:solidFill>
                  <a:srgbClr val="1D1F21"/>
                </a:solidFill>
                <a:latin typeface="Arial"/>
                <a:cs typeface="Arial"/>
              </a:rPr>
              <a:t>takes </a:t>
            </a:r>
            <a:r>
              <a:rPr dirty="0" sz="2300" spc="80" b="1">
                <a:solidFill>
                  <a:srgbClr val="010101"/>
                </a:solidFill>
                <a:latin typeface="Arial"/>
                <a:cs typeface="Arial"/>
              </a:rPr>
              <a:t>40-</a:t>
            </a:r>
            <a:r>
              <a:rPr dirty="0" sz="2300" spc="95" b="1">
                <a:solidFill>
                  <a:srgbClr val="010101"/>
                </a:solidFill>
                <a:latin typeface="Arial"/>
                <a:cs typeface="Arial"/>
              </a:rPr>
              <a:t>80</a:t>
            </a:r>
            <a:r>
              <a:rPr dirty="0" sz="2300" spc="-275" b="1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dirty="0" sz="2300" spc="-45" b="1">
                <a:solidFill>
                  <a:srgbClr val="010101"/>
                </a:solidFill>
                <a:latin typeface="Arial"/>
                <a:cs typeface="Arial"/>
              </a:rPr>
              <a:t>hour</a:t>
            </a:r>
            <a:r>
              <a:rPr dirty="0" sz="2300" spc="-45" b="1">
                <a:solidFill>
                  <a:srgbClr val="1D1F21"/>
                </a:solidFill>
                <a:latin typeface="Arial"/>
                <a:cs typeface="Arial"/>
              </a:rPr>
              <a:t>s</a:t>
            </a:r>
            <a:r>
              <a:rPr dirty="0" sz="2300" spc="-45" b="1">
                <a:solidFill>
                  <a:srgbClr val="010101"/>
                </a:solidFill>
                <a:latin typeface="Arial"/>
                <a:cs typeface="Arial"/>
              </a:rPr>
              <a:t>per</a:t>
            </a:r>
            <a:r>
              <a:rPr dirty="0" sz="2300" spc="-165" b="1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dirty="0" sz="2300" spc="-95" b="1">
                <a:solidFill>
                  <a:srgbClr val="010101"/>
                </a:solidFill>
                <a:latin typeface="Arial"/>
                <a:cs typeface="Arial"/>
              </a:rPr>
              <a:t>system</a:t>
            </a:r>
            <a:r>
              <a:rPr dirty="0" sz="2300" spc="-95" b="1">
                <a:solidFill>
                  <a:srgbClr val="1D1F21"/>
                </a:solidFill>
                <a:latin typeface="Arial"/>
                <a:cs typeface="Arial"/>
              </a:rPr>
              <a:t>,</a:t>
            </a:r>
            <a:r>
              <a:rPr dirty="0" sz="2300" spc="-210" b="1">
                <a:solidFill>
                  <a:srgbClr val="1D1F21"/>
                </a:solidFill>
                <a:latin typeface="Arial"/>
                <a:cs typeface="Arial"/>
              </a:rPr>
              <a:t> </a:t>
            </a:r>
            <a:r>
              <a:rPr dirty="0" sz="2450" spc="-50">
                <a:solidFill>
                  <a:srgbClr val="1D1F21"/>
                </a:solidFill>
                <a:latin typeface="Arial"/>
                <a:cs typeface="Arial"/>
              </a:rPr>
              <a:t>a </a:t>
            </a:r>
            <a:r>
              <a:rPr dirty="0" sz="2350" spc="-60">
                <a:solidFill>
                  <a:srgbClr val="1D1F21"/>
                </a:solidFill>
                <a:latin typeface="Arial"/>
                <a:cs typeface="Arial"/>
              </a:rPr>
              <a:t>p</a:t>
            </a:r>
            <a:r>
              <a:rPr dirty="0" sz="2350" spc="-60">
                <a:solidFill>
                  <a:srgbClr val="31363B"/>
                </a:solidFill>
                <a:latin typeface="Arial"/>
                <a:cs typeface="Arial"/>
              </a:rPr>
              <a:t>r</a:t>
            </a:r>
            <a:r>
              <a:rPr dirty="0" sz="2350" spc="-60">
                <a:solidFill>
                  <a:srgbClr val="1D1F21"/>
                </a:solidFill>
                <a:latin typeface="Arial"/>
                <a:cs typeface="Arial"/>
              </a:rPr>
              <a:t>ocess</a:t>
            </a:r>
            <a:r>
              <a:rPr dirty="0" sz="2350" spc="-235">
                <a:solidFill>
                  <a:srgbClr val="1D1F21"/>
                </a:solidFill>
                <a:latin typeface="Arial"/>
                <a:cs typeface="Arial"/>
              </a:rPr>
              <a:t> </a:t>
            </a:r>
            <a:r>
              <a:rPr dirty="0" sz="2350" spc="-90">
                <a:solidFill>
                  <a:srgbClr val="1D1F21"/>
                </a:solidFill>
                <a:latin typeface="Arial"/>
                <a:cs typeface="Arial"/>
              </a:rPr>
              <a:t>repeated</a:t>
            </a:r>
            <a:r>
              <a:rPr dirty="0" sz="2350" spc="-114">
                <a:solidFill>
                  <a:srgbClr val="1D1F21"/>
                </a:solidFill>
                <a:latin typeface="Arial"/>
                <a:cs typeface="Arial"/>
              </a:rPr>
              <a:t> </a:t>
            </a:r>
            <a:r>
              <a:rPr dirty="0" sz="2350">
                <a:solidFill>
                  <a:srgbClr val="1D1F21"/>
                </a:solidFill>
                <a:latin typeface="Arial"/>
                <a:cs typeface="Arial"/>
              </a:rPr>
              <a:t>for</a:t>
            </a:r>
            <a:r>
              <a:rPr dirty="0" sz="2350" spc="-85">
                <a:solidFill>
                  <a:srgbClr val="1D1F21"/>
                </a:solidFill>
                <a:latin typeface="Arial"/>
                <a:cs typeface="Arial"/>
              </a:rPr>
              <a:t> </a:t>
            </a:r>
            <a:r>
              <a:rPr dirty="0" sz="2350" spc="-35">
                <a:solidFill>
                  <a:srgbClr val="1D1F21"/>
                </a:solidFill>
                <a:latin typeface="Arial"/>
                <a:cs typeface="Arial"/>
              </a:rPr>
              <a:t>tho</a:t>
            </a:r>
            <a:r>
              <a:rPr dirty="0" sz="2350" spc="-35">
                <a:solidFill>
                  <a:srgbClr val="31363B"/>
                </a:solidFill>
                <a:latin typeface="Arial"/>
                <a:cs typeface="Arial"/>
              </a:rPr>
              <a:t>u</a:t>
            </a:r>
            <a:r>
              <a:rPr dirty="0" sz="2350" spc="-35">
                <a:solidFill>
                  <a:srgbClr val="1D1F21"/>
                </a:solidFill>
                <a:latin typeface="Arial"/>
                <a:cs typeface="Arial"/>
              </a:rPr>
              <a:t>sands </a:t>
            </a:r>
            <a:r>
              <a:rPr dirty="0" sz="2350">
                <a:solidFill>
                  <a:srgbClr val="1D1F21"/>
                </a:solidFill>
                <a:latin typeface="Arial"/>
                <a:cs typeface="Arial"/>
              </a:rPr>
              <a:t>of</a:t>
            </a:r>
            <a:r>
              <a:rPr dirty="0" sz="2350" spc="-80">
                <a:solidFill>
                  <a:srgbClr val="1D1F21"/>
                </a:solidFill>
                <a:latin typeface="Arial"/>
                <a:cs typeface="Arial"/>
              </a:rPr>
              <a:t> </a:t>
            </a:r>
            <a:r>
              <a:rPr dirty="0" sz="2350" spc="-70">
                <a:solidFill>
                  <a:srgbClr val="1D1F21"/>
                </a:solidFill>
                <a:latin typeface="Arial"/>
                <a:cs typeface="Arial"/>
              </a:rPr>
              <a:t>se</a:t>
            </a:r>
            <a:r>
              <a:rPr dirty="0" sz="2350" spc="-70">
                <a:solidFill>
                  <a:srgbClr val="31363B"/>
                </a:solidFill>
                <a:latin typeface="Arial"/>
                <a:cs typeface="Arial"/>
              </a:rPr>
              <a:t>r</a:t>
            </a:r>
            <a:r>
              <a:rPr dirty="0" sz="2350" spc="-70">
                <a:solidFill>
                  <a:srgbClr val="1D1F21"/>
                </a:solidFill>
                <a:latin typeface="Arial"/>
                <a:cs typeface="Arial"/>
              </a:rPr>
              <a:t>ve</a:t>
            </a:r>
            <a:r>
              <a:rPr dirty="0" sz="2350" spc="-70">
                <a:solidFill>
                  <a:srgbClr val="010101"/>
                </a:solidFill>
                <a:latin typeface="Arial"/>
                <a:cs typeface="Arial"/>
              </a:rPr>
              <a:t>r</a:t>
            </a:r>
            <a:r>
              <a:rPr dirty="0" sz="2350" spc="-70">
                <a:solidFill>
                  <a:srgbClr val="1D1F21"/>
                </a:solidFill>
                <a:latin typeface="Arial"/>
                <a:cs typeface="Arial"/>
              </a:rPr>
              <a:t>s</a:t>
            </a:r>
            <a:r>
              <a:rPr dirty="0" sz="2350" spc="-270">
                <a:solidFill>
                  <a:srgbClr val="1D1F21"/>
                </a:solidFill>
                <a:latin typeface="Arial"/>
                <a:cs typeface="Arial"/>
              </a:rPr>
              <a:t> </a:t>
            </a:r>
            <a:r>
              <a:rPr dirty="0" sz="2350" spc="-85">
                <a:solidFill>
                  <a:srgbClr val="1D1F21"/>
                </a:solidFill>
                <a:latin typeface="Arial"/>
                <a:cs typeface="Arial"/>
              </a:rPr>
              <a:t>across</a:t>
            </a:r>
            <a:r>
              <a:rPr dirty="0" sz="2350" spc="-114">
                <a:solidFill>
                  <a:srgbClr val="1D1F21"/>
                </a:solidFill>
                <a:latin typeface="Arial"/>
                <a:cs typeface="Arial"/>
              </a:rPr>
              <a:t> </a:t>
            </a:r>
            <a:r>
              <a:rPr dirty="0" sz="2350" spc="-10">
                <a:solidFill>
                  <a:srgbClr val="1D1F21"/>
                </a:solidFill>
                <a:latin typeface="Arial"/>
                <a:cs typeface="Arial"/>
              </a:rPr>
              <a:t>the</a:t>
            </a:r>
            <a:r>
              <a:rPr dirty="0" sz="2350" spc="-145">
                <a:solidFill>
                  <a:srgbClr val="1D1F21"/>
                </a:solidFill>
                <a:latin typeface="Arial"/>
                <a:cs typeface="Arial"/>
              </a:rPr>
              <a:t> </a:t>
            </a:r>
            <a:r>
              <a:rPr dirty="0" sz="2350" spc="-70">
                <a:solidFill>
                  <a:srgbClr val="1D1F21"/>
                </a:solidFill>
                <a:latin typeface="Arial"/>
                <a:cs typeface="Arial"/>
              </a:rPr>
              <a:t>enterprise.</a:t>
            </a:r>
            <a:endParaRPr sz="2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01061" y="2936478"/>
            <a:ext cx="509476" cy="109788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88854" y="2706687"/>
            <a:ext cx="1146322" cy="97022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88020" y="2068380"/>
            <a:ext cx="3286125" cy="168513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852463" y="1302411"/>
            <a:ext cx="3744653" cy="275748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851853" y="2068380"/>
            <a:ext cx="3311598" cy="168513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4316290" y="2706687"/>
            <a:ext cx="1808642" cy="132767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852463" y="4085431"/>
            <a:ext cx="9272477" cy="398303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401061" y="6281208"/>
            <a:ext cx="1808642" cy="142980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388020" y="5004593"/>
            <a:ext cx="3311598" cy="2093647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2369067" y="8336555"/>
            <a:ext cx="5299075" cy="0"/>
          </a:xfrm>
          <a:custGeom>
            <a:avLst/>
            <a:gdLst/>
            <a:ahLst/>
            <a:cxnLst/>
            <a:rect l="l" t="t" r="r" b="b"/>
            <a:pathLst>
              <a:path w="5299075" h="0">
                <a:moveTo>
                  <a:pt x="0" y="0"/>
                </a:moveTo>
                <a:lnTo>
                  <a:pt x="5298558" y="0"/>
                </a:lnTo>
              </a:path>
            </a:pathLst>
          </a:custGeom>
          <a:ln w="3829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4698405" y="8336555"/>
            <a:ext cx="433070" cy="0"/>
          </a:xfrm>
          <a:custGeom>
            <a:avLst/>
            <a:gdLst/>
            <a:ahLst/>
            <a:cxnLst/>
            <a:rect l="l" t="t" r="r" b="b"/>
            <a:pathLst>
              <a:path w="433069" h="0">
                <a:moveTo>
                  <a:pt x="0" y="0"/>
                </a:moveTo>
                <a:lnTo>
                  <a:pt x="433055" y="0"/>
                </a:lnTo>
              </a:path>
            </a:pathLst>
          </a:custGeom>
          <a:ln w="5106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204470">
              <a:lnSpc>
                <a:spcPct val="100000"/>
              </a:lnSpc>
              <a:spcBef>
                <a:spcPts val="114"/>
              </a:spcBef>
            </a:pPr>
            <a:r>
              <a:rPr dirty="0" sz="3550" spc="55">
                <a:solidFill>
                  <a:srgbClr val="242626"/>
                </a:solidFill>
              </a:rPr>
              <a:t>RLC-</a:t>
            </a:r>
            <a:r>
              <a:rPr dirty="0" sz="3550" spc="75">
                <a:solidFill>
                  <a:srgbClr val="242626"/>
                </a:solidFill>
              </a:rPr>
              <a:t>H</a:t>
            </a:r>
            <a:r>
              <a:rPr dirty="0" sz="3550" spc="-120">
                <a:solidFill>
                  <a:srgbClr val="242626"/>
                </a:solidFill>
              </a:rPr>
              <a:t> </a:t>
            </a:r>
            <a:r>
              <a:rPr dirty="0" sz="3550" spc="50">
                <a:solidFill>
                  <a:srgbClr val="242626"/>
                </a:solidFill>
              </a:rPr>
              <a:t>Unlocks</a:t>
            </a:r>
            <a:r>
              <a:rPr dirty="0" sz="3550" spc="-65">
                <a:solidFill>
                  <a:srgbClr val="242626"/>
                </a:solidFill>
              </a:rPr>
              <a:t> </a:t>
            </a:r>
            <a:r>
              <a:rPr dirty="0" sz="3550">
                <a:solidFill>
                  <a:srgbClr val="242626"/>
                </a:solidFill>
              </a:rPr>
              <a:t>Five</a:t>
            </a:r>
            <a:r>
              <a:rPr dirty="0" sz="3550" spc="55">
                <a:solidFill>
                  <a:srgbClr val="242626"/>
                </a:solidFill>
              </a:rPr>
              <a:t> </a:t>
            </a:r>
            <a:r>
              <a:rPr dirty="0" sz="3550">
                <a:solidFill>
                  <a:srgbClr val="242626"/>
                </a:solidFill>
              </a:rPr>
              <a:t>Interlocking</a:t>
            </a:r>
            <a:r>
              <a:rPr dirty="0" sz="3550" spc="350">
                <a:solidFill>
                  <a:srgbClr val="242626"/>
                </a:solidFill>
              </a:rPr>
              <a:t> </a:t>
            </a:r>
            <a:r>
              <a:rPr dirty="0" sz="3550" spc="65">
                <a:solidFill>
                  <a:srgbClr val="242626"/>
                </a:solidFill>
              </a:rPr>
              <a:t>Security</a:t>
            </a:r>
            <a:r>
              <a:rPr dirty="0" sz="3550" spc="85">
                <a:solidFill>
                  <a:srgbClr val="242626"/>
                </a:solidFill>
              </a:rPr>
              <a:t> </a:t>
            </a:r>
            <a:r>
              <a:rPr dirty="0" sz="3550" spc="130">
                <a:solidFill>
                  <a:srgbClr val="242626"/>
                </a:solidFill>
              </a:rPr>
              <a:t>Markets</a:t>
            </a:r>
            <a:r>
              <a:rPr dirty="0" sz="3550" spc="-15">
                <a:solidFill>
                  <a:srgbClr val="242626"/>
                </a:solidFill>
              </a:rPr>
              <a:t> </a:t>
            </a:r>
            <a:r>
              <a:rPr dirty="0" sz="3550">
                <a:solidFill>
                  <a:srgbClr val="242626"/>
                </a:solidFill>
              </a:rPr>
              <a:t>Totaling</a:t>
            </a:r>
            <a:r>
              <a:rPr dirty="0" sz="3550" spc="-80">
                <a:solidFill>
                  <a:srgbClr val="242626"/>
                </a:solidFill>
              </a:rPr>
              <a:t> </a:t>
            </a:r>
            <a:r>
              <a:rPr dirty="0" sz="3550" spc="114">
                <a:solidFill>
                  <a:srgbClr val="242626"/>
                </a:solidFill>
              </a:rPr>
              <a:t>$5.76B</a:t>
            </a:r>
            <a:endParaRPr sz="3550"/>
          </a:p>
        </p:txBody>
      </p:sp>
      <p:sp>
        <p:nvSpPr>
          <p:cNvPr id="16" name="object 1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00"/>
              </a:lnSpc>
            </a:pPr>
            <a:r>
              <a:rPr dirty="0" sz="1300" spc="-20">
                <a:solidFill>
                  <a:srgbClr val="363838"/>
                </a:solidFill>
              </a:rPr>
              <a:t>Isl\</a:t>
            </a:r>
            <a:r>
              <a:rPr dirty="0" sz="1300" spc="-45">
                <a:solidFill>
                  <a:srgbClr val="363838"/>
                </a:solidFill>
              </a:rPr>
              <a:t> </a:t>
            </a:r>
            <a:r>
              <a:rPr dirty="0" spc="-10">
                <a:solidFill>
                  <a:srgbClr val="070F1F"/>
                </a:solidFill>
              </a:rPr>
              <a:t>N</a:t>
            </a:r>
            <a:r>
              <a:rPr dirty="0" spc="-10"/>
              <a:t>otebookLM</a:t>
            </a:r>
            <a:endParaRPr sz="1300"/>
          </a:p>
        </p:txBody>
      </p:sp>
      <p:sp>
        <p:nvSpPr>
          <p:cNvPr id="14" name="object 14"/>
          <p:cNvSpPr txBox="1"/>
          <p:nvPr/>
        </p:nvSpPr>
        <p:spPr>
          <a:xfrm>
            <a:off x="7609925" y="3996134"/>
            <a:ext cx="2300605" cy="934719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ctr">
              <a:lnSpc>
                <a:spcPts val="2305"/>
              </a:lnSpc>
              <a:spcBef>
                <a:spcPts val="110"/>
              </a:spcBef>
            </a:pPr>
            <a:r>
              <a:rPr dirty="0" sz="2000" spc="-90" b="1">
                <a:solidFill>
                  <a:srgbClr val="0F1315"/>
                </a:solidFill>
                <a:latin typeface="Arial"/>
                <a:cs typeface="Arial"/>
              </a:rPr>
              <a:t>RLC-</a:t>
            </a:r>
            <a:r>
              <a:rPr dirty="0" sz="2000" spc="-25" b="1">
                <a:solidFill>
                  <a:srgbClr val="0F1315"/>
                </a:solidFill>
                <a:latin typeface="Arial"/>
                <a:cs typeface="Arial"/>
              </a:rPr>
              <a:t>H:</a:t>
            </a:r>
            <a:endParaRPr sz="2000">
              <a:latin typeface="Arial"/>
              <a:cs typeface="Arial"/>
            </a:endParaRPr>
          </a:p>
          <a:p>
            <a:pPr algn="ctr" marL="12065" marR="5080" indent="-19685">
              <a:lnSpc>
                <a:spcPts val="2410"/>
              </a:lnSpc>
              <a:spcBef>
                <a:spcPts val="75"/>
              </a:spcBef>
            </a:pPr>
            <a:r>
              <a:rPr dirty="0" sz="2100" spc="-75" b="1">
                <a:solidFill>
                  <a:srgbClr val="0F1315"/>
                </a:solidFill>
                <a:latin typeface="Arial"/>
                <a:cs typeface="Arial"/>
              </a:rPr>
              <a:t>The</a:t>
            </a:r>
            <a:r>
              <a:rPr dirty="0" sz="2100" spc="-204" b="1">
                <a:solidFill>
                  <a:srgbClr val="0F1315"/>
                </a:solidFill>
                <a:latin typeface="Arial"/>
                <a:cs typeface="Arial"/>
              </a:rPr>
              <a:t> </a:t>
            </a:r>
            <a:r>
              <a:rPr dirty="0" sz="2100" spc="-10" b="1">
                <a:solidFill>
                  <a:srgbClr val="0F1315"/>
                </a:solidFill>
                <a:latin typeface="Arial"/>
                <a:cs typeface="Arial"/>
              </a:rPr>
              <a:t>Turnkey </a:t>
            </a:r>
            <a:r>
              <a:rPr dirty="0" sz="2100" spc="-85" b="1">
                <a:solidFill>
                  <a:srgbClr val="0F1315"/>
                </a:solidFill>
                <a:latin typeface="Arial"/>
                <a:cs typeface="Arial"/>
              </a:rPr>
              <a:t>Hardened</a:t>
            </a:r>
            <a:r>
              <a:rPr dirty="0" sz="2100" spc="-20" b="1">
                <a:solidFill>
                  <a:srgbClr val="0F1315"/>
                </a:solidFill>
                <a:latin typeface="Arial"/>
                <a:cs typeface="Arial"/>
              </a:rPr>
              <a:t> </a:t>
            </a:r>
            <a:r>
              <a:rPr dirty="0" sz="2100" spc="-30" b="1">
                <a:solidFill>
                  <a:srgbClr val="242626"/>
                </a:solidFill>
                <a:latin typeface="Arial"/>
                <a:cs typeface="Arial"/>
              </a:rPr>
              <a:t>Platform</a:t>
            </a:r>
            <a:endParaRPr sz="21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745059" y="8466838"/>
            <a:ext cx="12011660" cy="7404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68630" marR="5080" indent="-456565">
              <a:lnSpc>
                <a:spcPct val="111700"/>
              </a:lnSpc>
              <a:spcBef>
                <a:spcPts val="95"/>
              </a:spcBef>
            </a:pPr>
            <a:r>
              <a:rPr dirty="0" sz="2100" spc="-10">
                <a:solidFill>
                  <a:srgbClr val="242626"/>
                </a:solidFill>
                <a:latin typeface="Arial"/>
                <a:cs typeface="Arial"/>
              </a:rPr>
              <a:t>These</a:t>
            </a:r>
            <a:r>
              <a:rPr dirty="0" sz="2100" spc="-55">
                <a:solidFill>
                  <a:srgbClr val="242626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242626"/>
                </a:solidFill>
                <a:latin typeface="Arial"/>
                <a:cs typeface="Arial"/>
              </a:rPr>
              <a:t>are</a:t>
            </a:r>
            <a:r>
              <a:rPr dirty="0" sz="2100" spc="-90">
                <a:solidFill>
                  <a:srgbClr val="242626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242626"/>
                </a:solidFill>
                <a:latin typeface="Arial"/>
                <a:cs typeface="Arial"/>
              </a:rPr>
              <a:t>not</a:t>
            </a:r>
            <a:r>
              <a:rPr dirty="0" sz="2100" spc="215">
                <a:solidFill>
                  <a:srgbClr val="242626"/>
                </a:solidFill>
                <a:latin typeface="Arial"/>
                <a:cs typeface="Arial"/>
              </a:rPr>
              <a:t> </a:t>
            </a:r>
            <a:r>
              <a:rPr dirty="0" sz="2100" spc="85">
                <a:solidFill>
                  <a:srgbClr val="242626"/>
                </a:solidFill>
                <a:latin typeface="Arial"/>
                <a:cs typeface="Arial"/>
              </a:rPr>
              <a:t>optional</a:t>
            </a:r>
            <a:r>
              <a:rPr dirty="0" sz="2100" spc="-55">
                <a:solidFill>
                  <a:srgbClr val="242626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242626"/>
                </a:solidFill>
                <a:latin typeface="Arial"/>
                <a:cs typeface="Arial"/>
              </a:rPr>
              <a:t>markets;</a:t>
            </a:r>
            <a:r>
              <a:rPr dirty="0" sz="2100" spc="-20">
                <a:solidFill>
                  <a:srgbClr val="242626"/>
                </a:solidFill>
                <a:latin typeface="Arial"/>
                <a:cs typeface="Arial"/>
              </a:rPr>
              <a:t> </a:t>
            </a:r>
            <a:r>
              <a:rPr dirty="0" sz="2100" spc="75">
                <a:solidFill>
                  <a:srgbClr val="242626"/>
                </a:solidFill>
                <a:latin typeface="Arial"/>
                <a:cs typeface="Arial"/>
              </a:rPr>
              <a:t>they</a:t>
            </a:r>
            <a:r>
              <a:rPr dirty="0" sz="2100" spc="-140">
                <a:solidFill>
                  <a:srgbClr val="242626"/>
                </a:solidFill>
                <a:latin typeface="Arial"/>
                <a:cs typeface="Arial"/>
              </a:rPr>
              <a:t> </a:t>
            </a:r>
            <a:r>
              <a:rPr dirty="0" sz="2100" spc="55">
                <a:solidFill>
                  <a:srgbClr val="242626"/>
                </a:solidFill>
                <a:latin typeface="Arial"/>
                <a:cs typeface="Arial"/>
              </a:rPr>
              <a:t>are</a:t>
            </a:r>
            <a:r>
              <a:rPr dirty="0" sz="2100" spc="-80">
                <a:solidFill>
                  <a:srgbClr val="242626"/>
                </a:solidFill>
                <a:latin typeface="Arial"/>
                <a:cs typeface="Arial"/>
              </a:rPr>
              <a:t> </a:t>
            </a:r>
            <a:r>
              <a:rPr dirty="0" sz="2100" spc="75">
                <a:solidFill>
                  <a:srgbClr val="242626"/>
                </a:solidFill>
                <a:latin typeface="Arial"/>
                <a:cs typeface="Arial"/>
              </a:rPr>
              <a:t>mandatory</a:t>
            </a:r>
            <a:r>
              <a:rPr dirty="0" sz="2100" spc="5">
                <a:solidFill>
                  <a:srgbClr val="242626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242626"/>
                </a:solidFill>
                <a:latin typeface="Arial"/>
                <a:cs typeface="Arial"/>
              </a:rPr>
              <a:t>requirements.</a:t>
            </a:r>
            <a:r>
              <a:rPr dirty="0" sz="2100" spc="185">
                <a:solidFill>
                  <a:srgbClr val="242626"/>
                </a:solidFill>
                <a:latin typeface="Arial"/>
                <a:cs typeface="Arial"/>
              </a:rPr>
              <a:t> </a:t>
            </a:r>
            <a:r>
              <a:rPr dirty="0" sz="2100" spc="-80">
                <a:solidFill>
                  <a:srgbClr val="242626"/>
                </a:solidFill>
                <a:latin typeface="Arial"/>
                <a:cs typeface="Arial"/>
              </a:rPr>
              <a:t>RLC</a:t>
            </a:r>
            <a:r>
              <a:rPr dirty="0" sz="2100" spc="-80">
                <a:solidFill>
                  <a:srgbClr val="413F3F"/>
                </a:solidFill>
                <a:latin typeface="Arial"/>
                <a:cs typeface="Arial"/>
              </a:rPr>
              <a:t>-</a:t>
            </a:r>
            <a:r>
              <a:rPr dirty="0" sz="2100" spc="-100">
                <a:solidFill>
                  <a:srgbClr val="242626"/>
                </a:solidFill>
                <a:latin typeface="Arial"/>
                <a:cs typeface="Arial"/>
              </a:rPr>
              <a:t>H</a:t>
            </a:r>
            <a:r>
              <a:rPr dirty="0" sz="2100" spc="-245">
                <a:solidFill>
                  <a:srgbClr val="242626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242626"/>
                </a:solidFill>
                <a:latin typeface="Arial"/>
                <a:cs typeface="Arial"/>
              </a:rPr>
              <a:t>is</a:t>
            </a:r>
            <a:r>
              <a:rPr dirty="0" sz="2100" spc="-110">
                <a:solidFill>
                  <a:srgbClr val="242626"/>
                </a:solidFill>
                <a:latin typeface="Arial"/>
                <a:cs typeface="Arial"/>
              </a:rPr>
              <a:t> </a:t>
            </a:r>
            <a:r>
              <a:rPr dirty="0" sz="2100" spc="55">
                <a:solidFill>
                  <a:srgbClr val="242626"/>
                </a:solidFill>
                <a:latin typeface="Arial"/>
                <a:cs typeface="Arial"/>
              </a:rPr>
              <a:t>uniquely</a:t>
            </a:r>
            <a:r>
              <a:rPr dirty="0" sz="2100" spc="25">
                <a:solidFill>
                  <a:srgbClr val="242626"/>
                </a:solidFill>
                <a:latin typeface="Arial"/>
                <a:cs typeface="Arial"/>
              </a:rPr>
              <a:t> </a:t>
            </a:r>
            <a:r>
              <a:rPr dirty="0" sz="2100" spc="70">
                <a:solidFill>
                  <a:srgbClr val="242626"/>
                </a:solidFill>
                <a:latin typeface="Arial"/>
                <a:cs typeface="Arial"/>
              </a:rPr>
              <a:t>positioned</a:t>
            </a:r>
            <a:r>
              <a:rPr dirty="0" sz="2100" spc="-20">
                <a:solidFill>
                  <a:srgbClr val="242626"/>
                </a:solidFill>
                <a:latin typeface="Arial"/>
                <a:cs typeface="Arial"/>
              </a:rPr>
              <a:t> </a:t>
            </a:r>
            <a:r>
              <a:rPr dirty="0" sz="2100" spc="40">
                <a:solidFill>
                  <a:srgbClr val="242626"/>
                </a:solidFill>
                <a:latin typeface="Arial"/>
                <a:cs typeface="Arial"/>
              </a:rPr>
              <a:t>to </a:t>
            </a:r>
            <a:r>
              <a:rPr dirty="0" sz="2100">
                <a:solidFill>
                  <a:srgbClr val="242626"/>
                </a:solidFill>
                <a:latin typeface="Arial"/>
                <a:cs typeface="Arial"/>
              </a:rPr>
              <a:t>serve</a:t>
            </a:r>
            <a:r>
              <a:rPr dirty="0" sz="2100" spc="-55">
                <a:solidFill>
                  <a:srgbClr val="242626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242626"/>
                </a:solidFill>
                <a:latin typeface="Arial"/>
                <a:cs typeface="Arial"/>
              </a:rPr>
              <a:t>all</a:t>
            </a:r>
            <a:r>
              <a:rPr dirty="0" sz="2100" spc="135">
                <a:solidFill>
                  <a:srgbClr val="242626"/>
                </a:solidFill>
                <a:latin typeface="Arial"/>
                <a:cs typeface="Arial"/>
              </a:rPr>
              <a:t> </a:t>
            </a:r>
            <a:r>
              <a:rPr dirty="0" sz="2100" spc="65">
                <a:solidFill>
                  <a:srgbClr val="242626"/>
                </a:solidFill>
                <a:latin typeface="Arial"/>
                <a:cs typeface="Arial"/>
              </a:rPr>
              <a:t>five</a:t>
            </a:r>
            <a:r>
              <a:rPr dirty="0" sz="2100" spc="-120">
                <a:solidFill>
                  <a:srgbClr val="242626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242626"/>
                </a:solidFill>
                <a:latin typeface="Arial"/>
                <a:cs typeface="Arial"/>
              </a:rPr>
              <a:t>segments</a:t>
            </a:r>
            <a:r>
              <a:rPr dirty="0" sz="2100" spc="-30">
                <a:solidFill>
                  <a:srgbClr val="242626"/>
                </a:solidFill>
                <a:latin typeface="Arial"/>
                <a:cs typeface="Arial"/>
              </a:rPr>
              <a:t> </a:t>
            </a:r>
            <a:r>
              <a:rPr dirty="0" sz="2100" spc="135">
                <a:solidFill>
                  <a:srgbClr val="242626"/>
                </a:solidFill>
                <a:latin typeface="Arial"/>
                <a:cs typeface="Arial"/>
              </a:rPr>
              <a:t>with</a:t>
            </a:r>
            <a:r>
              <a:rPr dirty="0" sz="2100" spc="-75">
                <a:solidFill>
                  <a:srgbClr val="242626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242626"/>
                </a:solidFill>
                <a:latin typeface="Arial"/>
                <a:cs typeface="Arial"/>
              </a:rPr>
              <a:t>a</a:t>
            </a:r>
            <a:r>
              <a:rPr dirty="0" sz="2100" spc="-40">
                <a:solidFill>
                  <a:srgbClr val="242626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242626"/>
                </a:solidFill>
                <a:latin typeface="Arial"/>
                <a:cs typeface="Arial"/>
              </a:rPr>
              <a:t>single,</a:t>
            </a:r>
            <a:r>
              <a:rPr dirty="0" sz="2100" spc="-155">
                <a:solidFill>
                  <a:srgbClr val="242626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413F3F"/>
                </a:solidFill>
                <a:latin typeface="Arial"/>
                <a:cs typeface="Arial"/>
              </a:rPr>
              <a:t>i</a:t>
            </a:r>
            <a:r>
              <a:rPr dirty="0" sz="2100">
                <a:solidFill>
                  <a:srgbClr val="242626"/>
                </a:solidFill>
                <a:latin typeface="Arial"/>
                <a:cs typeface="Arial"/>
              </a:rPr>
              <a:t>ntegrated</a:t>
            </a:r>
            <a:r>
              <a:rPr dirty="0" sz="2100" spc="30">
                <a:solidFill>
                  <a:srgbClr val="242626"/>
                </a:solidFill>
                <a:latin typeface="Arial"/>
                <a:cs typeface="Arial"/>
              </a:rPr>
              <a:t> </a:t>
            </a:r>
            <a:r>
              <a:rPr dirty="0" sz="2100" spc="85">
                <a:solidFill>
                  <a:srgbClr val="242626"/>
                </a:solidFill>
                <a:latin typeface="Arial"/>
                <a:cs typeface="Arial"/>
              </a:rPr>
              <a:t>platform,</a:t>
            </a:r>
            <a:r>
              <a:rPr dirty="0" sz="2100" spc="-5">
                <a:solidFill>
                  <a:srgbClr val="242626"/>
                </a:solidFill>
                <a:latin typeface="Arial"/>
                <a:cs typeface="Arial"/>
              </a:rPr>
              <a:t> </a:t>
            </a:r>
            <a:r>
              <a:rPr dirty="0" sz="2100" spc="-25">
                <a:solidFill>
                  <a:srgbClr val="242626"/>
                </a:solidFill>
                <a:latin typeface="Arial"/>
                <a:cs typeface="Arial"/>
              </a:rPr>
              <a:t>a</a:t>
            </a:r>
            <a:r>
              <a:rPr dirty="0" sz="2100" spc="-65">
                <a:solidFill>
                  <a:srgbClr val="242626"/>
                </a:solidFill>
                <a:latin typeface="Arial"/>
                <a:cs typeface="Arial"/>
              </a:rPr>
              <a:t> </a:t>
            </a:r>
            <a:r>
              <a:rPr dirty="0" sz="2100" spc="55">
                <a:solidFill>
                  <a:srgbClr val="242626"/>
                </a:solidFill>
                <a:latin typeface="Arial"/>
                <a:cs typeface="Arial"/>
              </a:rPr>
              <a:t>capabillity</a:t>
            </a:r>
            <a:r>
              <a:rPr dirty="0" sz="2100" spc="-20">
                <a:solidFill>
                  <a:srgbClr val="242626"/>
                </a:solidFill>
                <a:latin typeface="Arial"/>
                <a:cs typeface="Arial"/>
              </a:rPr>
              <a:t> </a:t>
            </a:r>
            <a:r>
              <a:rPr dirty="0" sz="2100" spc="75">
                <a:solidFill>
                  <a:srgbClr val="242626"/>
                </a:solidFill>
                <a:latin typeface="Arial"/>
                <a:cs typeface="Arial"/>
              </a:rPr>
              <a:t>no</a:t>
            </a:r>
            <a:r>
              <a:rPr dirty="0" sz="2100" spc="-55">
                <a:solidFill>
                  <a:srgbClr val="242626"/>
                </a:solidFill>
                <a:latin typeface="Arial"/>
                <a:cs typeface="Arial"/>
              </a:rPr>
              <a:t> </a:t>
            </a:r>
            <a:r>
              <a:rPr dirty="0" sz="2100" spc="75">
                <a:solidFill>
                  <a:srgbClr val="242626"/>
                </a:solidFill>
                <a:latin typeface="Arial"/>
                <a:cs typeface="Arial"/>
              </a:rPr>
              <a:t>competitor</a:t>
            </a:r>
            <a:r>
              <a:rPr dirty="0" sz="2100" spc="30">
                <a:solidFill>
                  <a:srgbClr val="242626"/>
                </a:solidFill>
                <a:latin typeface="Arial"/>
                <a:cs typeface="Arial"/>
              </a:rPr>
              <a:t> </a:t>
            </a:r>
            <a:r>
              <a:rPr dirty="0" sz="2100" spc="-10">
                <a:solidFill>
                  <a:srgbClr val="242626"/>
                </a:solidFill>
                <a:latin typeface="Arial"/>
                <a:cs typeface="Arial"/>
              </a:rPr>
              <a:t>offers.</a:t>
            </a:r>
            <a:endParaRPr sz="2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00"/>
              </a:lnSpc>
            </a:pPr>
            <a:r>
              <a:rPr dirty="0" sz="1300" spc="-20">
                <a:solidFill>
                  <a:srgbClr val="363838"/>
                </a:solidFill>
              </a:rPr>
              <a:t>Isl\</a:t>
            </a:r>
            <a:r>
              <a:rPr dirty="0" sz="1300" spc="-45">
                <a:solidFill>
                  <a:srgbClr val="363838"/>
                </a:solidFill>
              </a:rPr>
              <a:t> </a:t>
            </a:r>
            <a:r>
              <a:rPr dirty="0" spc="-10">
                <a:solidFill>
                  <a:srgbClr val="070F1F"/>
                </a:solidFill>
              </a:rPr>
              <a:t>N</a:t>
            </a:r>
            <a:r>
              <a:rPr dirty="0" spc="-10"/>
              <a:t>otebookLM</a:t>
            </a:r>
            <a:endParaRPr sz="1300"/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866110" y="2017315"/>
          <a:ext cx="2993390" cy="67773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91155"/>
              </a:tblGrid>
              <a:tr h="1046480">
                <a:tc>
                  <a:txBody>
                    <a:bodyPr/>
                    <a:lstStyle/>
                    <a:p>
                      <a:pPr marL="650240">
                        <a:lnSpc>
                          <a:spcPct val="100000"/>
                        </a:lnSpc>
                        <a:spcBef>
                          <a:spcPts val="2475"/>
                        </a:spcBef>
                      </a:pPr>
                      <a:r>
                        <a:rPr dirty="0" sz="2650" spc="-70" b="1">
                          <a:solidFill>
                            <a:srgbClr val="4F5459"/>
                          </a:solidFill>
                          <a:latin typeface="Arial"/>
                          <a:cs typeface="Arial"/>
                        </a:rPr>
                        <a:t>DISA</a:t>
                      </a:r>
                      <a:r>
                        <a:rPr dirty="0" sz="2650" spc="-105" b="1">
                          <a:solidFill>
                            <a:srgbClr val="4F54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650" spc="-20" b="1">
                          <a:solidFill>
                            <a:srgbClr val="4F5459"/>
                          </a:solidFill>
                          <a:latin typeface="Arial"/>
                          <a:cs typeface="Arial"/>
                        </a:rPr>
                        <a:t>STIG</a:t>
                      </a:r>
                      <a:endParaRPr sz="2650">
                        <a:latin typeface="Arial"/>
                        <a:cs typeface="Arial"/>
                      </a:endParaRPr>
                    </a:p>
                  </a:txBody>
                  <a:tcPr marL="0" marR="0" marB="0" marT="31432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301750">
                <a:tc>
                  <a:txBody>
                    <a:bodyPr/>
                    <a:lstStyle/>
                    <a:p>
                      <a:pPr algn="ctr" marL="28575">
                        <a:lnSpc>
                          <a:spcPts val="2480"/>
                        </a:lnSpc>
                        <a:spcBef>
                          <a:spcPts val="1415"/>
                        </a:spcBef>
                      </a:pPr>
                      <a:r>
                        <a:rPr dirty="0" sz="2200">
                          <a:solidFill>
                            <a:srgbClr val="282A2D"/>
                          </a:solidFill>
                          <a:latin typeface="Arial"/>
                          <a:cs typeface="Arial"/>
                        </a:rPr>
                        <a:t>Market</a:t>
                      </a:r>
                      <a:r>
                        <a:rPr dirty="0" sz="2200" spc="110">
                          <a:solidFill>
                            <a:srgbClr val="282A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20">
                          <a:solidFill>
                            <a:srgbClr val="282A2D"/>
                          </a:solidFill>
                          <a:latin typeface="Arial"/>
                          <a:cs typeface="Arial"/>
                        </a:rPr>
                        <a:t>Size</a:t>
                      </a:r>
                      <a:endParaRPr sz="2200">
                        <a:latin typeface="Arial"/>
                        <a:cs typeface="Arial"/>
                      </a:endParaRPr>
                    </a:p>
                    <a:p>
                      <a:pPr algn="ctr" marL="7620">
                        <a:lnSpc>
                          <a:spcPts val="5360"/>
                        </a:lnSpc>
                      </a:pPr>
                      <a:r>
                        <a:rPr dirty="0" sz="4600" spc="55" b="1">
                          <a:solidFill>
                            <a:srgbClr val="282A2D"/>
                          </a:solidFill>
                          <a:latin typeface="Arial"/>
                          <a:cs typeface="Arial"/>
                        </a:rPr>
                        <a:t>$1.73B</a:t>
                      </a:r>
                      <a:endParaRPr sz="4600">
                        <a:latin typeface="Arial"/>
                        <a:cs typeface="Arial"/>
                      </a:endParaRPr>
                    </a:p>
                  </a:txBody>
                  <a:tcPr marL="0" marR="0" marB="0" marT="17970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08455">
                <a:tc>
                  <a:txBody>
                    <a:bodyPr/>
                    <a:lstStyle/>
                    <a:p>
                      <a:pPr algn="ctr" marL="551180" marR="536575" indent="14604">
                        <a:lnSpc>
                          <a:spcPct val="95200"/>
                        </a:lnSpc>
                        <a:spcBef>
                          <a:spcPts val="2045"/>
                        </a:spcBef>
                      </a:pPr>
                      <a:r>
                        <a:rPr dirty="0" sz="2200" spc="-65">
                          <a:solidFill>
                            <a:srgbClr val="282A2D"/>
                          </a:solidFill>
                          <a:latin typeface="Arial"/>
                          <a:cs typeface="Arial"/>
                        </a:rPr>
                        <a:t>Primary</a:t>
                      </a:r>
                      <a:r>
                        <a:rPr dirty="0" sz="2200" spc="-40">
                          <a:solidFill>
                            <a:srgbClr val="282A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10">
                          <a:solidFill>
                            <a:srgbClr val="282A2D"/>
                          </a:solidFill>
                          <a:latin typeface="Arial"/>
                          <a:cs typeface="Arial"/>
                        </a:rPr>
                        <a:t>Driver </a:t>
                      </a:r>
                      <a:r>
                        <a:rPr dirty="0" sz="2200">
                          <a:solidFill>
                            <a:srgbClr val="282A2D"/>
                          </a:solidFill>
                          <a:latin typeface="Arial"/>
                          <a:cs typeface="Arial"/>
                        </a:rPr>
                        <a:t>DoD</a:t>
                      </a:r>
                      <a:r>
                        <a:rPr dirty="0" sz="2200" spc="-150">
                          <a:solidFill>
                            <a:srgbClr val="282A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60">
                          <a:solidFill>
                            <a:srgbClr val="282A2D"/>
                          </a:solidFill>
                          <a:latin typeface="Arial"/>
                          <a:cs typeface="Arial"/>
                        </a:rPr>
                        <a:t>&amp;</a:t>
                      </a:r>
                      <a:r>
                        <a:rPr dirty="0" sz="2200" spc="-105">
                          <a:solidFill>
                            <a:srgbClr val="282A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30">
                          <a:solidFill>
                            <a:srgbClr val="282A2D"/>
                          </a:solidFill>
                          <a:latin typeface="Arial"/>
                          <a:cs typeface="Arial"/>
                        </a:rPr>
                        <a:t>Federal </a:t>
                      </a:r>
                      <a:r>
                        <a:rPr dirty="0" sz="2200" spc="-10">
                          <a:solidFill>
                            <a:srgbClr val="282A2D"/>
                          </a:solidFill>
                          <a:latin typeface="Arial"/>
                          <a:cs typeface="Arial"/>
                        </a:rPr>
                        <a:t>Mandates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B="0" marT="25971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08455">
                <a:tc>
                  <a:txBody>
                    <a:bodyPr/>
                    <a:lstStyle/>
                    <a:p>
                      <a:pPr algn="ctr" marL="384810" marR="367665">
                        <a:lnSpc>
                          <a:spcPct val="95200"/>
                        </a:lnSpc>
                        <a:spcBef>
                          <a:spcPts val="1445"/>
                        </a:spcBef>
                      </a:pPr>
                      <a:r>
                        <a:rPr dirty="0" sz="2200" spc="-130">
                          <a:solidFill>
                            <a:srgbClr val="282A2D"/>
                          </a:solidFill>
                          <a:latin typeface="Arial"/>
                          <a:cs typeface="Arial"/>
                        </a:rPr>
                        <a:t>RLC-</a:t>
                      </a:r>
                      <a:r>
                        <a:rPr dirty="0" sz="2200" spc="-150">
                          <a:solidFill>
                            <a:srgbClr val="282A2D"/>
                          </a:solidFill>
                          <a:latin typeface="Arial"/>
                          <a:cs typeface="Arial"/>
                        </a:rPr>
                        <a:t>H</a:t>
                      </a:r>
                      <a:r>
                        <a:rPr dirty="0" sz="2200" spc="-185">
                          <a:solidFill>
                            <a:srgbClr val="282A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55">
                          <a:solidFill>
                            <a:srgbClr val="282A2D"/>
                          </a:solidFill>
                          <a:latin typeface="Arial"/>
                          <a:cs typeface="Arial"/>
                        </a:rPr>
                        <a:t>Positioning </a:t>
                      </a:r>
                      <a:r>
                        <a:rPr dirty="0" sz="2200">
                          <a:solidFill>
                            <a:srgbClr val="282A2D"/>
                          </a:solidFill>
                          <a:latin typeface="Arial"/>
                          <a:cs typeface="Arial"/>
                        </a:rPr>
                        <a:t>Pre-</a:t>
                      </a:r>
                      <a:r>
                        <a:rPr dirty="0" sz="2200" spc="-10">
                          <a:solidFill>
                            <a:srgbClr val="282A2D"/>
                          </a:solidFill>
                          <a:latin typeface="Arial"/>
                          <a:cs typeface="Arial"/>
                        </a:rPr>
                        <a:t>configured Enforcement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B="0" marT="18351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212215">
                <a:tc>
                  <a:txBody>
                    <a:bodyPr/>
                    <a:lstStyle/>
                    <a:p>
                      <a:pPr marL="662940" marR="553720" indent="-86360">
                        <a:lnSpc>
                          <a:spcPct val="102800"/>
                        </a:lnSpc>
                        <a:spcBef>
                          <a:spcPts val="1745"/>
                        </a:spcBef>
                      </a:pPr>
                      <a:r>
                        <a:rPr dirty="0" sz="2200" spc="-50">
                          <a:solidFill>
                            <a:srgbClr val="282A2D"/>
                          </a:solidFill>
                          <a:latin typeface="Arial"/>
                          <a:cs typeface="Arial"/>
                        </a:rPr>
                        <a:t>Market</a:t>
                      </a:r>
                      <a:r>
                        <a:rPr dirty="0" sz="2200" spc="-105">
                          <a:solidFill>
                            <a:srgbClr val="282A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55">
                          <a:solidFill>
                            <a:srgbClr val="282A2D"/>
                          </a:solidFill>
                          <a:latin typeface="Arial"/>
                          <a:cs typeface="Arial"/>
                        </a:rPr>
                        <a:t>Growth </a:t>
                      </a:r>
                      <a:r>
                        <a:rPr dirty="0" sz="2200" spc="-50">
                          <a:solidFill>
                            <a:srgbClr val="282A2D"/>
                          </a:solidFill>
                          <a:latin typeface="Arial"/>
                          <a:cs typeface="Arial"/>
                        </a:rPr>
                        <a:t>8-</a:t>
                      </a:r>
                      <a:r>
                        <a:rPr dirty="0" sz="2200" spc="-40">
                          <a:solidFill>
                            <a:srgbClr val="282A2D"/>
                          </a:solidFill>
                          <a:latin typeface="Arial"/>
                          <a:cs typeface="Arial"/>
                        </a:rPr>
                        <a:t>12%</a:t>
                      </a:r>
                      <a:r>
                        <a:rPr dirty="0" sz="2200" spc="-90">
                          <a:solidFill>
                            <a:srgbClr val="282A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20">
                          <a:solidFill>
                            <a:srgbClr val="282A2D"/>
                          </a:solidFill>
                          <a:latin typeface="Arial"/>
                          <a:cs typeface="Arial"/>
                        </a:rPr>
                        <a:t>CAGR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B="0" marT="22161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075814" y="2017315"/>
          <a:ext cx="2993390" cy="67773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91155"/>
              </a:tblGrid>
              <a:tr h="1046480">
                <a:tc>
                  <a:txBody>
                    <a:bodyPr/>
                    <a:lstStyle/>
                    <a:p>
                      <a:pPr marL="497205">
                        <a:lnSpc>
                          <a:spcPct val="100000"/>
                        </a:lnSpc>
                        <a:spcBef>
                          <a:spcPts val="2575"/>
                        </a:spcBef>
                      </a:pPr>
                      <a:r>
                        <a:rPr dirty="0" sz="2650" spc="-10" b="1">
                          <a:solidFill>
                            <a:srgbClr val="4F5459"/>
                          </a:solidFill>
                          <a:latin typeface="Arial"/>
                          <a:cs typeface="Arial"/>
                        </a:rPr>
                        <a:t>NIST/CMMC</a:t>
                      </a:r>
                      <a:endParaRPr sz="2650">
                        <a:latin typeface="Arial"/>
                        <a:cs typeface="Arial"/>
                      </a:endParaRPr>
                    </a:p>
                  </a:txBody>
                  <a:tcPr marL="0" marR="0" marB="0" marT="32702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301750">
                <a:tc>
                  <a:txBody>
                    <a:bodyPr/>
                    <a:lstStyle/>
                    <a:p>
                      <a:pPr algn="ctr" marL="28575">
                        <a:lnSpc>
                          <a:spcPts val="2480"/>
                        </a:lnSpc>
                        <a:spcBef>
                          <a:spcPts val="1415"/>
                        </a:spcBef>
                      </a:pPr>
                      <a:r>
                        <a:rPr dirty="0" sz="2200">
                          <a:solidFill>
                            <a:srgbClr val="282A2D"/>
                          </a:solidFill>
                          <a:latin typeface="Arial"/>
                          <a:cs typeface="Arial"/>
                        </a:rPr>
                        <a:t>Market</a:t>
                      </a:r>
                      <a:r>
                        <a:rPr dirty="0" sz="2200" spc="110">
                          <a:solidFill>
                            <a:srgbClr val="282A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20">
                          <a:solidFill>
                            <a:srgbClr val="282A2D"/>
                          </a:solidFill>
                          <a:latin typeface="Arial"/>
                          <a:cs typeface="Arial"/>
                        </a:rPr>
                        <a:t>Size</a:t>
                      </a:r>
                      <a:endParaRPr sz="2200">
                        <a:latin typeface="Arial"/>
                        <a:cs typeface="Arial"/>
                      </a:endParaRPr>
                    </a:p>
                    <a:p>
                      <a:pPr algn="ctr" marL="6350">
                        <a:lnSpc>
                          <a:spcPts val="5360"/>
                        </a:lnSpc>
                      </a:pPr>
                      <a:r>
                        <a:rPr dirty="0" sz="4600" spc="155" b="1">
                          <a:solidFill>
                            <a:srgbClr val="282A2D"/>
                          </a:solidFill>
                          <a:latin typeface="Arial"/>
                          <a:cs typeface="Arial"/>
                        </a:rPr>
                        <a:t>$1.44B</a:t>
                      </a:r>
                      <a:endParaRPr sz="4600">
                        <a:latin typeface="Arial"/>
                        <a:cs typeface="Arial"/>
                      </a:endParaRPr>
                    </a:p>
                  </a:txBody>
                  <a:tcPr marL="0" marR="0" marB="0" marT="17970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08455">
                <a:tc>
                  <a:txBody>
                    <a:bodyPr/>
                    <a:lstStyle/>
                    <a:p>
                      <a:pPr algn="ctr" marL="474980" marR="455930" indent="12700">
                        <a:lnSpc>
                          <a:spcPct val="95200"/>
                        </a:lnSpc>
                        <a:spcBef>
                          <a:spcPts val="2045"/>
                        </a:spcBef>
                      </a:pPr>
                      <a:r>
                        <a:rPr dirty="0" sz="2200" spc="-80">
                          <a:solidFill>
                            <a:srgbClr val="282A2D"/>
                          </a:solidFill>
                          <a:latin typeface="Arial"/>
                          <a:cs typeface="Arial"/>
                        </a:rPr>
                        <a:t>Primary</a:t>
                      </a:r>
                      <a:r>
                        <a:rPr dirty="0" sz="2200" spc="-35">
                          <a:solidFill>
                            <a:srgbClr val="282A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10">
                          <a:solidFill>
                            <a:srgbClr val="282A2D"/>
                          </a:solidFill>
                          <a:latin typeface="Arial"/>
                          <a:cs typeface="Arial"/>
                        </a:rPr>
                        <a:t>Driver Defense</a:t>
                      </a:r>
                      <a:r>
                        <a:rPr dirty="0" sz="2200" spc="-100">
                          <a:solidFill>
                            <a:srgbClr val="282A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10">
                          <a:solidFill>
                            <a:srgbClr val="282A2D"/>
                          </a:solidFill>
                          <a:latin typeface="Arial"/>
                          <a:cs typeface="Arial"/>
                        </a:rPr>
                        <a:t>Supply </a:t>
                      </a:r>
                      <a:r>
                        <a:rPr dirty="0" sz="2200">
                          <a:solidFill>
                            <a:srgbClr val="282A2D"/>
                          </a:solidFill>
                          <a:latin typeface="Arial"/>
                          <a:cs typeface="Arial"/>
                        </a:rPr>
                        <a:t>Chain</a:t>
                      </a:r>
                      <a:r>
                        <a:rPr dirty="0" sz="2200" spc="-70">
                          <a:solidFill>
                            <a:srgbClr val="282A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10">
                          <a:solidFill>
                            <a:srgbClr val="282A2D"/>
                          </a:solidFill>
                          <a:latin typeface="Arial"/>
                          <a:cs typeface="Arial"/>
                        </a:rPr>
                        <a:t>Security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B="0" marT="25971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08455">
                <a:tc>
                  <a:txBody>
                    <a:bodyPr/>
                    <a:lstStyle/>
                    <a:p>
                      <a:pPr algn="ctr" marL="384810" marR="362585">
                        <a:lnSpc>
                          <a:spcPct val="95200"/>
                        </a:lnSpc>
                        <a:spcBef>
                          <a:spcPts val="1445"/>
                        </a:spcBef>
                      </a:pPr>
                      <a:r>
                        <a:rPr dirty="0" sz="2200" spc="-130">
                          <a:solidFill>
                            <a:srgbClr val="282A2D"/>
                          </a:solidFill>
                          <a:latin typeface="Arial"/>
                          <a:cs typeface="Arial"/>
                        </a:rPr>
                        <a:t>RLC-</a:t>
                      </a:r>
                      <a:r>
                        <a:rPr dirty="0" sz="2200" spc="-150">
                          <a:solidFill>
                            <a:srgbClr val="282A2D"/>
                          </a:solidFill>
                          <a:latin typeface="Arial"/>
                          <a:cs typeface="Arial"/>
                        </a:rPr>
                        <a:t>H</a:t>
                      </a:r>
                      <a:r>
                        <a:rPr dirty="0" sz="2200" spc="-185">
                          <a:solidFill>
                            <a:srgbClr val="282A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50">
                          <a:solidFill>
                            <a:srgbClr val="282A2D"/>
                          </a:solidFill>
                          <a:latin typeface="Arial"/>
                          <a:cs typeface="Arial"/>
                        </a:rPr>
                        <a:t>Posit</a:t>
                      </a:r>
                      <a:r>
                        <a:rPr dirty="0" sz="2200" spc="-50">
                          <a:latin typeface="Arial"/>
                          <a:cs typeface="Arial"/>
                        </a:rPr>
                        <a:t>i</a:t>
                      </a:r>
                      <a:r>
                        <a:rPr dirty="0" sz="2200" spc="-50">
                          <a:solidFill>
                            <a:srgbClr val="282A2D"/>
                          </a:solidFill>
                          <a:latin typeface="Arial"/>
                          <a:cs typeface="Arial"/>
                        </a:rPr>
                        <a:t>oning </a:t>
                      </a:r>
                      <a:r>
                        <a:rPr dirty="0" sz="2200" spc="-25">
                          <a:solidFill>
                            <a:srgbClr val="282A2D"/>
                          </a:solidFill>
                          <a:latin typeface="Arial"/>
                          <a:cs typeface="Arial"/>
                        </a:rPr>
                        <a:t>53%</a:t>
                      </a:r>
                      <a:r>
                        <a:rPr dirty="0" sz="2200" spc="-140">
                          <a:solidFill>
                            <a:srgbClr val="282A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60">
                          <a:solidFill>
                            <a:srgbClr val="282A2D"/>
                          </a:solidFill>
                          <a:latin typeface="Arial"/>
                          <a:cs typeface="Arial"/>
                        </a:rPr>
                        <a:t>of</a:t>
                      </a:r>
                      <a:r>
                        <a:rPr dirty="0" sz="2200">
                          <a:solidFill>
                            <a:srgbClr val="282A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10">
                          <a:solidFill>
                            <a:srgbClr val="282A2D"/>
                          </a:solidFill>
                          <a:latin typeface="Arial"/>
                          <a:cs typeface="Arial"/>
                        </a:rPr>
                        <a:t>Controls Addressed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B="0" marT="18351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212215">
                <a:tc>
                  <a:txBody>
                    <a:bodyPr/>
                    <a:lstStyle/>
                    <a:p>
                      <a:pPr algn="ctr" marL="15240">
                        <a:lnSpc>
                          <a:spcPts val="2605"/>
                        </a:lnSpc>
                        <a:spcBef>
                          <a:spcPts val="1820"/>
                        </a:spcBef>
                      </a:pPr>
                      <a:r>
                        <a:rPr dirty="0" sz="2200" spc="-50">
                          <a:solidFill>
                            <a:srgbClr val="282A2D"/>
                          </a:solidFill>
                          <a:latin typeface="Arial"/>
                          <a:cs typeface="Arial"/>
                        </a:rPr>
                        <a:t>Market</a:t>
                      </a:r>
                      <a:r>
                        <a:rPr dirty="0" sz="2200" spc="-105">
                          <a:solidFill>
                            <a:srgbClr val="282A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10">
                          <a:solidFill>
                            <a:srgbClr val="282A2D"/>
                          </a:solidFill>
                          <a:latin typeface="Arial"/>
                          <a:cs typeface="Arial"/>
                        </a:rPr>
                        <a:t>Growth</a:t>
                      </a:r>
                      <a:endParaRPr sz="2200">
                        <a:latin typeface="Arial"/>
                        <a:cs typeface="Arial"/>
                      </a:endParaRPr>
                    </a:p>
                    <a:p>
                      <a:pPr algn="ctr" marL="5080">
                        <a:lnSpc>
                          <a:spcPts val="3145"/>
                        </a:lnSpc>
                      </a:pPr>
                      <a:r>
                        <a:rPr dirty="0" sz="2650" b="1">
                          <a:solidFill>
                            <a:srgbClr val="BC9733"/>
                          </a:solidFill>
                          <a:latin typeface="Arial"/>
                          <a:cs typeface="Arial"/>
                        </a:rPr>
                        <a:t>15-</a:t>
                      </a:r>
                      <a:r>
                        <a:rPr dirty="0" sz="2650" spc="65" b="1">
                          <a:solidFill>
                            <a:srgbClr val="BC9733"/>
                          </a:solidFill>
                          <a:latin typeface="Arial"/>
                          <a:cs typeface="Arial"/>
                        </a:rPr>
                        <a:t>20%</a:t>
                      </a:r>
                      <a:r>
                        <a:rPr dirty="0" sz="2650" spc="95" b="1">
                          <a:solidFill>
                            <a:srgbClr val="BC973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650" spc="-20" b="1">
                          <a:solidFill>
                            <a:srgbClr val="BC9733"/>
                          </a:solidFill>
                          <a:latin typeface="Arial"/>
                          <a:cs typeface="Arial"/>
                        </a:rPr>
                        <a:t>CAGR</a:t>
                      </a:r>
                      <a:endParaRPr sz="2650">
                        <a:latin typeface="Arial"/>
                        <a:cs typeface="Arial"/>
                      </a:endParaRPr>
                    </a:p>
                  </a:txBody>
                  <a:tcPr marL="0" marR="0" marB="0" marT="23114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285518" y="2017315"/>
          <a:ext cx="2993390" cy="67773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91155"/>
              </a:tblGrid>
              <a:tr h="1046480">
                <a:tc>
                  <a:txBody>
                    <a:bodyPr/>
                    <a:lstStyle/>
                    <a:p>
                      <a:pPr marL="174625">
                        <a:lnSpc>
                          <a:spcPct val="100000"/>
                        </a:lnSpc>
                        <a:spcBef>
                          <a:spcPts val="2475"/>
                        </a:spcBef>
                      </a:pPr>
                      <a:r>
                        <a:rPr dirty="0" sz="2650" spc="-25" b="1">
                          <a:solidFill>
                            <a:srgbClr val="4F5459"/>
                          </a:solidFill>
                          <a:latin typeface="Arial"/>
                          <a:cs typeface="Arial"/>
                        </a:rPr>
                        <a:t>CIS</a:t>
                      </a:r>
                      <a:r>
                        <a:rPr dirty="0" sz="2650" spc="-355" b="1">
                          <a:solidFill>
                            <a:srgbClr val="4F54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650" spc="-10" b="1">
                          <a:solidFill>
                            <a:srgbClr val="4F5459"/>
                          </a:solidFill>
                          <a:latin typeface="Arial"/>
                          <a:cs typeface="Arial"/>
                        </a:rPr>
                        <a:t>Benchmarks</a:t>
                      </a:r>
                      <a:endParaRPr sz="2650">
                        <a:latin typeface="Arial"/>
                        <a:cs typeface="Arial"/>
                      </a:endParaRPr>
                    </a:p>
                  </a:txBody>
                  <a:tcPr marL="0" marR="0" marB="0" marT="31432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301750">
                <a:tc>
                  <a:txBody>
                    <a:bodyPr/>
                    <a:lstStyle/>
                    <a:p>
                      <a:pPr algn="ctr" marL="28575">
                        <a:lnSpc>
                          <a:spcPts val="2480"/>
                        </a:lnSpc>
                        <a:spcBef>
                          <a:spcPts val="1415"/>
                        </a:spcBef>
                      </a:pPr>
                      <a:r>
                        <a:rPr dirty="0" sz="2200">
                          <a:solidFill>
                            <a:srgbClr val="282A2D"/>
                          </a:solidFill>
                          <a:latin typeface="Arial"/>
                          <a:cs typeface="Arial"/>
                        </a:rPr>
                        <a:t>Market</a:t>
                      </a:r>
                      <a:r>
                        <a:rPr dirty="0" sz="2200" spc="110">
                          <a:solidFill>
                            <a:srgbClr val="282A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20">
                          <a:solidFill>
                            <a:srgbClr val="282A2D"/>
                          </a:solidFill>
                          <a:latin typeface="Arial"/>
                          <a:cs typeface="Arial"/>
                        </a:rPr>
                        <a:t>Size</a:t>
                      </a:r>
                      <a:endParaRPr sz="2200">
                        <a:latin typeface="Arial"/>
                        <a:cs typeface="Arial"/>
                      </a:endParaRPr>
                    </a:p>
                    <a:p>
                      <a:pPr algn="ctr" marL="14604">
                        <a:lnSpc>
                          <a:spcPts val="5360"/>
                        </a:lnSpc>
                      </a:pPr>
                      <a:r>
                        <a:rPr dirty="0" sz="4600" spc="-10" b="1">
                          <a:solidFill>
                            <a:srgbClr val="282A2D"/>
                          </a:solidFill>
                          <a:latin typeface="Arial"/>
                          <a:cs typeface="Arial"/>
                        </a:rPr>
                        <a:t>$1.15B</a:t>
                      </a:r>
                      <a:endParaRPr sz="4600">
                        <a:latin typeface="Arial"/>
                        <a:cs typeface="Arial"/>
                      </a:endParaRPr>
                    </a:p>
                  </a:txBody>
                  <a:tcPr marL="0" marR="0" marB="0" marT="17970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08455">
                <a:tc>
                  <a:txBody>
                    <a:bodyPr/>
                    <a:lstStyle/>
                    <a:p>
                      <a:pPr algn="ctr" marL="584200" marR="535940" indent="-19050">
                        <a:lnSpc>
                          <a:spcPct val="92700"/>
                        </a:lnSpc>
                        <a:spcBef>
                          <a:spcPts val="1610"/>
                        </a:spcBef>
                      </a:pPr>
                      <a:r>
                        <a:rPr dirty="0" sz="2200" spc="-65">
                          <a:solidFill>
                            <a:srgbClr val="282A2D"/>
                          </a:solidFill>
                          <a:latin typeface="Arial"/>
                          <a:cs typeface="Arial"/>
                        </a:rPr>
                        <a:t>Primary</a:t>
                      </a:r>
                      <a:r>
                        <a:rPr dirty="0" sz="2200" spc="-40">
                          <a:solidFill>
                            <a:srgbClr val="282A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10">
                          <a:solidFill>
                            <a:srgbClr val="282A2D"/>
                          </a:solidFill>
                          <a:latin typeface="Arial"/>
                          <a:cs typeface="Arial"/>
                        </a:rPr>
                        <a:t>Driver </a:t>
                      </a:r>
                      <a:r>
                        <a:rPr dirty="0" sz="2200">
                          <a:solidFill>
                            <a:srgbClr val="282A2D"/>
                          </a:solidFill>
                          <a:latin typeface="Arial"/>
                          <a:cs typeface="Arial"/>
                        </a:rPr>
                        <a:t>Commercia</a:t>
                      </a:r>
                      <a:r>
                        <a:rPr dirty="0" sz="2200">
                          <a:latin typeface="Arial"/>
                          <a:cs typeface="Arial"/>
                        </a:rPr>
                        <a:t>l</a:t>
                      </a:r>
                      <a:r>
                        <a:rPr dirty="0" sz="2200" spc="-6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5">
                          <a:solidFill>
                            <a:srgbClr val="282A2D"/>
                          </a:solidFill>
                          <a:latin typeface="Arial"/>
                          <a:cs typeface="Arial"/>
                        </a:rPr>
                        <a:t>&amp; </a:t>
                      </a:r>
                      <a:r>
                        <a:rPr dirty="0" sz="2200" spc="-10">
                          <a:solidFill>
                            <a:srgbClr val="282A2D"/>
                          </a:solidFill>
                          <a:latin typeface="Arial"/>
                          <a:cs typeface="Arial"/>
                        </a:rPr>
                        <a:t>Insurance Requirements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B="0" marT="20447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08455">
                <a:tc>
                  <a:txBody>
                    <a:bodyPr/>
                    <a:lstStyle/>
                    <a:p>
                      <a:pPr algn="ctr" marL="306070" marR="250190" indent="-39370">
                        <a:lnSpc>
                          <a:spcPct val="102800"/>
                        </a:lnSpc>
                        <a:spcBef>
                          <a:spcPts val="1245"/>
                        </a:spcBef>
                      </a:pPr>
                      <a:r>
                        <a:rPr dirty="0" sz="2200" spc="-85">
                          <a:solidFill>
                            <a:srgbClr val="282A2D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dirty="0" sz="2200" spc="-85">
                          <a:latin typeface="Arial"/>
                          <a:cs typeface="Arial"/>
                        </a:rPr>
                        <a:t>L</a:t>
                      </a:r>
                      <a:r>
                        <a:rPr dirty="0" sz="2200" spc="-85">
                          <a:solidFill>
                            <a:srgbClr val="282A2D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dirty="0" sz="2200" spc="-85">
                          <a:latin typeface="Arial"/>
                          <a:cs typeface="Arial"/>
                        </a:rPr>
                        <a:t>-</a:t>
                      </a:r>
                      <a:r>
                        <a:rPr dirty="0" sz="2200" spc="-105">
                          <a:solidFill>
                            <a:srgbClr val="282A2D"/>
                          </a:solidFill>
                          <a:latin typeface="Arial"/>
                          <a:cs typeface="Arial"/>
                        </a:rPr>
                        <a:t>H</a:t>
                      </a:r>
                      <a:r>
                        <a:rPr dirty="0" sz="2200" spc="-305">
                          <a:solidFill>
                            <a:srgbClr val="282A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10">
                          <a:solidFill>
                            <a:srgbClr val="282A2D"/>
                          </a:solidFill>
                          <a:latin typeface="Arial"/>
                          <a:cs typeface="Arial"/>
                        </a:rPr>
                        <a:t>Positioning </a:t>
                      </a:r>
                      <a:r>
                        <a:rPr dirty="0" sz="2200">
                          <a:solidFill>
                            <a:srgbClr val="282A2D"/>
                          </a:solidFill>
                          <a:latin typeface="Arial"/>
                          <a:cs typeface="Arial"/>
                        </a:rPr>
                        <a:t>Automated</a:t>
                      </a:r>
                      <a:r>
                        <a:rPr dirty="0" sz="2200" spc="135">
                          <a:solidFill>
                            <a:srgbClr val="282A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20">
                          <a:solidFill>
                            <a:srgbClr val="282A2D"/>
                          </a:solidFill>
                          <a:latin typeface="Arial"/>
                          <a:cs typeface="Arial"/>
                        </a:rPr>
                        <a:t>Level</a:t>
                      </a:r>
                      <a:r>
                        <a:rPr dirty="0" sz="2200" spc="-160">
                          <a:solidFill>
                            <a:srgbClr val="282A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50">
                          <a:solidFill>
                            <a:srgbClr val="282A2D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2200">
                        <a:latin typeface="Arial"/>
                        <a:cs typeface="Arial"/>
                      </a:endParaRPr>
                    </a:p>
                    <a:p>
                      <a:pPr algn="ctr" marL="31115">
                        <a:lnSpc>
                          <a:spcPts val="2310"/>
                        </a:lnSpc>
                      </a:pPr>
                      <a:r>
                        <a:rPr dirty="0" sz="2200">
                          <a:solidFill>
                            <a:srgbClr val="282A2D"/>
                          </a:solidFill>
                          <a:latin typeface="Arial"/>
                          <a:cs typeface="Arial"/>
                        </a:rPr>
                        <a:t>&amp;</a:t>
                      </a:r>
                      <a:r>
                        <a:rPr dirty="0" sz="2200" spc="-140">
                          <a:solidFill>
                            <a:srgbClr val="282A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>
                          <a:solidFill>
                            <a:srgbClr val="282A2D"/>
                          </a:solidFill>
                          <a:latin typeface="Arial"/>
                          <a:cs typeface="Arial"/>
                        </a:rPr>
                        <a:t>2</a:t>
                      </a:r>
                      <a:r>
                        <a:rPr dirty="0" sz="2200" spc="-55">
                          <a:solidFill>
                            <a:srgbClr val="282A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10">
                          <a:solidFill>
                            <a:srgbClr val="282A2D"/>
                          </a:solidFill>
                          <a:latin typeface="Arial"/>
                          <a:cs typeface="Arial"/>
                        </a:rPr>
                        <a:t>Profiles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B="0" marT="15811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212215">
                <a:tc>
                  <a:txBody>
                    <a:bodyPr/>
                    <a:lstStyle/>
                    <a:p>
                      <a:pPr marL="581025" marR="549910" indent="-3810">
                        <a:lnSpc>
                          <a:spcPct val="102800"/>
                        </a:lnSpc>
                        <a:spcBef>
                          <a:spcPts val="1745"/>
                        </a:spcBef>
                      </a:pPr>
                      <a:r>
                        <a:rPr dirty="0" sz="2200" spc="-35">
                          <a:solidFill>
                            <a:srgbClr val="282A2D"/>
                          </a:solidFill>
                          <a:latin typeface="Arial"/>
                          <a:cs typeface="Arial"/>
                        </a:rPr>
                        <a:t>Market</a:t>
                      </a:r>
                      <a:r>
                        <a:rPr dirty="0" sz="2200" spc="-95">
                          <a:solidFill>
                            <a:srgbClr val="282A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65">
                          <a:solidFill>
                            <a:srgbClr val="282A2D"/>
                          </a:solidFill>
                          <a:latin typeface="Arial"/>
                          <a:cs typeface="Arial"/>
                        </a:rPr>
                        <a:t>Growth </a:t>
                      </a:r>
                      <a:r>
                        <a:rPr dirty="0" sz="2200" spc="-45">
                          <a:solidFill>
                            <a:srgbClr val="282A2D"/>
                          </a:solidFill>
                          <a:latin typeface="Arial"/>
                          <a:cs typeface="Arial"/>
                        </a:rPr>
                        <a:t>10-</a:t>
                      </a:r>
                      <a:r>
                        <a:rPr dirty="0" sz="2200" spc="-20">
                          <a:solidFill>
                            <a:srgbClr val="282A2D"/>
                          </a:solidFill>
                          <a:latin typeface="Arial"/>
                          <a:cs typeface="Arial"/>
                        </a:rPr>
                        <a:t>14%</a:t>
                      </a:r>
                      <a:r>
                        <a:rPr dirty="0" sz="2200" spc="-100">
                          <a:solidFill>
                            <a:srgbClr val="282A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130">
                          <a:solidFill>
                            <a:srgbClr val="282A2D"/>
                          </a:solidFill>
                          <a:latin typeface="Arial"/>
                          <a:cs typeface="Arial"/>
                        </a:rPr>
                        <a:t>CAGR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B="0" marT="22161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0495221" y="2017315"/>
          <a:ext cx="2993390" cy="67773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91155"/>
              </a:tblGrid>
              <a:tr h="1046480">
                <a:tc>
                  <a:txBody>
                    <a:bodyPr/>
                    <a:lstStyle/>
                    <a:p>
                      <a:pPr marL="421640" marR="419100" indent="584835">
                        <a:lnSpc>
                          <a:spcPts val="2710"/>
                        </a:lnSpc>
                        <a:spcBef>
                          <a:spcPts val="1650"/>
                        </a:spcBef>
                      </a:pPr>
                      <a:r>
                        <a:rPr dirty="0" sz="2650" spc="-10" b="1">
                          <a:solidFill>
                            <a:srgbClr val="4F5459"/>
                          </a:solidFill>
                          <a:latin typeface="Arial"/>
                          <a:cs typeface="Arial"/>
                        </a:rPr>
                        <a:t>Patch </a:t>
                      </a:r>
                      <a:r>
                        <a:rPr dirty="0" sz="2650" spc="-25" b="1">
                          <a:solidFill>
                            <a:srgbClr val="4F5459"/>
                          </a:solidFill>
                          <a:latin typeface="Arial"/>
                          <a:cs typeface="Arial"/>
                        </a:rPr>
                        <a:t>Management</a:t>
                      </a:r>
                      <a:endParaRPr sz="2650">
                        <a:latin typeface="Arial"/>
                        <a:cs typeface="Arial"/>
                      </a:endParaRPr>
                    </a:p>
                  </a:txBody>
                  <a:tcPr marL="0" marR="0" marB="0" marT="20955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301750">
                <a:tc>
                  <a:txBody>
                    <a:bodyPr/>
                    <a:lstStyle/>
                    <a:p>
                      <a:pPr algn="ctr" marL="28575">
                        <a:lnSpc>
                          <a:spcPts val="2480"/>
                        </a:lnSpc>
                        <a:spcBef>
                          <a:spcPts val="1415"/>
                        </a:spcBef>
                      </a:pPr>
                      <a:r>
                        <a:rPr dirty="0" sz="2200">
                          <a:solidFill>
                            <a:srgbClr val="282A2D"/>
                          </a:solidFill>
                          <a:latin typeface="Arial"/>
                          <a:cs typeface="Arial"/>
                        </a:rPr>
                        <a:t>Market</a:t>
                      </a:r>
                      <a:r>
                        <a:rPr dirty="0" sz="2200" spc="110">
                          <a:solidFill>
                            <a:srgbClr val="282A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20">
                          <a:solidFill>
                            <a:srgbClr val="282A2D"/>
                          </a:solidFill>
                          <a:latin typeface="Arial"/>
                          <a:cs typeface="Arial"/>
                        </a:rPr>
                        <a:t>Size</a:t>
                      </a:r>
                      <a:endParaRPr sz="2200">
                        <a:latin typeface="Arial"/>
                        <a:cs typeface="Arial"/>
                      </a:endParaRPr>
                    </a:p>
                    <a:p>
                      <a:pPr algn="ctr" marL="24765">
                        <a:lnSpc>
                          <a:spcPts val="5360"/>
                        </a:lnSpc>
                      </a:pPr>
                      <a:r>
                        <a:rPr dirty="0" sz="4600" spc="280" b="1">
                          <a:solidFill>
                            <a:srgbClr val="282A2D"/>
                          </a:solidFill>
                          <a:latin typeface="Arial"/>
                          <a:cs typeface="Arial"/>
                        </a:rPr>
                        <a:t>$0.86B</a:t>
                      </a:r>
                      <a:endParaRPr sz="4600">
                        <a:latin typeface="Arial"/>
                        <a:cs typeface="Arial"/>
                      </a:endParaRPr>
                    </a:p>
                  </a:txBody>
                  <a:tcPr marL="0" marR="0" marB="0" marT="17970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08455">
                <a:tc>
                  <a:txBody>
                    <a:bodyPr/>
                    <a:lstStyle/>
                    <a:p>
                      <a:pPr algn="ctr" marL="614680" marR="584835">
                        <a:lnSpc>
                          <a:spcPct val="92700"/>
                        </a:lnSpc>
                        <a:spcBef>
                          <a:spcPts val="1610"/>
                        </a:spcBef>
                      </a:pPr>
                      <a:r>
                        <a:rPr dirty="0" sz="2200" spc="-65">
                          <a:solidFill>
                            <a:srgbClr val="282A2D"/>
                          </a:solidFill>
                          <a:latin typeface="Arial"/>
                          <a:cs typeface="Arial"/>
                        </a:rPr>
                        <a:t>Primary</a:t>
                      </a:r>
                      <a:r>
                        <a:rPr dirty="0" sz="2200" spc="-40">
                          <a:solidFill>
                            <a:srgbClr val="282A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70">
                          <a:solidFill>
                            <a:srgbClr val="282A2D"/>
                          </a:solidFill>
                          <a:latin typeface="Arial"/>
                          <a:cs typeface="Arial"/>
                        </a:rPr>
                        <a:t>Driver </a:t>
                      </a:r>
                      <a:r>
                        <a:rPr dirty="0" sz="2200" spc="-10">
                          <a:solidFill>
                            <a:srgbClr val="282A2D"/>
                          </a:solidFill>
                          <a:latin typeface="Arial"/>
                          <a:cs typeface="Arial"/>
                        </a:rPr>
                        <a:t>Continuous Vulnerability Remediation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B="0" marT="20447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08455">
                <a:tc>
                  <a:txBody>
                    <a:bodyPr/>
                    <a:lstStyle/>
                    <a:p>
                      <a:pPr algn="ctr" marL="384810" marR="368300">
                        <a:lnSpc>
                          <a:spcPts val="2610"/>
                        </a:lnSpc>
                        <a:spcBef>
                          <a:spcPts val="1430"/>
                        </a:spcBef>
                      </a:pPr>
                      <a:r>
                        <a:rPr dirty="0" sz="2200" spc="-130">
                          <a:solidFill>
                            <a:srgbClr val="282A2D"/>
                          </a:solidFill>
                          <a:latin typeface="Arial"/>
                          <a:cs typeface="Arial"/>
                        </a:rPr>
                        <a:t>RLC-</a:t>
                      </a:r>
                      <a:r>
                        <a:rPr dirty="0" sz="2200" spc="-150">
                          <a:solidFill>
                            <a:srgbClr val="282A2D"/>
                          </a:solidFill>
                          <a:latin typeface="Arial"/>
                          <a:cs typeface="Arial"/>
                        </a:rPr>
                        <a:t>H</a:t>
                      </a:r>
                      <a:r>
                        <a:rPr dirty="0" sz="2200" spc="-85">
                          <a:solidFill>
                            <a:srgbClr val="282A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65">
                          <a:solidFill>
                            <a:srgbClr val="282A2D"/>
                          </a:solidFill>
                          <a:latin typeface="Arial"/>
                          <a:cs typeface="Arial"/>
                        </a:rPr>
                        <a:t>Positioning </a:t>
                      </a:r>
                      <a:r>
                        <a:rPr dirty="0" sz="2200" spc="-40">
                          <a:solidFill>
                            <a:srgbClr val="282A2D"/>
                          </a:solidFill>
                          <a:latin typeface="Arial"/>
                          <a:cs typeface="Arial"/>
                        </a:rPr>
                        <a:t>F</a:t>
                      </a:r>
                      <a:r>
                        <a:rPr dirty="0" sz="2200" spc="-40">
                          <a:latin typeface="Arial"/>
                          <a:cs typeface="Arial"/>
                        </a:rPr>
                        <a:t>l</a:t>
                      </a:r>
                      <a:r>
                        <a:rPr dirty="0" sz="2200" spc="-40">
                          <a:solidFill>
                            <a:srgbClr val="282A2D"/>
                          </a:solidFill>
                          <a:latin typeface="Arial"/>
                          <a:cs typeface="Arial"/>
                        </a:rPr>
                        <a:t>PS-</a:t>
                      </a:r>
                      <a:r>
                        <a:rPr dirty="0" sz="2200" spc="-10">
                          <a:solidFill>
                            <a:srgbClr val="282A2D"/>
                          </a:solidFill>
                          <a:latin typeface="Arial"/>
                          <a:cs typeface="Arial"/>
                        </a:rPr>
                        <a:t>compliant</a:t>
                      </a:r>
                      <a:endParaRPr sz="2200">
                        <a:latin typeface="Arial"/>
                        <a:cs typeface="Arial"/>
                      </a:endParaRPr>
                    </a:p>
                    <a:p>
                      <a:pPr algn="ctr" marL="41910">
                        <a:lnSpc>
                          <a:spcPts val="2335"/>
                        </a:lnSpc>
                      </a:pPr>
                      <a:r>
                        <a:rPr dirty="0" sz="2200">
                          <a:solidFill>
                            <a:srgbClr val="282A2D"/>
                          </a:solidFill>
                          <a:latin typeface="Arial"/>
                          <a:cs typeface="Arial"/>
                        </a:rPr>
                        <a:t>5-year</a:t>
                      </a:r>
                      <a:r>
                        <a:rPr dirty="0" sz="2200" spc="160">
                          <a:solidFill>
                            <a:srgbClr val="282A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25">
                          <a:solidFill>
                            <a:srgbClr val="282A2D"/>
                          </a:solidFill>
                          <a:latin typeface="Arial"/>
                          <a:cs typeface="Arial"/>
                        </a:rPr>
                        <a:t>LTS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B="0" marT="18161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212215">
                <a:tc>
                  <a:txBody>
                    <a:bodyPr/>
                    <a:lstStyle/>
                    <a:p>
                      <a:pPr marL="662940" marR="549910" indent="-85725">
                        <a:lnSpc>
                          <a:spcPct val="102800"/>
                        </a:lnSpc>
                        <a:spcBef>
                          <a:spcPts val="1745"/>
                        </a:spcBef>
                      </a:pPr>
                      <a:r>
                        <a:rPr dirty="0" sz="2200" spc="-35">
                          <a:solidFill>
                            <a:srgbClr val="282A2D"/>
                          </a:solidFill>
                          <a:latin typeface="Arial"/>
                          <a:cs typeface="Arial"/>
                        </a:rPr>
                        <a:t>Market</a:t>
                      </a:r>
                      <a:r>
                        <a:rPr dirty="0" sz="2200" spc="-95">
                          <a:solidFill>
                            <a:srgbClr val="282A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65">
                          <a:solidFill>
                            <a:srgbClr val="282A2D"/>
                          </a:solidFill>
                          <a:latin typeface="Arial"/>
                          <a:cs typeface="Arial"/>
                        </a:rPr>
                        <a:t>Growth </a:t>
                      </a:r>
                      <a:r>
                        <a:rPr dirty="0" sz="2200" spc="-30">
                          <a:solidFill>
                            <a:srgbClr val="282A2D"/>
                          </a:solidFill>
                          <a:latin typeface="Arial"/>
                          <a:cs typeface="Arial"/>
                        </a:rPr>
                        <a:t>9-</a:t>
                      </a:r>
                      <a:r>
                        <a:rPr dirty="0" sz="2200" spc="-40">
                          <a:solidFill>
                            <a:srgbClr val="282A2D"/>
                          </a:solidFill>
                          <a:latin typeface="Arial"/>
                          <a:cs typeface="Arial"/>
                        </a:rPr>
                        <a:t>12%</a:t>
                      </a:r>
                      <a:r>
                        <a:rPr dirty="0" sz="2200" spc="-130">
                          <a:solidFill>
                            <a:srgbClr val="282A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20">
                          <a:solidFill>
                            <a:srgbClr val="282A2D"/>
                          </a:solidFill>
                          <a:latin typeface="Arial"/>
                          <a:cs typeface="Arial"/>
                        </a:rPr>
                        <a:t>CAGR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B="0" marT="22161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3704924" y="2017315"/>
          <a:ext cx="2993390" cy="67773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91155"/>
              </a:tblGrid>
              <a:tr h="1046480">
                <a:tc>
                  <a:txBody>
                    <a:bodyPr/>
                    <a:lstStyle/>
                    <a:p>
                      <a:pPr marL="637540" marR="629285" indent="76200">
                        <a:lnSpc>
                          <a:spcPts val="2810"/>
                        </a:lnSpc>
                        <a:spcBef>
                          <a:spcPts val="1470"/>
                        </a:spcBef>
                      </a:pPr>
                      <a:r>
                        <a:rPr dirty="0" sz="2650" spc="-10" b="1">
                          <a:solidFill>
                            <a:srgbClr val="4F5459"/>
                          </a:solidFill>
                          <a:latin typeface="Arial"/>
                          <a:cs typeface="Arial"/>
                        </a:rPr>
                        <a:t>Proactive </a:t>
                      </a:r>
                      <a:r>
                        <a:rPr dirty="0" sz="2650" spc="-50" b="1">
                          <a:solidFill>
                            <a:srgbClr val="4F5459"/>
                          </a:solidFill>
                          <a:latin typeface="Arial"/>
                          <a:cs typeface="Arial"/>
                        </a:rPr>
                        <a:t>Protection</a:t>
                      </a:r>
                      <a:endParaRPr sz="2650">
                        <a:latin typeface="Arial"/>
                        <a:cs typeface="Arial"/>
                      </a:endParaRPr>
                    </a:p>
                  </a:txBody>
                  <a:tcPr marL="0" marR="0" marB="0" marT="18669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301750">
                <a:tc>
                  <a:txBody>
                    <a:bodyPr/>
                    <a:lstStyle/>
                    <a:p>
                      <a:pPr algn="ctr" marL="28575">
                        <a:lnSpc>
                          <a:spcPts val="2480"/>
                        </a:lnSpc>
                        <a:spcBef>
                          <a:spcPts val="1415"/>
                        </a:spcBef>
                      </a:pPr>
                      <a:r>
                        <a:rPr dirty="0" sz="2200">
                          <a:solidFill>
                            <a:srgbClr val="282A2D"/>
                          </a:solidFill>
                          <a:latin typeface="Arial"/>
                          <a:cs typeface="Arial"/>
                        </a:rPr>
                        <a:t>Market</a:t>
                      </a:r>
                      <a:r>
                        <a:rPr dirty="0" sz="2200" spc="110">
                          <a:solidFill>
                            <a:srgbClr val="282A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20">
                          <a:solidFill>
                            <a:srgbClr val="282A2D"/>
                          </a:solidFill>
                          <a:latin typeface="Arial"/>
                          <a:cs typeface="Arial"/>
                        </a:rPr>
                        <a:t>Size</a:t>
                      </a:r>
                      <a:endParaRPr sz="2200">
                        <a:latin typeface="Arial"/>
                        <a:cs typeface="Arial"/>
                      </a:endParaRPr>
                    </a:p>
                    <a:p>
                      <a:pPr algn="ctr" marL="24765">
                        <a:lnSpc>
                          <a:spcPts val="5360"/>
                        </a:lnSpc>
                      </a:pPr>
                      <a:r>
                        <a:rPr dirty="0" sz="4600" spc="280" b="1">
                          <a:solidFill>
                            <a:srgbClr val="282A2D"/>
                          </a:solidFill>
                          <a:latin typeface="Arial"/>
                          <a:cs typeface="Arial"/>
                        </a:rPr>
                        <a:t>$0.58B</a:t>
                      </a:r>
                      <a:endParaRPr sz="4600">
                        <a:latin typeface="Arial"/>
                        <a:cs typeface="Arial"/>
                      </a:endParaRPr>
                    </a:p>
                  </a:txBody>
                  <a:tcPr marL="0" marR="0" marB="0" marT="17970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08455">
                <a:tc>
                  <a:txBody>
                    <a:bodyPr/>
                    <a:lstStyle/>
                    <a:p>
                      <a:pPr algn="ctr" marL="318770" marR="277495" indent="-11430">
                        <a:lnSpc>
                          <a:spcPct val="92700"/>
                        </a:lnSpc>
                        <a:spcBef>
                          <a:spcPts val="1610"/>
                        </a:spcBef>
                      </a:pPr>
                      <a:r>
                        <a:rPr dirty="0" sz="2200" spc="-65">
                          <a:solidFill>
                            <a:srgbClr val="282A2D"/>
                          </a:solidFill>
                          <a:latin typeface="Arial"/>
                          <a:cs typeface="Arial"/>
                        </a:rPr>
                        <a:t>Primary</a:t>
                      </a:r>
                      <a:r>
                        <a:rPr dirty="0" sz="2200" spc="-40">
                          <a:solidFill>
                            <a:srgbClr val="282A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10">
                          <a:solidFill>
                            <a:srgbClr val="282A2D"/>
                          </a:solidFill>
                          <a:latin typeface="Arial"/>
                          <a:cs typeface="Arial"/>
                        </a:rPr>
                        <a:t>Driver </a:t>
                      </a:r>
                      <a:r>
                        <a:rPr dirty="0" sz="2200">
                          <a:solidFill>
                            <a:srgbClr val="111518"/>
                          </a:solidFill>
                          <a:latin typeface="Arial"/>
                          <a:cs typeface="Arial"/>
                        </a:rPr>
                        <a:t>Defense-in-</a:t>
                      </a:r>
                      <a:r>
                        <a:rPr dirty="0" sz="2200" spc="-10">
                          <a:solidFill>
                            <a:srgbClr val="111518"/>
                          </a:solidFill>
                          <a:latin typeface="Arial"/>
                          <a:cs typeface="Arial"/>
                        </a:rPr>
                        <a:t>Depth </a:t>
                      </a:r>
                      <a:r>
                        <a:rPr dirty="0" sz="2200">
                          <a:solidFill>
                            <a:srgbClr val="282A2D"/>
                          </a:solidFill>
                          <a:latin typeface="Arial"/>
                          <a:cs typeface="Arial"/>
                        </a:rPr>
                        <a:t>Against</a:t>
                      </a:r>
                      <a:r>
                        <a:rPr dirty="0" sz="2200" spc="30">
                          <a:solidFill>
                            <a:srgbClr val="282A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10">
                          <a:solidFill>
                            <a:srgbClr val="282A2D"/>
                          </a:solidFill>
                          <a:latin typeface="Arial"/>
                          <a:cs typeface="Arial"/>
                        </a:rPr>
                        <a:t>Advanced Threats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B="0" marT="20447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08455">
                <a:tc>
                  <a:txBody>
                    <a:bodyPr/>
                    <a:lstStyle/>
                    <a:p>
                      <a:pPr algn="ctr" marL="385445" marR="354965">
                        <a:lnSpc>
                          <a:spcPct val="93900"/>
                        </a:lnSpc>
                        <a:spcBef>
                          <a:spcPts val="1480"/>
                        </a:spcBef>
                      </a:pPr>
                      <a:r>
                        <a:rPr dirty="0" sz="2200" spc="-85">
                          <a:solidFill>
                            <a:srgbClr val="282A2D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dirty="0" sz="2200" spc="-85">
                          <a:latin typeface="Arial"/>
                          <a:cs typeface="Arial"/>
                        </a:rPr>
                        <a:t>L</a:t>
                      </a:r>
                      <a:r>
                        <a:rPr dirty="0" sz="2200" spc="-85">
                          <a:solidFill>
                            <a:srgbClr val="282A2D"/>
                          </a:solidFill>
                          <a:latin typeface="Arial"/>
                          <a:cs typeface="Arial"/>
                        </a:rPr>
                        <a:t>C-</a:t>
                      </a:r>
                      <a:r>
                        <a:rPr dirty="0" sz="2200" spc="-105">
                          <a:solidFill>
                            <a:srgbClr val="282A2D"/>
                          </a:solidFill>
                          <a:latin typeface="Arial"/>
                          <a:cs typeface="Arial"/>
                        </a:rPr>
                        <a:t>H</a:t>
                      </a:r>
                      <a:r>
                        <a:rPr dirty="0" sz="2200" spc="-305">
                          <a:solidFill>
                            <a:srgbClr val="282A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55">
                          <a:solidFill>
                            <a:srgbClr val="282A2D"/>
                          </a:solidFill>
                          <a:latin typeface="Arial"/>
                          <a:cs typeface="Arial"/>
                        </a:rPr>
                        <a:t>Positioning </a:t>
                      </a:r>
                      <a:r>
                        <a:rPr dirty="0" sz="2200">
                          <a:solidFill>
                            <a:srgbClr val="282A2D"/>
                          </a:solidFill>
                          <a:latin typeface="Arial"/>
                          <a:cs typeface="Arial"/>
                        </a:rPr>
                        <a:t>Unique </a:t>
                      </a:r>
                      <a:r>
                        <a:rPr dirty="0" sz="2200" spc="-20">
                          <a:solidFill>
                            <a:srgbClr val="282A2D"/>
                          </a:solidFill>
                          <a:latin typeface="Arial"/>
                          <a:cs typeface="Arial"/>
                        </a:rPr>
                        <a:t>LKRG </a:t>
                      </a:r>
                      <a:r>
                        <a:rPr dirty="0" sz="2200" spc="-10">
                          <a:solidFill>
                            <a:srgbClr val="282A2D"/>
                          </a:solidFill>
                          <a:latin typeface="Arial"/>
                          <a:cs typeface="Arial"/>
                        </a:rPr>
                        <a:t>Kernel-level Detection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B="0" marT="18796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212215">
                <a:tc>
                  <a:txBody>
                    <a:bodyPr/>
                    <a:lstStyle/>
                    <a:p>
                      <a:pPr marL="581025" marR="549910" indent="-3810">
                        <a:lnSpc>
                          <a:spcPct val="102800"/>
                        </a:lnSpc>
                        <a:spcBef>
                          <a:spcPts val="1745"/>
                        </a:spcBef>
                      </a:pPr>
                      <a:r>
                        <a:rPr dirty="0" sz="2200" spc="-35">
                          <a:solidFill>
                            <a:srgbClr val="282A2D"/>
                          </a:solidFill>
                          <a:latin typeface="Arial"/>
                          <a:cs typeface="Arial"/>
                        </a:rPr>
                        <a:t>Market</a:t>
                      </a:r>
                      <a:r>
                        <a:rPr dirty="0" sz="2200" spc="-95">
                          <a:solidFill>
                            <a:srgbClr val="282A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65">
                          <a:solidFill>
                            <a:srgbClr val="282A2D"/>
                          </a:solidFill>
                          <a:latin typeface="Arial"/>
                          <a:cs typeface="Arial"/>
                        </a:rPr>
                        <a:t>Growth </a:t>
                      </a:r>
                      <a:r>
                        <a:rPr dirty="0" sz="2200" spc="-45">
                          <a:solidFill>
                            <a:srgbClr val="282A2D"/>
                          </a:solidFill>
                          <a:latin typeface="Arial"/>
                          <a:cs typeface="Arial"/>
                        </a:rPr>
                        <a:t>12-</a:t>
                      </a:r>
                      <a:r>
                        <a:rPr dirty="0" sz="2200" spc="-50">
                          <a:solidFill>
                            <a:srgbClr val="282A2D"/>
                          </a:solidFill>
                          <a:latin typeface="Arial"/>
                          <a:cs typeface="Arial"/>
                        </a:rPr>
                        <a:t>18%</a:t>
                      </a:r>
                      <a:r>
                        <a:rPr dirty="0" sz="2200" spc="-110">
                          <a:solidFill>
                            <a:srgbClr val="282A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105">
                          <a:solidFill>
                            <a:srgbClr val="282A2D"/>
                          </a:solidFill>
                          <a:latin typeface="Arial"/>
                          <a:cs typeface="Arial"/>
                        </a:rPr>
                        <a:t>CAGR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B="0" marT="22161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1260991" y="759915"/>
            <a:ext cx="14987269" cy="615315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850" spc="80">
                <a:solidFill>
                  <a:srgbClr val="111518"/>
                </a:solidFill>
              </a:rPr>
              <a:t>A</a:t>
            </a:r>
            <a:r>
              <a:rPr dirty="0" sz="3850" spc="-204">
                <a:solidFill>
                  <a:srgbClr val="111518"/>
                </a:solidFill>
              </a:rPr>
              <a:t> </a:t>
            </a:r>
            <a:r>
              <a:rPr dirty="0" sz="3850" spc="114">
                <a:solidFill>
                  <a:srgbClr val="111518"/>
                </a:solidFill>
              </a:rPr>
              <a:t>Multi-</a:t>
            </a:r>
            <a:r>
              <a:rPr dirty="0" sz="3850" spc="130">
                <a:solidFill>
                  <a:srgbClr val="111518"/>
                </a:solidFill>
              </a:rPr>
              <a:t>faceted</a:t>
            </a:r>
            <a:r>
              <a:rPr dirty="0" sz="3850" spc="235">
                <a:solidFill>
                  <a:srgbClr val="111518"/>
                </a:solidFill>
              </a:rPr>
              <a:t> </a:t>
            </a:r>
            <a:r>
              <a:rPr dirty="0" sz="3850">
                <a:solidFill>
                  <a:srgbClr val="111518"/>
                </a:solidFill>
              </a:rPr>
              <a:t>Opportunity</a:t>
            </a:r>
            <a:r>
              <a:rPr dirty="0" sz="3850" spc="320">
                <a:solidFill>
                  <a:srgbClr val="111518"/>
                </a:solidFill>
              </a:rPr>
              <a:t> </a:t>
            </a:r>
            <a:r>
              <a:rPr dirty="0" sz="3850">
                <a:solidFill>
                  <a:srgbClr val="111518"/>
                </a:solidFill>
              </a:rPr>
              <a:t>Driven</a:t>
            </a:r>
            <a:r>
              <a:rPr dirty="0" sz="3850" spc="-30">
                <a:solidFill>
                  <a:srgbClr val="111518"/>
                </a:solidFill>
              </a:rPr>
              <a:t> </a:t>
            </a:r>
            <a:r>
              <a:rPr dirty="0" sz="3850" spc="60">
                <a:solidFill>
                  <a:srgbClr val="111518"/>
                </a:solidFill>
              </a:rPr>
              <a:t>by</a:t>
            </a:r>
            <a:r>
              <a:rPr dirty="0" sz="3850" spc="-225">
                <a:solidFill>
                  <a:srgbClr val="111518"/>
                </a:solidFill>
              </a:rPr>
              <a:t> </a:t>
            </a:r>
            <a:r>
              <a:rPr dirty="0" sz="3850">
                <a:solidFill>
                  <a:srgbClr val="111518"/>
                </a:solidFill>
              </a:rPr>
              <a:t>Unavoideable</a:t>
            </a:r>
            <a:r>
              <a:rPr dirty="0" sz="3850" spc="335">
                <a:solidFill>
                  <a:srgbClr val="111518"/>
                </a:solidFill>
              </a:rPr>
              <a:t> </a:t>
            </a:r>
            <a:r>
              <a:rPr dirty="0" sz="3850" spc="95">
                <a:solidFill>
                  <a:srgbClr val="111518"/>
                </a:solidFill>
              </a:rPr>
              <a:t>Mandates</a:t>
            </a:r>
            <a:endParaRPr sz="38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46549" y="4532246"/>
            <a:ext cx="2037906" cy="144257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64669" y="4493948"/>
            <a:ext cx="942532" cy="1046823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0215009" y="4557777"/>
            <a:ext cx="1758314" cy="0"/>
          </a:xfrm>
          <a:custGeom>
            <a:avLst/>
            <a:gdLst/>
            <a:ahLst/>
            <a:cxnLst/>
            <a:rect l="l" t="t" r="r" b="b"/>
            <a:pathLst>
              <a:path w="1758315" h="0">
                <a:moveTo>
                  <a:pt x="0" y="0"/>
                </a:moveTo>
                <a:lnTo>
                  <a:pt x="1757694" y="0"/>
                </a:lnTo>
              </a:path>
            </a:pathLst>
          </a:custGeom>
          <a:ln w="5106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15009" y="5004592"/>
            <a:ext cx="1630680" cy="0"/>
          </a:xfrm>
          <a:custGeom>
            <a:avLst/>
            <a:gdLst/>
            <a:ahLst/>
            <a:cxnLst/>
            <a:rect l="l" t="t" r="r" b="b"/>
            <a:pathLst>
              <a:path w="1630679" h="0">
                <a:moveTo>
                  <a:pt x="0" y="0"/>
                </a:moveTo>
                <a:lnTo>
                  <a:pt x="1630325" y="0"/>
                </a:lnTo>
              </a:path>
            </a:pathLst>
          </a:custGeom>
          <a:ln w="5106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0215009" y="5310979"/>
            <a:ext cx="1656080" cy="0"/>
          </a:xfrm>
          <a:custGeom>
            <a:avLst/>
            <a:gdLst/>
            <a:ahLst/>
            <a:cxnLst/>
            <a:rect l="l" t="t" r="r" b="b"/>
            <a:pathLst>
              <a:path w="1656079" h="0">
                <a:moveTo>
                  <a:pt x="0" y="0"/>
                </a:moveTo>
                <a:lnTo>
                  <a:pt x="1655799" y="0"/>
                </a:lnTo>
              </a:path>
            </a:pathLst>
          </a:custGeom>
          <a:ln w="5106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94034" y="530126"/>
            <a:ext cx="15453360" cy="282892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56030">
              <a:lnSpc>
                <a:spcPct val="100000"/>
              </a:lnSpc>
              <a:spcBef>
                <a:spcPts val="114"/>
              </a:spcBef>
            </a:pPr>
            <a:r>
              <a:rPr dirty="0" sz="3350" spc="100" b="1">
                <a:solidFill>
                  <a:srgbClr val="232326"/>
                </a:solidFill>
                <a:latin typeface="Arial"/>
                <a:cs typeface="Arial"/>
              </a:rPr>
              <a:t>Segment</a:t>
            </a:r>
            <a:r>
              <a:rPr dirty="0" sz="3350" spc="-10" b="1">
                <a:solidFill>
                  <a:srgbClr val="232326"/>
                </a:solidFill>
                <a:latin typeface="Arial"/>
                <a:cs typeface="Arial"/>
              </a:rPr>
              <a:t> </a:t>
            </a:r>
            <a:r>
              <a:rPr dirty="0" sz="3350" b="1">
                <a:solidFill>
                  <a:srgbClr val="232326"/>
                </a:solidFill>
                <a:latin typeface="Arial"/>
                <a:cs typeface="Arial"/>
              </a:rPr>
              <a:t>1:</a:t>
            </a:r>
            <a:r>
              <a:rPr dirty="0" sz="3350" spc="-434" b="1">
                <a:solidFill>
                  <a:srgbClr val="232326"/>
                </a:solidFill>
                <a:latin typeface="Arial"/>
                <a:cs typeface="Arial"/>
              </a:rPr>
              <a:t> </a:t>
            </a:r>
            <a:r>
              <a:rPr dirty="0" sz="3350" spc="85" b="1">
                <a:solidFill>
                  <a:srgbClr val="232326"/>
                </a:solidFill>
                <a:latin typeface="Arial"/>
                <a:cs typeface="Arial"/>
              </a:rPr>
              <a:t>Securing</a:t>
            </a:r>
            <a:r>
              <a:rPr dirty="0" sz="3350" spc="35" b="1">
                <a:solidFill>
                  <a:srgbClr val="232326"/>
                </a:solidFill>
                <a:latin typeface="Arial"/>
                <a:cs typeface="Arial"/>
              </a:rPr>
              <a:t> </a:t>
            </a:r>
            <a:r>
              <a:rPr dirty="0" sz="3350" spc="80" b="1">
                <a:solidFill>
                  <a:srgbClr val="232326"/>
                </a:solidFill>
                <a:latin typeface="Arial"/>
                <a:cs typeface="Arial"/>
              </a:rPr>
              <a:t>the</a:t>
            </a:r>
            <a:r>
              <a:rPr dirty="0" sz="3350" spc="165" b="1">
                <a:solidFill>
                  <a:srgbClr val="232326"/>
                </a:solidFill>
                <a:latin typeface="Arial"/>
                <a:cs typeface="Arial"/>
              </a:rPr>
              <a:t> </a:t>
            </a:r>
            <a:r>
              <a:rPr dirty="0" sz="3350" spc="65" b="1">
                <a:solidFill>
                  <a:srgbClr val="232326"/>
                </a:solidFill>
                <a:latin typeface="Arial"/>
                <a:cs typeface="Arial"/>
              </a:rPr>
              <a:t>$1.73B</a:t>
            </a:r>
            <a:r>
              <a:rPr dirty="0" sz="3350" spc="-70" b="1">
                <a:solidFill>
                  <a:srgbClr val="232326"/>
                </a:solidFill>
                <a:latin typeface="Arial"/>
                <a:cs typeface="Arial"/>
              </a:rPr>
              <a:t> </a:t>
            </a:r>
            <a:r>
              <a:rPr dirty="0" sz="3350" b="1">
                <a:solidFill>
                  <a:srgbClr val="232326"/>
                </a:solidFill>
                <a:latin typeface="Arial"/>
                <a:cs typeface="Arial"/>
              </a:rPr>
              <a:t>DISA</a:t>
            </a:r>
            <a:r>
              <a:rPr dirty="0" sz="3350" spc="45" b="1">
                <a:solidFill>
                  <a:srgbClr val="232326"/>
                </a:solidFill>
                <a:latin typeface="Arial"/>
                <a:cs typeface="Arial"/>
              </a:rPr>
              <a:t> </a:t>
            </a:r>
            <a:r>
              <a:rPr dirty="0" sz="3350" spc="70" b="1">
                <a:solidFill>
                  <a:srgbClr val="232326"/>
                </a:solidFill>
                <a:latin typeface="Arial"/>
                <a:cs typeface="Arial"/>
              </a:rPr>
              <a:t>STIG</a:t>
            </a:r>
            <a:r>
              <a:rPr dirty="0" sz="3350" spc="-170" b="1">
                <a:solidFill>
                  <a:srgbClr val="232326"/>
                </a:solidFill>
                <a:latin typeface="Arial"/>
                <a:cs typeface="Arial"/>
              </a:rPr>
              <a:t> </a:t>
            </a:r>
            <a:r>
              <a:rPr dirty="0" sz="3350" spc="70" b="1">
                <a:solidFill>
                  <a:srgbClr val="232326"/>
                </a:solidFill>
                <a:latin typeface="Arial"/>
                <a:cs typeface="Arial"/>
              </a:rPr>
              <a:t>Compliance</a:t>
            </a:r>
            <a:r>
              <a:rPr dirty="0" sz="3350" spc="75" b="1">
                <a:solidFill>
                  <a:srgbClr val="232326"/>
                </a:solidFill>
                <a:latin typeface="Arial"/>
                <a:cs typeface="Arial"/>
              </a:rPr>
              <a:t> </a:t>
            </a:r>
            <a:r>
              <a:rPr dirty="0" sz="3350" spc="150" b="1">
                <a:solidFill>
                  <a:srgbClr val="232326"/>
                </a:solidFill>
                <a:latin typeface="Arial"/>
                <a:cs typeface="Arial"/>
              </a:rPr>
              <a:t>Market</a:t>
            </a:r>
            <a:endParaRPr sz="3350">
              <a:latin typeface="Arial"/>
              <a:cs typeface="Arial"/>
            </a:endParaRPr>
          </a:p>
          <a:p>
            <a:pPr marL="17780" marR="5080" indent="-5715">
              <a:lnSpc>
                <a:spcPct val="105100"/>
              </a:lnSpc>
              <a:spcBef>
                <a:spcPts val="2755"/>
              </a:spcBef>
            </a:pPr>
            <a:r>
              <a:rPr dirty="0" sz="2550" spc="-35" b="1">
                <a:solidFill>
                  <a:srgbClr val="050505"/>
                </a:solidFill>
                <a:latin typeface="Arial"/>
                <a:cs typeface="Arial"/>
              </a:rPr>
              <a:t>Market</a:t>
            </a:r>
            <a:r>
              <a:rPr dirty="0" sz="2550" spc="-135" b="1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2550" spc="-40" b="1">
                <a:solidFill>
                  <a:srgbClr val="050505"/>
                </a:solidFill>
                <a:latin typeface="Arial"/>
                <a:cs typeface="Arial"/>
              </a:rPr>
              <a:t>Definition:</a:t>
            </a:r>
            <a:r>
              <a:rPr dirty="0" sz="2550" spc="-215" b="1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2550" spc="-90">
                <a:solidFill>
                  <a:srgbClr val="131518"/>
                </a:solidFill>
                <a:latin typeface="Arial"/>
                <a:cs typeface="Arial"/>
              </a:rPr>
              <a:t>Required</a:t>
            </a:r>
            <a:r>
              <a:rPr dirty="0" sz="2550" spc="-55">
                <a:solidFill>
                  <a:srgbClr val="131518"/>
                </a:solidFill>
                <a:latin typeface="Arial"/>
                <a:cs typeface="Arial"/>
              </a:rPr>
              <a:t> </a:t>
            </a:r>
            <a:r>
              <a:rPr dirty="0" sz="2550" spc="-35">
                <a:solidFill>
                  <a:srgbClr val="131518"/>
                </a:solidFill>
                <a:latin typeface="Arial"/>
                <a:cs typeface="Arial"/>
              </a:rPr>
              <a:t>by</a:t>
            </a:r>
            <a:r>
              <a:rPr dirty="0" sz="2550" spc="-135">
                <a:solidFill>
                  <a:srgbClr val="131518"/>
                </a:solidFill>
                <a:latin typeface="Arial"/>
                <a:cs typeface="Arial"/>
              </a:rPr>
              <a:t> </a:t>
            </a:r>
            <a:r>
              <a:rPr dirty="0" sz="2550" spc="60">
                <a:solidFill>
                  <a:srgbClr val="131518"/>
                </a:solidFill>
                <a:latin typeface="Arial"/>
                <a:cs typeface="Arial"/>
              </a:rPr>
              <a:t>all</a:t>
            </a:r>
            <a:r>
              <a:rPr dirty="0" sz="2550" spc="-350">
                <a:solidFill>
                  <a:srgbClr val="131518"/>
                </a:solidFill>
                <a:latin typeface="Arial"/>
                <a:cs typeface="Arial"/>
              </a:rPr>
              <a:t> </a:t>
            </a:r>
            <a:r>
              <a:rPr dirty="0" sz="2550" spc="-180">
                <a:solidFill>
                  <a:srgbClr val="131518"/>
                </a:solidFill>
                <a:latin typeface="Arial"/>
                <a:cs typeface="Arial"/>
              </a:rPr>
              <a:t>DoD</a:t>
            </a:r>
            <a:r>
              <a:rPr dirty="0" sz="2550" spc="-140">
                <a:solidFill>
                  <a:srgbClr val="131518"/>
                </a:solidFill>
                <a:latin typeface="Arial"/>
                <a:cs typeface="Arial"/>
              </a:rPr>
              <a:t> </a:t>
            </a:r>
            <a:r>
              <a:rPr dirty="0" sz="2550" spc="-100">
                <a:solidFill>
                  <a:srgbClr val="131518"/>
                </a:solidFill>
                <a:latin typeface="Arial"/>
                <a:cs typeface="Arial"/>
              </a:rPr>
              <a:t>systems,</a:t>
            </a:r>
            <a:r>
              <a:rPr dirty="0" sz="2550" spc="-180">
                <a:solidFill>
                  <a:srgbClr val="131518"/>
                </a:solidFill>
                <a:latin typeface="Arial"/>
                <a:cs typeface="Arial"/>
              </a:rPr>
              <a:t> </a:t>
            </a:r>
            <a:r>
              <a:rPr dirty="0" sz="2550" spc="75">
                <a:solidFill>
                  <a:srgbClr val="131518"/>
                </a:solidFill>
                <a:latin typeface="Arial"/>
                <a:cs typeface="Arial"/>
              </a:rPr>
              <a:t>the</a:t>
            </a:r>
            <a:r>
              <a:rPr dirty="0" sz="2550" spc="-345">
                <a:solidFill>
                  <a:srgbClr val="131518"/>
                </a:solidFill>
                <a:latin typeface="Arial"/>
                <a:cs typeface="Arial"/>
              </a:rPr>
              <a:t> </a:t>
            </a:r>
            <a:r>
              <a:rPr dirty="0" sz="2550" spc="-125">
                <a:solidFill>
                  <a:srgbClr val="131518"/>
                </a:solidFill>
                <a:latin typeface="Arial"/>
                <a:cs typeface="Arial"/>
              </a:rPr>
              <a:t>300,000+</a:t>
            </a:r>
            <a:r>
              <a:rPr dirty="0" sz="2550" spc="-85">
                <a:solidFill>
                  <a:srgbClr val="131518"/>
                </a:solidFill>
                <a:latin typeface="Arial"/>
                <a:cs typeface="Arial"/>
              </a:rPr>
              <a:t> </a:t>
            </a:r>
            <a:r>
              <a:rPr dirty="0" sz="2550" spc="-75">
                <a:solidFill>
                  <a:srgbClr val="131518"/>
                </a:solidFill>
                <a:latin typeface="Arial"/>
                <a:cs typeface="Arial"/>
              </a:rPr>
              <a:t>companies</a:t>
            </a:r>
            <a:r>
              <a:rPr dirty="0" sz="2550" spc="-50">
                <a:solidFill>
                  <a:srgbClr val="131518"/>
                </a:solidFill>
                <a:latin typeface="Arial"/>
                <a:cs typeface="Arial"/>
              </a:rPr>
              <a:t> </a:t>
            </a:r>
            <a:r>
              <a:rPr dirty="0" sz="2550" spc="75">
                <a:solidFill>
                  <a:srgbClr val="131518"/>
                </a:solidFill>
                <a:latin typeface="Arial"/>
                <a:cs typeface="Arial"/>
              </a:rPr>
              <a:t>in</a:t>
            </a:r>
            <a:r>
              <a:rPr dirty="0" sz="2550" spc="-185">
                <a:solidFill>
                  <a:srgbClr val="131518"/>
                </a:solidFill>
                <a:latin typeface="Arial"/>
                <a:cs typeface="Arial"/>
              </a:rPr>
              <a:t> </a:t>
            </a:r>
            <a:r>
              <a:rPr dirty="0" sz="2550">
                <a:solidFill>
                  <a:srgbClr val="131518"/>
                </a:solidFill>
                <a:latin typeface="Arial"/>
                <a:cs typeface="Arial"/>
              </a:rPr>
              <a:t>the</a:t>
            </a:r>
            <a:r>
              <a:rPr dirty="0" sz="2550" spc="-215">
                <a:solidFill>
                  <a:srgbClr val="131518"/>
                </a:solidFill>
                <a:latin typeface="Arial"/>
                <a:cs typeface="Arial"/>
              </a:rPr>
              <a:t> </a:t>
            </a:r>
            <a:r>
              <a:rPr dirty="0" sz="2550" spc="-120">
                <a:solidFill>
                  <a:srgbClr val="131518"/>
                </a:solidFill>
                <a:latin typeface="Arial"/>
                <a:cs typeface="Arial"/>
              </a:rPr>
              <a:t>Defense</a:t>
            </a:r>
            <a:r>
              <a:rPr dirty="0" sz="2550" spc="-254">
                <a:solidFill>
                  <a:srgbClr val="131518"/>
                </a:solidFill>
                <a:latin typeface="Arial"/>
                <a:cs typeface="Arial"/>
              </a:rPr>
              <a:t> </a:t>
            </a:r>
            <a:r>
              <a:rPr dirty="0" sz="2550">
                <a:solidFill>
                  <a:srgbClr val="131518"/>
                </a:solidFill>
                <a:latin typeface="Arial"/>
                <a:cs typeface="Arial"/>
              </a:rPr>
              <a:t>Industrial</a:t>
            </a:r>
            <a:r>
              <a:rPr dirty="0" sz="2550" spc="-165">
                <a:solidFill>
                  <a:srgbClr val="131518"/>
                </a:solidFill>
                <a:latin typeface="Arial"/>
                <a:cs typeface="Arial"/>
              </a:rPr>
              <a:t> </a:t>
            </a:r>
            <a:r>
              <a:rPr dirty="0" sz="2550" spc="-130">
                <a:solidFill>
                  <a:srgbClr val="131518"/>
                </a:solidFill>
                <a:latin typeface="Arial"/>
                <a:cs typeface="Arial"/>
              </a:rPr>
              <a:t>Base,</a:t>
            </a:r>
            <a:r>
              <a:rPr dirty="0" sz="2550" spc="-210">
                <a:solidFill>
                  <a:srgbClr val="131518"/>
                </a:solidFill>
                <a:latin typeface="Arial"/>
                <a:cs typeface="Arial"/>
              </a:rPr>
              <a:t> </a:t>
            </a:r>
            <a:r>
              <a:rPr dirty="0" sz="2550" spc="-25">
                <a:solidFill>
                  <a:srgbClr val="131518"/>
                </a:solidFill>
                <a:latin typeface="Arial"/>
                <a:cs typeface="Arial"/>
              </a:rPr>
              <a:t>and</a:t>
            </a:r>
            <a:r>
              <a:rPr dirty="0" sz="2550" spc="-235">
                <a:solidFill>
                  <a:srgbClr val="131518"/>
                </a:solidFill>
                <a:latin typeface="Arial"/>
                <a:cs typeface="Arial"/>
              </a:rPr>
              <a:t> </a:t>
            </a:r>
            <a:r>
              <a:rPr dirty="0" sz="2550" spc="-25">
                <a:solidFill>
                  <a:srgbClr val="131518"/>
                </a:solidFill>
                <a:latin typeface="Arial"/>
                <a:cs typeface="Arial"/>
              </a:rPr>
              <a:t>the </a:t>
            </a:r>
            <a:r>
              <a:rPr dirty="0" sz="2550" spc="-10">
                <a:solidFill>
                  <a:srgbClr val="050505"/>
                </a:solidFill>
                <a:latin typeface="Arial"/>
                <a:cs typeface="Arial"/>
              </a:rPr>
              <a:t>Int</a:t>
            </a:r>
            <a:r>
              <a:rPr dirty="0" sz="2550" spc="-10">
                <a:solidFill>
                  <a:srgbClr val="232326"/>
                </a:solidFill>
                <a:latin typeface="Arial"/>
                <a:cs typeface="Arial"/>
              </a:rPr>
              <a:t>e</a:t>
            </a:r>
            <a:r>
              <a:rPr dirty="0" sz="2550" spc="-10">
                <a:solidFill>
                  <a:srgbClr val="050505"/>
                </a:solidFill>
                <a:latin typeface="Arial"/>
                <a:cs typeface="Arial"/>
              </a:rPr>
              <a:t>lli</a:t>
            </a:r>
            <a:r>
              <a:rPr dirty="0" sz="2550" spc="-10">
                <a:solidFill>
                  <a:srgbClr val="232326"/>
                </a:solidFill>
                <a:latin typeface="Arial"/>
                <a:cs typeface="Arial"/>
              </a:rPr>
              <a:t>ge</a:t>
            </a:r>
            <a:r>
              <a:rPr dirty="0" sz="2550" spc="-10">
                <a:solidFill>
                  <a:srgbClr val="050505"/>
                </a:solidFill>
                <a:latin typeface="Arial"/>
                <a:cs typeface="Arial"/>
              </a:rPr>
              <a:t>n</a:t>
            </a:r>
            <a:r>
              <a:rPr dirty="0" sz="2550" spc="-10">
                <a:solidFill>
                  <a:srgbClr val="232326"/>
                </a:solidFill>
                <a:latin typeface="Arial"/>
                <a:cs typeface="Arial"/>
              </a:rPr>
              <a:t>ce</a:t>
            </a:r>
            <a:r>
              <a:rPr dirty="0" sz="2550" spc="-415">
                <a:solidFill>
                  <a:srgbClr val="232326"/>
                </a:solidFill>
                <a:latin typeface="Arial"/>
                <a:cs typeface="Arial"/>
              </a:rPr>
              <a:t> </a:t>
            </a:r>
            <a:r>
              <a:rPr dirty="0" sz="2550" spc="-10">
                <a:solidFill>
                  <a:srgbClr val="131518"/>
                </a:solidFill>
                <a:latin typeface="Arial"/>
                <a:cs typeface="Arial"/>
              </a:rPr>
              <a:t>Community.</a:t>
            </a:r>
            <a:endParaRPr sz="2550">
              <a:latin typeface="Arial"/>
              <a:cs typeface="Arial"/>
            </a:endParaRPr>
          </a:p>
          <a:p>
            <a:pPr marL="26670" marR="199390" indent="-11430">
              <a:lnSpc>
                <a:spcPct val="105100"/>
              </a:lnSpc>
              <a:spcBef>
                <a:spcPts val="2415"/>
              </a:spcBef>
            </a:pPr>
            <a:r>
              <a:rPr dirty="0" sz="2550" spc="-70" b="1">
                <a:solidFill>
                  <a:srgbClr val="050505"/>
                </a:solidFill>
                <a:latin typeface="Arial"/>
                <a:cs typeface="Arial"/>
              </a:rPr>
              <a:t>The</a:t>
            </a:r>
            <a:r>
              <a:rPr dirty="0" sz="2550" spc="-229" b="1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2550" spc="-35" b="1">
                <a:solidFill>
                  <a:srgbClr val="050505"/>
                </a:solidFill>
                <a:latin typeface="Arial"/>
                <a:cs typeface="Arial"/>
              </a:rPr>
              <a:t>Problem</a:t>
            </a:r>
            <a:r>
              <a:rPr dirty="0" sz="2550" spc="-35" b="1">
                <a:solidFill>
                  <a:srgbClr val="232326"/>
                </a:solidFill>
                <a:latin typeface="Arial"/>
                <a:cs typeface="Arial"/>
              </a:rPr>
              <a:t>:</a:t>
            </a:r>
            <a:r>
              <a:rPr dirty="0" sz="2550" spc="-35">
                <a:solidFill>
                  <a:srgbClr val="131518"/>
                </a:solidFill>
                <a:latin typeface="Arial"/>
                <a:cs typeface="Arial"/>
              </a:rPr>
              <a:t>Manual</a:t>
            </a:r>
            <a:r>
              <a:rPr dirty="0" sz="2550" spc="-290">
                <a:solidFill>
                  <a:srgbClr val="131518"/>
                </a:solidFill>
                <a:latin typeface="Arial"/>
                <a:cs typeface="Arial"/>
              </a:rPr>
              <a:t> </a:t>
            </a:r>
            <a:r>
              <a:rPr dirty="0" sz="2550" spc="-245">
                <a:solidFill>
                  <a:srgbClr val="131518"/>
                </a:solidFill>
                <a:latin typeface="Arial"/>
                <a:cs typeface="Arial"/>
              </a:rPr>
              <a:t>STIG</a:t>
            </a:r>
            <a:r>
              <a:rPr dirty="0" sz="2550" spc="-75">
                <a:solidFill>
                  <a:srgbClr val="131518"/>
                </a:solidFill>
                <a:latin typeface="Arial"/>
                <a:cs typeface="Arial"/>
              </a:rPr>
              <a:t> </a:t>
            </a:r>
            <a:r>
              <a:rPr dirty="0" sz="2550">
                <a:solidFill>
                  <a:srgbClr val="131518"/>
                </a:solidFill>
                <a:latin typeface="Arial"/>
                <a:cs typeface="Arial"/>
              </a:rPr>
              <a:t>implementation</a:t>
            </a:r>
            <a:r>
              <a:rPr dirty="0" sz="2550" spc="-405">
                <a:solidFill>
                  <a:srgbClr val="131518"/>
                </a:solidFill>
                <a:latin typeface="Arial"/>
                <a:cs typeface="Arial"/>
              </a:rPr>
              <a:t> </a:t>
            </a:r>
            <a:r>
              <a:rPr dirty="0" sz="2550" spc="55">
                <a:solidFill>
                  <a:srgbClr val="050505"/>
                </a:solidFill>
                <a:latin typeface="Arial"/>
                <a:cs typeface="Arial"/>
              </a:rPr>
              <a:t>is</a:t>
            </a:r>
            <a:r>
              <a:rPr dirty="0" sz="2550" spc="-275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2550">
                <a:solidFill>
                  <a:srgbClr val="050505"/>
                </a:solidFill>
                <a:latin typeface="Arial"/>
                <a:cs typeface="Arial"/>
              </a:rPr>
              <a:t>the</a:t>
            </a:r>
            <a:r>
              <a:rPr dirty="0" sz="2550" spc="-270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2550">
                <a:solidFill>
                  <a:srgbClr val="050505"/>
                </a:solidFill>
                <a:latin typeface="Arial"/>
                <a:cs typeface="Arial"/>
              </a:rPr>
              <a:t>industry</a:t>
            </a:r>
            <a:r>
              <a:rPr dirty="0" sz="2550" spc="-55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2550">
                <a:solidFill>
                  <a:srgbClr val="131518"/>
                </a:solidFill>
                <a:latin typeface="Arial"/>
                <a:cs typeface="Arial"/>
              </a:rPr>
              <a:t>norm.</a:t>
            </a:r>
            <a:r>
              <a:rPr dirty="0" sz="2550" spc="-260">
                <a:solidFill>
                  <a:srgbClr val="131518"/>
                </a:solidFill>
                <a:latin typeface="Arial"/>
                <a:cs typeface="Arial"/>
              </a:rPr>
              <a:t> </a:t>
            </a:r>
            <a:r>
              <a:rPr dirty="0" sz="2550">
                <a:solidFill>
                  <a:srgbClr val="131518"/>
                </a:solidFill>
                <a:latin typeface="Arial"/>
                <a:cs typeface="Arial"/>
              </a:rPr>
              <a:t>It</a:t>
            </a:r>
            <a:r>
              <a:rPr dirty="0" sz="2550" spc="5">
                <a:solidFill>
                  <a:srgbClr val="131518"/>
                </a:solidFill>
                <a:latin typeface="Arial"/>
                <a:cs typeface="Arial"/>
              </a:rPr>
              <a:t> </a:t>
            </a:r>
            <a:r>
              <a:rPr dirty="0" sz="2550" spc="55">
                <a:solidFill>
                  <a:srgbClr val="131518"/>
                </a:solidFill>
                <a:latin typeface="Arial"/>
                <a:cs typeface="Arial"/>
              </a:rPr>
              <a:t>is</a:t>
            </a:r>
            <a:r>
              <a:rPr dirty="0" sz="2550" spc="-325">
                <a:solidFill>
                  <a:srgbClr val="131518"/>
                </a:solidFill>
                <a:latin typeface="Arial"/>
                <a:cs typeface="Arial"/>
              </a:rPr>
              <a:t> </a:t>
            </a:r>
            <a:r>
              <a:rPr dirty="0" sz="2550" spc="-40">
                <a:solidFill>
                  <a:srgbClr val="232326"/>
                </a:solidFill>
                <a:latin typeface="Arial"/>
                <a:cs typeface="Arial"/>
              </a:rPr>
              <a:t>s</a:t>
            </a:r>
            <a:r>
              <a:rPr dirty="0" sz="2550" spc="-40">
                <a:solidFill>
                  <a:srgbClr val="050505"/>
                </a:solidFill>
                <a:latin typeface="Arial"/>
                <a:cs typeface="Arial"/>
              </a:rPr>
              <a:t>l</a:t>
            </a:r>
            <a:r>
              <a:rPr dirty="0" sz="2550" spc="-40">
                <a:solidFill>
                  <a:srgbClr val="232326"/>
                </a:solidFill>
                <a:latin typeface="Arial"/>
                <a:cs typeface="Arial"/>
              </a:rPr>
              <a:t>ow,</a:t>
            </a:r>
            <a:r>
              <a:rPr dirty="0" sz="2550" spc="-345">
                <a:solidFill>
                  <a:srgbClr val="232326"/>
                </a:solidFill>
                <a:latin typeface="Arial"/>
                <a:cs typeface="Arial"/>
              </a:rPr>
              <a:t> </a:t>
            </a:r>
            <a:r>
              <a:rPr dirty="0" sz="2550" spc="-85">
                <a:solidFill>
                  <a:srgbClr val="131518"/>
                </a:solidFill>
                <a:latin typeface="Arial"/>
                <a:cs typeface="Arial"/>
              </a:rPr>
              <a:t>expensive</a:t>
            </a:r>
            <a:r>
              <a:rPr dirty="0" sz="2550" spc="35">
                <a:solidFill>
                  <a:srgbClr val="131518"/>
                </a:solidFill>
                <a:latin typeface="Arial"/>
                <a:cs typeface="Arial"/>
              </a:rPr>
              <a:t> </a:t>
            </a:r>
            <a:r>
              <a:rPr dirty="0" sz="2550" spc="-114">
                <a:solidFill>
                  <a:srgbClr val="232326"/>
                </a:solidFill>
                <a:latin typeface="Arial"/>
                <a:cs typeface="Arial"/>
              </a:rPr>
              <a:t>(40-</a:t>
            </a:r>
            <a:r>
              <a:rPr dirty="0" sz="2550" spc="-135">
                <a:solidFill>
                  <a:srgbClr val="232326"/>
                </a:solidFill>
                <a:latin typeface="Arial"/>
                <a:cs typeface="Arial"/>
              </a:rPr>
              <a:t>80</a:t>
            </a:r>
            <a:r>
              <a:rPr dirty="0" sz="2550" spc="-45">
                <a:solidFill>
                  <a:srgbClr val="232326"/>
                </a:solidFill>
                <a:latin typeface="Arial"/>
                <a:cs typeface="Arial"/>
              </a:rPr>
              <a:t> </a:t>
            </a:r>
            <a:r>
              <a:rPr dirty="0" sz="2550" spc="-40">
                <a:solidFill>
                  <a:srgbClr val="050505"/>
                </a:solidFill>
                <a:latin typeface="Arial"/>
                <a:cs typeface="Arial"/>
              </a:rPr>
              <a:t>hour</a:t>
            </a:r>
            <a:r>
              <a:rPr dirty="0" sz="2550" spc="-40">
                <a:solidFill>
                  <a:srgbClr val="232326"/>
                </a:solidFill>
                <a:latin typeface="Arial"/>
                <a:cs typeface="Arial"/>
              </a:rPr>
              <a:t>s/server),</a:t>
            </a:r>
            <a:r>
              <a:rPr dirty="0" sz="2550" spc="-340">
                <a:solidFill>
                  <a:srgbClr val="232326"/>
                </a:solidFill>
                <a:latin typeface="Arial"/>
                <a:cs typeface="Arial"/>
              </a:rPr>
              <a:t> </a:t>
            </a:r>
            <a:r>
              <a:rPr dirty="0" sz="2550" spc="-25">
                <a:solidFill>
                  <a:srgbClr val="131518"/>
                </a:solidFill>
                <a:latin typeface="Arial"/>
                <a:cs typeface="Arial"/>
              </a:rPr>
              <a:t>and </a:t>
            </a:r>
            <a:r>
              <a:rPr dirty="0" sz="2550" spc="-45">
                <a:solidFill>
                  <a:srgbClr val="131518"/>
                </a:solidFill>
                <a:latin typeface="Arial"/>
                <a:cs typeface="Arial"/>
              </a:rPr>
              <a:t>prone</a:t>
            </a:r>
            <a:r>
              <a:rPr dirty="0" sz="2550" spc="-80">
                <a:solidFill>
                  <a:srgbClr val="131518"/>
                </a:solidFill>
                <a:latin typeface="Arial"/>
                <a:cs typeface="Arial"/>
              </a:rPr>
              <a:t> </a:t>
            </a:r>
            <a:r>
              <a:rPr dirty="0" sz="2550" spc="90">
                <a:solidFill>
                  <a:srgbClr val="131518"/>
                </a:solidFill>
                <a:latin typeface="Arial"/>
                <a:cs typeface="Arial"/>
              </a:rPr>
              <a:t>to</a:t>
            </a:r>
            <a:r>
              <a:rPr dirty="0" sz="2550" spc="-375">
                <a:solidFill>
                  <a:srgbClr val="131518"/>
                </a:solidFill>
                <a:latin typeface="Arial"/>
                <a:cs typeface="Arial"/>
              </a:rPr>
              <a:t> </a:t>
            </a:r>
            <a:r>
              <a:rPr dirty="0" sz="2550" spc="-10">
                <a:solidFill>
                  <a:srgbClr val="131518"/>
                </a:solidFill>
                <a:latin typeface="Arial"/>
                <a:cs typeface="Arial"/>
              </a:rPr>
              <a:t>configuration </a:t>
            </a:r>
            <a:r>
              <a:rPr dirty="0" sz="2550" spc="60">
                <a:solidFill>
                  <a:srgbClr val="131518"/>
                </a:solidFill>
                <a:latin typeface="Arial"/>
                <a:cs typeface="Arial"/>
              </a:rPr>
              <a:t>drift,</a:t>
            </a:r>
            <a:r>
              <a:rPr dirty="0" sz="2550" spc="-350">
                <a:solidFill>
                  <a:srgbClr val="131518"/>
                </a:solidFill>
                <a:latin typeface="Arial"/>
                <a:cs typeface="Arial"/>
              </a:rPr>
              <a:t> </a:t>
            </a:r>
            <a:r>
              <a:rPr dirty="0" sz="2550" spc="-20">
                <a:solidFill>
                  <a:srgbClr val="232326"/>
                </a:solidFill>
                <a:latin typeface="Arial"/>
                <a:cs typeface="Arial"/>
              </a:rPr>
              <a:t>creat</a:t>
            </a:r>
            <a:r>
              <a:rPr dirty="0" sz="2550" spc="-20">
                <a:solidFill>
                  <a:srgbClr val="050505"/>
                </a:solidFill>
                <a:latin typeface="Arial"/>
                <a:cs typeface="Arial"/>
              </a:rPr>
              <a:t>ing</a:t>
            </a:r>
            <a:r>
              <a:rPr dirty="0" sz="2550" spc="-285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2550" spc="-25">
                <a:solidFill>
                  <a:srgbClr val="131518"/>
                </a:solidFill>
                <a:latin typeface="Arial"/>
                <a:cs typeface="Arial"/>
              </a:rPr>
              <a:t>continuous</a:t>
            </a:r>
            <a:r>
              <a:rPr dirty="0" sz="2550" spc="-55">
                <a:solidFill>
                  <a:srgbClr val="131518"/>
                </a:solidFill>
                <a:latin typeface="Arial"/>
                <a:cs typeface="Arial"/>
              </a:rPr>
              <a:t> </a:t>
            </a:r>
            <a:r>
              <a:rPr dirty="0" sz="2550">
                <a:solidFill>
                  <a:srgbClr val="131518"/>
                </a:solidFill>
                <a:latin typeface="Arial"/>
                <a:cs typeface="Arial"/>
              </a:rPr>
              <a:t>audit</a:t>
            </a:r>
            <a:r>
              <a:rPr dirty="0" sz="2550" spc="-250">
                <a:solidFill>
                  <a:srgbClr val="131518"/>
                </a:solidFill>
                <a:latin typeface="Arial"/>
                <a:cs typeface="Arial"/>
              </a:rPr>
              <a:t> </a:t>
            </a:r>
            <a:r>
              <a:rPr dirty="0" sz="2550" spc="-10">
                <a:solidFill>
                  <a:srgbClr val="131518"/>
                </a:solidFill>
                <a:latin typeface="Arial"/>
                <a:cs typeface="Arial"/>
              </a:rPr>
              <a:t>risk.</a:t>
            </a:r>
            <a:endParaRPr sz="25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01477" y="3740811"/>
            <a:ext cx="2743835" cy="454659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2800" spc="-110" b="1">
                <a:solidFill>
                  <a:srgbClr val="6B7074"/>
                </a:solidFill>
                <a:latin typeface="Arial"/>
                <a:cs typeface="Arial"/>
              </a:rPr>
              <a:t>Manual</a:t>
            </a:r>
            <a:r>
              <a:rPr dirty="0" sz="2800" spc="-180" b="1">
                <a:solidFill>
                  <a:srgbClr val="6B7074"/>
                </a:solidFill>
                <a:latin typeface="Arial"/>
                <a:cs typeface="Arial"/>
              </a:rPr>
              <a:t> </a:t>
            </a:r>
            <a:r>
              <a:rPr dirty="0" u="heavy" sz="2800" spc="-160" b="1">
                <a:solidFill>
                  <a:srgbClr val="6B7074"/>
                </a:solidFill>
                <a:uFill>
                  <a:solidFill>
                    <a:srgbClr val="6B7074"/>
                  </a:solidFill>
                </a:uFill>
                <a:latin typeface="Arial"/>
                <a:cs typeface="Arial"/>
              </a:rPr>
              <a:t>Approach</a:t>
            </a:r>
            <a:endParaRPr sz="2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981912" y="4283371"/>
            <a:ext cx="131445" cy="416559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550" spc="-50">
                <a:solidFill>
                  <a:srgbClr val="595D62"/>
                </a:solidFill>
                <a:latin typeface="Arial"/>
                <a:cs typeface="Arial"/>
              </a:rPr>
              <a:t>•</a:t>
            </a:r>
            <a:endParaRPr sz="25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915399" y="4251457"/>
            <a:ext cx="578485" cy="7607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50">
                <a:solidFill>
                  <a:srgbClr val="595D62"/>
                </a:solidFill>
                <a:latin typeface="Arial"/>
                <a:cs typeface="Arial"/>
              </a:rPr>
              <a:t>-:-</a:t>
            </a:r>
            <a:r>
              <a:rPr dirty="0" sz="1850" spc="60">
                <a:solidFill>
                  <a:srgbClr val="595D62"/>
                </a:solidFill>
                <a:latin typeface="Arial"/>
                <a:cs typeface="Arial"/>
              </a:rPr>
              <a:t> </a:t>
            </a:r>
            <a:r>
              <a:rPr dirty="0" sz="4800" spc="95">
                <a:solidFill>
                  <a:srgbClr val="595D62"/>
                </a:solidFill>
                <a:latin typeface="Arial"/>
                <a:cs typeface="Arial"/>
              </a:rPr>
              <a:t>*</a:t>
            </a:r>
            <a:endParaRPr sz="4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126372" y="4283371"/>
            <a:ext cx="880110" cy="9118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0365">
              <a:lnSpc>
                <a:spcPts val="2885"/>
              </a:lnSpc>
              <a:spcBef>
                <a:spcPts val="110"/>
              </a:spcBef>
            </a:pPr>
            <a:r>
              <a:rPr dirty="0" sz="2550" spc="-45" b="1">
                <a:solidFill>
                  <a:srgbClr val="595D62"/>
                </a:solidFill>
                <a:latin typeface="Arial"/>
                <a:cs typeface="Arial"/>
              </a:rPr>
              <a:t>x�</a:t>
            </a:r>
            <a:endParaRPr sz="2550">
              <a:latin typeface="Arial"/>
              <a:cs typeface="Arial"/>
            </a:endParaRPr>
          </a:p>
          <a:p>
            <a:pPr marL="432434">
              <a:lnSpc>
                <a:spcPts val="1590"/>
              </a:lnSpc>
            </a:pPr>
            <a:r>
              <a:rPr dirty="0" sz="1850" spc="320" b="1" i="1">
                <a:solidFill>
                  <a:srgbClr val="595D62"/>
                </a:solidFill>
                <a:latin typeface="Arial"/>
                <a:cs typeface="Arial"/>
              </a:rPr>
              <a:t>/</a:t>
            </a:r>
            <a:r>
              <a:rPr dirty="0" sz="1850" spc="320" b="1" i="1">
                <a:solidFill>
                  <a:srgbClr val="3F4852"/>
                </a:solidFill>
                <a:latin typeface="Arial"/>
                <a:cs typeface="Arial"/>
              </a:rPr>
              <a:t>-</a:t>
            </a:r>
            <a:r>
              <a:rPr dirty="0" sz="1850" spc="545" b="1" i="1">
                <a:solidFill>
                  <a:srgbClr val="3F4852"/>
                </a:solidFill>
                <a:latin typeface="Arial"/>
                <a:cs typeface="Arial"/>
              </a:rPr>
              <a:t>9</a:t>
            </a:r>
            <a:endParaRPr sz="1850">
              <a:latin typeface="Arial"/>
              <a:cs typeface="Arial"/>
            </a:endParaRPr>
          </a:p>
          <a:p>
            <a:pPr marL="12700">
              <a:lnSpc>
                <a:spcPts val="2485"/>
              </a:lnSpc>
            </a:pPr>
            <a:r>
              <a:rPr dirty="0" sz="2450" spc="-95">
                <a:solidFill>
                  <a:srgbClr val="131518"/>
                </a:solidFill>
                <a:latin typeface="Arial"/>
                <a:cs typeface="Arial"/>
              </a:rPr>
              <a:t>,......</a:t>
            </a:r>
            <a:endParaRPr sz="24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750119" y="4468482"/>
            <a:ext cx="357505" cy="7918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5000">
                <a:solidFill>
                  <a:srgbClr val="595D62"/>
                </a:solidFill>
                <a:latin typeface="Arial"/>
                <a:cs typeface="Arial"/>
              </a:rPr>
              <a:t>-</a:t>
            </a:r>
            <a:r>
              <a:rPr dirty="0" sz="5000" spc="-910">
                <a:solidFill>
                  <a:srgbClr val="595D62"/>
                </a:solidFill>
                <a:latin typeface="Arial"/>
                <a:cs typeface="Arial"/>
              </a:rPr>
              <a:t> </a:t>
            </a:r>
            <a:r>
              <a:rPr dirty="0" sz="4850" spc="-525">
                <a:solidFill>
                  <a:srgbClr val="595D62"/>
                </a:solidFill>
                <a:latin typeface="Arial"/>
                <a:cs typeface="Arial"/>
              </a:rPr>
              <a:t>'</a:t>
            </a:r>
            <a:endParaRPr sz="48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600141" y="4650517"/>
            <a:ext cx="1163320" cy="1240155"/>
          </a:xfrm>
          <a:prstGeom prst="rect">
            <a:avLst/>
          </a:prstGeom>
        </p:spPr>
        <p:txBody>
          <a:bodyPr wrap="square" lIns="0" tIns="215265" rIns="0" bIns="0" rtlCol="0" vert="horz">
            <a:spAutoFit/>
          </a:bodyPr>
          <a:lstStyle/>
          <a:p>
            <a:pPr marL="291465" indent="-278765">
              <a:lnSpc>
                <a:spcPct val="100000"/>
              </a:lnSpc>
              <a:spcBef>
                <a:spcPts val="1695"/>
              </a:spcBef>
              <a:buFont typeface="Arial"/>
              <a:buChar char="•"/>
              <a:tabLst>
                <a:tab pos="291465" algn="l"/>
              </a:tabLst>
            </a:pPr>
            <a:r>
              <a:rPr dirty="0" sz="2500" spc="245" b="1">
                <a:solidFill>
                  <a:srgbClr val="595D62"/>
                </a:solidFill>
                <a:latin typeface="Arial"/>
                <a:cs typeface="Arial"/>
              </a:rPr>
              <a:t>-</a:t>
            </a:r>
            <a:r>
              <a:rPr dirty="0" sz="2500" spc="250" b="1">
                <a:solidFill>
                  <a:srgbClr val="595D62"/>
                </a:solidFill>
                <a:latin typeface="Arial"/>
                <a:cs typeface="Arial"/>
              </a:rPr>
              <a:t>fl</a:t>
            </a:r>
            <a:r>
              <a:rPr dirty="0" sz="2500" spc="250" b="1">
                <a:solidFill>
                  <a:srgbClr val="2D3849"/>
                </a:solidFill>
                <a:latin typeface="Arial"/>
                <a:cs typeface="Arial"/>
              </a:rPr>
              <a:t>_,.</a:t>
            </a:r>
            <a:endParaRPr sz="2500">
              <a:latin typeface="Arial"/>
              <a:cs typeface="Arial"/>
            </a:endParaRPr>
          </a:p>
          <a:p>
            <a:pPr marL="226060">
              <a:lnSpc>
                <a:spcPct val="100000"/>
              </a:lnSpc>
              <a:spcBef>
                <a:spcPts val="1725"/>
              </a:spcBef>
            </a:pPr>
            <a:r>
              <a:rPr dirty="0" sz="2700" spc="844" b="1">
                <a:solidFill>
                  <a:srgbClr val="3F4852"/>
                </a:solidFill>
                <a:latin typeface="Arial"/>
                <a:cs typeface="Arial"/>
              </a:rPr>
              <a:t>,o</a:t>
            </a:r>
            <a:r>
              <a:rPr dirty="0" sz="2700" spc="844" b="1">
                <a:solidFill>
                  <a:srgbClr val="131518"/>
                </a:solidFill>
                <a:latin typeface="Arial"/>
                <a:cs typeface="Arial"/>
              </a:rPr>
              <a:t>x</a:t>
            </a:r>
            <a:endParaRPr sz="27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619364" y="6167655"/>
            <a:ext cx="5142865" cy="1800225"/>
          </a:xfrm>
          <a:prstGeom prst="rect">
            <a:avLst/>
          </a:prstGeom>
        </p:spPr>
        <p:txBody>
          <a:bodyPr wrap="square" lIns="0" tIns="70485" rIns="0" bIns="0" rtlCol="0" vert="horz">
            <a:spAutoFit/>
          </a:bodyPr>
          <a:lstStyle/>
          <a:p>
            <a:pPr marL="272415" indent="-259715">
              <a:lnSpc>
                <a:spcPct val="100000"/>
              </a:lnSpc>
              <a:spcBef>
                <a:spcPts val="555"/>
              </a:spcBef>
              <a:buClr>
                <a:srgbClr val="6B7074"/>
              </a:buClr>
              <a:buChar char="•"/>
              <a:tabLst>
                <a:tab pos="272415" algn="l"/>
              </a:tabLst>
            </a:pPr>
            <a:r>
              <a:rPr dirty="0" sz="2550" spc="-60">
                <a:solidFill>
                  <a:srgbClr val="131518"/>
                </a:solidFill>
                <a:latin typeface="Arial"/>
                <a:cs typeface="Arial"/>
              </a:rPr>
              <a:t>Ansible</a:t>
            </a:r>
            <a:r>
              <a:rPr dirty="0" sz="2550" spc="-175">
                <a:solidFill>
                  <a:srgbClr val="131518"/>
                </a:solidFill>
                <a:latin typeface="Arial"/>
                <a:cs typeface="Arial"/>
              </a:rPr>
              <a:t> </a:t>
            </a:r>
            <a:r>
              <a:rPr dirty="0" sz="2550" spc="-45">
                <a:solidFill>
                  <a:srgbClr val="131518"/>
                </a:solidFill>
                <a:latin typeface="Arial"/>
                <a:cs typeface="Arial"/>
              </a:rPr>
              <a:t>playbooks</a:t>
            </a:r>
            <a:r>
              <a:rPr dirty="0" sz="2550" spc="-150">
                <a:solidFill>
                  <a:srgbClr val="131518"/>
                </a:solidFill>
                <a:latin typeface="Arial"/>
                <a:cs typeface="Arial"/>
              </a:rPr>
              <a:t> </a:t>
            </a:r>
            <a:r>
              <a:rPr dirty="0" sz="2550" spc="150">
                <a:solidFill>
                  <a:srgbClr val="131518"/>
                </a:solidFill>
                <a:latin typeface="Arial"/>
                <a:cs typeface="Arial"/>
              </a:rPr>
              <a:t>&amp;</a:t>
            </a:r>
            <a:r>
              <a:rPr dirty="0" sz="2550" spc="-330">
                <a:solidFill>
                  <a:srgbClr val="131518"/>
                </a:solidFill>
                <a:latin typeface="Arial"/>
                <a:cs typeface="Arial"/>
              </a:rPr>
              <a:t> </a:t>
            </a:r>
            <a:r>
              <a:rPr dirty="0" sz="2550" spc="-45">
                <a:solidFill>
                  <a:srgbClr val="131518"/>
                </a:solidFill>
                <a:latin typeface="Arial"/>
                <a:cs typeface="Arial"/>
              </a:rPr>
              <a:t>custom</a:t>
            </a:r>
            <a:r>
              <a:rPr dirty="0" sz="2550" spc="-120">
                <a:solidFill>
                  <a:srgbClr val="131518"/>
                </a:solidFill>
                <a:latin typeface="Arial"/>
                <a:cs typeface="Arial"/>
              </a:rPr>
              <a:t> </a:t>
            </a:r>
            <a:r>
              <a:rPr dirty="0" sz="2550" spc="-10">
                <a:solidFill>
                  <a:srgbClr val="131518"/>
                </a:solidFill>
                <a:latin typeface="Arial"/>
                <a:cs typeface="Arial"/>
              </a:rPr>
              <a:t>scripts</a:t>
            </a:r>
            <a:endParaRPr sz="2550">
              <a:latin typeface="Arial"/>
              <a:cs typeface="Arial"/>
            </a:endParaRPr>
          </a:p>
          <a:p>
            <a:pPr marL="280670" indent="-267970">
              <a:lnSpc>
                <a:spcPct val="100000"/>
              </a:lnSpc>
              <a:spcBef>
                <a:spcPts val="455"/>
              </a:spcBef>
              <a:buClr>
                <a:srgbClr val="6B7074"/>
              </a:buClr>
              <a:buChar char="•"/>
              <a:tabLst>
                <a:tab pos="280670" algn="l"/>
              </a:tabLst>
            </a:pPr>
            <a:r>
              <a:rPr dirty="0" sz="2550" spc="-175">
                <a:solidFill>
                  <a:srgbClr val="131518"/>
                </a:solidFill>
                <a:latin typeface="Arial"/>
                <a:cs typeface="Arial"/>
              </a:rPr>
              <a:t>Weeks</a:t>
            </a:r>
            <a:r>
              <a:rPr dirty="0" sz="2550" spc="-140">
                <a:solidFill>
                  <a:srgbClr val="131518"/>
                </a:solidFill>
                <a:latin typeface="Arial"/>
                <a:cs typeface="Arial"/>
              </a:rPr>
              <a:t> </a:t>
            </a:r>
            <a:r>
              <a:rPr dirty="0" sz="2550" spc="90">
                <a:solidFill>
                  <a:srgbClr val="050505"/>
                </a:solidFill>
                <a:latin typeface="Arial"/>
                <a:cs typeface="Arial"/>
              </a:rPr>
              <a:t>to</a:t>
            </a:r>
            <a:r>
              <a:rPr dirty="0" sz="2550" spc="-245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2550" spc="-45">
                <a:solidFill>
                  <a:srgbClr val="050505"/>
                </a:solidFill>
                <a:latin typeface="Arial"/>
                <a:cs typeface="Arial"/>
              </a:rPr>
              <a:t>harden</a:t>
            </a:r>
            <a:r>
              <a:rPr dirty="0" sz="2550" spc="-120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2550" spc="-25">
                <a:solidFill>
                  <a:srgbClr val="131518"/>
                </a:solidFill>
                <a:latin typeface="Arial"/>
                <a:cs typeface="Arial"/>
              </a:rPr>
              <a:t>and</a:t>
            </a:r>
            <a:r>
              <a:rPr dirty="0" sz="2550" spc="-250">
                <a:solidFill>
                  <a:srgbClr val="131518"/>
                </a:solidFill>
                <a:latin typeface="Arial"/>
                <a:cs typeface="Arial"/>
              </a:rPr>
              <a:t> </a:t>
            </a:r>
            <a:r>
              <a:rPr dirty="0" sz="2550" spc="-10">
                <a:solidFill>
                  <a:srgbClr val="131518"/>
                </a:solidFill>
                <a:latin typeface="Arial"/>
                <a:cs typeface="Arial"/>
              </a:rPr>
              <a:t>validate</a:t>
            </a:r>
            <a:endParaRPr sz="2550">
              <a:latin typeface="Arial"/>
              <a:cs typeface="Arial"/>
            </a:endParaRPr>
          </a:p>
          <a:p>
            <a:pPr marL="270510" indent="-257810">
              <a:lnSpc>
                <a:spcPct val="100000"/>
              </a:lnSpc>
              <a:spcBef>
                <a:spcPts val="459"/>
              </a:spcBef>
              <a:buClr>
                <a:srgbClr val="6B7074"/>
              </a:buClr>
              <a:buChar char="•"/>
              <a:tabLst>
                <a:tab pos="270510" algn="l"/>
              </a:tabLst>
            </a:pPr>
            <a:r>
              <a:rPr dirty="0" sz="2550" spc="-45">
                <a:solidFill>
                  <a:srgbClr val="050505"/>
                </a:solidFill>
                <a:latin typeface="Arial"/>
                <a:cs typeface="Arial"/>
              </a:rPr>
              <a:t>High</a:t>
            </a:r>
            <a:r>
              <a:rPr dirty="0" sz="2550" spc="-130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2550">
                <a:solidFill>
                  <a:srgbClr val="050505"/>
                </a:solidFill>
                <a:latin typeface="Arial"/>
                <a:cs typeface="Arial"/>
              </a:rPr>
              <a:t>ri</a:t>
            </a:r>
            <a:r>
              <a:rPr dirty="0" sz="2550">
                <a:solidFill>
                  <a:srgbClr val="232326"/>
                </a:solidFill>
                <a:latin typeface="Arial"/>
                <a:cs typeface="Arial"/>
              </a:rPr>
              <a:t>s</a:t>
            </a:r>
            <a:r>
              <a:rPr dirty="0" sz="2550">
                <a:solidFill>
                  <a:srgbClr val="050505"/>
                </a:solidFill>
                <a:latin typeface="Arial"/>
                <a:cs typeface="Arial"/>
              </a:rPr>
              <a:t>k</a:t>
            </a:r>
            <a:r>
              <a:rPr dirty="0" sz="2550" spc="-325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2550" spc="60">
                <a:solidFill>
                  <a:srgbClr val="131518"/>
                </a:solidFill>
                <a:latin typeface="Arial"/>
                <a:cs typeface="Arial"/>
              </a:rPr>
              <a:t>of</a:t>
            </a:r>
            <a:r>
              <a:rPr dirty="0" sz="2550" spc="-225">
                <a:solidFill>
                  <a:srgbClr val="131518"/>
                </a:solidFill>
                <a:latin typeface="Arial"/>
                <a:cs typeface="Arial"/>
              </a:rPr>
              <a:t> </a:t>
            </a:r>
            <a:r>
              <a:rPr dirty="0" sz="2550" spc="-25">
                <a:solidFill>
                  <a:srgbClr val="131518"/>
                </a:solidFill>
                <a:latin typeface="Arial"/>
                <a:cs typeface="Arial"/>
              </a:rPr>
              <a:t>human</a:t>
            </a:r>
            <a:r>
              <a:rPr dirty="0" sz="2550" spc="-235">
                <a:solidFill>
                  <a:srgbClr val="131518"/>
                </a:solidFill>
                <a:latin typeface="Arial"/>
                <a:cs typeface="Arial"/>
              </a:rPr>
              <a:t> </a:t>
            </a:r>
            <a:r>
              <a:rPr dirty="0" sz="2550" spc="-20">
                <a:solidFill>
                  <a:srgbClr val="131518"/>
                </a:solidFill>
                <a:latin typeface="Arial"/>
                <a:cs typeface="Arial"/>
              </a:rPr>
              <a:t>error</a:t>
            </a:r>
            <a:endParaRPr sz="2550">
              <a:latin typeface="Arial"/>
              <a:cs typeface="Arial"/>
            </a:endParaRPr>
          </a:p>
          <a:p>
            <a:pPr marL="273050" indent="-260350">
              <a:lnSpc>
                <a:spcPct val="100000"/>
              </a:lnSpc>
              <a:spcBef>
                <a:spcPts val="359"/>
              </a:spcBef>
              <a:buClr>
                <a:srgbClr val="6B7074"/>
              </a:buClr>
              <a:buChar char="•"/>
              <a:tabLst>
                <a:tab pos="273050" algn="l"/>
              </a:tabLst>
            </a:pPr>
            <a:r>
              <a:rPr dirty="0" sz="2550" spc="-60">
                <a:solidFill>
                  <a:srgbClr val="050505"/>
                </a:solidFill>
                <a:latin typeface="Arial"/>
                <a:cs typeface="Arial"/>
              </a:rPr>
              <a:t>Br</a:t>
            </a:r>
            <a:r>
              <a:rPr dirty="0" sz="2550" spc="-60">
                <a:solidFill>
                  <a:srgbClr val="232326"/>
                </a:solidFill>
                <a:latin typeface="Arial"/>
                <a:cs typeface="Arial"/>
              </a:rPr>
              <a:t>eaks</a:t>
            </a:r>
            <a:r>
              <a:rPr dirty="0" sz="2550" spc="-395">
                <a:solidFill>
                  <a:srgbClr val="232326"/>
                </a:solidFill>
                <a:latin typeface="Arial"/>
                <a:cs typeface="Arial"/>
              </a:rPr>
              <a:t> </a:t>
            </a:r>
            <a:r>
              <a:rPr dirty="0" sz="2550">
                <a:solidFill>
                  <a:srgbClr val="131518"/>
                </a:solidFill>
                <a:latin typeface="Arial"/>
                <a:cs typeface="Arial"/>
              </a:rPr>
              <a:t>on</a:t>
            </a:r>
            <a:r>
              <a:rPr dirty="0" sz="2550" spc="-235">
                <a:solidFill>
                  <a:srgbClr val="131518"/>
                </a:solidFill>
                <a:latin typeface="Arial"/>
                <a:cs typeface="Arial"/>
              </a:rPr>
              <a:t> </a:t>
            </a:r>
            <a:r>
              <a:rPr dirty="0" sz="2550" spc="-10">
                <a:solidFill>
                  <a:srgbClr val="131518"/>
                </a:solidFill>
                <a:latin typeface="Arial"/>
                <a:cs typeface="Arial"/>
              </a:rPr>
              <a:t>update</a:t>
            </a:r>
            <a:endParaRPr sz="255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0195266" y="5093955"/>
            <a:ext cx="2637155" cy="0"/>
          </a:xfrm>
          <a:custGeom>
            <a:avLst/>
            <a:gdLst/>
            <a:ahLst/>
            <a:cxnLst/>
            <a:rect l="l" t="t" r="r" b="b"/>
            <a:pathLst>
              <a:path w="2637154" h="0">
                <a:moveTo>
                  <a:pt x="0" y="0"/>
                </a:moveTo>
                <a:lnTo>
                  <a:pt x="2372467" y="0"/>
                </a:lnTo>
              </a:path>
              <a:path w="2637154" h="0">
                <a:moveTo>
                  <a:pt x="2369998" y="0"/>
                </a:moveTo>
                <a:lnTo>
                  <a:pt x="2535578" y="0"/>
                </a:lnTo>
              </a:path>
              <a:path w="2637154" h="0">
                <a:moveTo>
                  <a:pt x="2394540" y="0"/>
                </a:moveTo>
                <a:lnTo>
                  <a:pt x="2636542" y="0"/>
                </a:lnTo>
              </a:path>
            </a:pathLst>
          </a:custGeom>
          <a:ln w="12751">
            <a:solidFill>
              <a:srgbClr val="595D6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2904103" y="5093955"/>
            <a:ext cx="165735" cy="0"/>
          </a:xfrm>
          <a:custGeom>
            <a:avLst/>
            <a:gdLst/>
            <a:ahLst/>
            <a:cxnLst/>
            <a:rect l="l" t="t" r="r" b="b"/>
            <a:pathLst>
              <a:path w="165734" h="0">
                <a:moveTo>
                  <a:pt x="0" y="0"/>
                </a:moveTo>
                <a:lnTo>
                  <a:pt x="165579" y="0"/>
                </a:lnTo>
              </a:path>
            </a:pathLst>
          </a:custGeom>
          <a:ln w="12766">
            <a:solidFill>
              <a:srgbClr val="13151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9997957" y="3740811"/>
            <a:ext cx="4375150" cy="1547495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2800" spc="-245" b="1">
                <a:solidFill>
                  <a:srgbClr val="131518"/>
                </a:solidFill>
                <a:latin typeface="Arial"/>
                <a:cs typeface="Arial"/>
              </a:rPr>
              <a:t>RLC-</a:t>
            </a:r>
            <a:r>
              <a:rPr dirty="0" sz="2800" spc="-285" b="1">
                <a:solidFill>
                  <a:srgbClr val="131518"/>
                </a:solidFill>
                <a:latin typeface="Arial"/>
                <a:cs typeface="Arial"/>
              </a:rPr>
              <a:t>H</a:t>
            </a:r>
            <a:r>
              <a:rPr dirty="0" sz="2800" spc="-145" b="1">
                <a:solidFill>
                  <a:srgbClr val="131518"/>
                </a:solidFill>
                <a:latin typeface="Arial"/>
                <a:cs typeface="Arial"/>
              </a:rPr>
              <a:t> </a:t>
            </a:r>
            <a:r>
              <a:rPr dirty="0" sz="2800" spc="-120" b="1">
                <a:solidFill>
                  <a:srgbClr val="131518"/>
                </a:solidFill>
                <a:latin typeface="Arial"/>
                <a:cs typeface="Arial"/>
              </a:rPr>
              <a:t>Automated</a:t>
            </a:r>
            <a:r>
              <a:rPr dirty="0" sz="2800" spc="-40" b="1">
                <a:solidFill>
                  <a:srgbClr val="131518"/>
                </a:solidFill>
                <a:latin typeface="Arial"/>
                <a:cs typeface="Arial"/>
              </a:rPr>
              <a:t> </a:t>
            </a:r>
            <a:r>
              <a:rPr dirty="0" sz="2800" spc="-155" b="1">
                <a:solidFill>
                  <a:srgbClr val="131518"/>
                </a:solidFill>
                <a:latin typeface="Arial"/>
                <a:cs typeface="Arial"/>
              </a:rPr>
              <a:t>Approach</a:t>
            </a:r>
            <a:endParaRPr sz="2800">
              <a:latin typeface="Arial"/>
              <a:cs typeface="Arial"/>
            </a:endParaRPr>
          </a:p>
          <a:p>
            <a:pPr marL="196850">
              <a:lnSpc>
                <a:spcPct val="100000"/>
              </a:lnSpc>
              <a:spcBef>
                <a:spcPts val="80"/>
              </a:spcBef>
            </a:pPr>
            <a:r>
              <a:rPr dirty="0" sz="5000" spc="320">
                <a:solidFill>
                  <a:srgbClr val="595D62"/>
                </a:solidFill>
                <a:latin typeface="Arial"/>
                <a:cs typeface="Arial"/>
              </a:rPr>
              <a:t>----</a:t>
            </a:r>
            <a:r>
              <a:rPr dirty="0" sz="5000" spc="645">
                <a:solidFill>
                  <a:srgbClr val="3F4852"/>
                </a:solidFill>
                <a:latin typeface="Arial"/>
                <a:cs typeface="Arial"/>
              </a:rPr>
              <a:t>�</a:t>
            </a:r>
            <a:r>
              <a:rPr dirty="0" sz="5000" spc="645">
                <a:solidFill>
                  <a:srgbClr val="595D62"/>
                </a:solidFill>
                <a:latin typeface="Arial"/>
                <a:cs typeface="Arial"/>
              </a:rPr>
              <a:t>-</a:t>
            </a:r>
            <a:r>
              <a:rPr dirty="0" sz="5000" spc="320">
                <a:solidFill>
                  <a:srgbClr val="595D62"/>
                </a:solidFill>
                <a:latin typeface="Arial"/>
                <a:cs typeface="Arial"/>
              </a:rPr>
              <a:t>-</a:t>
            </a:r>
            <a:r>
              <a:rPr dirty="0" sz="5000" spc="-570">
                <a:solidFill>
                  <a:srgbClr val="595D62"/>
                </a:solidFill>
                <a:latin typeface="Arial"/>
                <a:cs typeface="Arial"/>
              </a:rPr>
              <a:t>=</a:t>
            </a:r>
            <a:r>
              <a:rPr dirty="0" sz="2550" spc="-715">
                <a:solidFill>
                  <a:srgbClr val="595D62"/>
                </a:solidFill>
                <a:latin typeface="Arial"/>
                <a:cs typeface="Arial"/>
              </a:rPr>
              <a:t>&gt;</a:t>
            </a:r>
            <a:r>
              <a:rPr dirty="0" sz="5000" spc="450">
                <a:solidFill>
                  <a:srgbClr val="595D62"/>
                </a:solidFill>
                <a:latin typeface="Arial"/>
                <a:cs typeface="Arial"/>
              </a:rPr>
              <a:t>.</a:t>
            </a:r>
            <a:r>
              <a:rPr dirty="0" sz="5000" spc="50">
                <a:solidFill>
                  <a:srgbClr val="595D62"/>
                </a:solidFill>
                <a:latin typeface="Arial"/>
                <a:cs typeface="Arial"/>
              </a:rPr>
              <a:t>.</a:t>
            </a:r>
            <a:r>
              <a:rPr dirty="0" sz="2550" spc="204">
                <a:solidFill>
                  <a:srgbClr val="131518"/>
                </a:solidFill>
                <a:latin typeface="Arial"/>
                <a:cs typeface="Arial"/>
              </a:rPr>
              <a:t>)</a:t>
            </a:r>
            <a:r>
              <a:rPr dirty="0" sz="7100" spc="675">
                <a:solidFill>
                  <a:srgbClr val="CA973D"/>
                </a:solidFill>
                <a:latin typeface="Arial"/>
                <a:cs typeface="Arial"/>
              </a:rPr>
              <a:t>✓</a:t>
            </a:r>
            <a:endParaRPr sz="71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0220108" y="5760240"/>
            <a:ext cx="1779905" cy="0"/>
          </a:xfrm>
          <a:custGeom>
            <a:avLst/>
            <a:gdLst/>
            <a:ahLst/>
            <a:cxnLst/>
            <a:rect l="l" t="t" r="r" b="b"/>
            <a:pathLst>
              <a:path w="1779904" h="0">
                <a:moveTo>
                  <a:pt x="0" y="0"/>
                </a:moveTo>
                <a:lnTo>
                  <a:pt x="1779729" y="0"/>
                </a:lnTo>
              </a:path>
            </a:pathLst>
          </a:custGeom>
          <a:ln w="35707">
            <a:solidFill>
              <a:srgbClr val="12141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1857740" y="5655665"/>
            <a:ext cx="382270" cy="0"/>
          </a:xfrm>
          <a:custGeom>
            <a:avLst/>
            <a:gdLst/>
            <a:ahLst/>
            <a:cxnLst/>
            <a:rect l="l" t="t" r="r" b="b"/>
            <a:pathLst>
              <a:path w="382270" h="0">
                <a:moveTo>
                  <a:pt x="0" y="0"/>
                </a:moveTo>
                <a:lnTo>
                  <a:pt x="382107" y="0"/>
                </a:lnTo>
              </a:path>
            </a:pathLst>
          </a:custGeom>
          <a:ln w="12766">
            <a:solidFill>
              <a:srgbClr val="2D384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2686238" y="5655665"/>
            <a:ext cx="165735" cy="0"/>
          </a:xfrm>
          <a:custGeom>
            <a:avLst/>
            <a:gdLst/>
            <a:ahLst/>
            <a:cxnLst/>
            <a:rect l="l" t="t" r="r" b="b"/>
            <a:pathLst>
              <a:path w="165734" h="0">
                <a:moveTo>
                  <a:pt x="0" y="0"/>
                </a:moveTo>
                <a:lnTo>
                  <a:pt x="165579" y="0"/>
                </a:lnTo>
              </a:path>
            </a:pathLst>
          </a:custGeom>
          <a:ln w="12766">
            <a:solidFill>
              <a:srgbClr val="13151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11845039" y="5074873"/>
            <a:ext cx="1150620" cy="7073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840740" algn="l"/>
              </a:tabLst>
            </a:pPr>
            <a:r>
              <a:rPr dirty="0" sz="4450" spc="675" b="1">
                <a:solidFill>
                  <a:srgbClr val="2D3849"/>
                </a:solidFill>
                <a:latin typeface="Times New Roman"/>
                <a:cs typeface="Times New Roman"/>
              </a:rPr>
              <a:t>'l</a:t>
            </a:r>
            <a:r>
              <a:rPr dirty="0" sz="4450" b="1">
                <a:solidFill>
                  <a:srgbClr val="2D3849"/>
                </a:solidFill>
                <a:latin typeface="Times New Roman"/>
                <a:cs typeface="Times New Roman"/>
              </a:rPr>
              <a:t>	</a:t>
            </a:r>
            <a:r>
              <a:rPr dirty="0" sz="4450" spc="780">
                <a:solidFill>
                  <a:srgbClr val="131518"/>
                </a:solidFill>
                <a:latin typeface="Times New Roman"/>
                <a:cs typeface="Times New Roman"/>
              </a:rPr>
              <a:t>)</a:t>
            </a:r>
            <a:endParaRPr sz="445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00"/>
              </a:lnSpc>
            </a:pPr>
            <a:r>
              <a:rPr dirty="0" sz="1300" spc="-20">
                <a:solidFill>
                  <a:srgbClr val="363838"/>
                </a:solidFill>
              </a:rPr>
              <a:t>Isl\</a:t>
            </a:r>
            <a:r>
              <a:rPr dirty="0" sz="1300" spc="-45">
                <a:solidFill>
                  <a:srgbClr val="363838"/>
                </a:solidFill>
              </a:rPr>
              <a:t> </a:t>
            </a:r>
            <a:r>
              <a:rPr dirty="0" spc="-10">
                <a:solidFill>
                  <a:srgbClr val="070F1F"/>
                </a:solidFill>
              </a:rPr>
              <a:t>N</a:t>
            </a:r>
            <a:r>
              <a:rPr dirty="0" spc="-10"/>
              <a:t>otebookLM</a:t>
            </a:r>
            <a:endParaRPr sz="1300"/>
          </a:p>
        </p:txBody>
      </p:sp>
      <p:sp>
        <p:nvSpPr>
          <p:cNvPr id="22" name="object 22"/>
          <p:cNvSpPr txBox="1"/>
          <p:nvPr/>
        </p:nvSpPr>
        <p:spPr>
          <a:xfrm>
            <a:off x="9061356" y="6223826"/>
            <a:ext cx="6826250" cy="17633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3100"/>
              </a:lnSpc>
              <a:tabLst>
                <a:tab pos="581660" algn="l"/>
              </a:tabLst>
            </a:pPr>
            <a:r>
              <a:rPr dirty="0" sz="3300" spc="40" b="1">
                <a:solidFill>
                  <a:srgbClr val="CA973D"/>
                </a:solidFill>
                <a:latin typeface="Arial"/>
                <a:cs typeface="Arial"/>
              </a:rPr>
              <a:t>0</a:t>
            </a:r>
            <a:r>
              <a:rPr dirty="0" sz="3300" b="1">
                <a:solidFill>
                  <a:srgbClr val="CA973D"/>
                </a:solidFill>
                <a:latin typeface="Arial"/>
                <a:cs typeface="Arial"/>
              </a:rPr>
              <a:t>	</a:t>
            </a:r>
            <a:r>
              <a:rPr dirty="0" sz="2550" spc="-95" b="1">
                <a:solidFill>
                  <a:srgbClr val="050505"/>
                </a:solidFill>
                <a:latin typeface="Arial"/>
                <a:cs typeface="Arial"/>
              </a:rPr>
              <a:t>Pre</a:t>
            </a:r>
            <a:r>
              <a:rPr dirty="0" sz="2550" spc="-95" b="1">
                <a:solidFill>
                  <a:srgbClr val="232326"/>
                </a:solidFill>
                <a:latin typeface="Arial"/>
                <a:cs typeface="Arial"/>
              </a:rPr>
              <a:t>-</a:t>
            </a:r>
            <a:r>
              <a:rPr dirty="0" sz="2550" spc="-110" b="1">
                <a:solidFill>
                  <a:srgbClr val="050505"/>
                </a:solidFill>
                <a:latin typeface="Arial"/>
                <a:cs typeface="Arial"/>
              </a:rPr>
              <a:t>configured</a:t>
            </a:r>
            <a:r>
              <a:rPr dirty="0" sz="2550" spc="-290" b="1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2550" spc="-220" b="1">
                <a:solidFill>
                  <a:srgbClr val="050505"/>
                </a:solidFill>
                <a:latin typeface="Arial"/>
                <a:cs typeface="Arial"/>
              </a:rPr>
              <a:t>STIG</a:t>
            </a:r>
            <a:r>
              <a:rPr dirty="0" sz="2550" spc="-180" b="1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2550" spc="-110" b="1">
                <a:solidFill>
                  <a:srgbClr val="050505"/>
                </a:solidFill>
                <a:latin typeface="Arial"/>
                <a:cs typeface="Arial"/>
              </a:rPr>
              <a:t>enforcement</a:t>
            </a:r>
            <a:r>
              <a:rPr dirty="0" sz="2550" spc="85" b="1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2550" spc="-70" b="1">
                <a:solidFill>
                  <a:srgbClr val="050505"/>
                </a:solidFill>
                <a:latin typeface="Arial"/>
                <a:cs typeface="Arial"/>
              </a:rPr>
              <a:t>by</a:t>
            </a:r>
            <a:r>
              <a:rPr dirty="0" sz="2550" spc="-270" b="1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2550" spc="-20" b="1">
                <a:solidFill>
                  <a:srgbClr val="050505"/>
                </a:solidFill>
                <a:latin typeface="Arial"/>
                <a:cs typeface="Arial"/>
              </a:rPr>
              <a:t>default</a:t>
            </a:r>
            <a:endParaRPr sz="2550">
              <a:latin typeface="Arial"/>
              <a:cs typeface="Arial"/>
            </a:endParaRPr>
          </a:p>
          <a:p>
            <a:pPr marL="12700">
              <a:lnSpc>
                <a:spcPts val="3520"/>
              </a:lnSpc>
              <a:tabLst>
                <a:tab pos="580390" algn="l"/>
              </a:tabLst>
            </a:pPr>
            <a:r>
              <a:rPr dirty="0" sz="3300" spc="40" b="1">
                <a:solidFill>
                  <a:srgbClr val="CA973D"/>
                </a:solidFill>
                <a:latin typeface="Arial"/>
                <a:cs typeface="Arial"/>
              </a:rPr>
              <a:t>0</a:t>
            </a:r>
            <a:r>
              <a:rPr dirty="0" sz="3300" b="1">
                <a:solidFill>
                  <a:srgbClr val="CA973D"/>
                </a:solidFill>
                <a:latin typeface="Arial"/>
                <a:cs typeface="Arial"/>
              </a:rPr>
              <a:t>	</a:t>
            </a:r>
            <a:r>
              <a:rPr dirty="0" sz="2550" spc="-100" b="1">
                <a:solidFill>
                  <a:srgbClr val="050505"/>
                </a:solidFill>
                <a:latin typeface="Arial"/>
                <a:cs typeface="Arial"/>
              </a:rPr>
              <a:t>Audit-</a:t>
            </a:r>
            <a:r>
              <a:rPr dirty="0" sz="2550" spc="-105" b="1">
                <a:solidFill>
                  <a:srgbClr val="050505"/>
                </a:solidFill>
                <a:latin typeface="Arial"/>
                <a:cs typeface="Arial"/>
              </a:rPr>
              <a:t>ready</a:t>
            </a:r>
            <a:r>
              <a:rPr dirty="0" sz="2550" spc="-120" b="1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050505"/>
                </a:solidFill>
                <a:latin typeface="Arial"/>
                <a:cs typeface="Arial"/>
              </a:rPr>
              <a:t>in</a:t>
            </a:r>
            <a:r>
              <a:rPr dirty="0" sz="2550" spc="-300" b="1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2550" spc="-114" b="1">
                <a:solidFill>
                  <a:srgbClr val="050505"/>
                </a:solidFill>
                <a:latin typeface="Arial"/>
                <a:cs typeface="Arial"/>
              </a:rPr>
              <a:t>hours,</a:t>
            </a:r>
            <a:r>
              <a:rPr dirty="0" sz="2550" spc="-120" b="1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2550" spc="-45" b="1">
                <a:solidFill>
                  <a:srgbClr val="050505"/>
                </a:solidFill>
                <a:latin typeface="Arial"/>
                <a:cs typeface="Arial"/>
              </a:rPr>
              <a:t>not</a:t>
            </a:r>
            <a:r>
              <a:rPr dirty="0" sz="2550" spc="-135" b="1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2550" spc="-10" b="1">
                <a:solidFill>
                  <a:srgbClr val="050505"/>
                </a:solidFill>
                <a:latin typeface="Arial"/>
                <a:cs typeface="Arial"/>
              </a:rPr>
              <a:t>weeks</a:t>
            </a:r>
            <a:endParaRPr sz="2550">
              <a:latin typeface="Arial"/>
              <a:cs typeface="Arial"/>
            </a:endParaRPr>
          </a:p>
          <a:p>
            <a:pPr marL="12700">
              <a:lnSpc>
                <a:spcPts val="3470"/>
              </a:lnSpc>
              <a:tabLst>
                <a:tab pos="590550" algn="l"/>
              </a:tabLst>
            </a:pPr>
            <a:r>
              <a:rPr dirty="0" sz="3300" spc="40" b="1">
                <a:solidFill>
                  <a:srgbClr val="CA973D"/>
                </a:solidFill>
                <a:latin typeface="Arial"/>
                <a:cs typeface="Arial"/>
              </a:rPr>
              <a:t>0</a:t>
            </a:r>
            <a:r>
              <a:rPr dirty="0" sz="3300" b="1">
                <a:solidFill>
                  <a:srgbClr val="CA973D"/>
                </a:solidFill>
                <a:latin typeface="Arial"/>
                <a:cs typeface="Arial"/>
              </a:rPr>
              <a:t>	</a:t>
            </a:r>
            <a:r>
              <a:rPr dirty="0" sz="2550" spc="-155" b="1">
                <a:solidFill>
                  <a:srgbClr val="050505"/>
                </a:solidFill>
                <a:latin typeface="Arial"/>
                <a:cs typeface="Arial"/>
              </a:rPr>
              <a:t>Continuous</a:t>
            </a:r>
            <a:r>
              <a:rPr dirty="0" sz="2550" spc="-35" b="1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2550" spc="-90" b="1">
                <a:solidFill>
                  <a:srgbClr val="050505"/>
                </a:solidFill>
                <a:latin typeface="Arial"/>
                <a:cs typeface="Arial"/>
              </a:rPr>
              <a:t>monitoring</a:t>
            </a:r>
            <a:r>
              <a:rPr dirty="0" sz="2550" spc="-135" b="1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2550" spc="-60" b="1">
                <a:solidFill>
                  <a:srgbClr val="050505"/>
                </a:solidFill>
                <a:latin typeface="Arial"/>
                <a:cs typeface="Arial"/>
              </a:rPr>
              <a:t>for</a:t>
            </a:r>
            <a:r>
              <a:rPr dirty="0" sz="2550" spc="-270" b="1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2550" spc="-10" b="1">
                <a:solidFill>
                  <a:srgbClr val="050505"/>
                </a:solidFill>
                <a:latin typeface="Arial"/>
                <a:cs typeface="Arial"/>
              </a:rPr>
              <a:t>drift</a:t>
            </a:r>
            <a:endParaRPr sz="2550">
              <a:latin typeface="Arial"/>
              <a:cs typeface="Arial"/>
            </a:endParaRPr>
          </a:p>
          <a:p>
            <a:pPr marL="12700">
              <a:lnSpc>
                <a:spcPts val="3690"/>
              </a:lnSpc>
              <a:tabLst>
                <a:tab pos="581660" algn="l"/>
              </a:tabLst>
            </a:pPr>
            <a:r>
              <a:rPr dirty="0" sz="3300" spc="40" b="1">
                <a:solidFill>
                  <a:srgbClr val="CA973D"/>
                </a:solidFill>
                <a:latin typeface="Arial"/>
                <a:cs typeface="Arial"/>
              </a:rPr>
              <a:t>0</a:t>
            </a:r>
            <a:r>
              <a:rPr dirty="0" sz="3300" b="1">
                <a:solidFill>
                  <a:srgbClr val="CA973D"/>
                </a:solidFill>
                <a:latin typeface="Arial"/>
                <a:cs typeface="Arial"/>
              </a:rPr>
              <a:t>	</a:t>
            </a:r>
            <a:r>
              <a:rPr dirty="0" sz="2550" spc="-120" b="1">
                <a:solidFill>
                  <a:srgbClr val="050505"/>
                </a:solidFill>
                <a:latin typeface="Arial"/>
                <a:cs typeface="Arial"/>
              </a:rPr>
              <a:t>Updates</a:t>
            </a:r>
            <a:r>
              <a:rPr dirty="0" sz="2550" spc="-110" b="1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2550" spc="-75" b="1">
                <a:solidFill>
                  <a:srgbClr val="050505"/>
                </a:solidFill>
                <a:latin typeface="Arial"/>
                <a:cs typeface="Arial"/>
              </a:rPr>
              <a:t>maintain</a:t>
            </a:r>
            <a:r>
              <a:rPr dirty="0" sz="2550" spc="-55" b="1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2550" spc="-220" b="1">
                <a:solidFill>
                  <a:srgbClr val="050505"/>
                </a:solidFill>
                <a:latin typeface="Arial"/>
                <a:cs typeface="Arial"/>
              </a:rPr>
              <a:t>STIG </a:t>
            </a:r>
            <a:r>
              <a:rPr dirty="0" sz="2550" spc="-35" b="1">
                <a:solidFill>
                  <a:srgbClr val="050505"/>
                </a:solidFill>
                <a:latin typeface="Arial"/>
                <a:cs typeface="Arial"/>
              </a:rPr>
              <a:t>compliance</a:t>
            </a:r>
            <a:endParaRPr sz="255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69157" y="8483434"/>
            <a:ext cx="12854940" cy="416559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550" spc="-165" b="1">
                <a:solidFill>
                  <a:srgbClr val="050505"/>
                </a:solidFill>
                <a:latin typeface="Arial"/>
                <a:cs typeface="Arial"/>
              </a:rPr>
              <a:t>Key</a:t>
            </a:r>
            <a:r>
              <a:rPr dirty="0" sz="2550" spc="-225" b="1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2550" spc="-105" b="1">
                <a:solidFill>
                  <a:srgbClr val="050505"/>
                </a:solidFill>
                <a:latin typeface="Arial"/>
                <a:cs typeface="Arial"/>
              </a:rPr>
              <a:t>Customer:</a:t>
            </a:r>
            <a:r>
              <a:rPr dirty="0" sz="2550" spc="-220" b="1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2550" spc="-180">
                <a:solidFill>
                  <a:srgbClr val="131518"/>
                </a:solidFill>
                <a:latin typeface="Arial"/>
                <a:cs typeface="Arial"/>
              </a:rPr>
              <a:t>DoD</a:t>
            </a:r>
            <a:r>
              <a:rPr dirty="0" sz="2550" spc="-140">
                <a:solidFill>
                  <a:srgbClr val="131518"/>
                </a:solidFill>
                <a:latin typeface="Arial"/>
                <a:cs typeface="Arial"/>
              </a:rPr>
              <a:t> </a:t>
            </a:r>
            <a:r>
              <a:rPr dirty="0" sz="2550">
                <a:solidFill>
                  <a:srgbClr val="131518"/>
                </a:solidFill>
                <a:latin typeface="Arial"/>
                <a:cs typeface="Arial"/>
              </a:rPr>
              <a:t>prime</a:t>
            </a:r>
            <a:r>
              <a:rPr dirty="0" sz="2550" spc="-254">
                <a:solidFill>
                  <a:srgbClr val="131518"/>
                </a:solidFill>
                <a:latin typeface="Arial"/>
                <a:cs typeface="Arial"/>
              </a:rPr>
              <a:t> </a:t>
            </a:r>
            <a:r>
              <a:rPr dirty="0" sz="2550" spc="-10">
                <a:solidFill>
                  <a:srgbClr val="232326"/>
                </a:solidFill>
                <a:latin typeface="Arial"/>
                <a:cs typeface="Arial"/>
              </a:rPr>
              <a:t>co</a:t>
            </a:r>
            <a:r>
              <a:rPr dirty="0" sz="2550" spc="-10">
                <a:solidFill>
                  <a:srgbClr val="050505"/>
                </a:solidFill>
                <a:latin typeface="Arial"/>
                <a:cs typeface="Arial"/>
              </a:rPr>
              <a:t>ntra</a:t>
            </a:r>
            <a:r>
              <a:rPr dirty="0" sz="2550" spc="-10">
                <a:solidFill>
                  <a:srgbClr val="232326"/>
                </a:solidFill>
                <a:latin typeface="Arial"/>
                <a:cs typeface="Arial"/>
              </a:rPr>
              <a:t>ctors,</a:t>
            </a:r>
            <a:r>
              <a:rPr dirty="0" sz="2550" spc="-295">
                <a:solidFill>
                  <a:srgbClr val="232326"/>
                </a:solidFill>
                <a:latin typeface="Arial"/>
                <a:cs typeface="Arial"/>
              </a:rPr>
              <a:t> </a:t>
            </a:r>
            <a:r>
              <a:rPr dirty="0" sz="2550" spc="-45">
                <a:solidFill>
                  <a:srgbClr val="131518"/>
                </a:solidFill>
                <a:latin typeface="Arial"/>
                <a:cs typeface="Arial"/>
              </a:rPr>
              <a:t>federal</a:t>
            </a:r>
            <a:r>
              <a:rPr dirty="0" sz="2550" spc="-195">
                <a:solidFill>
                  <a:srgbClr val="131518"/>
                </a:solidFill>
                <a:latin typeface="Arial"/>
                <a:cs typeface="Arial"/>
              </a:rPr>
              <a:t> </a:t>
            </a:r>
            <a:r>
              <a:rPr dirty="0" sz="2550" spc="-70">
                <a:solidFill>
                  <a:srgbClr val="232326"/>
                </a:solidFill>
                <a:latin typeface="Arial"/>
                <a:cs typeface="Arial"/>
              </a:rPr>
              <a:t>sys</a:t>
            </a:r>
            <a:r>
              <a:rPr dirty="0" sz="2550" spc="-70">
                <a:solidFill>
                  <a:srgbClr val="050505"/>
                </a:solidFill>
                <a:latin typeface="Arial"/>
                <a:cs typeface="Arial"/>
              </a:rPr>
              <a:t>tem</a:t>
            </a:r>
            <a:r>
              <a:rPr dirty="0" sz="2550" spc="-70">
                <a:solidFill>
                  <a:srgbClr val="232326"/>
                </a:solidFill>
                <a:latin typeface="Arial"/>
                <a:cs typeface="Arial"/>
              </a:rPr>
              <a:t>s</a:t>
            </a:r>
            <a:r>
              <a:rPr dirty="0" sz="2550" spc="-405">
                <a:solidFill>
                  <a:srgbClr val="232326"/>
                </a:solidFill>
                <a:latin typeface="Arial"/>
                <a:cs typeface="Arial"/>
              </a:rPr>
              <a:t> </a:t>
            </a:r>
            <a:r>
              <a:rPr dirty="0" sz="2550" spc="-30">
                <a:solidFill>
                  <a:srgbClr val="131518"/>
                </a:solidFill>
                <a:latin typeface="Arial"/>
                <a:cs typeface="Arial"/>
              </a:rPr>
              <a:t>integrators,</a:t>
            </a:r>
            <a:r>
              <a:rPr dirty="0" sz="2550" spc="-75">
                <a:solidFill>
                  <a:srgbClr val="131518"/>
                </a:solidFill>
                <a:latin typeface="Arial"/>
                <a:cs typeface="Arial"/>
              </a:rPr>
              <a:t> </a:t>
            </a:r>
            <a:r>
              <a:rPr dirty="0" sz="2550" spc="-25">
                <a:solidFill>
                  <a:srgbClr val="131518"/>
                </a:solidFill>
                <a:latin typeface="Arial"/>
                <a:cs typeface="Arial"/>
              </a:rPr>
              <a:t>and</a:t>
            </a:r>
            <a:r>
              <a:rPr dirty="0" sz="2550" spc="-270">
                <a:solidFill>
                  <a:srgbClr val="131518"/>
                </a:solidFill>
                <a:latin typeface="Arial"/>
                <a:cs typeface="Arial"/>
              </a:rPr>
              <a:t> </a:t>
            </a:r>
            <a:r>
              <a:rPr dirty="0" sz="2550" spc="-30">
                <a:solidFill>
                  <a:srgbClr val="131518"/>
                </a:solidFill>
                <a:latin typeface="Arial"/>
                <a:cs typeface="Arial"/>
              </a:rPr>
              <a:t>intelligence</a:t>
            </a:r>
            <a:r>
              <a:rPr dirty="0" sz="2550" spc="35">
                <a:solidFill>
                  <a:srgbClr val="131518"/>
                </a:solidFill>
                <a:latin typeface="Arial"/>
                <a:cs typeface="Arial"/>
              </a:rPr>
              <a:t> </a:t>
            </a:r>
            <a:r>
              <a:rPr dirty="0" sz="2550" spc="-25">
                <a:solidFill>
                  <a:srgbClr val="131518"/>
                </a:solidFill>
                <a:latin typeface="Arial"/>
                <a:cs typeface="Arial"/>
              </a:rPr>
              <a:t>agencies.</a:t>
            </a:r>
            <a:endParaRPr sz="25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93479" y="7813143"/>
            <a:ext cx="0" cy="1455420"/>
          </a:xfrm>
          <a:custGeom>
            <a:avLst/>
            <a:gdLst/>
            <a:ahLst/>
            <a:cxnLst/>
            <a:rect l="l" t="t" r="r" b="b"/>
            <a:pathLst>
              <a:path w="0" h="1455420">
                <a:moveTo>
                  <a:pt x="0" y="1455340"/>
                </a:moveTo>
                <a:lnTo>
                  <a:pt x="0" y="0"/>
                </a:lnTo>
              </a:path>
            </a:pathLst>
          </a:custGeom>
          <a:ln w="382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968005" y="7813143"/>
            <a:ext cx="15590519" cy="1455420"/>
            <a:chOff x="968005" y="7813143"/>
            <a:chExt cx="15590519" cy="1455420"/>
          </a:xfrm>
        </p:grpSpPr>
        <p:sp>
          <p:nvSpPr>
            <p:cNvPr id="4" name="object 4"/>
            <p:cNvSpPr/>
            <p:nvPr/>
          </p:nvSpPr>
          <p:spPr>
            <a:xfrm>
              <a:off x="16507048" y="7813143"/>
              <a:ext cx="0" cy="1455420"/>
            </a:xfrm>
            <a:custGeom>
              <a:avLst/>
              <a:gdLst/>
              <a:ahLst/>
              <a:cxnLst/>
              <a:rect l="l" t="t" r="r" b="b"/>
              <a:pathLst>
                <a:path w="0" h="1455420">
                  <a:moveTo>
                    <a:pt x="0" y="1455340"/>
                  </a:moveTo>
                  <a:lnTo>
                    <a:pt x="0" y="0"/>
                  </a:lnTo>
                </a:path>
              </a:pathLst>
            </a:custGeom>
            <a:ln w="382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968005" y="7825909"/>
              <a:ext cx="15590519" cy="0"/>
            </a:xfrm>
            <a:custGeom>
              <a:avLst/>
              <a:gdLst/>
              <a:ahLst/>
              <a:cxnLst/>
              <a:rect l="l" t="t" r="r" b="b"/>
              <a:pathLst>
                <a:path w="15590519" h="0">
                  <a:moveTo>
                    <a:pt x="0" y="0"/>
                  </a:moveTo>
                  <a:lnTo>
                    <a:pt x="15589989" y="0"/>
                  </a:lnTo>
                </a:path>
              </a:pathLst>
            </a:custGeom>
            <a:ln w="255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968005" y="9217418"/>
              <a:ext cx="15590519" cy="0"/>
            </a:xfrm>
            <a:custGeom>
              <a:avLst/>
              <a:gdLst/>
              <a:ahLst/>
              <a:cxnLst/>
              <a:rect l="l" t="t" r="r" b="b"/>
              <a:pathLst>
                <a:path w="15590519" h="0">
                  <a:moveTo>
                    <a:pt x="0" y="0"/>
                  </a:moveTo>
                  <a:lnTo>
                    <a:pt x="15589989" y="0"/>
                  </a:lnTo>
                </a:path>
              </a:pathLst>
            </a:custGeom>
            <a:ln w="382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1888731" y="408847"/>
            <a:ext cx="13766800" cy="2612390"/>
          </a:xfrm>
          <a:prstGeom prst="rect">
            <a:avLst/>
          </a:prstGeom>
        </p:spPr>
        <p:txBody>
          <a:bodyPr wrap="square" lIns="0" tIns="45720" rIns="0" bIns="0" rtlCol="0" vert="horz">
            <a:spAutoFit/>
          </a:bodyPr>
          <a:lstStyle/>
          <a:p>
            <a:pPr algn="ctr" marL="12700" marR="5080">
              <a:lnSpc>
                <a:spcPts val="5830"/>
              </a:lnSpc>
              <a:spcBef>
                <a:spcPts val="360"/>
              </a:spcBef>
            </a:pPr>
            <a:r>
              <a:rPr dirty="0" sz="4900" spc="114" b="1">
                <a:solidFill>
                  <a:srgbClr val="030305"/>
                </a:solidFill>
                <a:latin typeface="Arial"/>
                <a:cs typeface="Arial"/>
              </a:rPr>
              <a:t>Segment</a:t>
            </a:r>
            <a:r>
              <a:rPr dirty="0" sz="4900" spc="180" b="1">
                <a:solidFill>
                  <a:srgbClr val="030305"/>
                </a:solidFill>
                <a:latin typeface="Arial"/>
                <a:cs typeface="Arial"/>
              </a:rPr>
              <a:t> </a:t>
            </a:r>
            <a:r>
              <a:rPr dirty="0" sz="4900" spc="85" b="1">
                <a:solidFill>
                  <a:srgbClr val="030305"/>
                </a:solidFill>
                <a:latin typeface="Arial"/>
                <a:cs typeface="Arial"/>
              </a:rPr>
              <a:t>2:</a:t>
            </a:r>
            <a:r>
              <a:rPr dirty="0" sz="4900" spc="-165" b="1">
                <a:solidFill>
                  <a:srgbClr val="030305"/>
                </a:solidFill>
                <a:latin typeface="Arial"/>
                <a:cs typeface="Arial"/>
              </a:rPr>
              <a:t> </a:t>
            </a:r>
            <a:r>
              <a:rPr dirty="0" sz="4900" spc="195" b="1">
                <a:solidFill>
                  <a:srgbClr val="030305"/>
                </a:solidFill>
                <a:latin typeface="Arial"/>
                <a:cs typeface="Arial"/>
              </a:rPr>
              <a:t>The</a:t>
            </a:r>
            <a:r>
              <a:rPr dirty="0" sz="4900" spc="-229" b="1">
                <a:solidFill>
                  <a:srgbClr val="030305"/>
                </a:solidFill>
                <a:latin typeface="Arial"/>
                <a:cs typeface="Arial"/>
              </a:rPr>
              <a:t> </a:t>
            </a:r>
            <a:r>
              <a:rPr dirty="0" sz="4900" spc="180" b="1">
                <a:solidFill>
                  <a:srgbClr val="030305"/>
                </a:solidFill>
                <a:latin typeface="Arial"/>
                <a:cs typeface="Arial"/>
              </a:rPr>
              <a:t>$1.44B</a:t>
            </a:r>
            <a:r>
              <a:rPr dirty="0" sz="4900" spc="-114" b="1">
                <a:solidFill>
                  <a:srgbClr val="030305"/>
                </a:solidFill>
                <a:latin typeface="Arial"/>
                <a:cs typeface="Arial"/>
              </a:rPr>
              <a:t> </a:t>
            </a:r>
            <a:r>
              <a:rPr dirty="0" sz="4900" spc="300" b="1">
                <a:solidFill>
                  <a:srgbClr val="030305"/>
                </a:solidFill>
                <a:latin typeface="Arial"/>
                <a:cs typeface="Arial"/>
              </a:rPr>
              <a:t>CMMC</a:t>
            </a:r>
            <a:r>
              <a:rPr dirty="0" sz="4900" spc="-120" b="1">
                <a:solidFill>
                  <a:srgbClr val="030305"/>
                </a:solidFill>
                <a:latin typeface="Arial"/>
                <a:cs typeface="Arial"/>
              </a:rPr>
              <a:t> </a:t>
            </a:r>
            <a:r>
              <a:rPr dirty="0" sz="4900" spc="190" b="1">
                <a:solidFill>
                  <a:srgbClr val="030305"/>
                </a:solidFill>
                <a:latin typeface="Arial"/>
                <a:cs typeface="Arial"/>
              </a:rPr>
              <a:t>Mandate</a:t>
            </a:r>
            <a:r>
              <a:rPr dirty="0" sz="4900" spc="-40" b="1">
                <a:solidFill>
                  <a:srgbClr val="030305"/>
                </a:solidFill>
                <a:latin typeface="Arial"/>
                <a:cs typeface="Arial"/>
              </a:rPr>
              <a:t> </a:t>
            </a:r>
            <a:r>
              <a:rPr dirty="0" sz="4900" spc="95" b="1">
                <a:solidFill>
                  <a:srgbClr val="030305"/>
                </a:solidFill>
                <a:latin typeface="Arial"/>
                <a:cs typeface="Arial"/>
              </a:rPr>
              <a:t>-</a:t>
            </a:r>
            <a:r>
              <a:rPr dirty="0" sz="4900" spc="285" b="1">
                <a:solidFill>
                  <a:srgbClr val="030305"/>
                </a:solidFill>
                <a:latin typeface="Arial"/>
                <a:cs typeface="Arial"/>
              </a:rPr>
              <a:t> </a:t>
            </a:r>
            <a:r>
              <a:rPr dirty="0" sz="4900" spc="155" b="1">
                <a:solidFill>
                  <a:srgbClr val="030305"/>
                </a:solidFill>
                <a:latin typeface="Arial"/>
                <a:cs typeface="Arial"/>
              </a:rPr>
              <a:t>An </a:t>
            </a:r>
            <a:r>
              <a:rPr dirty="0" sz="4900" spc="75" b="1">
                <a:solidFill>
                  <a:srgbClr val="030305"/>
                </a:solidFill>
                <a:latin typeface="Arial"/>
                <a:cs typeface="Arial"/>
              </a:rPr>
              <a:t>Unprepared </a:t>
            </a:r>
            <a:r>
              <a:rPr dirty="0" sz="4900" spc="210" b="1">
                <a:solidFill>
                  <a:srgbClr val="030305"/>
                </a:solidFill>
                <a:latin typeface="Arial"/>
                <a:cs typeface="Arial"/>
              </a:rPr>
              <a:t>Market</a:t>
            </a:r>
            <a:r>
              <a:rPr dirty="0" sz="4900" spc="-55" b="1">
                <a:solidFill>
                  <a:srgbClr val="030305"/>
                </a:solidFill>
                <a:latin typeface="Arial"/>
                <a:cs typeface="Arial"/>
              </a:rPr>
              <a:t> </a:t>
            </a:r>
            <a:r>
              <a:rPr dirty="0" sz="4900" spc="114" b="1">
                <a:solidFill>
                  <a:srgbClr val="030305"/>
                </a:solidFill>
                <a:latin typeface="Arial"/>
                <a:cs typeface="Arial"/>
              </a:rPr>
              <a:t>on</a:t>
            </a:r>
            <a:r>
              <a:rPr dirty="0" sz="4900" spc="-355" b="1">
                <a:solidFill>
                  <a:srgbClr val="030305"/>
                </a:solidFill>
                <a:latin typeface="Arial"/>
                <a:cs typeface="Arial"/>
              </a:rPr>
              <a:t> </a:t>
            </a:r>
            <a:r>
              <a:rPr dirty="0" sz="4900" spc="105" b="1">
                <a:solidFill>
                  <a:srgbClr val="030305"/>
                </a:solidFill>
                <a:latin typeface="Arial"/>
                <a:cs typeface="Arial"/>
              </a:rPr>
              <a:t>a</a:t>
            </a:r>
            <a:r>
              <a:rPr dirty="0" sz="4900" spc="-165" b="1">
                <a:solidFill>
                  <a:srgbClr val="030305"/>
                </a:solidFill>
                <a:latin typeface="Arial"/>
                <a:cs typeface="Arial"/>
              </a:rPr>
              <a:t> </a:t>
            </a:r>
            <a:r>
              <a:rPr dirty="0" sz="4900" spc="85" b="1">
                <a:solidFill>
                  <a:srgbClr val="030305"/>
                </a:solidFill>
                <a:latin typeface="Arial"/>
                <a:cs typeface="Arial"/>
              </a:rPr>
              <a:t>Deadline</a:t>
            </a:r>
            <a:endParaRPr sz="4900">
              <a:latin typeface="Arial"/>
              <a:cs typeface="Arial"/>
            </a:endParaRPr>
          </a:p>
          <a:p>
            <a:pPr algn="ctr" marL="1656080" marR="1678939">
              <a:lnSpc>
                <a:spcPts val="3220"/>
              </a:lnSpc>
              <a:spcBef>
                <a:spcPts val="2090"/>
              </a:spcBef>
            </a:pPr>
            <a:r>
              <a:rPr dirty="0" sz="2800" spc="-90">
                <a:solidFill>
                  <a:srgbClr val="030305"/>
                </a:solidFill>
                <a:latin typeface="Arial"/>
                <a:cs typeface="Arial"/>
              </a:rPr>
              <a:t>The</a:t>
            </a:r>
            <a:r>
              <a:rPr dirty="0" sz="2800" spc="-229">
                <a:solidFill>
                  <a:srgbClr val="030305"/>
                </a:solidFill>
                <a:latin typeface="Arial"/>
                <a:cs typeface="Arial"/>
              </a:rPr>
              <a:t> </a:t>
            </a:r>
            <a:r>
              <a:rPr dirty="0" sz="2800" spc="-310">
                <a:solidFill>
                  <a:srgbClr val="131315"/>
                </a:solidFill>
                <a:latin typeface="Arial"/>
                <a:cs typeface="Arial"/>
              </a:rPr>
              <a:t>CMMC</a:t>
            </a:r>
            <a:r>
              <a:rPr dirty="0" sz="2800" spc="-195">
                <a:solidFill>
                  <a:srgbClr val="131315"/>
                </a:solidFill>
                <a:latin typeface="Arial"/>
                <a:cs typeface="Arial"/>
              </a:rPr>
              <a:t> </a:t>
            </a:r>
            <a:r>
              <a:rPr dirty="0" sz="2800" spc="-65">
                <a:solidFill>
                  <a:srgbClr val="131315"/>
                </a:solidFill>
                <a:latin typeface="Arial"/>
                <a:cs typeface="Arial"/>
              </a:rPr>
              <a:t>2.0</a:t>
            </a:r>
            <a:r>
              <a:rPr dirty="0" sz="2800" spc="-310">
                <a:solidFill>
                  <a:srgbClr val="131315"/>
                </a:solidFill>
                <a:latin typeface="Arial"/>
                <a:cs typeface="Arial"/>
              </a:rPr>
              <a:t> </a:t>
            </a:r>
            <a:r>
              <a:rPr dirty="0" sz="2800" spc="-10">
                <a:solidFill>
                  <a:srgbClr val="131315"/>
                </a:solidFill>
                <a:latin typeface="Arial"/>
                <a:cs typeface="Arial"/>
              </a:rPr>
              <a:t>rule</a:t>
            </a:r>
            <a:r>
              <a:rPr dirty="0" sz="2800" spc="-275">
                <a:solidFill>
                  <a:srgbClr val="131315"/>
                </a:solidFill>
                <a:latin typeface="Arial"/>
                <a:cs typeface="Arial"/>
              </a:rPr>
              <a:t> </a:t>
            </a:r>
            <a:r>
              <a:rPr dirty="0" sz="2800" spc="-30">
                <a:solidFill>
                  <a:srgbClr val="131315"/>
                </a:solidFill>
                <a:latin typeface="Arial"/>
                <a:cs typeface="Arial"/>
              </a:rPr>
              <a:t>(effective</a:t>
            </a:r>
            <a:r>
              <a:rPr dirty="0" sz="2800" spc="-20">
                <a:solidFill>
                  <a:srgbClr val="131315"/>
                </a:solidFill>
                <a:latin typeface="Arial"/>
                <a:cs typeface="Arial"/>
              </a:rPr>
              <a:t> </a:t>
            </a:r>
            <a:r>
              <a:rPr dirty="0" sz="2800" spc="-90">
                <a:solidFill>
                  <a:srgbClr val="030305"/>
                </a:solidFill>
                <a:latin typeface="Arial"/>
                <a:cs typeface="Arial"/>
              </a:rPr>
              <a:t>Nov</a:t>
            </a:r>
            <a:r>
              <a:rPr dirty="0" sz="2800" spc="-395">
                <a:solidFill>
                  <a:srgbClr val="030305"/>
                </a:solidFill>
                <a:latin typeface="Arial"/>
                <a:cs typeface="Arial"/>
              </a:rPr>
              <a:t> </a:t>
            </a:r>
            <a:r>
              <a:rPr dirty="0" sz="2800" spc="-10">
                <a:solidFill>
                  <a:srgbClr val="131315"/>
                </a:solidFill>
                <a:latin typeface="Arial"/>
                <a:cs typeface="Arial"/>
              </a:rPr>
              <a:t>10,</a:t>
            </a:r>
            <a:r>
              <a:rPr dirty="0" sz="2800" spc="-340">
                <a:solidFill>
                  <a:srgbClr val="131315"/>
                </a:solidFill>
                <a:latin typeface="Arial"/>
                <a:cs typeface="Arial"/>
              </a:rPr>
              <a:t> </a:t>
            </a:r>
            <a:r>
              <a:rPr dirty="0" sz="2800" spc="-170">
                <a:solidFill>
                  <a:srgbClr val="131315"/>
                </a:solidFill>
                <a:latin typeface="Arial"/>
                <a:cs typeface="Arial"/>
              </a:rPr>
              <a:t>2025)</a:t>
            </a:r>
            <a:r>
              <a:rPr dirty="0" sz="2800" spc="-120">
                <a:solidFill>
                  <a:srgbClr val="131315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030305"/>
                </a:solidFill>
                <a:latin typeface="Arial"/>
                <a:cs typeface="Arial"/>
              </a:rPr>
              <a:t>impacts</a:t>
            </a:r>
            <a:r>
              <a:rPr dirty="0" sz="2800" spc="-335">
                <a:solidFill>
                  <a:srgbClr val="030305"/>
                </a:solidFill>
                <a:latin typeface="Arial"/>
                <a:cs typeface="Arial"/>
              </a:rPr>
              <a:t> </a:t>
            </a:r>
            <a:r>
              <a:rPr dirty="0" sz="2800" spc="-125">
                <a:solidFill>
                  <a:srgbClr val="131315"/>
                </a:solidFill>
                <a:latin typeface="Arial"/>
                <a:cs typeface="Arial"/>
              </a:rPr>
              <a:t>100,000+</a:t>
            </a:r>
            <a:r>
              <a:rPr dirty="0" sz="2800" spc="-55">
                <a:solidFill>
                  <a:srgbClr val="131315"/>
                </a:solidFill>
                <a:latin typeface="Arial"/>
                <a:cs typeface="Arial"/>
              </a:rPr>
              <a:t> </a:t>
            </a:r>
            <a:r>
              <a:rPr dirty="0" sz="2800" spc="-45">
                <a:solidFill>
                  <a:srgbClr val="131315"/>
                </a:solidFill>
                <a:latin typeface="Arial"/>
                <a:cs typeface="Arial"/>
              </a:rPr>
              <a:t>defense </a:t>
            </a:r>
            <a:r>
              <a:rPr dirty="0" sz="2800" spc="-30">
                <a:solidFill>
                  <a:srgbClr val="131315"/>
                </a:solidFill>
                <a:latin typeface="Arial"/>
                <a:cs typeface="Arial"/>
              </a:rPr>
              <a:t>contractors.</a:t>
            </a:r>
            <a:r>
              <a:rPr dirty="0" sz="2800" spc="-50">
                <a:solidFill>
                  <a:srgbClr val="131315"/>
                </a:solidFill>
                <a:latin typeface="Arial"/>
                <a:cs typeface="Arial"/>
              </a:rPr>
              <a:t> </a:t>
            </a:r>
            <a:r>
              <a:rPr dirty="0" sz="2800" spc="-40">
                <a:solidFill>
                  <a:srgbClr val="131315"/>
                </a:solidFill>
                <a:latin typeface="Arial"/>
                <a:cs typeface="Arial"/>
              </a:rPr>
              <a:t>Non</a:t>
            </a:r>
            <a:r>
              <a:rPr dirty="0" sz="2800" spc="-40">
                <a:solidFill>
                  <a:srgbClr val="2F2F31"/>
                </a:solidFill>
                <a:latin typeface="Arial"/>
                <a:cs typeface="Arial"/>
              </a:rPr>
              <a:t>-</a:t>
            </a:r>
            <a:r>
              <a:rPr dirty="0" sz="2800" spc="-40">
                <a:solidFill>
                  <a:srgbClr val="131315"/>
                </a:solidFill>
                <a:latin typeface="Arial"/>
                <a:cs typeface="Arial"/>
              </a:rPr>
              <a:t>compliance</a:t>
            </a:r>
            <a:r>
              <a:rPr dirty="0" sz="2800" spc="-355">
                <a:solidFill>
                  <a:srgbClr val="131315"/>
                </a:solidFill>
                <a:latin typeface="Arial"/>
                <a:cs typeface="Arial"/>
              </a:rPr>
              <a:t> </a:t>
            </a:r>
            <a:r>
              <a:rPr dirty="0" sz="2800" spc="-85">
                <a:solidFill>
                  <a:srgbClr val="131315"/>
                </a:solidFill>
                <a:latin typeface="Arial"/>
                <a:cs typeface="Arial"/>
              </a:rPr>
              <a:t>means</a:t>
            </a:r>
            <a:r>
              <a:rPr dirty="0" sz="2800" spc="-120">
                <a:solidFill>
                  <a:srgbClr val="131315"/>
                </a:solidFill>
                <a:latin typeface="Arial"/>
                <a:cs typeface="Arial"/>
              </a:rPr>
              <a:t> </a:t>
            </a:r>
            <a:r>
              <a:rPr dirty="0" sz="2800" spc="-10">
                <a:solidFill>
                  <a:srgbClr val="030305"/>
                </a:solidFill>
                <a:latin typeface="Arial"/>
                <a:cs typeface="Arial"/>
              </a:rPr>
              <a:t>losing</a:t>
            </a:r>
            <a:r>
              <a:rPr dirty="0" sz="2800" spc="-300">
                <a:solidFill>
                  <a:srgbClr val="030305"/>
                </a:solidFill>
                <a:latin typeface="Arial"/>
                <a:cs typeface="Arial"/>
              </a:rPr>
              <a:t> </a:t>
            </a:r>
            <a:r>
              <a:rPr dirty="0" sz="2800" spc="-160">
                <a:solidFill>
                  <a:srgbClr val="030305"/>
                </a:solidFill>
                <a:latin typeface="Arial"/>
                <a:cs typeface="Arial"/>
              </a:rPr>
              <a:t>DoD</a:t>
            </a:r>
            <a:r>
              <a:rPr dirty="0" sz="2800" spc="-305">
                <a:solidFill>
                  <a:srgbClr val="030305"/>
                </a:solidFill>
                <a:latin typeface="Arial"/>
                <a:cs typeface="Arial"/>
              </a:rPr>
              <a:t> </a:t>
            </a:r>
            <a:r>
              <a:rPr dirty="0" sz="2800" spc="-10">
                <a:solidFill>
                  <a:srgbClr val="131315"/>
                </a:solidFill>
                <a:latin typeface="Arial"/>
                <a:cs typeface="Arial"/>
              </a:rPr>
              <a:t>contracts.</a:t>
            </a:r>
            <a:endParaRPr sz="2800">
              <a:latin typeface="Arial"/>
              <a:cs typeface="Arial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00"/>
              </a:lnSpc>
            </a:pPr>
            <a:r>
              <a:rPr dirty="0" sz="1300" spc="-20">
                <a:solidFill>
                  <a:srgbClr val="363838"/>
                </a:solidFill>
              </a:rPr>
              <a:t>Isl\</a:t>
            </a:r>
            <a:r>
              <a:rPr dirty="0" sz="1300" spc="-45">
                <a:solidFill>
                  <a:srgbClr val="363838"/>
                </a:solidFill>
              </a:rPr>
              <a:t> </a:t>
            </a:r>
            <a:r>
              <a:rPr dirty="0" spc="-10">
                <a:solidFill>
                  <a:srgbClr val="070F1F"/>
                </a:solidFill>
              </a:rPr>
              <a:t>N</a:t>
            </a:r>
            <a:r>
              <a:rPr dirty="0" spc="-10"/>
              <a:t>otebookLM</a:t>
            </a:r>
            <a:endParaRPr sz="1300"/>
          </a:p>
        </p:txBody>
      </p:sp>
      <p:sp>
        <p:nvSpPr>
          <p:cNvPr id="8" name="object 8"/>
          <p:cNvSpPr txBox="1"/>
          <p:nvPr/>
        </p:nvSpPr>
        <p:spPr>
          <a:xfrm>
            <a:off x="1146359" y="2953331"/>
            <a:ext cx="4443730" cy="4349115"/>
          </a:xfrm>
          <a:prstGeom prst="rect">
            <a:avLst/>
          </a:prstGeom>
        </p:spPr>
        <p:txBody>
          <a:bodyPr wrap="square" lIns="0" tIns="555625" rIns="0" bIns="0" rtlCol="0" vert="horz">
            <a:spAutoFit/>
          </a:bodyPr>
          <a:lstStyle/>
          <a:p>
            <a:pPr marL="1268730">
              <a:lnSpc>
                <a:spcPct val="100000"/>
              </a:lnSpc>
              <a:spcBef>
                <a:spcPts val="4375"/>
              </a:spcBef>
            </a:pPr>
            <a:r>
              <a:rPr dirty="0" sz="7150" spc="160" b="1">
                <a:solidFill>
                  <a:srgbClr val="05162F"/>
                </a:solidFill>
                <a:latin typeface="Arial"/>
                <a:cs typeface="Arial"/>
              </a:rPr>
              <a:t>46%</a:t>
            </a:r>
            <a:endParaRPr sz="7150">
              <a:latin typeface="Arial"/>
              <a:cs typeface="Arial"/>
            </a:endParaRPr>
          </a:p>
          <a:p>
            <a:pPr marL="1092835">
              <a:lnSpc>
                <a:spcPct val="100000"/>
              </a:lnSpc>
              <a:spcBef>
                <a:spcPts val="1805"/>
              </a:spcBef>
            </a:pPr>
            <a:r>
              <a:rPr dirty="0" sz="3000" spc="50" b="1">
                <a:solidFill>
                  <a:srgbClr val="030305"/>
                </a:solidFill>
                <a:latin typeface="Arial"/>
                <a:cs typeface="Arial"/>
              </a:rPr>
              <a:t>Unprepared</a:t>
            </a:r>
            <a:endParaRPr sz="3000">
              <a:latin typeface="Arial"/>
              <a:cs typeface="Arial"/>
            </a:endParaRPr>
          </a:p>
          <a:p>
            <a:pPr algn="ctr" marL="12700" marR="5080" indent="-3810">
              <a:lnSpc>
                <a:spcPct val="97200"/>
              </a:lnSpc>
              <a:spcBef>
                <a:spcPts val="1205"/>
              </a:spcBef>
            </a:pPr>
            <a:r>
              <a:rPr dirty="0" sz="2500" spc="-45">
                <a:solidFill>
                  <a:srgbClr val="131315"/>
                </a:solidFill>
                <a:latin typeface="Arial"/>
                <a:cs typeface="Arial"/>
              </a:rPr>
              <a:t>Nearly</a:t>
            </a:r>
            <a:r>
              <a:rPr dirty="0" sz="2500" spc="-70">
                <a:solidFill>
                  <a:srgbClr val="131315"/>
                </a:solidFill>
                <a:latin typeface="Arial"/>
                <a:cs typeface="Arial"/>
              </a:rPr>
              <a:t> </a:t>
            </a:r>
            <a:r>
              <a:rPr dirty="0" sz="2500">
                <a:solidFill>
                  <a:srgbClr val="131315"/>
                </a:solidFill>
                <a:latin typeface="Arial"/>
                <a:cs typeface="Arial"/>
              </a:rPr>
              <a:t>half</a:t>
            </a:r>
            <a:r>
              <a:rPr dirty="0" sz="2500" spc="-145">
                <a:solidFill>
                  <a:srgbClr val="131315"/>
                </a:solidFill>
                <a:latin typeface="Arial"/>
                <a:cs typeface="Arial"/>
              </a:rPr>
              <a:t> </a:t>
            </a:r>
            <a:r>
              <a:rPr dirty="0" sz="2500" spc="65">
                <a:solidFill>
                  <a:srgbClr val="131315"/>
                </a:solidFill>
                <a:latin typeface="Arial"/>
                <a:cs typeface="Arial"/>
              </a:rPr>
              <a:t>the</a:t>
            </a:r>
            <a:r>
              <a:rPr dirty="0" sz="2500" spc="-295">
                <a:solidFill>
                  <a:srgbClr val="131315"/>
                </a:solidFill>
                <a:latin typeface="Arial"/>
                <a:cs typeface="Arial"/>
              </a:rPr>
              <a:t> </a:t>
            </a:r>
            <a:r>
              <a:rPr dirty="0" sz="2500" spc="-65">
                <a:solidFill>
                  <a:srgbClr val="131315"/>
                </a:solidFill>
                <a:latin typeface="Arial"/>
                <a:cs typeface="Arial"/>
              </a:rPr>
              <a:t>defense</a:t>
            </a:r>
            <a:r>
              <a:rPr dirty="0" sz="2500" spc="-200">
                <a:solidFill>
                  <a:srgbClr val="131315"/>
                </a:solidFill>
                <a:latin typeface="Arial"/>
                <a:cs typeface="Arial"/>
              </a:rPr>
              <a:t> </a:t>
            </a:r>
            <a:r>
              <a:rPr dirty="0" sz="2500" spc="-10">
                <a:solidFill>
                  <a:srgbClr val="131315"/>
                </a:solidFill>
                <a:latin typeface="Arial"/>
                <a:cs typeface="Arial"/>
              </a:rPr>
              <a:t>supply chain</a:t>
            </a:r>
            <a:r>
              <a:rPr dirty="0" sz="2500" spc="-204">
                <a:solidFill>
                  <a:srgbClr val="131315"/>
                </a:solidFill>
                <a:latin typeface="Arial"/>
                <a:cs typeface="Arial"/>
              </a:rPr>
              <a:t> </a:t>
            </a:r>
            <a:r>
              <a:rPr dirty="0" sz="2500" spc="70">
                <a:solidFill>
                  <a:srgbClr val="131315"/>
                </a:solidFill>
                <a:latin typeface="Arial"/>
                <a:cs typeface="Arial"/>
              </a:rPr>
              <a:t>is</a:t>
            </a:r>
            <a:r>
              <a:rPr dirty="0" sz="2500" spc="-320">
                <a:solidFill>
                  <a:srgbClr val="131315"/>
                </a:solidFill>
                <a:latin typeface="Arial"/>
                <a:cs typeface="Arial"/>
              </a:rPr>
              <a:t> </a:t>
            </a:r>
            <a:r>
              <a:rPr dirty="0" sz="2500" spc="85">
                <a:solidFill>
                  <a:srgbClr val="030305"/>
                </a:solidFill>
                <a:latin typeface="Arial"/>
                <a:cs typeface="Arial"/>
              </a:rPr>
              <a:t>not</a:t>
            </a:r>
            <a:r>
              <a:rPr dirty="0" sz="2500" spc="-310">
                <a:solidFill>
                  <a:srgbClr val="030305"/>
                </a:solidFill>
                <a:latin typeface="Arial"/>
                <a:cs typeface="Arial"/>
              </a:rPr>
              <a:t> </a:t>
            </a:r>
            <a:r>
              <a:rPr dirty="0" sz="2500" spc="-35">
                <a:solidFill>
                  <a:srgbClr val="030305"/>
                </a:solidFill>
                <a:latin typeface="Arial"/>
                <a:cs typeface="Arial"/>
              </a:rPr>
              <a:t>ready</a:t>
            </a:r>
            <a:r>
              <a:rPr dirty="0" sz="2500" spc="-80">
                <a:solidFill>
                  <a:srgbClr val="030305"/>
                </a:solidFill>
                <a:latin typeface="Arial"/>
                <a:cs typeface="Arial"/>
              </a:rPr>
              <a:t> </a:t>
            </a:r>
            <a:r>
              <a:rPr dirty="0" sz="2500">
                <a:solidFill>
                  <a:srgbClr val="131315"/>
                </a:solidFill>
                <a:latin typeface="Arial"/>
                <a:cs typeface="Arial"/>
              </a:rPr>
              <a:t>for</a:t>
            </a:r>
            <a:r>
              <a:rPr dirty="0" sz="2500" spc="-150">
                <a:solidFill>
                  <a:srgbClr val="131315"/>
                </a:solidFill>
                <a:latin typeface="Arial"/>
                <a:cs typeface="Arial"/>
              </a:rPr>
              <a:t> </a:t>
            </a:r>
            <a:r>
              <a:rPr dirty="0" sz="2500" spc="-60">
                <a:solidFill>
                  <a:srgbClr val="030305"/>
                </a:solidFill>
                <a:latin typeface="Arial"/>
                <a:cs typeface="Arial"/>
              </a:rPr>
              <a:t>Level</a:t>
            </a:r>
            <a:r>
              <a:rPr dirty="0" sz="2500" spc="-295">
                <a:solidFill>
                  <a:srgbClr val="030305"/>
                </a:solidFill>
                <a:latin typeface="Arial"/>
                <a:cs typeface="Arial"/>
              </a:rPr>
              <a:t> </a:t>
            </a:r>
            <a:r>
              <a:rPr dirty="0" sz="2500" spc="60">
                <a:solidFill>
                  <a:srgbClr val="131315"/>
                </a:solidFill>
                <a:latin typeface="Arial"/>
                <a:cs typeface="Arial"/>
              </a:rPr>
              <a:t>2 </a:t>
            </a:r>
            <a:r>
              <a:rPr dirty="0" sz="2500">
                <a:solidFill>
                  <a:srgbClr val="131315"/>
                </a:solidFill>
                <a:latin typeface="Arial"/>
                <a:cs typeface="Arial"/>
              </a:rPr>
              <a:t>certification,creating</a:t>
            </a:r>
            <a:r>
              <a:rPr dirty="0" sz="2500" spc="105">
                <a:solidFill>
                  <a:srgbClr val="131315"/>
                </a:solidFill>
                <a:latin typeface="Arial"/>
                <a:cs typeface="Arial"/>
              </a:rPr>
              <a:t> </a:t>
            </a:r>
            <a:r>
              <a:rPr dirty="0" sz="2500" spc="-145">
                <a:solidFill>
                  <a:srgbClr val="131315"/>
                </a:solidFill>
                <a:latin typeface="Arial"/>
                <a:cs typeface="Arial"/>
              </a:rPr>
              <a:t>a</a:t>
            </a:r>
            <a:r>
              <a:rPr dirty="0" sz="2500" spc="190">
                <a:solidFill>
                  <a:srgbClr val="131315"/>
                </a:solidFill>
                <a:latin typeface="Arial"/>
                <a:cs typeface="Arial"/>
              </a:rPr>
              <a:t> </a:t>
            </a:r>
            <a:r>
              <a:rPr dirty="0" sz="2500" spc="-40">
                <a:solidFill>
                  <a:srgbClr val="131315"/>
                </a:solidFill>
                <a:latin typeface="Arial"/>
                <a:cs typeface="Arial"/>
              </a:rPr>
              <a:t>massive, </a:t>
            </a:r>
            <a:r>
              <a:rPr dirty="0" sz="2500">
                <a:solidFill>
                  <a:srgbClr val="131315"/>
                </a:solidFill>
                <a:latin typeface="Arial"/>
                <a:cs typeface="Arial"/>
              </a:rPr>
              <a:t>urgent</a:t>
            </a:r>
            <a:r>
              <a:rPr dirty="0" sz="2500" spc="-135">
                <a:solidFill>
                  <a:srgbClr val="131315"/>
                </a:solidFill>
                <a:latin typeface="Arial"/>
                <a:cs typeface="Arial"/>
              </a:rPr>
              <a:t> </a:t>
            </a:r>
            <a:r>
              <a:rPr dirty="0" sz="2500" spc="-25">
                <a:solidFill>
                  <a:srgbClr val="030305"/>
                </a:solidFill>
                <a:latin typeface="Arial"/>
                <a:cs typeface="Arial"/>
              </a:rPr>
              <a:t>demand</a:t>
            </a:r>
            <a:r>
              <a:rPr dirty="0" sz="2500" spc="-45">
                <a:solidFill>
                  <a:srgbClr val="030305"/>
                </a:solidFill>
                <a:latin typeface="Arial"/>
                <a:cs typeface="Arial"/>
              </a:rPr>
              <a:t> </a:t>
            </a:r>
            <a:r>
              <a:rPr dirty="0" sz="2500">
                <a:solidFill>
                  <a:srgbClr val="131315"/>
                </a:solidFill>
                <a:latin typeface="Arial"/>
                <a:cs typeface="Arial"/>
              </a:rPr>
              <a:t>for</a:t>
            </a:r>
            <a:r>
              <a:rPr dirty="0" sz="2500" spc="-110">
                <a:solidFill>
                  <a:srgbClr val="131315"/>
                </a:solidFill>
                <a:latin typeface="Arial"/>
                <a:cs typeface="Arial"/>
              </a:rPr>
              <a:t> </a:t>
            </a:r>
            <a:r>
              <a:rPr dirty="0" sz="2500" spc="-10">
                <a:solidFill>
                  <a:srgbClr val="131315"/>
                </a:solidFill>
                <a:latin typeface="Arial"/>
                <a:cs typeface="Arial"/>
              </a:rPr>
              <a:t>turnkey solutions.</a:t>
            </a:r>
            <a:endParaRPr sz="25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547132" y="2953331"/>
            <a:ext cx="4434205" cy="4349115"/>
          </a:xfrm>
          <a:prstGeom prst="rect">
            <a:avLst/>
          </a:prstGeom>
        </p:spPr>
        <p:txBody>
          <a:bodyPr wrap="square" lIns="0" tIns="555625" rIns="0" bIns="0" rtlCol="0" vert="horz">
            <a:spAutoFit/>
          </a:bodyPr>
          <a:lstStyle/>
          <a:p>
            <a:pPr algn="ctr" marR="38735">
              <a:lnSpc>
                <a:spcPct val="100000"/>
              </a:lnSpc>
              <a:spcBef>
                <a:spcPts val="4375"/>
              </a:spcBef>
            </a:pPr>
            <a:r>
              <a:rPr dirty="0" sz="7150" spc="160" b="1">
                <a:solidFill>
                  <a:srgbClr val="05162F"/>
                </a:solidFill>
                <a:latin typeface="Arial"/>
                <a:cs typeface="Arial"/>
              </a:rPr>
              <a:t>53%</a:t>
            </a:r>
            <a:endParaRPr sz="7150">
              <a:latin typeface="Arial"/>
              <a:cs typeface="Arial"/>
            </a:endParaRPr>
          </a:p>
          <a:p>
            <a:pPr algn="ctr" marR="10795">
              <a:lnSpc>
                <a:spcPct val="100000"/>
              </a:lnSpc>
              <a:spcBef>
                <a:spcPts val="1805"/>
              </a:spcBef>
            </a:pPr>
            <a:r>
              <a:rPr dirty="0" sz="3000" spc="125" b="1">
                <a:solidFill>
                  <a:srgbClr val="030305"/>
                </a:solidFill>
                <a:latin typeface="Arial"/>
                <a:cs typeface="Arial"/>
              </a:rPr>
              <a:t>of</a:t>
            </a:r>
            <a:r>
              <a:rPr dirty="0" sz="3000" spc="-130" b="1">
                <a:solidFill>
                  <a:srgbClr val="030305"/>
                </a:solidFill>
                <a:latin typeface="Arial"/>
                <a:cs typeface="Arial"/>
              </a:rPr>
              <a:t> </a:t>
            </a:r>
            <a:r>
              <a:rPr dirty="0" sz="3000" spc="55" b="1">
                <a:solidFill>
                  <a:srgbClr val="030305"/>
                </a:solidFill>
                <a:latin typeface="Arial"/>
                <a:cs typeface="Arial"/>
              </a:rPr>
              <a:t>Controls</a:t>
            </a:r>
            <a:r>
              <a:rPr dirty="0" sz="3000" spc="-105" b="1">
                <a:solidFill>
                  <a:srgbClr val="030305"/>
                </a:solidFill>
                <a:latin typeface="Arial"/>
                <a:cs typeface="Arial"/>
              </a:rPr>
              <a:t> </a:t>
            </a:r>
            <a:r>
              <a:rPr dirty="0" sz="3000" spc="-10" b="1">
                <a:solidFill>
                  <a:srgbClr val="030305"/>
                </a:solidFill>
                <a:latin typeface="Arial"/>
                <a:cs typeface="Arial"/>
              </a:rPr>
              <a:t>Addressed</a:t>
            </a:r>
            <a:endParaRPr sz="3000">
              <a:latin typeface="Arial"/>
              <a:cs typeface="Arial"/>
            </a:endParaRPr>
          </a:p>
          <a:p>
            <a:pPr algn="ctr" marL="12065" marR="5080" indent="-6350">
              <a:lnSpc>
                <a:spcPct val="97200"/>
              </a:lnSpc>
              <a:spcBef>
                <a:spcPts val="1205"/>
              </a:spcBef>
            </a:pPr>
            <a:r>
              <a:rPr dirty="0" sz="2500" spc="-160">
                <a:solidFill>
                  <a:srgbClr val="131315"/>
                </a:solidFill>
                <a:latin typeface="Arial"/>
                <a:cs typeface="Arial"/>
              </a:rPr>
              <a:t>RLC</a:t>
            </a:r>
            <a:r>
              <a:rPr dirty="0" sz="2500" spc="-160">
                <a:solidFill>
                  <a:srgbClr val="2F2F31"/>
                </a:solidFill>
                <a:latin typeface="Arial"/>
                <a:cs typeface="Arial"/>
              </a:rPr>
              <a:t>-</a:t>
            </a:r>
            <a:r>
              <a:rPr dirty="0" sz="2500" spc="-204">
                <a:solidFill>
                  <a:srgbClr val="131315"/>
                </a:solidFill>
                <a:latin typeface="Arial"/>
                <a:cs typeface="Arial"/>
              </a:rPr>
              <a:t>H</a:t>
            </a:r>
            <a:r>
              <a:rPr dirty="0" sz="2500" spc="-380">
                <a:solidFill>
                  <a:srgbClr val="131315"/>
                </a:solidFill>
                <a:latin typeface="Arial"/>
                <a:cs typeface="Arial"/>
              </a:rPr>
              <a:t> </a:t>
            </a:r>
            <a:r>
              <a:rPr dirty="0" sz="2500">
                <a:solidFill>
                  <a:srgbClr val="131315"/>
                </a:solidFill>
                <a:latin typeface="Arial"/>
                <a:cs typeface="Arial"/>
              </a:rPr>
              <a:t>directly</a:t>
            </a:r>
            <a:r>
              <a:rPr dirty="0" sz="2500" spc="-50">
                <a:solidFill>
                  <a:srgbClr val="131315"/>
                </a:solidFill>
                <a:latin typeface="Arial"/>
                <a:cs typeface="Arial"/>
              </a:rPr>
              <a:t> </a:t>
            </a:r>
            <a:r>
              <a:rPr dirty="0" sz="2500" spc="-95">
                <a:solidFill>
                  <a:srgbClr val="131315"/>
                </a:solidFill>
                <a:latin typeface="Arial"/>
                <a:cs typeface="Arial"/>
              </a:rPr>
              <a:t>addresses</a:t>
            </a:r>
            <a:r>
              <a:rPr dirty="0" sz="2500" spc="-25">
                <a:solidFill>
                  <a:srgbClr val="131315"/>
                </a:solidFill>
                <a:latin typeface="Arial"/>
                <a:cs typeface="Arial"/>
              </a:rPr>
              <a:t> </a:t>
            </a:r>
            <a:r>
              <a:rPr dirty="0" sz="2500" spc="-60">
                <a:solidFill>
                  <a:srgbClr val="131315"/>
                </a:solidFill>
                <a:latin typeface="Arial"/>
                <a:cs typeface="Arial"/>
              </a:rPr>
              <a:t>53%</a:t>
            </a:r>
            <a:r>
              <a:rPr dirty="0" sz="2500" spc="-250">
                <a:solidFill>
                  <a:srgbClr val="131315"/>
                </a:solidFill>
                <a:latin typeface="Arial"/>
                <a:cs typeface="Arial"/>
              </a:rPr>
              <a:t> </a:t>
            </a:r>
            <a:r>
              <a:rPr dirty="0" sz="2500" spc="50">
                <a:solidFill>
                  <a:srgbClr val="131315"/>
                </a:solidFill>
                <a:latin typeface="Arial"/>
                <a:cs typeface="Arial"/>
              </a:rPr>
              <a:t>of </a:t>
            </a:r>
            <a:r>
              <a:rPr dirty="0" sz="2500">
                <a:solidFill>
                  <a:srgbClr val="131315"/>
                </a:solidFill>
                <a:latin typeface="Arial"/>
                <a:cs typeface="Arial"/>
              </a:rPr>
              <a:t>the</a:t>
            </a:r>
            <a:r>
              <a:rPr dirty="0" sz="2500" spc="-150">
                <a:solidFill>
                  <a:srgbClr val="131315"/>
                </a:solidFill>
                <a:latin typeface="Arial"/>
                <a:cs typeface="Arial"/>
              </a:rPr>
              <a:t> </a:t>
            </a:r>
            <a:r>
              <a:rPr dirty="0" sz="2500" spc="-20">
                <a:solidFill>
                  <a:srgbClr val="030305"/>
                </a:solidFill>
                <a:latin typeface="Arial"/>
                <a:cs typeface="Arial"/>
              </a:rPr>
              <a:t>required</a:t>
            </a:r>
            <a:r>
              <a:rPr dirty="0" sz="2500" spc="-100">
                <a:solidFill>
                  <a:srgbClr val="030305"/>
                </a:solidFill>
                <a:latin typeface="Arial"/>
                <a:cs typeface="Arial"/>
              </a:rPr>
              <a:t> </a:t>
            </a:r>
            <a:r>
              <a:rPr dirty="0" sz="2500">
                <a:solidFill>
                  <a:srgbClr val="131315"/>
                </a:solidFill>
                <a:latin typeface="Arial"/>
                <a:cs typeface="Arial"/>
              </a:rPr>
              <a:t>technical</a:t>
            </a:r>
            <a:r>
              <a:rPr dirty="0" sz="2500" spc="-165">
                <a:solidFill>
                  <a:srgbClr val="131315"/>
                </a:solidFill>
                <a:latin typeface="Arial"/>
                <a:cs typeface="Arial"/>
              </a:rPr>
              <a:t> </a:t>
            </a:r>
            <a:r>
              <a:rPr dirty="0" sz="2500" spc="-155">
                <a:solidFill>
                  <a:srgbClr val="131315"/>
                </a:solidFill>
                <a:latin typeface="Arial"/>
                <a:cs typeface="Arial"/>
              </a:rPr>
              <a:t>NIST</a:t>
            </a:r>
            <a:r>
              <a:rPr dirty="0" sz="2500" spc="-185">
                <a:solidFill>
                  <a:srgbClr val="131315"/>
                </a:solidFill>
                <a:latin typeface="Arial"/>
                <a:cs typeface="Arial"/>
              </a:rPr>
              <a:t> </a:t>
            </a:r>
            <a:r>
              <a:rPr dirty="0" sz="2500" spc="-20">
                <a:solidFill>
                  <a:srgbClr val="131315"/>
                </a:solidFill>
                <a:latin typeface="Arial"/>
                <a:cs typeface="Arial"/>
              </a:rPr>
              <a:t>800</a:t>
            </a:r>
            <a:r>
              <a:rPr dirty="0" sz="2500" spc="-20">
                <a:solidFill>
                  <a:srgbClr val="2F2F31"/>
                </a:solidFill>
                <a:latin typeface="Arial"/>
                <a:cs typeface="Arial"/>
              </a:rPr>
              <a:t>-</a:t>
            </a:r>
            <a:r>
              <a:rPr dirty="0" sz="2500">
                <a:solidFill>
                  <a:srgbClr val="131315"/>
                </a:solidFill>
                <a:latin typeface="Arial"/>
                <a:cs typeface="Arial"/>
              </a:rPr>
              <a:t>171controls</a:t>
            </a:r>
            <a:r>
              <a:rPr dirty="0" sz="2500" spc="-110">
                <a:solidFill>
                  <a:srgbClr val="131315"/>
                </a:solidFill>
                <a:latin typeface="Arial"/>
                <a:cs typeface="Arial"/>
              </a:rPr>
              <a:t> </a:t>
            </a:r>
            <a:r>
              <a:rPr dirty="0" sz="2500" spc="100">
                <a:solidFill>
                  <a:srgbClr val="131315"/>
                </a:solidFill>
                <a:latin typeface="Arial"/>
                <a:cs typeface="Arial"/>
              </a:rPr>
              <a:t>at</a:t>
            </a:r>
            <a:r>
              <a:rPr dirty="0" sz="2500" spc="-245">
                <a:solidFill>
                  <a:srgbClr val="131315"/>
                </a:solidFill>
                <a:latin typeface="Arial"/>
                <a:cs typeface="Arial"/>
              </a:rPr>
              <a:t> </a:t>
            </a:r>
            <a:r>
              <a:rPr dirty="0" sz="2500" spc="65">
                <a:solidFill>
                  <a:srgbClr val="131315"/>
                </a:solidFill>
                <a:latin typeface="Arial"/>
                <a:cs typeface="Arial"/>
              </a:rPr>
              <a:t>the</a:t>
            </a:r>
            <a:r>
              <a:rPr dirty="0" sz="2500" spc="-275">
                <a:solidFill>
                  <a:srgbClr val="131315"/>
                </a:solidFill>
                <a:latin typeface="Arial"/>
                <a:cs typeface="Arial"/>
              </a:rPr>
              <a:t> </a:t>
            </a:r>
            <a:r>
              <a:rPr dirty="0" sz="2500" spc="-190">
                <a:solidFill>
                  <a:srgbClr val="131315"/>
                </a:solidFill>
                <a:latin typeface="Arial"/>
                <a:cs typeface="Arial"/>
              </a:rPr>
              <a:t>OS</a:t>
            </a:r>
            <a:r>
              <a:rPr dirty="0" sz="2500" spc="-185">
                <a:solidFill>
                  <a:srgbClr val="131315"/>
                </a:solidFill>
                <a:latin typeface="Arial"/>
                <a:cs typeface="Arial"/>
              </a:rPr>
              <a:t> </a:t>
            </a:r>
            <a:r>
              <a:rPr dirty="0" sz="2500" spc="-10">
                <a:solidFill>
                  <a:srgbClr val="030305"/>
                </a:solidFill>
                <a:latin typeface="Arial"/>
                <a:cs typeface="Arial"/>
              </a:rPr>
              <a:t>layer, </a:t>
            </a:r>
            <a:r>
              <a:rPr dirty="0" sz="2500">
                <a:solidFill>
                  <a:srgbClr val="131315"/>
                </a:solidFill>
                <a:latin typeface="Arial"/>
                <a:cs typeface="Arial"/>
              </a:rPr>
              <a:t>dramatically</a:t>
            </a:r>
            <a:r>
              <a:rPr dirty="0" sz="2500" spc="-40">
                <a:solidFill>
                  <a:srgbClr val="131315"/>
                </a:solidFill>
                <a:latin typeface="Arial"/>
                <a:cs typeface="Arial"/>
              </a:rPr>
              <a:t> </a:t>
            </a:r>
            <a:r>
              <a:rPr dirty="0" sz="2500" spc="-10">
                <a:solidFill>
                  <a:srgbClr val="131315"/>
                </a:solidFill>
                <a:latin typeface="Arial"/>
                <a:cs typeface="Arial"/>
              </a:rPr>
              <a:t>accelerating </a:t>
            </a:r>
            <a:r>
              <a:rPr dirty="0" sz="2500" spc="-85">
                <a:solidFill>
                  <a:srgbClr val="131315"/>
                </a:solidFill>
                <a:latin typeface="Arial"/>
                <a:cs typeface="Arial"/>
              </a:rPr>
              <a:t>assessment </a:t>
            </a:r>
            <a:r>
              <a:rPr dirty="0" sz="2500" spc="-10">
                <a:solidFill>
                  <a:srgbClr val="131315"/>
                </a:solidFill>
                <a:latin typeface="Arial"/>
                <a:cs typeface="Arial"/>
              </a:rPr>
              <a:t>readiness.</a:t>
            </a:r>
            <a:endParaRPr sz="25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511319" y="3530170"/>
            <a:ext cx="5274945" cy="37598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dirty="0" sz="6550" spc="385" b="1">
                <a:solidFill>
                  <a:srgbClr val="05162F"/>
                </a:solidFill>
                <a:latin typeface="Arial"/>
                <a:cs typeface="Arial"/>
              </a:rPr>
              <a:t>$15K-</a:t>
            </a:r>
            <a:r>
              <a:rPr dirty="0" sz="6550" spc="405" b="1">
                <a:solidFill>
                  <a:srgbClr val="05162F"/>
                </a:solidFill>
                <a:latin typeface="Arial"/>
                <a:cs typeface="Arial"/>
              </a:rPr>
              <a:t>$150K</a:t>
            </a:r>
            <a:endParaRPr sz="6550">
              <a:latin typeface="Arial"/>
              <a:cs typeface="Arial"/>
            </a:endParaRPr>
          </a:p>
          <a:p>
            <a:pPr algn="ctr" marL="92075">
              <a:lnSpc>
                <a:spcPct val="100000"/>
              </a:lnSpc>
              <a:spcBef>
                <a:spcPts val="2220"/>
              </a:spcBef>
            </a:pPr>
            <a:r>
              <a:rPr dirty="0" sz="3000" spc="60" b="1">
                <a:solidFill>
                  <a:srgbClr val="030305"/>
                </a:solidFill>
                <a:latin typeface="Arial"/>
                <a:cs typeface="Arial"/>
              </a:rPr>
              <a:t>Audit</a:t>
            </a:r>
            <a:r>
              <a:rPr dirty="0" sz="3000" spc="-40" b="1">
                <a:solidFill>
                  <a:srgbClr val="030305"/>
                </a:solidFill>
                <a:latin typeface="Arial"/>
                <a:cs typeface="Arial"/>
              </a:rPr>
              <a:t> </a:t>
            </a:r>
            <a:r>
              <a:rPr dirty="0" sz="3000" spc="45" b="1">
                <a:solidFill>
                  <a:srgbClr val="030305"/>
                </a:solidFill>
                <a:latin typeface="Arial"/>
                <a:cs typeface="Arial"/>
              </a:rPr>
              <a:t>Cost</a:t>
            </a:r>
            <a:endParaRPr sz="3000">
              <a:latin typeface="Arial"/>
              <a:cs typeface="Arial"/>
            </a:endParaRPr>
          </a:p>
          <a:p>
            <a:pPr algn="ctr" marL="326390" marR="236854">
              <a:lnSpc>
                <a:spcPts val="2920"/>
              </a:lnSpc>
              <a:spcBef>
                <a:spcPts val="1285"/>
              </a:spcBef>
            </a:pPr>
            <a:r>
              <a:rPr dirty="0" sz="2500" spc="-55">
                <a:solidFill>
                  <a:srgbClr val="030305"/>
                </a:solidFill>
                <a:latin typeface="Arial"/>
                <a:cs typeface="Arial"/>
              </a:rPr>
              <a:t>The</a:t>
            </a:r>
            <a:r>
              <a:rPr dirty="0" sz="2500" spc="-160">
                <a:solidFill>
                  <a:srgbClr val="030305"/>
                </a:solidFill>
                <a:latin typeface="Arial"/>
                <a:cs typeface="Arial"/>
              </a:rPr>
              <a:t> </a:t>
            </a:r>
            <a:r>
              <a:rPr dirty="0" sz="2500">
                <a:solidFill>
                  <a:srgbClr val="131315"/>
                </a:solidFill>
                <a:latin typeface="Arial"/>
                <a:cs typeface="Arial"/>
              </a:rPr>
              <a:t>high</a:t>
            </a:r>
            <a:r>
              <a:rPr dirty="0" sz="2500" spc="-180">
                <a:solidFill>
                  <a:srgbClr val="131315"/>
                </a:solidFill>
                <a:latin typeface="Arial"/>
                <a:cs typeface="Arial"/>
              </a:rPr>
              <a:t> </a:t>
            </a:r>
            <a:r>
              <a:rPr dirty="0" sz="2500" spc="-25">
                <a:solidFill>
                  <a:srgbClr val="131315"/>
                </a:solidFill>
                <a:latin typeface="Arial"/>
                <a:cs typeface="Arial"/>
              </a:rPr>
              <a:t>cost</a:t>
            </a:r>
            <a:r>
              <a:rPr dirty="0" sz="2500" spc="-65">
                <a:solidFill>
                  <a:srgbClr val="131315"/>
                </a:solidFill>
                <a:latin typeface="Arial"/>
                <a:cs typeface="Arial"/>
              </a:rPr>
              <a:t> </a:t>
            </a:r>
            <a:r>
              <a:rPr dirty="0" sz="2500" spc="80">
                <a:solidFill>
                  <a:srgbClr val="131315"/>
                </a:solidFill>
                <a:latin typeface="Arial"/>
                <a:cs typeface="Arial"/>
              </a:rPr>
              <a:t>of</a:t>
            </a:r>
            <a:r>
              <a:rPr dirty="0" sz="2500" spc="-190">
                <a:solidFill>
                  <a:srgbClr val="131315"/>
                </a:solidFill>
                <a:latin typeface="Arial"/>
                <a:cs typeface="Arial"/>
              </a:rPr>
              <a:t> </a:t>
            </a:r>
            <a:r>
              <a:rPr dirty="0" sz="2500">
                <a:solidFill>
                  <a:srgbClr val="131315"/>
                </a:solidFill>
                <a:latin typeface="Arial"/>
                <a:cs typeface="Arial"/>
              </a:rPr>
              <a:t>third</a:t>
            </a:r>
            <a:r>
              <a:rPr dirty="0" sz="2500">
                <a:solidFill>
                  <a:srgbClr val="2F2F31"/>
                </a:solidFill>
                <a:latin typeface="Arial"/>
                <a:cs typeface="Arial"/>
              </a:rPr>
              <a:t>-</a:t>
            </a:r>
            <a:r>
              <a:rPr dirty="0" sz="2500">
                <a:solidFill>
                  <a:srgbClr val="131315"/>
                </a:solidFill>
                <a:latin typeface="Arial"/>
                <a:cs typeface="Arial"/>
              </a:rPr>
              <a:t>party</a:t>
            </a:r>
            <a:r>
              <a:rPr dirty="0" sz="2500" spc="-100">
                <a:solidFill>
                  <a:srgbClr val="131315"/>
                </a:solidFill>
                <a:latin typeface="Arial"/>
                <a:cs typeface="Arial"/>
              </a:rPr>
              <a:t> </a:t>
            </a:r>
            <a:r>
              <a:rPr dirty="0" sz="2500" spc="-270">
                <a:solidFill>
                  <a:srgbClr val="131315"/>
                </a:solidFill>
                <a:latin typeface="Arial"/>
                <a:cs typeface="Arial"/>
              </a:rPr>
              <a:t>C3PAO </a:t>
            </a:r>
            <a:r>
              <a:rPr dirty="0" sz="2500">
                <a:solidFill>
                  <a:srgbClr val="131315"/>
                </a:solidFill>
                <a:latin typeface="Arial"/>
                <a:cs typeface="Arial"/>
              </a:rPr>
              <a:t>audits</a:t>
            </a:r>
            <a:r>
              <a:rPr dirty="0" sz="2500" spc="-180">
                <a:solidFill>
                  <a:srgbClr val="131315"/>
                </a:solidFill>
                <a:latin typeface="Arial"/>
                <a:cs typeface="Arial"/>
              </a:rPr>
              <a:t> </a:t>
            </a:r>
            <a:r>
              <a:rPr dirty="0" sz="2500">
                <a:solidFill>
                  <a:srgbClr val="131315"/>
                </a:solidFill>
                <a:latin typeface="Arial"/>
                <a:cs typeface="Arial"/>
              </a:rPr>
              <a:t>drives</a:t>
            </a:r>
            <a:r>
              <a:rPr dirty="0" sz="2500" spc="-220">
                <a:solidFill>
                  <a:srgbClr val="131315"/>
                </a:solidFill>
                <a:latin typeface="Arial"/>
                <a:cs typeface="Arial"/>
              </a:rPr>
              <a:t> </a:t>
            </a:r>
            <a:r>
              <a:rPr dirty="0" sz="2500" spc="-10">
                <a:solidFill>
                  <a:srgbClr val="131315"/>
                </a:solidFill>
                <a:latin typeface="Arial"/>
                <a:cs typeface="Arial"/>
              </a:rPr>
              <a:t>demand</a:t>
            </a:r>
            <a:r>
              <a:rPr dirty="0" sz="2500" spc="-114">
                <a:solidFill>
                  <a:srgbClr val="131315"/>
                </a:solidFill>
                <a:latin typeface="Arial"/>
                <a:cs typeface="Arial"/>
              </a:rPr>
              <a:t> </a:t>
            </a:r>
            <a:r>
              <a:rPr dirty="0" sz="2500">
                <a:solidFill>
                  <a:srgbClr val="131315"/>
                </a:solidFill>
                <a:latin typeface="Arial"/>
                <a:cs typeface="Arial"/>
              </a:rPr>
              <a:t>for</a:t>
            </a:r>
            <a:r>
              <a:rPr dirty="0" sz="2500" spc="-254">
                <a:solidFill>
                  <a:srgbClr val="131315"/>
                </a:solidFill>
                <a:latin typeface="Arial"/>
                <a:cs typeface="Arial"/>
              </a:rPr>
              <a:t> </a:t>
            </a:r>
            <a:r>
              <a:rPr dirty="0" sz="2500" spc="-35">
                <a:solidFill>
                  <a:srgbClr val="131315"/>
                </a:solidFill>
                <a:latin typeface="Arial"/>
                <a:cs typeface="Arial"/>
              </a:rPr>
              <a:t>a</a:t>
            </a:r>
            <a:r>
              <a:rPr dirty="0" sz="2500" spc="-130">
                <a:solidFill>
                  <a:srgbClr val="131315"/>
                </a:solidFill>
                <a:latin typeface="Arial"/>
                <a:cs typeface="Arial"/>
              </a:rPr>
              <a:t> </a:t>
            </a:r>
            <a:r>
              <a:rPr dirty="0" sz="2500">
                <a:solidFill>
                  <a:srgbClr val="131315"/>
                </a:solidFill>
                <a:latin typeface="Arial"/>
                <a:cs typeface="Arial"/>
              </a:rPr>
              <a:t>"get</a:t>
            </a:r>
            <a:r>
              <a:rPr dirty="0" sz="2500" spc="-140">
                <a:solidFill>
                  <a:srgbClr val="131315"/>
                </a:solidFill>
                <a:latin typeface="Arial"/>
                <a:cs typeface="Arial"/>
              </a:rPr>
              <a:t> </a:t>
            </a:r>
            <a:r>
              <a:rPr dirty="0" sz="2500" spc="-25">
                <a:solidFill>
                  <a:srgbClr val="030305"/>
                </a:solidFill>
                <a:latin typeface="Arial"/>
                <a:cs typeface="Arial"/>
              </a:rPr>
              <a:t>it </a:t>
            </a:r>
            <a:r>
              <a:rPr dirty="0" sz="2500" spc="60">
                <a:solidFill>
                  <a:srgbClr val="131315"/>
                </a:solidFill>
                <a:latin typeface="Arial"/>
                <a:cs typeface="Arial"/>
              </a:rPr>
              <a:t>right</a:t>
            </a:r>
            <a:r>
              <a:rPr dirty="0" sz="2500" spc="-170">
                <a:solidFill>
                  <a:srgbClr val="131315"/>
                </a:solidFill>
                <a:latin typeface="Arial"/>
                <a:cs typeface="Arial"/>
              </a:rPr>
              <a:t> </a:t>
            </a:r>
            <a:r>
              <a:rPr dirty="0" sz="2500" spc="65">
                <a:solidFill>
                  <a:srgbClr val="131315"/>
                </a:solidFill>
                <a:latin typeface="Arial"/>
                <a:cs typeface="Arial"/>
              </a:rPr>
              <a:t>the</a:t>
            </a:r>
            <a:r>
              <a:rPr dirty="0" sz="2500" spc="-160">
                <a:solidFill>
                  <a:srgbClr val="131315"/>
                </a:solidFill>
                <a:latin typeface="Arial"/>
                <a:cs typeface="Arial"/>
              </a:rPr>
              <a:t> </a:t>
            </a:r>
            <a:r>
              <a:rPr dirty="0" sz="2500">
                <a:solidFill>
                  <a:srgbClr val="131315"/>
                </a:solidFill>
                <a:latin typeface="Arial"/>
                <a:cs typeface="Arial"/>
              </a:rPr>
              <a:t>first</a:t>
            </a:r>
            <a:r>
              <a:rPr dirty="0" sz="2500" spc="-75">
                <a:solidFill>
                  <a:srgbClr val="131315"/>
                </a:solidFill>
                <a:latin typeface="Arial"/>
                <a:cs typeface="Arial"/>
              </a:rPr>
              <a:t> </a:t>
            </a:r>
            <a:r>
              <a:rPr dirty="0" sz="2500" spc="65">
                <a:solidFill>
                  <a:srgbClr val="131315"/>
                </a:solidFill>
                <a:latin typeface="Arial"/>
                <a:cs typeface="Arial"/>
              </a:rPr>
              <a:t>time'</a:t>
            </a:r>
            <a:r>
              <a:rPr dirty="0" sz="2500" spc="-55">
                <a:solidFill>
                  <a:srgbClr val="131315"/>
                </a:solidFill>
                <a:latin typeface="Arial"/>
                <a:cs typeface="Arial"/>
              </a:rPr>
              <a:t> </a:t>
            </a:r>
            <a:r>
              <a:rPr dirty="0" sz="2500">
                <a:solidFill>
                  <a:srgbClr val="131315"/>
                </a:solidFill>
                <a:latin typeface="Arial"/>
                <a:cs typeface="Arial"/>
              </a:rPr>
              <a:t>platform</a:t>
            </a:r>
            <a:r>
              <a:rPr dirty="0" sz="2500" spc="-160">
                <a:solidFill>
                  <a:srgbClr val="131315"/>
                </a:solidFill>
                <a:latin typeface="Arial"/>
                <a:cs typeface="Arial"/>
              </a:rPr>
              <a:t> </a:t>
            </a:r>
            <a:r>
              <a:rPr dirty="0" sz="2500" spc="55">
                <a:solidFill>
                  <a:srgbClr val="131315"/>
                </a:solidFill>
                <a:latin typeface="Arial"/>
                <a:cs typeface="Arial"/>
              </a:rPr>
              <a:t>that </a:t>
            </a:r>
            <a:r>
              <a:rPr dirty="0" sz="2500" spc="-65">
                <a:solidFill>
                  <a:srgbClr val="030305"/>
                </a:solidFill>
                <a:latin typeface="Arial"/>
                <a:cs typeface="Arial"/>
              </a:rPr>
              <a:t>reduces</a:t>
            </a:r>
            <a:r>
              <a:rPr dirty="0" sz="2500" spc="-145">
                <a:solidFill>
                  <a:srgbClr val="030305"/>
                </a:solidFill>
                <a:latin typeface="Arial"/>
                <a:cs typeface="Arial"/>
              </a:rPr>
              <a:t> </a:t>
            </a:r>
            <a:r>
              <a:rPr dirty="0" sz="2500">
                <a:solidFill>
                  <a:srgbClr val="030305"/>
                </a:solidFill>
                <a:latin typeface="Arial"/>
                <a:cs typeface="Arial"/>
              </a:rPr>
              <a:t>remediation</a:t>
            </a:r>
            <a:r>
              <a:rPr dirty="0" sz="2500" spc="-120">
                <a:solidFill>
                  <a:srgbClr val="030305"/>
                </a:solidFill>
                <a:latin typeface="Arial"/>
                <a:cs typeface="Arial"/>
              </a:rPr>
              <a:t> </a:t>
            </a:r>
            <a:r>
              <a:rPr dirty="0" sz="2500" spc="-25">
                <a:solidFill>
                  <a:srgbClr val="131315"/>
                </a:solidFill>
                <a:latin typeface="Arial"/>
                <a:cs typeface="Arial"/>
              </a:rPr>
              <a:t>and</a:t>
            </a:r>
            <a:endParaRPr sz="2500">
              <a:latin typeface="Arial"/>
              <a:cs typeface="Arial"/>
            </a:endParaRPr>
          </a:p>
          <a:p>
            <a:pPr algn="ctr" marL="92075">
              <a:lnSpc>
                <a:spcPts val="2715"/>
              </a:lnSpc>
            </a:pPr>
            <a:r>
              <a:rPr dirty="0" sz="2500" spc="-70">
                <a:solidFill>
                  <a:srgbClr val="131315"/>
                </a:solidFill>
                <a:latin typeface="Arial"/>
                <a:cs typeface="Arial"/>
              </a:rPr>
              <a:t>re</a:t>
            </a:r>
            <a:r>
              <a:rPr dirty="0" sz="2500" spc="-70">
                <a:solidFill>
                  <a:srgbClr val="2F2F31"/>
                </a:solidFill>
                <a:latin typeface="Arial"/>
                <a:cs typeface="Arial"/>
              </a:rPr>
              <a:t>-</a:t>
            </a:r>
            <a:r>
              <a:rPr dirty="0" sz="2500" spc="-70">
                <a:solidFill>
                  <a:srgbClr val="131315"/>
                </a:solidFill>
                <a:latin typeface="Arial"/>
                <a:cs typeface="Arial"/>
              </a:rPr>
              <a:t>assessment</a:t>
            </a:r>
            <a:r>
              <a:rPr dirty="0" sz="2500" spc="-55">
                <a:solidFill>
                  <a:srgbClr val="131315"/>
                </a:solidFill>
                <a:latin typeface="Arial"/>
                <a:cs typeface="Arial"/>
              </a:rPr>
              <a:t> </a:t>
            </a:r>
            <a:r>
              <a:rPr dirty="0" sz="2500" spc="-10">
                <a:solidFill>
                  <a:srgbClr val="131315"/>
                </a:solidFill>
                <a:latin typeface="Arial"/>
                <a:cs typeface="Arial"/>
              </a:rPr>
              <a:t>costs.</a:t>
            </a:r>
            <a:endParaRPr sz="25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12585" y="8081302"/>
            <a:ext cx="15475585" cy="8890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097405" marR="767080" indent="-1304290">
              <a:lnSpc>
                <a:spcPct val="101699"/>
              </a:lnSpc>
              <a:spcBef>
                <a:spcPts val="55"/>
              </a:spcBef>
            </a:pPr>
            <a:r>
              <a:rPr dirty="0" sz="2800" spc="-225">
                <a:solidFill>
                  <a:srgbClr val="131315"/>
                </a:solidFill>
                <a:latin typeface="Arial"/>
                <a:cs typeface="Arial"/>
              </a:rPr>
              <a:t>RLC-</a:t>
            </a:r>
            <a:r>
              <a:rPr dirty="0" sz="2800" spc="-265">
                <a:solidFill>
                  <a:srgbClr val="131315"/>
                </a:solidFill>
                <a:latin typeface="Arial"/>
                <a:cs typeface="Arial"/>
              </a:rPr>
              <a:t>H</a:t>
            </a:r>
            <a:r>
              <a:rPr dirty="0" sz="2800" spc="-170">
                <a:solidFill>
                  <a:srgbClr val="131315"/>
                </a:solidFill>
                <a:latin typeface="Arial"/>
                <a:cs typeface="Arial"/>
              </a:rPr>
              <a:t> </a:t>
            </a:r>
            <a:r>
              <a:rPr dirty="0" sz="2800" spc="80">
                <a:solidFill>
                  <a:srgbClr val="030305"/>
                </a:solidFill>
                <a:latin typeface="Arial"/>
                <a:cs typeface="Arial"/>
              </a:rPr>
              <a:t>isn't</a:t>
            </a:r>
            <a:r>
              <a:rPr dirty="0" sz="2800" spc="-275">
                <a:solidFill>
                  <a:srgbClr val="030305"/>
                </a:solidFill>
                <a:latin typeface="Arial"/>
                <a:cs typeface="Arial"/>
              </a:rPr>
              <a:t> </a:t>
            </a:r>
            <a:r>
              <a:rPr dirty="0" sz="2800" spc="60">
                <a:solidFill>
                  <a:srgbClr val="030305"/>
                </a:solidFill>
                <a:latin typeface="Arial"/>
                <a:cs typeface="Arial"/>
              </a:rPr>
              <a:t>just</a:t>
            </a:r>
            <a:r>
              <a:rPr dirty="0" sz="2800" spc="-305">
                <a:solidFill>
                  <a:srgbClr val="030305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131315"/>
                </a:solidFill>
                <a:latin typeface="Arial"/>
                <a:cs typeface="Arial"/>
              </a:rPr>
              <a:t>an</a:t>
            </a:r>
            <a:r>
              <a:rPr dirty="0" sz="2800" spc="-335">
                <a:solidFill>
                  <a:srgbClr val="131315"/>
                </a:solidFill>
                <a:latin typeface="Arial"/>
                <a:cs typeface="Arial"/>
              </a:rPr>
              <a:t> </a:t>
            </a:r>
            <a:r>
              <a:rPr dirty="0" sz="2800" spc="-125">
                <a:solidFill>
                  <a:srgbClr val="030305"/>
                </a:solidFill>
                <a:latin typeface="Arial"/>
                <a:cs typeface="Arial"/>
              </a:rPr>
              <a:t>OS;</a:t>
            </a:r>
            <a:r>
              <a:rPr dirty="0" sz="2800" spc="-400">
                <a:solidFill>
                  <a:srgbClr val="030305"/>
                </a:solidFill>
                <a:latin typeface="Arial"/>
                <a:cs typeface="Arial"/>
              </a:rPr>
              <a:t> </a:t>
            </a:r>
            <a:r>
              <a:rPr dirty="0" sz="2800" spc="80">
                <a:solidFill>
                  <a:srgbClr val="131315"/>
                </a:solidFill>
                <a:latin typeface="Arial"/>
                <a:cs typeface="Arial"/>
              </a:rPr>
              <a:t>it's</a:t>
            </a:r>
            <a:r>
              <a:rPr dirty="0" sz="2800" spc="-350">
                <a:solidFill>
                  <a:srgbClr val="131315"/>
                </a:solidFill>
                <a:latin typeface="Arial"/>
                <a:cs typeface="Arial"/>
              </a:rPr>
              <a:t> </a:t>
            </a:r>
            <a:r>
              <a:rPr dirty="0" sz="2800" spc="-100">
                <a:solidFill>
                  <a:srgbClr val="131315"/>
                </a:solidFill>
                <a:latin typeface="Arial"/>
                <a:cs typeface="Arial"/>
              </a:rPr>
              <a:t>a</a:t>
            </a:r>
            <a:r>
              <a:rPr dirty="0" sz="2800" spc="-175">
                <a:solidFill>
                  <a:srgbClr val="131315"/>
                </a:solidFill>
                <a:latin typeface="Arial"/>
                <a:cs typeface="Arial"/>
              </a:rPr>
              <a:t> </a:t>
            </a:r>
            <a:r>
              <a:rPr dirty="0" sz="2800" spc="-185" b="1">
                <a:solidFill>
                  <a:srgbClr val="030305"/>
                </a:solidFill>
                <a:latin typeface="Arial"/>
                <a:cs typeface="Arial"/>
              </a:rPr>
              <a:t>CMMC</a:t>
            </a:r>
            <a:r>
              <a:rPr dirty="0" sz="2800" spc="-240" b="1">
                <a:solidFill>
                  <a:srgbClr val="030305"/>
                </a:solidFill>
                <a:latin typeface="Arial"/>
                <a:cs typeface="Arial"/>
              </a:rPr>
              <a:t> </a:t>
            </a:r>
            <a:r>
              <a:rPr dirty="0" sz="2800" spc="-60" b="1">
                <a:solidFill>
                  <a:srgbClr val="030305"/>
                </a:solidFill>
                <a:latin typeface="Arial"/>
                <a:cs typeface="Arial"/>
              </a:rPr>
              <a:t>acceleration</a:t>
            </a:r>
            <a:r>
              <a:rPr dirty="0" sz="2800" spc="60" b="1">
                <a:solidFill>
                  <a:srgbClr val="030305"/>
                </a:solidFill>
                <a:latin typeface="Arial"/>
                <a:cs typeface="Arial"/>
              </a:rPr>
              <a:t> </a:t>
            </a:r>
            <a:r>
              <a:rPr dirty="0" sz="2800" spc="-50" b="1">
                <a:solidFill>
                  <a:srgbClr val="030305"/>
                </a:solidFill>
                <a:latin typeface="Arial"/>
                <a:cs typeface="Arial"/>
              </a:rPr>
              <a:t>engine,</a:t>
            </a:r>
            <a:r>
              <a:rPr dirty="0" sz="2800" spc="-145" b="1">
                <a:solidFill>
                  <a:srgbClr val="030305"/>
                </a:solidFill>
                <a:latin typeface="Arial"/>
                <a:cs typeface="Arial"/>
              </a:rPr>
              <a:t> </a:t>
            </a:r>
            <a:r>
              <a:rPr dirty="0" sz="2800" spc="-10">
                <a:solidFill>
                  <a:srgbClr val="131315"/>
                </a:solidFill>
                <a:latin typeface="Arial"/>
                <a:cs typeface="Arial"/>
              </a:rPr>
              <a:t>reducing</a:t>
            </a:r>
            <a:r>
              <a:rPr dirty="0" sz="2800" spc="-229">
                <a:solidFill>
                  <a:srgbClr val="131315"/>
                </a:solidFill>
                <a:latin typeface="Arial"/>
                <a:cs typeface="Arial"/>
              </a:rPr>
              <a:t> </a:t>
            </a:r>
            <a:r>
              <a:rPr dirty="0" sz="2800" spc="65">
                <a:solidFill>
                  <a:srgbClr val="131315"/>
                </a:solidFill>
                <a:latin typeface="Arial"/>
                <a:cs typeface="Arial"/>
              </a:rPr>
              <a:t>audit</a:t>
            </a:r>
            <a:r>
              <a:rPr dirty="0" sz="2800" spc="-170">
                <a:solidFill>
                  <a:srgbClr val="131315"/>
                </a:solidFill>
                <a:latin typeface="Arial"/>
                <a:cs typeface="Arial"/>
              </a:rPr>
              <a:t> </a:t>
            </a:r>
            <a:r>
              <a:rPr dirty="0" sz="2800" spc="-55">
                <a:solidFill>
                  <a:srgbClr val="131315"/>
                </a:solidFill>
                <a:latin typeface="Arial"/>
                <a:cs typeface="Arial"/>
              </a:rPr>
              <a:t>scope,</a:t>
            </a:r>
            <a:r>
              <a:rPr dirty="0" sz="2800" spc="-250">
                <a:solidFill>
                  <a:srgbClr val="131315"/>
                </a:solidFill>
                <a:latin typeface="Arial"/>
                <a:cs typeface="Arial"/>
              </a:rPr>
              <a:t> </a:t>
            </a:r>
            <a:r>
              <a:rPr dirty="0" sz="2800" spc="-10">
                <a:solidFill>
                  <a:srgbClr val="030305"/>
                </a:solidFill>
                <a:latin typeface="Arial"/>
                <a:cs typeface="Arial"/>
              </a:rPr>
              <a:t>minimizing </a:t>
            </a:r>
            <a:r>
              <a:rPr dirty="0" sz="2800">
                <a:solidFill>
                  <a:srgbClr val="030305"/>
                </a:solidFill>
                <a:latin typeface="Arial"/>
                <a:cs typeface="Arial"/>
              </a:rPr>
              <a:t>remediation</a:t>
            </a:r>
            <a:r>
              <a:rPr dirty="0" sz="2800" spc="80">
                <a:solidFill>
                  <a:srgbClr val="030305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030305"/>
                </a:solidFill>
                <a:latin typeface="Arial"/>
                <a:cs typeface="Arial"/>
              </a:rPr>
              <a:t>findings</a:t>
            </a:r>
            <a:r>
              <a:rPr dirty="0" sz="2800" spc="-110">
                <a:solidFill>
                  <a:srgbClr val="030305"/>
                </a:solidFill>
                <a:latin typeface="Arial"/>
                <a:cs typeface="Arial"/>
              </a:rPr>
              <a:t> </a:t>
            </a:r>
            <a:r>
              <a:rPr dirty="0" sz="2800" spc="-160">
                <a:solidFill>
                  <a:srgbClr val="131315"/>
                </a:solidFill>
                <a:latin typeface="Arial"/>
                <a:cs typeface="Arial"/>
              </a:rPr>
              <a:t>(POAMs),</a:t>
            </a:r>
            <a:r>
              <a:rPr dirty="0" sz="2800" spc="-110">
                <a:solidFill>
                  <a:srgbClr val="131315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131315"/>
                </a:solidFill>
                <a:latin typeface="Arial"/>
                <a:cs typeface="Arial"/>
              </a:rPr>
              <a:t>and</a:t>
            </a:r>
            <a:r>
              <a:rPr dirty="0" sz="2800" spc="-120">
                <a:solidFill>
                  <a:srgbClr val="131315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030305"/>
                </a:solidFill>
                <a:latin typeface="Arial"/>
                <a:cs typeface="Arial"/>
              </a:rPr>
              <a:t>providing</a:t>
            </a:r>
            <a:r>
              <a:rPr dirty="0" sz="2800" spc="-260">
                <a:solidFill>
                  <a:srgbClr val="030305"/>
                </a:solidFill>
                <a:latin typeface="Arial"/>
                <a:cs typeface="Arial"/>
              </a:rPr>
              <a:t> </a:t>
            </a:r>
            <a:r>
              <a:rPr dirty="0" sz="2800" spc="-100">
                <a:solidFill>
                  <a:srgbClr val="131315"/>
                </a:solidFill>
                <a:latin typeface="Arial"/>
                <a:cs typeface="Arial"/>
              </a:rPr>
              <a:t>a</a:t>
            </a:r>
            <a:r>
              <a:rPr dirty="0" sz="2800" spc="-120">
                <a:solidFill>
                  <a:srgbClr val="131315"/>
                </a:solidFill>
                <a:latin typeface="Arial"/>
                <a:cs typeface="Arial"/>
              </a:rPr>
              <a:t> </a:t>
            </a:r>
            <a:r>
              <a:rPr dirty="0" sz="2800" spc="-30">
                <a:solidFill>
                  <a:srgbClr val="030305"/>
                </a:solidFill>
                <a:latin typeface="Arial"/>
                <a:cs typeface="Arial"/>
              </a:rPr>
              <a:t>faster</a:t>
            </a:r>
            <a:r>
              <a:rPr dirty="0" sz="2800" spc="-145">
                <a:solidFill>
                  <a:srgbClr val="030305"/>
                </a:solidFill>
                <a:latin typeface="Arial"/>
                <a:cs typeface="Arial"/>
              </a:rPr>
              <a:t> </a:t>
            </a:r>
            <a:r>
              <a:rPr dirty="0" sz="2800" spc="60">
                <a:solidFill>
                  <a:srgbClr val="030305"/>
                </a:solidFill>
                <a:latin typeface="Arial"/>
                <a:cs typeface="Arial"/>
              </a:rPr>
              <a:t>path</a:t>
            </a:r>
            <a:r>
              <a:rPr dirty="0" sz="2800" spc="-315">
                <a:solidFill>
                  <a:srgbClr val="030305"/>
                </a:solidFill>
                <a:latin typeface="Arial"/>
                <a:cs typeface="Arial"/>
              </a:rPr>
              <a:t> </a:t>
            </a:r>
            <a:r>
              <a:rPr dirty="0" sz="2800" spc="55">
                <a:solidFill>
                  <a:srgbClr val="030305"/>
                </a:solidFill>
                <a:latin typeface="Arial"/>
                <a:cs typeface="Arial"/>
              </a:rPr>
              <a:t>to</a:t>
            </a:r>
            <a:r>
              <a:rPr dirty="0" sz="2800" spc="-30">
                <a:solidFill>
                  <a:srgbClr val="030305"/>
                </a:solidFill>
                <a:latin typeface="Arial"/>
                <a:cs typeface="Arial"/>
              </a:rPr>
              <a:t> </a:t>
            </a:r>
            <a:r>
              <a:rPr dirty="0" sz="2800" spc="45">
                <a:solidFill>
                  <a:srgbClr val="131315"/>
                </a:solidFill>
                <a:latin typeface="Arial"/>
                <a:cs typeface="Arial"/>
              </a:rPr>
              <a:t>certification.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51174" y="3676914"/>
            <a:ext cx="1197270" cy="102129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78996" y="3727979"/>
            <a:ext cx="968005" cy="9446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704926" y="3727979"/>
            <a:ext cx="993479" cy="944694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72335" rIns="0" bIns="0" rtlCol="0" vert="horz">
            <a:spAutoFit/>
          </a:bodyPr>
          <a:lstStyle/>
          <a:p>
            <a:pPr marL="2961640" marR="5080" indent="-906780">
              <a:lnSpc>
                <a:spcPts val="5230"/>
              </a:lnSpc>
              <a:spcBef>
                <a:spcPts val="334"/>
              </a:spcBef>
            </a:pPr>
            <a:r>
              <a:rPr dirty="0" spc="95"/>
              <a:t>Expanding</a:t>
            </a:r>
            <a:r>
              <a:rPr dirty="0" spc="10"/>
              <a:t> </a:t>
            </a:r>
            <a:r>
              <a:rPr dirty="0" spc="85"/>
              <a:t>the</a:t>
            </a:r>
            <a:r>
              <a:rPr dirty="0" spc="280"/>
              <a:t> </a:t>
            </a:r>
            <a:r>
              <a:rPr dirty="0" spc="105"/>
              <a:t>Front:</a:t>
            </a:r>
            <a:r>
              <a:rPr dirty="0" spc="-320"/>
              <a:t> </a:t>
            </a:r>
            <a:r>
              <a:rPr dirty="0" spc="75"/>
              <a:t>From</a:t>
            </a:r>
            <a:r>
              <a:rPr dirty="0" spc="-165"/>
              <a:t> </a:t>
            </a:r>
            <a:r>
              <a:rPr dirty="0" spc="85"/>
              <a:t>Commercial </a:t>
            </a:r>
            <a:r>
              <a:rPr dirty="0" spc="70"/>
              <a:t>Compliance</a:t>
            </a:r>
            <a:r>
              <a:rPr dirty="0" spc="170"/>
              <a:t> </a:t>
            </a:r>
            <a:r>
              <a:rPr dirty="0" spc="185"/>
              <a:t>to</a:t>
            </a:r>
            <a:r>
              <a:rPr dirty="0" spc="-280"/>
              <a:t> </a:t>
            </a:r>
            <a:r>
              <a:rPr dirty="0"/>
              <a:t>Proactive</a:t>
            </a:r>
            <a:r>
              <a:rPr dirty="0" spc="285"/>
              <a:t> </a:t>
            </a:r>
            <a:r>
              <a:rPr dirty="0" spc="80"/>
              <a:t>Defense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00"/>
              </a:lnSpc>
            </a:pPr>
            <a:r>
              <a:rPr dirty="0" sz="1300" spc="-20">
                <a:solidFill>
                  <a:srgbClr val="363838"/>
                </a:solidFill>
              </a:rPr>
              <a:t>Isl\</a:t>
            </a:r>
            <a:r>
              <a:rPr dirty="0" sz="1300" spc="-45">
                <a:solidFill>
                  <a:srgbClr val="363838"/>
                </a:solidFill>
              </a:rPr>
              <a:t> </a:t>
            </a:r>
            <a:r>
              <a:rPr dirty="0" spc="-10">
                <a:solidFill>
                  <a:srgbClr val="070F1F"/>
                </a:solidFill>
              </a:rPr>
              <a:t>N</a:t>
            </a:r>
            <a:r>
              <a:rPr dirty="0" spc="-10"/>
              <a:t>otebookLM</a:t>
            </a:r>
            <a:endParaRPr sz="1300"/>
          </a:p>
        </p:txBody>
      </p:sp>
      <p:sp>
        <p:nvSpPr>
          <p:cNvPr id="6" name="object 6"/>
          <p:cNvSpPr txBox="1"/>
          <p:nvPr/>
        </p:nvSpPr>
        <p:spPr>
          <a:xfrm>
            <a:off x="1752808" y="2368450"/>
            <a:ext cx="3170555" cy="937260"/>
          </a:xfrm>
          <a:prstGeom prst="rect">
            <a:avLst/>
          </a:prstGeom>
        </p:spPr>
        <p:txBody>
          <a:bodyPr wrap="square" lIns="0" tIns="4445" rIns="0" bIns="0" rtlCol="0" vert="horz">
            <a:spAutoFit/>
          </a:bodyPr>
          <a:lstStyle/>
          <a:p>
            <a:pPr marL="838200" marR="5080" indent="-826135">
              <a:lnSpc>
                <a:spcPct val="102200"/>
              </a:lnSpc>
              <a:spcBef>
                <a:spcPts val="35"/>
              </a:spcBef>
            </a:pPr>
            <a:r>
              <a:rPr dirty="0" sz="2950" spc="125" b="1">
                <a:solidFill>
                  <a:srgbClr val="0A0A0A"/>
                </a:solidFill>
                <a:latin typeface="Arial"/>
                <a:cs typeface="Arial"/>
              </a:rPr>
              <a:t>CIS</a:t>
            </a:r>
            <a:r>
              <a:rPr dirty="0" sz="2950" spc="-195" b="1">
                <a:solidFill>
                  <a:srgbClr val="0A0A0A"/>
                </a:solidFill>
                <a:latin typeface="Arial"/>
                <a:cs typeface="Arial"/>
              </a:rPr>
              <a:t> </a:t>
            </a:r>
            <a:r>
              <a:rPr dirty="0" sz="2950" spc="90" b="1">
                <a:solidFill>
                  <a:srgbClr val="0A0A0A"/>
                </a:solidFill>
                <a:latin typeface="Arial"/>
                <a:cs typeface="Arial"/>
              </a:rPr>
              <a:t>Benchmarks </a:t>
            </a:r>
            <a:r>
              <a:rPr dirty="0" sz="2950" spc="-10" b="1">
                <a:solidFill>
                  <a:srgbClr val="0A0A0A"/>
                </a:solidFill>
                <a:latin typeface="Arial"/>
                <a:cs typeface="Arial"/>
              </a:rPr>
              <a:t>($1</a:t>
            </a:r>
            <a:r>
              <a:rPr dirty="0" sz="2950" spc="-10" b="1">
                <a:solidFill>
                  <a:srgbClr val="232324"/>
                </a:solidFill>
                <a:latin typeface="Arial"/>
                <a:cs typeface="Arial"/>
              </a:rPr>
              <a:t>.</a:t>
            </a:r>
            <a:r>
              <a:rPr dirty="0" sz="2950" spc="-10" b="1">
                <a:solidFill>
                  <a:srgbClr val="0A0A0A"/>
                </a:solidFill>
                <a:latin typeface="Arial"/>
                <a:cs typeface="Arial"/>
              </a:rPr>
              <a:t>15B)</a:t>
            </a:r>
            <a:endParaRPr sz="29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79747" y="5087640"/>
            <a:ext cx="4650105" cy="292608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 marR="189865" indent="12700">
              <a:lnSpc>
                <a:spcPct val="100000"/>
              </a:lnSpc>
              <a:spcBef>
                <a:spcPts val="110"/>
              </a:spcBef>
            </a:pPr>
            <a:r>
              <a:rPr dirty="0" sz="2350" spc="-160" b="1">
                <a:solidFill>
                  <a:srgbClr val="0A0A0A"/>
                </a:solidFill>
                <a:latin typeface="Arial"/>
                <a:cs typeface="Arial"/>
              </a:rPr>
              <a:t>Who</a:t>
            </a:r>
            <a:r>
              <a:rPr dirty="0" sz="2350" spc="-160" b="1">
                <a:solidFill>
                  <a:srgbClr val="232324"/>
                </a:solidFill>
                <a:latin typeface="Arial"/>
                <a:cs typeface="Arial"/>
              </a:rPr>
              <a:t>:</a:t>
            </a:r>
            <a:r>
              <a:rPr dirty="0" sz="2350" spc="-370" b="1">
                <a:solidFill>
                  <a:srgbClr val="232324"/>
                </a:solidFill>
                <a:latin typeface="Arial"/>
                <a:cs typeface="Arial"/>
              </a:rPr>
              <a:t> </a:t>
            </a:r>
            <a:r>
              <a:rPr dirty="0" sz="2350" spc="-85">
                <a:solidFill>
                  <a:srgbClr val="0A0A0A"/>
                </a:solidFill>
                <a:latin typeface="Arial"/>
                <a:cs typeface="Arial"/>
              </a:rPr>
              <a:t>F</a:t>
            </a:r>
            <a:r>
              <a:rPr dirty="0" sz="2350" spc="-85">
                <a:solidFill>
                  <a:srgbClr val="232324"/>
                </a:solidFill>
                <a:latin typeface="Arial"/>
                <a:cs typeface="Arial"/>
              </a:rPr>
              <a:t>inancial</a:t>
            </a:r>
            <a:r>
              <a:rPr dirty="0" sz="2350" spc="-215">
                <a:solidFill>
                  <a:srgbClr val="232324"/>
                </a:solidFill>
                <a:latin typeface="Arial"/>
                <a:cs typeface="Arial"/>
              </a:rPr>
              <a:t> </a:t>
            </a:r>
            <a:r>
              <a:rPr dirty="0" sz="2350" spc="-130">
                <a:solidFill>
                  <a:srgbClr val="232324"/>
                </a:solidFill>
                <a:latin typeface="Arial"/>
                <a:cs typeface="Arial"/>
              </a:rPr>
              <a:t>Services,</a:t>
            </a:r>
            <a:r>
              <a:rPr dirty="0" sz="2350" spc="-165">
                <a:solidFill>
                  <a:srgbClr val="232324"/>
                </a:solidFill>
                <a:latin typeface="Arial"/>
                <a:cs typeface="Arial"/>
              </a:rPr>
              <a:t> </a:t>
            </a:r>
            <a:r>
              <a:rPr dirty="0" sz="2350" spc="-85">
                <a:solidFill>
                  <a:srgbClr val="232324"/>
                </a:solidFill>
                <a:latin typeface="Arial"/>
                <a:cs typeface="Arial"/>
              </a:rPr>
              <a:t>Healthcare, </a:t>
            </a:r>
            <a:r>
              <a:rPr dirty="0" sz="2350" spc="-130">
                <a:solidFill>
                  <a:srgbClr val="232324"/>
                </a:solidFill>
                <a:latin typeface="Arial"/>
                <a:cs typeface="Arial"/>
              </a:rPr>
              <a:t>Saas</a:t>
            </a:r>
            <a:r>
              <a:rPr dirty="0" sz="2350" spc="-220">
                <a:solidFill>
                  <a:srgbClr val="232324"/>
                </a:solidFill>
                <a:latin typeface="Arial"/>
                <a:cs typeface="Arial"/>
              </a:rPr>
              <a:t> </a:t>
            </a:r>
            <a:r>
              <a:rPr dirty="0" sz="2350" spc="-200">
                <a:solidFill>
                  <a:srgbClr val="232324"/>
                </a:solidFill>
                <a:latin typeface="Arial"/>
                <a:cs typeface="Arial"/>
              </a:rPr>
              <a:t>(PCI-</a:t>
            </a:r>
            <a:r>
              <a:rPr dirty="0" sz="2350" spc="-245">
                <a:solidFill>
                  <a:srgbClr val="232324"/>
                </a:solidFill>
                <a:latin typeface="Arial"/>
                <a:cs typeface="Arial"/>
              </a:rPr>
              <a:t>DSS,</a:t>
            </a:r>
            <a:r>
              <a:rPr dirty="0" sz="2350" spc="-135">
                <a:solidFill>
                  <a:srgbClr val="232324"/>
                </a:solidFill>
                <a:latin typeface="Arial"/>
                <a:cs typeface="Arial"/>
              </a:rPr>
              <a:t> </a:t>
            </a:r>
            <a:r>
              <a:rPr dirty="0" sz="2350" spc="-25">
                <a:solidFill>
                  <a:srgbClr val="232324"/>
                </a:solidFill>
                <a:latin typeface="Arial"/>
                <a:cs typeface="Arial"/>
              </a:rPr>
              <a:t>HIPM,</a:t>
            </a:r>
            <a:r>
              <a:rPr dirty="0" sz="2350" spc="-280">
                <a:solidFill>
                  <a:srgbClr val="232324"/>
                </a:solidFill>
                <a:latin typeface="Arial"/>
                <a:cs typeface="Arial"/>
              </a:rPr>
              <a:t> </a:t>
            </a:r>
            <a:r>
              <a:rPr dirty="0" sz="2350" spc="-60">
                <a:solidFill>
                  <a:srgbClr val="232324"/>
                </a:solidFill>
                <a:latin typeface="Arial"/>
                <a:cs typeface="Arial"/>
              </a:rPr>
              <a:t>SOC2).</a:t>
            </a:r>
            <a:endParaRPr sz="2350">
              <a:latin typeface="Arial"/>
              <a:cs typeface="Arial"/>
            </a:endParaRPr>
          </a:p>
          <a:p>
            <a:pPr marL="13970" marR="631825" indent="2540">
              <a:lnSpc>
                <a:spcPct val="100000"/>
              </a:lnSpc>
              <a:spcBef>
                <a:spcPts val="1500"/>
              </a:spcBef>
            </a:pPr>
            <a:r>
              <a:rPr dirty="0" sz="2350" spc="-85" b="1">
                <a:solidFill>
                  <a:srgbClr val="0A0A0A"/>
                </a:solidFill>
                <a:latin typeface="Arial"/>
                <a:cs typeface="Arial"/>
              </a:rPr>
              <a:t>Driver:</a:t>
            </a:r>
            <a:r>
              <a:rPr dirty="0" sz="2350" spc="-315" b="1">
                <a:solidFill>
                  <a:srgbClr val="0A0A0A"/>
                </a:solidFill>
                <a:latin typeface="Arial"/>
                <a:cs typeface="Arial"/>
              </a:rPr>
              <a:t> </a:t>
            </a:r>
            <a:r>
              <a:rPr dirty="0" sz="2350" spc="-210">
                <a:solidFill>
                  <a:srgbClr val="232324"/>
                </a:solidFill>
                <a:latin typeface="Arial"/>
                <a:cs typeface="Arial"/>
              </a:rPr>
              <a:t>A</a:t>
            </a:r>
            <a:r>
              <a:rPr dirty="0" sz="2350" spc="-254">
                <a:solidFill>
                  <a:srgbClr val="232324"/>
                </a:solidFill>
                <a:latin typeface="Arial"/>
                <a:cs typeface="Arial"/>
              </a:rPr>
              <a:t> </a:t>
            </a:r>
            <a:r>
              <a:rPr dirty="0" sz="2350" spc="-85">
                <a:solidFill>
                  <a:srgbClr val="232324"/>
                </a:solidFill>
                <a:latin typeface="Arial"/>
                <a:cs typeface="Arial"/>
              </a:rPr>
              <a:t>requirement</a:t>
            </a:r>
            <a:r>
              <a:rPr dirty="0" sz="2350" spc="40">
                <a:solidFill>
                  <a:srgbClr val="232324"/>
                </a:solidFill>
                <a:latin typeface="Arial"/>
                <a:cs typeface="Arial"/>
              </a:rPr>
              <a:t> </a:t>
            </a:r>
            <a:r>
              <a:rPr dirty="0" sz="2350">
                <a:solidFill>
                  <a:srgbClr val="232324"/>
                </a:solidFill>
                <a:latin typeface="Arial"/>
                <a:cs typeface="Arial"/>
              </a:rPr>
              <a:t>for</a:t>
            </a:r>
            <a:r>
              <a:rPr dirty="0" sz="2350" spc="-270">
                <a:solidFill>
                  <a:srgbClr val="232324"/>
                </a:solidFill>
                <a:latin typeface="Arial"/>
                <a:cs typeface="Arial"/>
              </a:rPr>
              <a:t> </a:t>
            </a:r>
            <a:r>
              <a:rPr dirty="0" sz="2350" spc="-135">
                <a:solidFill>
                  <a:srgbClr val="232324"/>
                </a:solidFill>
                <a:latin typeface="Arial"/>
                <a:cs typeface="Arial"/>
              </a:rPr>
              <a:t>78%</a:t>
            </a:r>
            <a:r>
              <a:rPr dirty="0" sz="2350" spc="-235">
                <a:solidFill>
                  <a:srgbClr val="232324"/>
                </a:solidFill>
                <a:latin typeface="Arial"/>
                <a:cs typeface="Arial"/>
              </a:rPr>
              <a:t> </a:t>
            </a:r>
            <a:r>
              <a:rPr dirty="0" sz="2350" spc="-25">
                <a:solidFill>
                  <a:srgbClr val="232324"/>
                </a:solidFill>
                <a:latin typeface="Arial"/>
                <a:cs typeface="Arial"/>
              </a:rPr>
              <a:t>of </a:t>
            </a:r>
            <a:r>
              <a:rPr dirty="0" sz="2350" spc="-90">
                <a:solidFill>
                  <a:srgbClr val="232324"/>
                </a:solidFill>
                <a:latin typeface="Arial"/>
                <a:cs typeface="Arial"/>
              </a:rPr>
              <a:t>cyber</a:t>
            </a:r>
            <a:r>
              <a:rPr dirty="0" sz="2350" spc="-114">
                <a:solidFill>
                  <a:srgbClr val="232324"/>
                </a:solidFill>
                <a:latin typeface="Arial"/>
                <a:cs typeface="Arial"/>
              </a:rPr>
              <a:t> </a:t>
            </a:r>
            <a:r>
              <a:rPr dirty="0" sz="2350" spc="-10">
                <a:solidFill>
                  <a:srgbClr val="363636"/>
                </a:solidFill>
                <a:latin typeface="Arial"/>
                <a:cs typeface="Arial"/>
              </a:rPr>
              <a:t>ins</a:t>
            </a:r>
            <a:r>
              <a:rPr dirty="0" sz="2350" spc="-10">
                <a:solidFill>
                  <a:srgbClr val="0A0A0A"/>
                </a:solidFill>
                <a:latin typeface="Arial"/>
                <a:cs typeface="Arial"/>
              </a:rPr>
              <a:t>u</a:t>
            </a:r>
            <a:r>
              <a:rPr dirty="0" sz="2350" spc="-10">
                <a:solidFill>
                  <a:srgbClr val="232324"/>
                </a:solidFill>
                <a:latin typeface="Arial"/>
                <a:cs typeface="Arial"/>
              </a:rPr>
              <a:t>rancepo</a:t>
            </a:r>
            <a:r>
              <a:rPr dirty="0" sz="2350" spc="-10">
                <a:solidFill>
                  <a:srgbClr val="0A0A0A"/>
                </a:solidFill>
                <a:latin typeface="Arial"/>
                <a:cs typeface="Arial"/>
              </a:rPr>
              <a:t>li</a:t>
            </a:r>
            <a:r>
              <a:rPr dirty="0" sz="2350" spc="-10">
                <a:solidFill>
                  <a:srgbClr val="232324"/>
                </a:solidFill>
                <a:latin typeface="Arial"/>
                <a:cs typeface="Arial"/>
              </a:rPr>
              <a:t>cies.</a:t>
            </a:r>
            <a:endParaRPr sz="2350">
              <a:latin typeface="Arial"/>
              <a:cs typeface="Arial"/>
            </a:endParaRPr>
          </a:p>
          <a:p>
            <a:pPr algn="just" marL="15240" marR="5080" indent="1270">
              <a:lnSpc>
                <a:spcPct val="101600"/>
              </a:lnSpc>
              <a:spcBef>
                <a:spcPts val="1450"/>
              </a:spcBef>
            </a:pPr>
            <a:r>
              <a:rPr dirty="0" sz="2350" spc="-245" b="1">
                <a:solidFill>
                  <a:srgbClr val="0A0A0A"/>
                </a:solidFill>
                <a:latin typeface="Arial"/>
                <a:cs typeface="Arial"/>
              </a:rPr>
              <a:t>RLC-</a:t>
            </a:r>
            <a:r>
              <a:rPr dirty="0" sz="2350" spc="-290" b="1">
                <a:solidFill>
                  <a:srgbClr val="0A0A0A"/>
                </a:solidFill>
                <a:latin typeface="Arial"/>
                <a:cs typeface="Arial"/>
              </a:rPr>
              <a:t>H</a:t>
            </a:r>
            <a:r>
              <a:rPr dirty="0" sz="2350" spc="-220" b="1">
                <a:solidFill>
                  <a:srgbClr val="0A0A0A"/>
                </a:solidFill>
                <a:latin typeface="Arial"/>
                <a:cs typeface="Arial"/>
              </a:rPr>
              <a:t> </a:t>
            </a:r>
            <a:r>
              <a:rPr dirty="0" sz="2350" spc="-160" b="1">
                <a:solidFill>
                  <a:srgbClr val="0A0A0A"/>
                </a:solidFill>
                <a:latin typeface="Arial"/>
                <a:cs typeface="Arial"/>
              </a:rPr>
              <a:t>Edge:</a:t>
            </a:r>
            <a:r>
              <a:rPr dirty="0" sz="2350" spc="-310" b="1">
                <a:solidFill>
                  <a:srgbClr val="0A0A0A"/>
                </a:solidFill>
                <a:latin typeface="Arial"/>
                <a:cs typeface="Arial"/>
              </a:rPr>
              <a:t> </a:t>
            </a:r>
            <a:r>
              <a:rPr dirty="0" sz="2350" spc="-85">
                <a:solidFill>
                  <a:srgbClr val="232324"/>
                </a:solidFill>
                <a:latin typeface="Arial"/>
                <a:cs typeface="Arial"/>
              </a:rPr>
              <a:t>Pre-configured</a:t>
            </a:r>
            <a:r>
              <a:rPr dirty="0" sz="2350" spc="-330">
                <a:solidFill>
                  <a:srgbClr val="232324"/>
                </a:solidFill>
                <a:latin typeface="Arial"/>
                <a:cs typeface="Arial"/>
              </a:rPr>
              <a:t> </a:t>
            </a:r>
            <a:r>
              <a:rPr dirty="0" sz="2350" spc="-100">
                <a:solidFill>
                  <a:srgbClr val="0A0A0A"/>
                </a:solidFill>
                <a:latin typeface="Arial"/>
                <a:cs typeface="Arial"/>
              </a:rPr>
              <a:t>L</a:t>
            </a:r>
            <a:r>
              <a:rPr dirty="0" sz="2350" spc="-100">
                <a:solidFill>
                  <a:srgbClr val="232324"/>
                </a:solidFill>
                <a:latin typeface="Arial"/>
                <a:cs typeface="Arial"/>
              </a:rPr>
              <a:t>evel</a:t>
            </a:r>
            <a:r>
              <a:rPr dirty="0" sz="2350" spc="-420">
                <a:solidFill>
                  <a:srgbClr val="232324"/>
                </a:solidFill>
                <a:latin typeface="Arial"/>
                <a:cs typeface="Arial"/>
              </a:rPr>
              <a:t> </a:t>
            </a:r>
            <a:r>
              <a:rPr dirty="0" sz="2350" spc="-120">
                <a:solidFill>
                  <a:srgbClr val="0A0A0A"/>
                </a:solidFill>
                <a:latin typeface="Arial"/>
                <a:cs typeface="Arial"/>
              </a:rPr>
              <a:t>1</a:t>
            </a:r>
            <a:r>
              <a:rPr dirty="0" sz="2350" spc="-204">
                <a:solidFill>
                  <a:srgbClr val="0A0A0A"/>
                </a:solidFill>
                <a:latin typeface="Arial"/>
                <a:cs typeface="Arial"/>
              </a:rPr>
              <a:t> </a:t>
            </a:r>
            <a:r>
              <a:rPr dirty="0" sz="2350" spc="60">
                <a:solidFill>
                  <a:srgbClr val="232324"/>
                </a:solidFill>
                <a:latin typeface="Arial"/>
                <a:cs typeface="Arial"/>
              </a:rPr>
              <a:t>&amp;</a:t>
            </a:r>
            <a:r>
              <a:rPr dirty="0" sz="2350" spc="25">
                <a:solidFill>
                  <a:srgbClr val="232324"/>
                </a:solidFill>
                <a:latin typeface="Arial"/>
                <a:cs typeface="Arial"/>
              </a:rPr>
              <a:t> </a:t>
            </a:r>
            <a:r>
              <a:rPr dirty="0" sz="2350" spc="65">
                <a:solidFill>
                  <a:srgbClr val="232324"/>
                </a:solidFill>
                <a:latin typeface="Arial"/>
                <a:cs typeface="Arial"/>
              </a:rPr>
              <a:t>2</a:t>
            </a:r>
            <a:r>
              <a:rPr dirty="0" sz="2350" spc="-430">
                <a:solidFill>
                  <a:srgbClr val="232324"/>
                </a:solidFill>
                <a:latin typeface="Arial"/>
                <a:cs typeface="Arial"/>
              </a:rPr>
              <a:t> </a:t>
            </a:r>
            <a:r>
              <a:rPr dirty="0" sz="2350" spc="-20">
                <a:solidFill>
                  <a:srgbClr val="232324"/>
                </a:solidFill>
                <a:latin typeface="Arial"/>
                <a:cs typeface="Arial"/>
              </a:rPr>
              <a:t>p</a:t>
            </a:r>
            <a:r>
              <a:rPr dirty="0" sz="2350" spc="-20">
                <a:solidFill>
                  <a:srgbClr val="0A0A0A"/>
                </a:solidFill>
                <a:latin typeface="Arial"/>
                <a:cs typeface="Arial"/>
              </a:rPr>
              <a:t>r</a:t>
            </a:r>
            <a:r>
              <a:rPr dirty="0" sz="2350" spc="-20">
                <a:solidFill>
                  <a:srgbClr val="232324"/>
                </a:solidFill>
                <a:latin typeface="Arial"/>
                <a:cs typeface="Arial"/>
              </a:rPr>
              <a:t>ofiles</a:t>
            </a:r>
            <a:r>
              <a:rPr dirty="0" sz="2350" spc="-409">
                <a:solidFill>
                  <a:srgbClr val="232324"/>
                </a:solidFill>
                <a:latin typeface="Arial"/>
                <a:cs typeface="Arial"/>
              </a:rPr>
              <a:t> </a:t>
            </a:r>
            <a:r>
              <a:rPr dirty="0" sz="2350" spc="25">
                <a:solidFill>
                  <a:srgbClr val="232324"/>
                </a:solidFill>
                <a:latin typeface="Arial"/>
                <a:cs typeface="Arial"/>
              </a:rPr>
              <a:t>with</a:t>
            </a:r>
            <a:r>
              <a:rPr dirty="0" sz="2350" spc="-335">
                <a:solidFill>
                  <a:srgbClr val="232324"/>
                </a:solidFill>
                <a:latin typeface="Arial"/>
                <a:cs typeface="Arial"/>
              </a:rPr>
              <a:t> </a:t>
            </a:r>
            <a:r>
              <a:rPr dirty="0" sz="2350" spc="-80">
                <a:solidFill>
                  <a:srgbClr val="232324"/>
                </a:solidFill>
                <a:latin typeface="Arial"/>
                <a:cs typeface="Arial"/>
              </a:rPr>
              <a:t>automated</a:t>
            </a:r>
            <a:r>
              <a:rPr dirty="0" sz="2350" spc="-190">
                <a:solidFill>
                  <a:srgbClr val="232324"/>
                </a:solidFill>
                <a:latin typeface="Arial"/>
                <a:cs typeface="Arial"/>
              </a:rPr>
              <a:t> </a:t>
            </a:r>
            <a:r>
              <a:rPr dirty="0" sz="2350" spc="-60">
                <a:solidFill>
                  <a:srgbClr val="232324"/>
                </a:solidFill>
                <a:latin typeface="Arial"/>
                <a:cs typeface="Arial"/>
              </a:rPr>
              <a:t>sco</a:t>
            </a:r>
            <a:r>
              <a:rPr dirty="0" sz="2350" spc="-60">
                <a:solidFill>
                  <a:srgbClr val="0A0A0A"/>
                </a:solidFill>
                <a:latin typeface="Arial"/>
                <a:cs typeface="Arial"/>
              </a:rPr>
              <a:t>r</a:t>
            </a:r>
            <a:r>
              <a:rPr dirty="0" sz="2350" spc="-60">
                <a:solidFill>
                  <a:srgbClr val="363636"/>
                </a:solidFill>
                <a:latin typeface="Arial"/>
                <a:cs typeface="Arial"/>
              </a:rPr>
              <a:t>ing</a:t>
            </a:r>
            <a:r>
              <a:rPr dirty="0" sz="2350" spc="-310">
                <a:solidFill>
                  <a:srgbClr val="363636"/>
                </a:solidFill>
                <a:latin typeface="Arial"/>
                <a:cs typeface="Arial"/>
              </a:rPr>
              <a:t> </a:t>
            </a:r>
            <a:r>
              <a:rPr dirty="0" sz="2350" spc="-100">
                <a:solidFill>
                  <a:srgbClr val="232324"/>
                </a:solidFill>
                <a:latin typeface="Arial"/>
                <a:cs typeface="Arial"/>
              </a:rPr>
              <a:t>and</a:t>
            </a:r>
            <a:r>
              <a:rPr dirty="0" sz="2350" spc="-55">
                <a:solidFill>
                  <a:srgbClr val="232324"/>
                </a:solidFill>
                <a:latin typeface="Arial"/>
                <a:cs typeface="Arial"/>
              </a:rPr>
              <a:t> </a:t>
            </a:r>
            <a:r>
              <a:rPr dirty="0" sz="2350" spc="-80">
                <a:solidFill>
                  <a:srgbClr val="232324"/>
                </a:solidFill>
                <a:latin typeface="Arial"/>
                <a:cs typeface="Arial"/>
              </a:rPr>
              <a:t>audit-</a:t>
            </a:r>
            <a:r>
              <a:rPr dirty="0" sz="2350" spc="-95">
                <a:solidFill>
                  <a:srgbClr val="232324"/>
                </a:solidFill>
                <a:latin typeface="Arial"/>
                <a:cs typeface="Arial"/>
              </a:rPr>
              <a:t>ready</a:t>
            </a:r>
            <a:r>
              <a:rPr dirty="0" sz="2350" spc="-55">
                <a:solidFill>
                  <a:srgbClr val="232324"/>
                </a:solidFill>
                <a:latin typeface="Arial"/>
                <a:cs typeface="Arial"/>
              </a:rPr>
              <a:t> </a:t>
            </a:r>
            <a:r>
              <a:rPr dirty="0" sz="2350" spc="-30">
                <a:solidFill>
                  <a:srgbClr val="232324"/>
                </a:solidFill>
                <a:latin typeface="Arial"/>
                <a:cs typeface="Arial"/>
              </a:rPr>
              <a:t>report</a:t>
            </a:r>
            <a:r>
              <a:rPr dirty="0" sz="2350" spc="-30">
                <a:solidFill>
                  <a:srgbClr val="0A0A0A"/>
                </a:solidFill>
                <a:latin typeface="Arial"/>
                <a:cs typeface="Arial"/>
              </a:rPr>
              <a:t>i</a:t>
            </a:r>
            <a:r>
              <a:rPr dirty="0" sz="2350" spc="-30">
                <a:solidFill>
                  <a:srgbClr val="232324"/>
                </a:solidFill>
                <a:latin typeface="Arial"/>
                <a:cs typeface="Arial"/>
              </a:rPr>
              <a:t>ng</a:t>
            </a:r>
            <a:r>
              <a:rPr dirty="0" sz="2350" spc="-30">
                <a:solidFill>
                  <a:srgbClr val="0A0A0A"/>
                </a:solidFill>
                <a:latin typeface="Arial"/>
                <a:cs typeface="Arial"/>
              </a:rPr>
              <a:t>.</a:t>
            </a:r>
            <a:endParaRPr sz="23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583819" y="2336535"/>
            <a:ext cx="4322445" cy="969010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12700" marR="5080" indent="179070">
              <a:lnSpc>
                <a:spcPts val="3720"/>
              </a:lnSpc>
              <a:spcBef>
                <a:spcPts val="185"/>
              </a:spcBef>
            </a:pPr>
            <a:r>
              <a:rPr dirty="0" sz="2950" spc="75" b="1">
                <a:solidFill>
                  <a:srgbClr val="0A0A0A"/>
                </a:solidFill>
                <a:latin typeface="Arial"/>
                <a:cs typeface="Arial"/>
              </a:rPr>
              <a:t>Vulnerability</a:t>
            </a:r>
            <a:r>
              <a:rPr dirty="0" sz="2950" spc="204" b="1">
                <a:solidFill>
                  <a:srgbClr val="0A0A0A"/>
                </a:solidFill>
                <a:latin typeface="Arial"/>
                <a:cs typeface="Arial"/>
              </a:rPr>
              <a:t> </a:t>
            </a:r>
            <a:r>
              <a:rPr dirty="0" sz="3100" spc="-120" b="1">
                <a:solidFill>
                  <a:srgbClr val="0A0A0A"/>
                </a:solidFill>
                <a:latin typeface="Arial"/>
                <a:cs typeface="Arial"/>
              </a:rPr>
              <a:t>&amp;</a:t>
            </a:r>
            <a:r>
              <a:rPr dirty="0" sz="3100" spc="-150" b="1">
                <a:solidFill>
                  <a:srgbClr val="0A0A0A"/>
                </a:solidFill>
                <a:latin typeface="Arial"/>
                <a:cs typeface="Arial"/>
              </a:rPr>
              <a:t> </a:t>
            </a:r>
            <a:r>
              <a:rPr dirty="0" sz="2950" spc="110" b="1">
                <a:solidFill>
                  <a:srgbClr val="0A0A0A"/>
                </a:solidFill>
                <a:latin typeface="Arial"/>
                <a:cs typeface="Arial"/>
              </a:rPr>
              <a:t>Patch </a:t>
            </a:r>
            <a:r>
              <a:rPr dirty="0" sz="2950" spc="160" b="1">
                <a:solidFill>
                  <a:srgbClr val="0A0A0A"/>
                </a:solidFill>
                <a:latin typeface="Arial"/>
                <a:cs typeface="Arial"/>
              </a:rPr>
              <a:t>Management</a:t>
            </a:r>
            <a:r>
              <a:rPr dirty="0" sz="2950" spc="204" b="1">
                <a:solidFill>
                  <a:srgbClr val="0A0A0A"/>
                </a:solidFill>
                <a:latin typeface="Arial"/>
                <a:cs typeface="Arial"/>
              </a:rPr>
              <a:t> </a:t>
            </a:r>
            <a:r>
              <a:rPr dirty="0" sz="2950" spc="180" b="1">
                <a:solidFill>
                  <a:srgbClr val="0A0A0A"/>
                </a:solidFill>
                <a:latin typeface="Arial"/>
                <a:cs typeface="Arial"/>
              </a:rPr>
              <a:t>($0.86B)</a:t>
            </a:r>
            <a:endParaRPr sz="29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367465" y="5087640"/>
            <a:ext cx="4902200" cy="32962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3970" marR="1115695" indent="10795">
              <a:lnSpc>
                <a:spcPct val="100000"/>
              </a:lnSpc>
              <a:spcBef>
                <a:spcPts val="110"/>
              </a:spcBef>
            </a:pPr>
            <a:r>
              <a:rPr dirty="0" sz="2350" spc="-160" b="1">
                <a:solidFill>
                  <a:srgbClr val="0A0A0A"/>
                </a:solidFill>
                <a:latin typeface="Arial"/>
                <a:cs typeface="Arial"/>
              </a:rPr>
              <a:t>Who</a:t>
            </a:r>
            <a:r>
              <a:rPr dirty="0" sz="2350" spc="-160" b="1">
                <a:solidFill>
                  <a:srgbClr val="232324"/>
                </a:solidFill>
                <a:latin typeface="Arial"/>
                <a:cs typeface="Arial"/>
              </a:rPr>
              <a:t>:</a:t>
            </a:r>
            <a:r>
              <a:rPr dirty="0" sz="2350" spc="-409" b="1">
                <a:solidFill>
                  <a:srgbClr val="232324"/>
                </a:solidFill>
                <a:latin typeface="Arial"/>
                <a:cs typeface="Arial"/>
              </a:rPr>
              <a:t> </a:t>
            </a:r>
            <a:r>
              <a:rPr dirty="0" sz="2350" spc="-10">
                <a:solidFill>
                  <a:srgbClr val="232324"/>
                </a:solidFill>
                <a:latin typeface="Arial"/>
                <a:cs typeface="Arial"/>
              </a:rPr>
              <a:t>All</a:t>
            </a:r>
            <a:r>
              <a:rPr dirty="0" sz="2350" spc="-310">
                <a:solidFill>
                  <a:srgbClr val="232324"/>
                </a:solidFill>
                <a:latin typeface="Arial"/>
                <a:cs typeface="Arial"/>
              </a:rPr>
              <a:t> </a:t>
            </a:r>
            <a:r>
              <a:rPr dirty="0" sz="2350" spc="-105">
                <a:solidFill>
                  <a:srgbClr val="232324"/>
                </a:solidFill>
                <a:latin typeface="Arial"/>
                <a:cs typeface="Arial"/>
              </a:rPr>
              <a:t>large</a:t>
            </a:r>
            <a:r>
              <a:rPr dirty="0" sz="2350" spc="-280">
                <a:solidFill>
                  <a:srgbClr val="232324"/>
                </a:solidFill>
                <a:latin typeface="Arial"/>
                <a:cs typeface="Arial"/>
              </a:rPr>
              <a:t> </a:t>
            </a:r>
            <a:r>
              <a:rPr dirty="0" sz="2350" spc="-95">
                <a:solidFill>
                  <a:srgbClr val="232324"/>
                </a:solidFill>
                <a:latin typeface="Arial"/>
                <a:cs typeface="Arial"/>
              </a:rPr>
              <a:t>enterprises</a:t>
            </a:r>
            <a:r>
              <a:rPr dirty="0" sz="2350" spc="70">
                <a:solidFill>
                  <a:srgbClr val="232324"/>
                </a:solidFill>
                <a:latin typeface="Arial"/>
                <a:cs typeface="Arial"/>
              </a:rPr>
              <a:t> </a:t>
            </a:r>
            <a:r>
              <a:rPr dirty="0" sz="2350" spc="-20">
                <a:solidFill>
                  <a:srgbClr val="232324"/>
                </a:solidFill>
                <a:latin typeface="Arial"/>
                <a:cs typeface="Arial"/>
              </a:rPr>
              <a:t>with </a:t>
            </a:r>
            <a:r>
              <a:rPr dirty="0" sz="2350" spc="-95">
                <a:solidFill>
                  <a:srgbClr val="232324"/>
                </a:solidFill>
                <a:latin typeface="Arial"/>
                <a:cs typeface="Arial"/>
              </a:rPr>
              <a:t>compliance</a:t>
            </a:r>
            <a:r>
              <a:rPr dirty="0" sz="2350" spc="-175">
                <a:solidFill>
                  <a:srgbClr val="232324"/>
                </a:solidFill>
                <a:latin typeface="Arial"/>
                <a:cs typeface="Arial"/>
              </a:rPr>
              <a:t> </a:t>
            </a:r>
            <a:r>
              <a:rPr dirty="0" sz="2350" spc="-75">
                <a:solidFill>
                  <a:srgbClr val="232324"/>
                </a:solidFill>
                <a:latin typeface="Arial"/>
                <a:cs typeface="Arial"/>
              </a:rPr>
              <a:t>and</a:t>
            </a:r>
            <a:r>
              <a:rPr dirty="0" sz="2350" spc="-245">
                <a:solidFill>
                  <a:srgbClr val="232324"/>
                </a:solidFill>
                <a:latin typeface="Arial"/>
                <a:cs typeface="Arial"/>
              </a:rPr>
              <a:t> </a:t>
            </a:r>
            <a:r>
              <a:rPr dirty="0" sz="2350">
                <a:solidFill>
                  <a:srgbClr val="232324"/>
                </a:solidFill>
                <a:latin typeface="Arial"/>
                <a:cs typeface="Arial"/>
              </a:rPr>
              <a:t>upti</a:t>
            </a:r>
            <a:r>
              <a:rPr dirty="0" sz="2350">
                <a:solidFill>
                  <a:srgbClr val="0A0A0A"/>
                </a:solidFill>
                <a:latin typeface="Arial"/>
                <a:cs typeface="Arial"/>
              </a:rPr>
              <a:t>m</a:t>
            </a:r>
            <a:r>
              <a:rPr dirty="0" sz="2350">
                <a:solidFill>
                  <a:srgbClr val="232324"/>
                </a:solidFill>
                <a:latin typeface="Arial"/>
                <a:cs typeface="Arial"/>
              </a:rPr>
              <a:t>e</a:t>
            </a:r>
            <a:r>
              <a:rPr dirty="0" sz="2350" spc="-365">
                <a:solidFill>
                  <a:srgbClr val="232324"/>
                </a:solidFill>
                <a:latin typeface="Arial"/>
                <a:cs typeface="Arial"/>
              </a:rPr>
              <a:t> </a:t>
            </a:r>
            <a:r>
              <a:rPr dirty="0" sz="2350" spc="-75">
                <a:solidFill>
                  <a:srgbClr val="232324"/>
                </a:solidFill>
                <a:latin typeface="Arial"/>
                <a:cs typeface="Arial"/>
              </a:rPr>
              <a:t>needs.</a:t>
            </a:r>
            <a:endParaRPr sz="2350">
              <a:latin typeface="Arial"/>
              <a:cs typeface="Arial"/>
            </a:endParaRPr>
          </a:p>
          <a:p>
            <a:pPr marL="13970" marR="575945" indent="2540">
              <a:lnSpc>
                <a:spcPct val="101600"/>
              </a:lnSpc>
              <a:spcBef>
                <a:spcPts val="1455"/>
              </a:spcBef>
            </a:pPr>
            <a:r>
              <a:rPr dirty="0" sz="2350" spc="-75" b="1">
                <a:solidFill>
                  <a:srgbClr val="0A0A0A"/>
                </a:solidFill>
                <a:latin typeface="Arial"/>
                <a:cs typeface="Arial"/>
              </a:rPr>
              <a:t>Driver</a:t>
            </a:r>
            <a:r>
              <a:rPr dirty="0" sz="2350" spc="-75" b="1">
                <a:solidFill>
                  <a:srgbClr val="232324"/>
                </a:solidFill>
                <a:latin typeface="Arial"/>
                <a:cs typeface="Arial"/>
              </a:rPr>
              <a:t>:</a:t>
            </a:r>
            <a:r>
              <a:rPr dirty="0" sz="2350" spc="-385" b="1">
                <a:solidFill>
                  <a:srgbClr val="232324"/>
                </a:solidFill>
                <a:latin typeface="Arial"/>
                <a:cs typeface="Arial"/>
              </a:rPr>
              <a:t> </a:t>
            </a:r>
            <a:r>
              <a:rPr dirty="0" sz="2350" spc="-240">
                <a:solidFill>
                  <a:srgbClr val="232324"/>
                </a:solidFill>
                <a:latin typeface="Arial"/>
                <a:cs typeface="Arial"/>
              </a:rPr>
              <a:t>PCI-</a:t>
            </a:r>
            <a:r>
              <a:rPr dirty="0" sz="2350" spc="-325">
                <a:solidFill>
                  <a:srgbClr val="232324"/>
                </a:solidFill>
                <a:latin typeface="Arial"/>
                <a:cs typeface="Arial"/>
              </a:rPr>
              <a:t>DSS</a:t>
            </a:r>
            <a:r>
              <a:rPr dirty="0" sz="2350">
                <a:solidFill>
                  <a:srgbClr val="232324"/>
                </a:solidFill>
                <a:latin typeface="Arial"/>
                <a:cs typeface="Arial"/>
              </a:rPr>
              <a:t> </a:t>
            </a:r>
            <a:r>
              <a:rPr dirty="0" sz="2350" spc="-110">
                <a:solidFill>
                  <a:srgbClr val="232324"/>
                </a:solidFill>
                <a:latin typeface="Arial"/>
                <a:cs typeface="Arial"/>
              </a:rPr>
              <a:t>mandates</a:t>
            </a:r>
            <a:r>
              <a:rPr dirty="0" sz="2350" spc="-120">
                <a:solidFill>
                  <a:srgbClr val="232324"/>
                </a:solidFill>
                <a:latin typeface="Arial"/>
                <a:cs typeface="Arial"/>
              </a:rPr>
              <a:t> </a:t>
            </a:r>
            <a:r>
              <a:rPr dirty="0" sz="2350" spc="-10">
                <a:solidFill>
                  <a:srgbClr val="232324"/>
                </a:solidFill>
                <a:latin typeface="Arial"/>
                <a:cs typeface="Arial"/>
              </a:rPr>
              <a:t>monthly </a:t>
            </a:r>
            <a:r>
              <a:rPr dirty="0" sz="2350" spc="-75">
                <a:solidFill>
                  <a:srgbClr val="232324"/>
                </a:solidFill>
                <a:latin typeface="Arial"/>
                <a:cs typeface="Arial"/>
              </a:rPr>
              <a:t>patching;</a:t>
            </a:r>
            <a:r>
              <a:rPr dirty="0" sz="2350" spc="-210">
                <a:solidFill>
                  <a:srgbClr val="232324"/>
                </a:solidFill>
                <a:latin typeface="Arial"/>
                <a:cs typeface="Arial"/>
              </a:rPr>
              <a:t> </a:t>
            </a:r>
            <a:r>
              <a:rPr dirty="0" sz="2350" spc="-105">
                <a:solidFill>
                  <a:srgbClr val="232324"/>
                </a:solidFill>
                <a:latin typeface="Arial"/>
                <a:cs typeface="Arial"/>
              </a:rPr>
              <a:t>38%</a:t>
            </a:r>
            <a:r>
              <a:rPr dirty="0" sz="2350" spc="-325">
                <a:solidFill>
                  <a:srgbClr val="232324"/>
                </a:solidFill>
                <a:latin typeface="Arial"/>
                <a:cs typeface="Arial"/>
              </a:rPr>
              <a:t> </a:t>
            </a:r>
            <a:r>
              <a:rPr dirty="0" sz="2350">
                <a:solidFill>
                  <a:srgbClr val="232324"/>
                </a:solidFill>
                <a:latin typeface="Arial"/>
                <a:cs typeface="Arial"/>
              </a:rPr>
              <a:t>of</a:t>
            </a:r>
            <a:r>
              <a:rPr dirty="0" sz="2350" spc="-254">
                <a:solidFill>
                  <a:srgbClr val="232324"/>
                </a:solidFill>
                <a:latin typeface="Arial"/>
                <a:cs typeface="Arial"/>
              </a:rPr>
              <a:t> </a:t>
            </a:r>
            <a:r>
              <a:rPr dirty="0" sz="2350" spc="-95">
                <a:solidFill>
                  <a:srgbClr val="232324"/>
                </a:solidFill>
                <a:latin typeface="Arial"/>
                <a:cs typeface="Arial"/>
              </a:rPr>
              <a:t>new</a:t>
            </a:r>
            <a:r>
              <a:rPr dirty="0" sz="2350" spc="-275">
                <a:solidFill>
                  <a:srgbClr val="232324"/>
                </a:solidFill>
                <a:latin typeface="Arial"/>
                <a:cs typeface="Arial"/>
              </a:rPr>
              <a:t> </a:t>
            </a:r>
            <a:r>
              <a:rPr dirty="0" sz="2350" spc="-315">
                <a:solidFill>
                  <a:srgbClr val="232324"/>
                </a:solidFill>
                <a:latin typeface="Arial"/>
                <a:cs typeface="Arial"/>
              </a:rPr>
              <a:t>CVEs</a:t>
            </a:r>
            <a:r>
              <a:rPr dirty="0" sz="2350" spc="-114">
                <a:solidFill>
                  <a:srgbClr val="232324"/>
                </a:solidFill>
                <a:latin typeface="Arial"/>
                <a:cs typeface="Arial"/>
              </a:rPr>
              <a:t> </a:t>
            </a:r>
            <a:r>
              <a:rPr dirty="0" sz="2350" spc="-25">
                <a:solidFill>
                  <a:srgbClr val="232324"/>
                </a:solidFill>
                <a:latin typeface="Arial"/>
                <a:cs typeface="Arial"/>
              </a:rPr>
              <a:t>are </a:t>
            </a:r>
            <a:r>
              <a:rPr dirty="0" sz="2350" spc="-10">
                <a:solidFill>
                  <a:srgbClr val="232324"/>
                </a:solidFill>
                <a:latin typeface="Arial"/>
                <a:cs typeface="Arial"/>
              </a:rPr>
              <a:t>critical/high.</a:t>
            </a:r>
            <a:endParaRPr sz="2350">
              <a:latin typeface="Arial"/>
              <a:cs typeface="Arial"/>
            </a:endParaRPr>
          </a:p>
          <a:p>
            <a:pPr marL="12700" marR="815975" indent="4445">
              <a:lnSpc>
                <a:spcPct val="100000"/>
              </a:lnSpc>
              <a:spcBef>
                <a:spcPts val="1500"/>
              </a:spcBef>
            </a:pPr>
            <a:r>
              <a:rPr dirty="0" sz="2350" spc="-250" b="1">
                <a:solidFill>
                  <a:srgbClr val="0A0A0A"/>
                </a:solidFill>
                <a:latin typeface="Arial"/>
                <a:cs typeface="Arial"/>
              </a:rPr>
              <a:t>RLC-</a:t>
            </a:r>
            <a:r>
              <a:rPr dirty="0" sz="2350" spc="-290" b="1">
                <a:solidFill>
                  <a:srgbClr val="0A0A0A"/>
                </a:solidFill>
                <a:latin typeface="Arial"/>
                <a:cs typeface="Arial"/>
              </a:rPr>
              <a:t>H</a:t>
            </a:r>
            <a:r>
              <a:rPr dirty="0" sz="2350" spc="-180" b="1">
                <a:solidFill>
                  <a:srgbClr val="0A0A0A"/>
                </a:solidFill>
                <a:latin typeface="Arial"/>
                <a:cs typeface="Arial"/>
              </a:rPr>
              <a:t> </a:t>
            </a:r>
            <a:r>
              <a:rPr dirty="0" sz="2350" spc="-165" b="1">
                <a:solidFill>
                  <a:srgbClr val="0A0A0A"/>
                </a:solidFill>
                <a:latin typeface="Arial"/>
                <a:cs typeface="Arial"/>
              </a:rPr>
              <a:t>Edge:</a:t>
            </a:r>
            <a:r>
              <a:rPr dirty="0" sz="2350" spc="-290" b="1">
                <a:solidFill>
                  <a:srgbClr val="0A0A0A"/>
                </a:solidFill>
                <a:latin typeface="Arial"/>
                <a:cs typeface="Arial"/>
              </a:rPr>
              <a:t> </a:t>
            </a:r>
            <a:r>
              <a:rPr dirty="0" sz="2350" spc="-105">
                <a:solidFill>
                  <a:srgbClr val="232324"/>
                </a:solidFill>
                <a:latin typeface="Arial"/>
                <a:cs typeface="Arial"/>
              </a:rPr>
              <a:t>5-</a:t>
            </a:r>
            <a:r>
              <a:rPr dirty="0" sz="2350" spc="-120">
                <a:solidFill>
                  <a:srgbClr val="232324"/>
                </a:solidFill>
                <a:latin typeface="Arial"/>
                <a:cs typeface="Arial"/>
              </a:rPr>
              <a:t>year</a:t>
            </a:r>
            <a:r>
              <a:rPr dirty="0" sz="2350" spc="-140">
                <a:solidFill>
                  <a:srgbClr val="232324"/>
                </a:solidFill>
                <a:latin typeface="Arial"/>
                <a:cs typeface="Arial"/>
              </a:rPr>
              <a:t> </a:t>
            </a:r>
            <a:r>
              <a:rPr dirty="0" sz="2350" spc="-165">
                <a:solidFill>
                  <a:srgbClr val="232324"/>
                </a:solidFill>
                <a:latin typeface="Arial"/>
                <a:cs typeface="Arial"/>
              </a:rPr>
              <a:t>Long-</a:t>
            </a:r>
            <a:r>
              <a:rPr dirty="0" sz="2350" spc="-20">
                <a:solidFill>
                  <a:srgbClr val="232324"/>
                </a:solidFill>
                <a:latin typeface="Arial"/>
                <a:cs typeface="Arial"/>
              </a:rPr>
              <a:t>Term </a:t>
            </a:r>
            <a:r>
              <a:rPr dirty="0" sz="2350" spc="-60">
                <a:solidFill>
                  <a:srgbClr val="232324"/>
                </a:solidFill>
                <a:latin typeface="Arial"/>
                <a:cs typeface="Arial"/>
              </a:rPr>
              <a:t>Support</a:t>
            </a:r>
            <a:r>
              <a:rPr dirty="0" sz="2350" spc="-100">
                <a:solidFill>
                  <a:srgbClr val="232324"/>
                </a:solidFill>
                <a:latin typeface="Arial"/>
                <a:cs typeface="Arial"/>
              </a:rPr>
              <a:t> </a:t>
            </a:r>
            <a:r>
              <a:rPr dirty="0" sz="2350" spc="-270">
                <a:solidFill>
                  <a:srgbClr val="232324"/>
                </a:solidFill>
                <a:latin typeface="Arial"/>
                <a:cs typeface="Arial"/>
              </a:rPr>
              <a:t>(LTS)</a:t>
            </a:r>
            <a:r>
              <a:rPr dirty="0" sz="2350" spc="5">
                <a:solidFill>
                  <a:srgbClr val="232324"/>
                </a:solidFill>
                <a:latin typeface="Arial"/>
                <a:cs typeface="Arial"/>
              </a:rPr>
              <a:t> </a:t>
            </a:r>
            <a:r>
              <a:rPr dirty="0" sz="2350">
                <a:solidFill>
                  <a:srgbClr val="232324"/>
                </a:solidFill>
                <a:latin typeface="Arial"/>
                <a:cs typeface="Arial"/>
              </a:rPr>
              <a:t>with</a:t>
            </a:r>
            <a:r>
              <a:rPr dirty="0" sz="2350" spc="-290">
                <a:solidFill>
                  <a:srgbClr val="232324"/>
                </a:solidFill>
                <a:latin typeface="Arial"/>
                <a:cs typeface="Arial"/>
              </a:rPr>
              <a:t> </a:t>
            </a:r>
            <a:r>
              <a:rPr dirty="0" sz="2350" spc="-120">
                <a:solidFill>
                  <a:srgbClr val="232324"/>
                </a:solidFill>
                <a:latin typeface="Arial"/>
                <a:cs typeface="Arial"/>
              </a:rPr>
              <a:t>FlPS-</a:t>
            </a:r>
            <a:r>
              <a:rPr dirty="0" sz="2350" spc="-105">
                <a:solidFill>
                  <a:srgbClr val="232324"/>
                </a:solidFill>
                <a:latin typeface="Arial"/>
                <a:cs typeface="Arial"/>
              </a:rPr>
              <a:t>validated</a:t>
            </a:r>
            <a:endParaRPr sz="2350">
              <a:latin typeface="Arial"/>
              <a:cs typeface="Arial"/>
            </a:endParaRPr>
          </a:p>
          <a:p>
            <a:pPr marL="19050">
              <a:lnSpc>
                <a:spcPct val="100000"/>
              </a:lnSpc>
              <a:spcBef>
                <a:spcPts val="90"/>
              </a:spcBef>
            </a:pPr>
            <a:r>
              <a:rPr dirty="0" sz="2350" spc="-114">
                <a:solidFill>
                  <a:srgbClr val="232324"/>
                </a:solidFill>
                <a:latin typeface="Arial"/>
                <a:cs typeface="Arial"/>
              </a:rPr>
              <a:t>patches</a:t>
            </a:r>
            <a:r>
              <a:rPr dirty="0" sz="2350" spc="-210">
                <a:solidFill>
                  <a:srgbClr val="232324"/>
                </a:solidFill>
                <a:latin typeface="Arial"/>
                <a:cs typeface="Arial"/>
              </a:rPr>
              <a:t> </a:t>
            </a:r>
            <a:r>
              <a:rPr dirty="0" sz="2350">
                <a:solidFill>
                  <a:srgbClr val="232324"/>
                </a:solidFill>
                <a:latin typeface="Arial"/>
                <a:cs typeface="Arial"/>
              </a:rPr>
              <a:t>tha</a:t>
            </a:r>
            <a:r>
              <a:rPr dirty="0" sz="2350">
                <a:solidFill>
                  <a:srgbClr val="0A0A0A"/>
                </a:solidFill>
                <a:latin typeface="Arial"/>
                <a:cs typeface="Arial"/>
              </a:rPr>
              <a:t>t</a:t>
            </a:r>
            <a:r>
              <a:rPr dirty="0" sz="2350" spc="-15">
                <a:solidFill>
                  <a:srgbClr val="0A0A0A"/>
                </a:solidFill>
                <a:latin typeface="Arial"/>
                <a:cs typeface="Arial"/>
              </a:rPr>
              <a:t> </a:t>
            </a:r>
            <a:r>
              <a:rPr dirty="0" sz="2350" spc="-135">
                <a:solidFill>
                  <a:srgbClr val="232324"/>
                </a:solidFill>
                <a:latin typeface="Arial"/>
                <a:cs typeface="Arial"/>
              </a:rPr>
              <a:t>preserve</a:t>
            </a:r>
            <a:r>
              <a:rPr dirty="0" sz="2350" spc="-95">
                <a:solidFill>
                  <a:srgbClr val="232324"/>
                </a:solidFill>
                <a:latin typeface="Arial"/>
                <a:cs typeface="Arial"/>
              </a:rPr>
              <a:t> compliance</a:t>
            </a:r>
            <a:r>
              <a:rPr dirty="0" sz="2350" spc="-190">
                <a:solidFill>
                  <a:srgbClr val="232324"/>
                </a:solidFill>
                <a:latin typeface="Arial"/>
                <a:cs typeface="Arial"/>
              </a:rPr>
              <a:t> </a:t>
            </a:r>
            <a:r>
              <a:rPr dirty="0" sz="2350" spc="-10">
                <a:solidFill>
                  <a:srgbClr val="363636"/>
                </a:solidFill>
                <a:latin typeface="Arial"/>
                <a:cs typeface="Arial"/>
              </a:rPr>
              <a:t>state.</a:t>
            </a:r>
            <a:endParaRPr sz="23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263734" y="2368450"/>
            <a:ext cx="3801110" cy="937260"/>
          </a:xfrm>
          <a:prstGeom prst="rect">
            <a:avLst/>
          </a:prstGeom>
        </p:spPr>
        <p:txBody>
          <a:bodyPr wrap="square" lIns="0" tIns="4445" rIns="0" bIns="0" rtlCol="0" vert="horz">
            <a:spAutoFit/>
          </a:bodyPr>
          <a:lstStyle/>
          <a:p>
            <a:pPr marL="12700" marR="5080" indent="254635">
              <a:lnSpc>
                <a:spcPct val="102200"/>
              </a:lnSpc>
              <a:spcBef>
                <a:spcPts val="35"/>
              </a:spcBef>
            </a:pPr>
            <a:r>
              <a:rPr dirty="0" sz="2950" spc="95" b="1">
                <a:solidFill>
                  <a:srgbClr val="0A0A0A"/>
                </a:solidFill>
                <a:latin typeface="Arial"/>
                <a:cs typeface="Arial"/>
              </a:rPr>
              <a:t>Proactive</a:t>
            </a:r>
            <a:r>
              <a:rPr dirty="0" sz="2950" spc="55" b="1">
                <a:solidFill>
                  <a:srgbClr val="0A0A0A"/>
                </a:solidFill>
                <a:latin typeface="Arial"/>
                <a:cs typeface="Arial"/>
              </a:rPr>
              <a:t> </a:t>
            </a:r>
            <a:r>
              <a:rPr dirty="0" sz="2950" spc="125" b="1">
                <a:solidFill>
                  <a:srgbClr val="0A0A0A"/>
                </a:solidFill>
                <a:latin typeface="Arial"/>
                <a:cs typeface="Arial"/>
              </a:rPr>
              <a:t>Threat </a:t>
            </a:r>
            <a:r>
              <a:rPr dirty="0" sz="2950" spc="95" b="1">
                <a:solidFill>
                  <a:srgbClr val="0A0A0A"/>
                </a:solidFill>
                <a:latin typeface="Arial"/>
                <a:cs typeface="Arial"/>
              </a:rPr>
              <a:t>Protection</a:t>
            </a:r>
            <a:r>
              <a:rPr dirty="0" sz="2950" spc="185" b="1">
                <a:solidFill>
                  <a:srgbClr val="0A0A0A"/>
                </a:solidFill>
                <a:latin typeface="Arial"/>
                <a:cs typeface="Arial"/>
              </a:rPr>
              <a:t> </a:t>
            </a:r>
            <a:r>
              <a:rPr dirty="0" sz="2950" spc="180" b="1">
                <a:solidFill>
                  <a:srgbClr val="0A0A0A"/>
                </a:solidFill>
                <a:latin typeface="Arial"/>
                <a:cs typeface="Arial"/>
              </a:rPr>
              <a:t>($0.58B)</a:t>
            </a:r>
            <a:endParaRPr sz="29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791295" y="5074874"/>
            <a:ext cx="4684395" cy="4036695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 marL="25400" marR="5080" indent="1270">
              <a:lnSpc>
                <a:spcPct val="103400"/>
              </a:lnSpc>
              <a:spcBef>
                <a:spcPts val="15"/>
              </a:spcBef>
            </a:pPr>
            <a:r>
              <a:rPr dirty="0" sz="2350" spc="-170" b="1">
                <a:solidFill>
                  <a:srgbClr val="0A0A0A"/>
                </a:solidFill>
                <a:latin typeface="Arial"/>
                <a:cs typeface="Arial"/>
              </a:rPr>
              <a:t>Who:</a:t>
            </a:r>
            <a:r>
              <a:rPr dirty="0" sz="2350" spc="-290" b="1">
                <a:solidFill>
                  <a:srgbClr val="0A0A0A"/>
                </a:solidFill>
                <a:latin typeface="Arial"/>
                <a:cs typeface="Arial"/>
              </a:rPr>
              <a:t> </a:t>
            </a:r>
            <a:r>
              <a:rPr dirty="0" sz="2350" spc="-85">
                <a:solidFill>
                  <a:srgbClr val="0A0A0A"/>
                </a:solidFill>
                <a:latin typeface="Arial"/>
                <a:cs typeface="Arial"/>
              </a:rPr>
              <a:t>H</a:t>
            </a:r>
            <a:r>
              <a:rPr dirty="0" sz="2350" spc="-85">
                <a:solidFill>
                  <a:srgbClr val="232324"/>
                </a:solidFill>
                <a:latin typeface="Arial"/>
                <a:cs typeface="Arial"/>
              </a:rPr>
              <a:t>igh-</a:t>
            </a:r>
            <a:r>
              <a:rPr dirty="0" sz="2350" spc="-60">
                <a:solidFill>
                  <a:srgbClr val="232324"/>
                </a:solidFill>
                <a:latin typeface="Arial"/>
                <a:cs typeface="Arial"/>
              </a:rPr>
              <a:t>valuetargets</a:t>
            </a:r>
            <a:r>
              <a:rPr dirty="0" sz="2350" spc="-125">
                <a:solidFill>
                  <a:srgbClr val="232324"/>
                </a:solidFill>
                <a:latin typeface="Arial"/>
                <a:cs typeface="Arial"/>
              </a:rPr>
              <a:t> </a:t>
            </a:r>
            <a:r>
              <a:rPr dirty="0" sz="2350" spc="-70">
                <a:solidFill>
                  <a:srgbClr val="232324"/>
                </a:solidFill>
                <a:latin typeface="Arial"/>
                <a:cs typeface="Arial"/>
              </a:rPr>
              <a:t>(government, </a:t>
            </a:r>
            <a:r>
              <a:rPr dirty="0" sz="2350" spc="-75">
                <a:solidFill>
                  <a:srgbClr val="232324"/>
                </a:solidFill>
                <a:latin typeface="Arial"/>
                <a:cs typeface="Arial"/>
              </a:rPr>
              <a:t>finance,</a:t>
            </a:r>
            <a:r>
              <a:rPr dirty="0" sz="2350" spc="-185">
                <a:solidFill>
                  <a:srgbClr val="232324"/>
                </a:solidFill>
                <a:latin typeface="Arial"/>
                <a:cs typeface="Arial"/>
              </a:rPr>
              <a:t> </a:t>
            </a:r>
            <a:r>
              <a:rPr dirty="0" sz="2350" spc="-20">
                <a:solidFill>
                  <a:srgbClr val="232324"/>
                </a:solidFill>
                <a:latin typeface="Arial"/>
                <a:cs typeface="Arial"/>
              </a:rPr>
              <a:t>crit</a:t>
            </a:r>
            <a:r>
              <a:rPr dirty="0" sz="2350" spc="-20">
                <a:solidFill>
                  <a:srgbClr val="0A0A0A"/>
                </a:solidFill>
                <a:latin typeface="Arial"/>
                <a:cs typeface="Arial"/>
              </a:rPr>
              <a:t>i</a:t>
            </a:r>
            <a:r>
              <a:rPr dirty="0" sz="2350" spc="-20">
                <a:solidFill>
                  <a:srgbClr val="232324"/>
                </a:solidFill>
                <a:latin typeface="Arial"/>
                <a:cs typeface="Arial"/>
              </a:rPr>
              <a:t>cal</a:t>
            </a:r>
            <a:r>
              <a:rPr dirty="0" sz="2350" spc="-265">
                <a:solidFill>
                  <a:srgbClr val="232324"/>
                </a:solidFill>
                <a:latin typeface="Arial"/>
                <a:cs typeface="Arial"/>
              </a:rPr>
              <a:t> </a:t>
            </a:r>
            <a:r>
              <a:rPr dirty="0" sz="2350" spc="-10">
                <a:solidFill>
                  <a:srgbClr val="0A0A0A"/>
                </a:solidFill>
                <a:latin typeface="Arial"/>
                <a:cs typeface="Arial"/>
              </a:rPr>
              <a:t>i</a:t>
            </a:r>
            <a:r>
              <a:rPr dirty="0" sz="2350" spc="-10">
                <a:solidFill>
                  <a:srgbClr val="232324"/>
                </a:solidFill>
                <a:latin typeface="Arial"/>
                <a:cs typeface="Arial"/>
              </a:rPr>
              <a:t>nfrast</a:t>
            </a:r>
            <a:r>
              <a:rPr dirty="0" sz="2350" spc="-10">
                <a:solidFill>
                  <a:srgbClr val="0A0A0A"/>
                </a:solidFill>
                <a:latin typeface="Arial"/>
                <a:cs typeface="Arial"/>
              </a:rPr>
              <a:t>r</a:t>
            </a:r>
            <a:r>
              <a:rPr dirty="0" sz="2350" spc="-10">
                <a:solidFill>
                  <a:srgbClr val="232324"/>
                </a:solidFill>
                <a:latin typeface="Arial"/>
                <a:cs typeface="Arial"/>
              </a:rPr>
              <a:t>ucture).</a:t>
            </a:r>
            <a:endParaRPr sz="2350">
              <a:latin typeface="Arial"/>
              <a:cs typeface="Arial"/>
            </a:endParaRPr>
          </a:p>
          <a:p>
            <a:pPr marL="21590" marR="362585" indent="-3175">
              <a:lnSpc>
                <a:spcPct val="101600"/>
              </a:lnSpc>
              <a:spcBef>
                <a:spcPts val="1455"/>
              </a:spcBef>
            </a:pPr>
            <a:r>
              <a:rPr dirty="0" sz="2350" spc="-85" b="1">
                <a:solidFill>
                  <a:srgbClr val="0A0A0A"/>
                </a:solidFill>
                <a:latin typeface="Arial"/>
                <a:cs typeface="Arial"/>
              </a:rPr>
              <a:t>Driver:</a:t>
            </a:r>
            <a:r>
              <a:rPr dirty="0" sz="2350" spc="-240" b="1">
                <a:solidFill>
                  <a:srgbClr val="0A0A0A"/>
                </a:solidFill>
                <a:latin typeface="Arial"/>
                <a:cs typeface="Arial"/>
              </a:rPr>
              <a:t> </a:t>
            </a:r>
            <a:r>
              <a:rPr dirty="0" sz="2350" spc="-55">
                <a:solidFill>
                  <a:srgbClr val="232324"/>
                </a:solidFill>
                <a:latin typeface="Arial"/>
                <a:cs typeface="Arial"/>
              </a:rPr>
              <a:t>Tradit</a:t>
            </a:r>
            <a:r>
              <a:rPr dirty="0" sz="2350" spc="-55">
                <a:solidFill>
                  <a:srgbClr val="0A0A0A"/>
                </a:solidFill>
                <a:latin typeface="Arial"/>
                <a:cs typeface="Arial"/>
              </a:rPr>
              <a:t>i</a:t>
            </a:r>
            <a:r>
              <a:rPr dirty="0" sz="2350" spc="-55">
                <a:solidFill>
                  <a:srgbClr val="232324"/>
                </a:solidFill>
                <a:latin typeface="Arial"/>
                <a:cs typeface="Arial"/>
              </a:rPr>
              <a:t>onal</a:t>
            </a:r>
            <a:r>
              <a:rPr dirty="0" sz="2350" spc="-310">
                <a:solidFill>
                  <a:srgbClr val="232324"/>
                </a:solidFill>
                <a:latin typeface="Arial"/>
                <a:cs typeface="Arial"/>
              </a:rPr>
              <a:t> </a:t>
            </a:r>
            <a:r>
              <a:rPr dirty="0" sz="2350" spc="-370">
                <a:solidFill>
                  <a:srgbClr val="232324"/>
                </a:solidFill>
                <a:latin typeface="Arial"/>
                <a:cs typeface="Arial"/>
              </a:rPr>
              <a:t>EDR</a:t>
            </a:r>
            <a:r>
              <a:rPr dirty="0" sz="2350" spc="-55">
                <a:solidFill>
                  <a:srgbClr val="232324"/>
                </a:solidFill>
                <a:latin typeface="Arial"/>
                <a:cs typeface="Arial"/>
              </a:rPr>
              <a:t> </a:t>
            </a:r>
            <a:r>
              <a:rPr dirty="0" sz="2350" spc="-114">
                <a:solidFill>
                  <a:srgbClr val="232324"/>
                </a:solidFill>
                <a:latin typeface="Arial"/>
                <a:cs typeface="Arial"/>
              </a:rPr>
              <a:t>agents</a:t>
            </a:r>
            <a:r>
              <a:rPr dirty="0" sz="2350" spc="-120">
                <a:solidFill>
                  <a:srgbClr val="232324"/>
                </a:solidFill>
                <a:latin typeface="Arial"/>
                <a:cs typeface="Arial"/>
              </a:rPr>
              <a:t> </a:t>
            </a:r>
            <a:r>
              <a:rPr dirty="0" sz="2350" spc="-25">
                <a:solidFill>
                  <a:srgbClr val="232324"/>
                </a:solidFill>
                <a:latin typeface="Arial"/>
                <a:cs typeface="Arial"/>
              </a:rPr>
              <a:t>are </a:t>
            </a:r>
            <a:r>
              <a:rPr dirty="0" sz="2350" spc="-140">
                <a:solidFill>
                  <a:srgbClr val="232324"/>
                </a:solidFill>
                <a:latin typeface="Arial"/>
                <a:cs typeface="Arial"/>
              </a:rPr>
              <a:t>user-</a:t>
            </a:r>
            <a:r>
              <a:rPr dirty="0" sz="2350" spc="-155">
                <a:solidFill>
                  <a:srgbClr val="232324"/>
                </a:solidFill>
                <a:latin typeface="Arial"/>
                <a:cs typeface="Arial"/>
              </a:rPr>
              <a:t>space</a:t>
            </a:r>
            <a:r>
              <a:rPr dirty="0" sz="2350" spc="-90">
                <a:solidFill>
                  <a:srgbClr val="232324"/>
                </a:solidFill>
                <a:latin typeface="Arial"/>
                <a:cs typeface="Arial"/>
              </a:rPr>
              <a:t> </a:t>
            </a:r>
            <a:r>
              <a:rPr dirty="0" sz="2350" spc="-40">
                <a:solidFill>
                  <a:srgbClr val="232324"/>
                </a:solidFill>
                <a:latin typeface="Arial"/>
                <a:cs typeface="Arial"/>
              </a:rPr>
              <a:t>only</a:t>
            </a:r>
            <a:r>
              <a:rPr dirty="0" sz="2350" spc="-260">
                <a:solidFill>
                  <a:srgbClr val="232324"/>
                </a:solidFill>
                <a:latin typeface="Arial"/>
                <a:cs typeface="Arial"/>
              </a:rPr>
              <a:t> </a:t>
            </a:r>
            <a:r>
              <a:rPr dirty="0" sz="2350" spc="-75">
                <a:solidFill>
                  <a:srgbClr val="232324"/>
                </a:solidFill>
                <a:latin typeface="Arial"/>
                <a:cs typeface="Arial"/>
              </a:rPr>
              <a:t>and</a:t>
            </a:r>
            <a:r>
              <a:rPr dirty="0" sz="2350" spc="-195">
                <a:solidFill>
                  <a:srgbClr val="232324"/>
                </a:solidFill>
                <a:latin typeface="Arial"/>
                <a:cs typeface="Arial"/>
              </a:rPr>
              <a:t> </a:t>
            </a:r>
            <a:r>
              <a:rPr dirty="0" sz="2350" spc="-70">
                <a:solidFill>
                  <a:srgbClr val="232324"/>
                </a:solidFill>
                <a:latin typeface="Arial"/>
                <a:cs typeface="Arial"/>
              </a:rPr>
              <a:t>cannot</a:t>
            </a:r>
            <a:r>
              <a:rPr dirty="0" sz="2350" spc="-180">
                <a:solidFill>
                  <a:srgbClr val="232324"/>
                </a:solidFill>
                <a:latin typeface="Arial"/>
                <a:cs typeface="Arial"/>
              </a:rPr>
              <a:t> </a:t>
            </a:r>
            <a:r>
              <a:rPr dirty="0" sz="2350" spc="-10">
                <a:solidFill>
                  <a:srgbClr val="0A0A0A"/>
                </a:solidFill>
                <a:latin typeface="Arial"/>
                <a:cs typeface="Arial"/>
              </a:rPr>
              <a:t>p</a:t>
            </a:r>
            <a:r>
              <a:rPr dirty="0" sz="2350" spc="-10">
                <a:solidFill>
                  <a:srgbClr val="232324"/>
                </a:solidFill>
                <a:latin typeface="Arial"/>
                <a:cs typeface="Arial"/>
              </a:rPr>
              <a:t>rotect the</a:t>
            </a:r>
            <a:r>
              <a:rPr dirty="0" sz="2350" spc="-210">
                <a:solidFill>
                  <a:srgbClr val="232324"/>
                </a:solidFill>
                <a:latin typeface="Arial"/>
                <a:cs typeface="Arial"/>
              </a:rPr>
              <a:t> </a:t>
            </a:r>
            <a:r>
              <a:rPr dirty="0" sz="2350" spc="-75">
                <a:solidFill>
                  <a:srgbClr val="232324"/>
                </a:solidFill>
                <a:latin typeface="Arial"/>
                <a:cs typeface="Arial"/>
              </a:rPr>
              <a:t>kerne</a:t>
            </a:r>
            <a:r>
              <a:rPr dirty="0" sz="2350" spc="-75">
                <a:solidFill>
                  <a:srgbClr val="0A0A0A"/>
                </a:solidFill>
                <a:latin typeface="Arial"/>
                <a:cs typeface="Arial"/>
              </a:rPr>
              <a:t>l</a:t>
            </a:r>
            <a:r>
              <a:rPr dirty="0" sz="2350" spc="-254">
                <a:solidFill>
                  <a:srgbClr val="0A0A0A"/>
                </a:solidFill>
                <a:latin typeface="Arial"/>
                <a:cs typeface="Arial"/>
              </a:rPr>
              <a:t> </a:t>
            </a:r>
            <a:r>
              <a:rPr dirty="0" sz="2350">
                <a:solidFill>
                  <a:srgbClr val="232324"/>
                </a:solidFill>
                <a:latin typeface="Arial"/>
                <a:cs typeface="Arial"/>
              </a:rPr>
              <a:t>from</a:t>
            </a:r>
            <a:r>
              <a:rPr dirty="0" sz="2350" spc="-185">
                <a:solidFill>
                  <a:srgbClr val="232324"/>
                </a:solidFill>
                <a:latin typeface="Arial"/>
                <a:cs typeface="Arial"/>
              </a:rPr>
              <a:t> </a:t>
            </a:r>
            <a:r>
              <a:rPr dirty="0" sz="2350" spc="-140">
                <a:solidFill>
                  <a:srgbClr val="232324"/>
                </a:solidFill>
                <a:latin typeface="Arial"/>
                <a:cs typeface="Arial"/>
              </a:rPr>
              <a:t>advanced</a:t>
            </a:r>
            <a:r>
              <a:rPr dirty="0" sz="2350" spc="-145">
                <a:solidFill>
                  <a:srgbClr val="232324"/>
                </a:solidFill>
                <a:latin typeface="Arial"/>
                <a:cs typeface="Arial"/>
              </a:rPr>
              <a:t> </a:t>
            </a:r>
            <a:r>
              <a:rPr dirty="0" sz="2350" spc="-10">
                <a:solidFill>
                  <a:srgbClr val="232324"/>
                </a:solidFill>
                <a:latin typeface="Arial"/>
                <a:cs typeface="Arial"/>
              </a:rPr>
              <a:t>threats.</a:t>
            </a:r>
            <a:endParaRPr sz="2350">
              <a:latin typeface="Arial"/>
              <a:cs typeface="Arial"/>
            </a:endParaRPr>
          </a:p>
          <a:p>
            <a:pPr marL="12700" marR="89535" indent="6350">
              <a:lnSpc>
                <a:spcPct val="101600"/>
              </a:lnSpc>
              <a:spcBef>
                <a:spcPts val="1460"/>
              </a:spcBef>
            </a:pPr>
            <a:r>
              <a:rPr dirty="0" sz="2350" spc="-180" b="1">
                <a:solidFill>
                  <a:srgbClr val="0A0A0A"/>
                </a:solidFill>
                <a:latin typeface="Arial"/>
                <a:cs typeface="Arial"/>
              </a:rPr>
              <a:t>RLC</a:t>
            </a:r>
            <a:r>
              <a:rPr dirty="0" sz="2350" spc="-180" b="1">
                <a:solidFill>
                  <a:srgbClr val="232324"/>
                </a:solidFill>
                <a:latin typeface="Arial"/>
                <a:cs typeface="Arial"/>
              </a:rPr>
              <a:t>-</a:t>
            </a:r>
            <a:r>
              <a:rPr dirty="0" sz="2350" spc="-145" b="1">
                <a:solidFill>
                  <a:srgbClr val="0A0A0A"/>
                </a:solidFill>
                <a:latin typeface="Arial"/>
                <a:cs typeface="Arial"/>
              </a:rPr>
              <a:t>HEdge:</a:t>
            </a:r>
            <a:r>
              <a:rPr dirty="0" sz="2350" spc="-240" b="1">
                <a:solidFill>
                  <a:srgbClr val="0A0A0A"/>
                </a:solidFill>
                <a:latin typeface="Arial"/>
                <a:cs typeface="Arial"/>
              </a:rPr>
              <a:t> </a:t>
            </a:r>
            <a:r>
              <a:rPr dirty="0" sz="2350" spc="-160">
                <a:solidFill>
                  <a:srgbClr val="232324"/>
                </a:solidFill>
                <a:latin typeface="Arial"/>
                <a:cs typeface="Arial"/>
              </a:rPr>
              <a:t>The</a:t>
            </a:r>
            <a:r>
              <a:rPr dirty="0" sz="2350" spc="-170">
                <a:solidFill>
                  <a:srgbClr val="232324"/>
                </a:solidFill>
                <a:latin typeface="Arial"/>
                <a:cs typeface="Arial"/>
              </a:rPr>
              <a:t> </a:t>
            </a:r>
            <a:r>
              <a:rPr dirty="0" sz="2350" spc="-40">
                <a:solidFill>
                  <a:srgbClr val="232324"/>
                </a:solidFill>
                <a:latin typeface="Arial"/>
                <a:cs typeface="Arial"/>
              </a:rPr>
              <a:t>only</a:t>
            </a:r>
            <a:r>
              <a:rPr dirty="0" sz="2350" spc="-254">
                <a:solidFill>
                  <a:srgbClr val="232324"/>
                </a:solidFill>
                <a:latin typeface="Arial"/>
                <a:cs typeface="Arial"/>
              </a:rPr>
              <a:t> </a:t>
            </a:r>
            <a:r>
              <a:rPr dirty="0" sz="2350" spc="-10">
                <a:solidFill>
                  <a:srgbClr val="232324"/>
                </a:solidFill>
                <a:latin typeface="Arial"/>
                <a:cs typeface="Arial"/>
              </a:rPr>
              <a:t>commercia</a:t>
            </a:r>
            <a:r>
              <a:rPr dirty="0" sz="2350" spc="-10">
                <a:solidFill>
                  <a:srgbClr val="0A0A0A"/>
                </a:solidFill>
                <a:latin typeface="Arial"/>
                <a:cs typeface="Arial"/>
              </a:rPr>
              <a:t>l </a:t>
            </a:r>
            <a:r>
              <a:rPr dirty="0" sz="2350" spc="-30">
                <a:solidFill>
                  <a:srgbClr val="232324"/>
                </a:solidFill>
                <a:latin typeface="Arial"/>
                <a:cs typeface="Arial"/>
              </a:rPr>
              <a:t>dist</a:t>
            </a:r>
            <a:r>
              <a:rPr dirty="0" sz="2350" spc="-30">
                <a:solidFill>
                  <a:srgbClr val="0A0A0A"/>
                </a:solidFill>
                <a:latin typeface="Arial"/>
                <a:cs typeface="Arial"/>
              </a:rPr>
              <a:t>r</a:t>
            </a:r>
            <a:r>
              <a:rPr dirty="0" sz="2350" spc="-30">
                <a:solidFill>
                  <a:srgbClr val="232324"/>
                </a:solidFill>
                <a:latin typeface="Arial"/>
                <a:cs typeface="Arial"/>
              </a:rPr>
              <a:t>o</a:t>
            </a:r>
            <a:r>
              <a:rPr dirty="0" sz="2350" spc="-204">
                <a:solidFill>
                  <a:srgbClr val="232324"/>
                </a:solidFill>
                <a:latin typeface="Arial"/>
                <a:cs typeface="Arial"/>
              </a:rPr>
              <a:t> </a:t>
            </a:r>
            <a:r>
              <a:rPr dirty="0" sz="2350" spc="-10">
                <a:solidFill>
                  <a:srgbClr val="232324"/>
                </a:solidFill>
                <a:latin typeface="Arial"/>
                <a:cs typeface="Arial"/>
              </a:rPr>
              <a:t>with</a:t>
            </a:r>
            <a:r>
              <a:rPr dirty="0" sz="2350" spc="-250">
                <a:solidFill>
                  <a:srgbClr val="232324"/>
                </a:solidFill>
                <a:latin typeface="Arial"/>
                <a:cs typeface="Arial"/>
              </a:rPr>
              <a:t> </a:t>
            </a:r>
            <a:r>
              <a:rPr dirty="0" sz="2350" spc="-75">
                <a:solidFill>
                  <a:srgbClr val="232324"/>
                </a:solidFill>
                <a:latin typeface="Arial"/>
                <a:cs typeface="Arial"/>
              </a:rPr>
              <a:t>integrated</a:t>
            </a:r>
            <a:r>
              <a:rPr dirty="0" sz="2350" spc="-165">
                <a:solidFill>
                  <a:srgbClr val="232324"/>
                </a:solidFill>
                <a:latin typeface="Arial"/>
                <a:cs typeface="Arial"/>
              </a:rPr>
              <a:t> </a:t>
            </a:r>
            <a:r>
              <a:rPr dirty="0" sz="2350" spc="-305" b="1">
                <a:solidFill>
                  <a:srgbClr val="C3A042"/>
                </a:solidFill>
                <a:latin typeface="Arial"/>
                <a:cs typeface="Arial"/>
              </a:rPr>
              <a:t>LKRG</a:t>
            </a:r>
            <a:r>
              <a:rPr dirty="0" sz="2350" spc="-110" b="1">
                <a:solidFill>
                  <a:srgbClr val="C3A042"/>
                </a:solidFill>
                <a:latin typeface="Arial"/>
                <a:cs typeface="Arial"/>
              </a:rPr>
              <a:t> </a:t>
            </a:r>
            <a:r>
              <a:rPr dirty="0" sz="2350" spc="-10" b="1">
                <a:solidFill>
                  <a:srgbClr val="C3A042"/>
                </a:solidFill>
                <a:latin typeface="Arial"/>
                <a:cs typeface="Arial"/>
              </a:rPr>
              <a:t>(Linux </a:t>
            </a:r>
            <a:r>
              <a:rPr dirty="0" sz="2350" spc="-95" b="1">
                <a:solidFill>
                  <a:srgbClr val="C3A042"/>
                </a:solidFill>
                <a:latin typeface="Arial"/>
                <a:cs typeface="Arial"/>
              </a:rPr>
              <a:t>Kernel</a:t>
            </a:r>
            <a:r>
              <a:rPr dirty="0" sz="2350" spc="-320" b="1">
                <a:solidFill>
                  <a:srgbClr val="C3A042"/>
                </a:solidFill>
                <a:latin typeface="Arial"/>
                <a:cs typeface="Arial"/>
              </a:rPr>
              <a:t> </a:t>
            </a:r>
            <a:r>
              <a:rPr dirty="0" sz="2350" spc="-130" b="1">
                <a:solidFill>
                  <a:srgbClr val="C3A042"/>
                </a:solidFill>
                <a:latin typeface="Arial"/>
                <a:cs typeface="Arial"/>
              </a:rPr>
              <a:t>Runtime</a:t>
            </a:r>
            <a:r>
              <a:rPr dirty="0" sz="2350" spc="-105" b="1">
                <a:solidFill>
                  <a:srgbClr val="C3A042"/>
                </a:solidFill>
                <a:latin typeface="Arial"/>
                <a:cs typeface="Arial"/>
              </a:rPr>
              <a:t> </a:t>
            </a:r>
            <a:r>
              <a:rPr dirty="0" sz="2350" spc="-140" b="1">
                <a:solidFill>
                  <a:srgbClr val="C3A042"/>
                </a:solidFill>
                <a:latin typeface="Arial"/>
                <a:cs typeface="Arial"/>
              </a:rPr>
              <a:t>Guard)</a:t>
            </a:r>
            <a:r>
              <a:rPr dirty="0" sz="2350" spc="-40" b="1">
                <a:solidFill>
                  <a:srgbClr val="C3A042"/>
                </a:solidFill>
                <a:latin typeface="Arial"/>
                <a:cs typeface="Arial"/>
              </a:rPr>
              <a:t> </a:t>
            </a:r>
            <a:r>
              <a:rPr dirty="0" sz="2350">
                <a:solidFill>
                  <a:srgbClr val="232324"/>
                </a:solidFill>
                <a:latin typeface="Arial"/>
                <a:cs typeface="Arial"/>
              </a:rPr>
              <a:t>for</a:t>
            </a:r>
            <a:r>
              <a:rPr dirty="0" sz="2350" spc="-305">
                <a:solidFill>
                  <a:srgbClr val="232324"/>
                </a:solidFill>
                <a:latin typeface="Arial"/>
                <a:cs typeface="Arial"/>
              </a:rPr>
              <a:t> </a:t>
            </a:r>
            <a:r>
              <a:rPr dirty="0" sz="2350" spc="-60">
                <a:solidFill>
                  <a:srgbClr val="232324"/>
                </a:solidFill>
                <a:latin typeface="Arial"/>
                <a:cs typeface="Arial"/>
              </a:rPr>
              <a:t>real-</a:t>
            </a:r>
            <a:r>
              <a:rPr dirty="0" sz="2350" spc="-20">
                <a:solidFill>
                  <a:srgbClr val="232324"/>
                </a:solidFill>
                <a:latin typeface="Arial"/>
                <a:cs typeface="Arial"/>
              </a:rPr>
              <a:t>time </a:t>
            </a:r>
            <a:r>
              <a:rPr dirty="0" sz="2350" spc="-55">
                <a:solidFill>
                  <a:srgbClr val="0A0A0A"/>
                </a:solidFill>
                <a:latin typeface="Arial"/>
                <a:cs typeface="Arial"/>
              </a:rPr>
              <a:t>e</a:t>
            </a:r>
            <a:r>
              <a:rPr dirty="0" sz="2350" spc="-55">
                <a:solidFill>
                  <a:srgbClr val="232324"/>
                </a:solidFill>
                <a:latin typeface="Arial"/>
                <a:cs typeface="Arial"/>
              </a:rPr>
              <a:t>xplo</a:t>
            </a:r>
            <a:r>
              <a:rPr dirty="0" sz="2350" spc="-55">
                <a:solidFill>
                  <a:srgbClr val="0A0A0A"/>
                </a:solidFill>
                <a:latin typeface="Arial"/>
                <a:cs typeface="Arial"/>
              </a:rPr>
              <a:t>i</a:t>
            </a:r>
            <a:r>
              <a:rPr dirty="0" sz="2350" spc="-55">
                <a:solidFill>
                  <a:srgbClr val="232324"/>
                </a:solidFill>
                <a:latin typeface="Arial"/>
                <a:cs typeface="Arial"/>
              </a:rPr>
              <a:t>t</a:t>
            </a:r>
            <a:r>
              <a:rPr dirty="0" sz="2350" spc="-45">
                <a:solidFill>
                  <a:srgbClr val="232324"/>
                </a:solidFill>
                <a:latin typeface="Arial"/>
                <a:cs typeface="Arial"/>
              </a:rPr>
              <a:t> </a:t>
            </a:r>
            <a:r>
              <a:rPr dirty="0" sz="2350" spc="-60">
                <a:solidFill>
                  <a:srgbClr val="232324"/>
                </a:solidFill>
                <a:latin typeface="Arial"/>
                <a:cs typeface="Arial"/>
              </a:rPr>
              <a:t>preven</a:t>
            </a:r>
            <a:r>
              <a:rPr dirty="0" sz="2350" spc="-60">
                <a:solidFill>
                  <a:srgbClr val="0A0A0A"/>
                </a:solidFill>
                <a:latin typeface="Arial"/>
                <a:cs typeface="Arial"/>
              </a:rPr>
              <a:t>ti</a:t>
            </a:r>
            <a:r>
              <a:rPr dirty="0" sz="2350" spc="-60">
                <a:solidFill>
                  <a:srgbClr val="232324"/>
                </a:solidFill>
                <a:latin typeface="Arial"/>
                <a:cs typeface="Arial"/>
              </a:rPr>
              <a:t>on.</a:t>
            </a:r>
            <a:r>
              <a:rPr dirty="0" sz="2350" spc="-60" i="1">
                <a:solidFill>
                  <a:srgbClr val="232324"/>
                </a:solidFill>
                <a:latin typeface="Arial"/>
                <a:cs typeface="Arial"/>
              </a:rPr>
              <a:t>This</a:t>
            </a:r>
            <a:r>
              <a:rPr dirty="0" sz="2350" spc="-105" i="1">
                <a:solidFill>
                  <a:srgbClr val="232324"/>
                </a:solidFill>
                <a:latin typeface="Arial"/>
                <a:cs typeface="Arial"/>
              </a:rPr>
              <a:t> </a:t>
            </a:r>
            <a:r>
              <a:rPr dirty="0" sz="2350" spc="-85" i="1">
                <a:solidFill>
                  <a:srgbClr val="232324"/>
                </a:solidFill>
                <a:latin typeface="Arial"/>
                <a:cs typeface="Arial"/>
              </a:rPr>
              <a:t>is</a:t>
            </a:r>
            <a:r>
              <a:rPr dirty="0" sz="2350" spc="-220" i="1">
                <a:solidFill>
                  <a:srgbClr val="232324"/>
                </a:solidFill>
                <a:latin typeface="Arial"/>
                <a:cs typeface="Arial"/>
              </a:rPr>
              <a:t> </a:t>
            </a:r>
            <a:r>
              <a:rPr dirty="0" sz="2350" spc="-95" i="1">
                <a:solidFill>
                  <a:srgbClr val="232324"/>
                </a:solidFill>
                <a:latin typeface="Arial"/>
                <a:cs typeface="Arial"/>
              </a:rPr>
              <a:t>our</a:t>
            </a:r>
            <a:r>
              <a:rPr dirty="0" sz="2350" spc="-145" i="1">
                <a:solidFill>
                  <a:srgbClr val="232324"/>
                </a:solidFill>
                <a:latin typeface="Arial"/>
                <a:cs typeface="Arial"/>
              </a:rPr>
              <a:t> </a:t>
            </a:r>
            <a:r>
              <a:rPr dirty="0" sz="2350" spc="-30" i="1">
                <a:solidFill>
                  <a:srgbClr val="232324"/>
                </a:solidFill>
                <a:latin typeface="Arial"/>
                <a:cs typeface="Arial"/>
              </a:rPr>
              <a:t>unique, </a:t>
            </a:r>
            <a:r>
              <a:rPr dirty="0" sz="2350" spc="-110" i="1">
                <a:solidFill>
                  <a:srgbClr val="232324"/>
                </a:solidFill>
                <a:latin typeface="Arial"/>
                <a:cs typeface="Arial"/>
              </a:rPr>
              <a:t>defensible</a:t>
            </a:r>
            <a:r>
              <a:rPr dirty="0" sz="2350" spc="-75" i="1">
                <a:solidFill>
                  <a:srgbClr val="232324"/>
                </a:solidFill>
                <a:latin typeface="Arial"/>
                <a:cs typeface="Arial"/>
              </a:rPr>
              <a:t> </a:t>
            </a:r>
            <a:r>
              <a:rPr dirty="0" sz="2350" spc="-10" i="1">
                <a:solidFill>
                  <a:srgbClr val="232324"/>
                </a:solidFill>
                <a:latin typeface="Arial"/>
                <a:cs typeface="Arial"/>
              </a:rPr>
              <a:t>moat.</a:t>
            </a:r>
            <a:endParaRPr sz="2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621680" y="2604557"/>
            <a:ext cx="0" cy="6459855"/>
          </a:xfrm>
          <a:custGeom>
            <a:avLst/>
            <a:gdLst/>
            <a:ahLst/>
            <a:cxnLst/>
            <a:rect l="l" t="t" r="r" b="b"/>
            <a:pathLst>
              <a:path w="0" h="6459855">
                <a:moveTo>
                  <a:pt x="0" y="6459667"/>
                </a:moveTo>
                <a:lnTo>
                  <a:pt x="0" y="0"/>
                </a:lnTo>
              </a:path>
            </a:pathLst>
          </a:custGeom>
          <a:ln w="382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705907" y="606722"/>
            <a:ext cx="10052685" cy="14808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45085" marR="5080" indent="-33020">
              <a:lnSpc>
                <a:spcPct val="100499"/>
              </a:lnSpc>
              <a:spcBef>
                <a:spcPts val="95"/>
              </a:spcBef>
            </a:pPr>
            <a:r>
              <a:rPr dirty="0" sz="4750" spc="220">
                <a:solidFill>
                  <a:srgbClr val="13181C"/>
                </a:solidFill>
              </a:rPr>
              <a:t>The</a:t>
            </a:r>
            <a:r>
              <a:rPr dirty="0" sz="4750" spc="-270">
                <a:solidFill>
                  <a:srgbClr val="13181C"/>
                </a:solidFill>
              </a:rPr>
              <a:t> </a:t>
            </a:r>
            <a:r>
              <a:rPr dirty="0" sz="4750" spc="105">
                <a:solidFill>
                  <a:srgbClr val="13181C"/>
                </a:solidFill>
              </a:rPr>
              <a:t>RLC-</a:t>
            </a:r>
            <a:r>
              <a:rPr dirty="0" sz="4750" spc="135">
                <a:solidFill>
                  <a:srgbClr val="13181C"/>
                </a:solidFill>
              </a:rPr>
              <a:t>H</a:t>
            </a:r>
            <a:r>
              <a:rPr dirty="0" sz="4750" spc="-220">
                <a:solidFill>
                  <a:srgbClr val="13181C"/>
                </a:solidFill>
              </a:rPr>
              <a:t> </a:t>
            </a:r>
            <a:r>
              <a:rPr dirty="0" sz="4750" spc="100">
                <a:solidFill>
                  <a:srgbClr val="13181C"/>
                </a:solidFill>
              </a:rPr>
              <a:t>Advantage:</a:t>
            </a:r>
            <a:r>
              <a:rPr dirty="0" sz="4750" spc="95">
                <a:solidFill>
                  <a:srgbClr val="13181C"/>
                </a:solidFill>
              </a:rPr>
              <a:t> </a:t>
            </a:r>
            <a:r>
              <a:rPr dirty="0" sz="4750" spc="135">
                <a:solidFill>
                  <a:srgbClr val="13181C"/>
                </a:solidFill>
              </a:rPr>
              <a:t>A</a:t>
            </a:r>
            <a:r>
              <a:rPr dirty="0" sz="4750" spc="-240">
                <a:solidFill>
                  <a:srgbClr val="13181C"/>
                </a:solidFill>
              </a:rPr>
              <a:t> </a:t>
            </a:r>
            <a:r>
              <a:rPr dirty="0" sz="4750" spc="-10">
                <a:solidFill>
                  <a:srgbClr val="13181C"/>
                </a:solidFill>
              </a:rPr>
              <a:t>Singular </a:t>
            </a:r>
            <a:r>
              <a:rPr dirty="0" sz="4750" spc="114">
                <a:solidFill>
                  <a:srgbClr val="13181C"/>
                </a:solidFill>
              </a:rPr>
              <a:t>Platform</a:t>
            </a:r>
            <a:r>
              <a:rPr dirty="0" sz="4750" spc="-10">
                <a:solidFill>
                  <a:srgbClr val="13181C"/>
                </a:solidFill>
              </a:rPr>
              <a:t> </a:t>
            </a:r>
            <a:r>
              <a:rPr dirty="0" sz="4750" spc="105">
                <a:solidFill>
                  <a:srgbClr val="13181C"/>
                </a:solidFill>
              </a:rPr>
              <a:t>vs.</a:t>
            </a:r>
            <a:r>
              <a:rPr dirty="0" sz="4750" spc="-480">
                <a:solidFill>
                  <a:srgbClr val="13181C"/>
                </a:solidFill>
              </a:rPr>
              <a:t> </a:t>
            </a:r>
            <a:r>
              <a:rPr dirty="0" sz="4750" spc="130">
                <a:solidFill>
                  <a:srgbClr val="13181C"/>
                </a:solidFill>
              </a:rPr>
              <a:t>a</a:t>
            </a:r>
            <a:r>
              <a:rPr dirty="0" sz="4750" spc="-160">
                <a:solidFill>
                  <a:srgbClr val="13181C"/>
                </a:solidFill>
              </a:rPr>
              <a:t> </a:t>
            </a:r>
            <a:r>
              <a:rPr dirty="0" sz="4750" spc="125">
                <a:solidFill>
                  <a:srgbClr val="13181C"/>
                </a:solidFill>
              </a:rPr>
              <a:t>Patchwork</a:t>
            </a:r>
            <a:r>
              <a:rPr dirty="0" sz="4750" spc="-65">
                <a:solidFill>
                  <a:srgbClr val="13181C"/>
                </a:solidFill>
              </a:rPr>
              <a:t> </a:t>
            </a:r>
            <a:r>
              <a:rPr dirty="0" sz="4750" spc="175">
                <a:solidFill>
                  <a:srgbClr val="13181C"/>
                </a:solidFill>
              </a:rPr>
              <a:t>of</a:t>
            </a:r>
            <a:r>
              <a:rPr dirty="0" sz="4750" spc="-160">
                <a:solidFill>
                  <a:srgbClr val="13181C"/>
                </a:solidFill>
              </a:rPr>
              <a:t> </a:t>
            </a:r>
            <a:r>
              <a:rPr dirty="0" sz="4750" spc="-10">
                <a:solidFill>
                  <a:srgbClr val="13181C"/>
                </a:solidFill>
              </a:rPr>
              <a:t>Tools</a:t>
            </a:r>
            <a:endParaRPr sz="4750"/>
          </a:p>
        </p:txBody>
      </p:sp>
      <p:sp>
        <p:nvSpPr>
          <p:cNvPr id="4" name="object 4"/>
          <p:cNvSpPr/>
          <p:nvPr/>
        </p:nvSpPr>
        <p:spPr>
          <a:xfrm>
            <a:off x="16365577" y="4414993"/>
            <a:ext cx="153035" cy="452755"/>
          </a:xfrm>
          <a:custGeom>
            <a:avLst/>
            <a:gdLst/>
            <a:ahLst/>
            <a:cxnLst/>
            <a:rect l="l" t="t" r="r" b="b"/>
            <a:pathLst>
              <a:path w="153034" h="452754">
                <a:moveTo>
                  <a:pt x="152843" y="452736"/>
                </a:moveTo>
                <a:lnTo>
                  <a:pt x="0" y="452736"/>
                </a:lnTo>
                <a:lnTo>
                  <a:pt x="0" y="0"/>
                </a:lnTo>
                <a:lnTo>
                  <a:pt x="152843" y="0"/>
                </a:lnTo>
                <a:lnTo>
                  <a:pt x="152843" y="452736"/>
                </a:lnTo>
                <a:close/>
              </a:path>
            </a:pathLst>
          </a:custGeom>
          <a:solidFill>
            <a:srgbClr val="F9EFD8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968005" y="2585408"/>
          <a:ext cx="15641319" cy="65474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97225"/>
                <a:gridCol w="5757545"/>
                <a:gridCol w="6369049"/>
                <a:gridCol w="242569"/>
              </a:tblGrid>
              <a:tr h="1174115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080"/>
                        </a:spcBef>
                      </a:pPr>
                      <a:r>
                        <a:rPr dirty="0" sz="2750" spc="-50" b="1">
                          <a:solidFill>
                            <a:srgbClr val="13181C"/>
                          </a:solidFill>
                          <a:latin typeface="Arial"/>
                          <a:cs typeface="Arial"/>
                        </a:rPr>
                        <a:t>Capability</a:t>
                      </a:r>
                      <a:r>
                        <a:rPr dirty="0" sz="2750" spc="-120" b="1">
                          <a:solidFill>
                            <a:srgbClr val="13181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750" spc="-20" b="1">
                          <a:solidFill>
                            <a:srgbClr val="13181C"/>
                          </a:solidFill>
                          <a:latin typeface="Arial"/>
                          <a:cs typeface="Arial"/>
                        </a:rPr>
                        <a:t>Area</a:t>
                      </a:r>
                      <a:endParaRPr sz="2750">
                        <a:latin typeface="Arial"/>
                        <a:cs typeface="Arial"/>
                      </a:endParaRPr>
                    </a:p>
                  </a:txBody>
                  <a:tcPr marL="0" marR="0" marB="0" marT="391160"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9209">
                        <a:lnSpc>
                          <a:spcPct val="100000"/>
                        </a:lnSpc>
                        <a:spcBef>
                          <a:spcPts val="1570"/>
                        </a:spcBef>
                      </a:pPr>
                      <a:r>
                        <a:rPr dirty="0" sz="2750" spc="-130" b="1">
                          <a:solidFill>
                            <a:srgbClr val="13181C"/>
                          </a:solidFill>
                          <a:latin typeface="Arial"/>
                          <a:cs typeface="Arial"/>
                        </a:rPr>
                        <a:t>Red</a:t>
                      </a:r>
                      <a:r>
                        <a:rPr dirty="0" sz="2750" spc="-195" b="1">
                          <a:solidFill>
                            <a:srgbClr val="13181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750" b="1">
                          <a:solidFill>
                            <a:srgbClr val="13181C"/>
                          </a:solidFill>
                          <a:latin typeface="Arial"/>
                          <a:cs typeface="Arial"/>
                        </a:rPr>
                        <a:t>Hat</a:t>
                      </a:r>
                      <a:r>
                        <a:rPr dirty="0" sz="2750" spc="-229" b="1">
                          <a:solidFill>
                            <a:srgbClr val="13181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750" spc="-90" b="1">
                          <a:solidFill>
                            <a:srgbClr val="13181C"/>
                          </a:solidFill>
                          <a:latin typeface="Arial"/>
                          <a:cs typeface="Arial"/>
                        </a:rPr>
                        <a:t>Enterprise</a:t>
                      </a:r>
                      <a:r>
                        <a:rPr dirty="0" sz="2750" spc="-45" b="1">
                          <a:solidFill>
                            <a:srgbClr val="13181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750" spc="-95" b="1">
                          <a:solidFill>
                            <a:srgbClr val="13181C"/>
                          </a:solidFill>
                          <a:latin typeface="Arial"/>
                          <a:cs typeface="Arial"/>
                        </a:rPr>
                        <a:t>Linux</a:t>
                      </a:r>
                      <a:r>
                        <a:rPr dirty="0" sz="2750" b="1">
                          <a:solidFill>
                            <a:srgbClr val="13181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750" spc="-10" b="1">
                          <a:solidFill>
                            <a:srgbClr val="13181C"/>
                          </a:solidFill>
                          <a:latin typeface="Arial"/>
                          <a:cs typeface="Arial"/>
                        </a:rPr>
                        <a:t>(RHEL)</a:t>
                      </a:r>
                      <a:endParaRPr sz="2750">
                        <a:latin typeface="Arial"/>
                        <a:cs typeface="Arial"/>
                      </a:endParaRPr>
                    </a:p>
                    <a:p>
                      <a:pPr algn="ctr" marL="2984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2400" spc="-95">
                          <a:solidFill>
                            <a:srgbClr val="595D60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2400" spc="-200">
                          <a:solidFill>
                            <a:srgbClr val="595D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00" spc="-100">
                          <a:solidFill>
                            <a:srgbClr val="595D60"/>
                          </a:solidFill>
                          <a:latin typeface="Arial"/>
                          <a:cs typeface="Arial"/>
                        </a:rPr>
                        <a:t>Complex,</a:t>
                      </a:r>
                      <a:r>
                        <a:rPr dirty="0" sz="2400" spc="-50">
                          <a:solidFill>
                            <a:srgbClr val="595D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00" spc="-55">
                          <a:solidFill>
                            <a:srgbClr val="595D60"/>
                          </a:solidFill>
                          <a:latin typeface="Arial"/>
                          <a:cs typeface="Arial"/>
                        </a:rPr>
                        <a:t>Costly</a:t>
                      </a:r>
                      <a:r>
                        <a:rPr dirty="0" sz="2400" spc="-80">
                          <a:solidFill>
                            <a:srgbClr val="595D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00" spc="-10">
                          <a:solidFill>
                            <a:srgbClr val="595D60"/>
                          </a:solidFill>
                          <a:latin typeface="Arial"/>
                          <a:cs typeface="Arial"/>
                        </a:rPr>
                        <a:t>Incumbent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19939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marL="85090">
                        <a:lnSpc>
                          <a:spcPct val="100000"/>
                        </a:lnSpc>
                        <a:spcBef>
                          <a:spcPts val="1570"/>
                        </a:spcBef>
                      </a:pPr>
                      <a:r>
                        <a:rPr dirty="0" sz="2750" spc="-95" b="1">
                          <a:solidFill>
                            <a:srgbClr val="13181C"/>
                          </a:solidFill>
                          <a:latin typeface="Arial"/>
                          <a:cs typeface="Arial"/>
                        </a:rPr>
                        <a:t>RLC-</a:t>
                      </a:r>
                      <a:r>
                        <a:rPr dirty="0" sz="2750" spc="-105" b="1">
                          <a:solidFill>
                            <a:srgbClr val="13181C"/>
                          </a:solidFill>
                          <a:latin typeface="Arial"/>
                          <a:cs typeface="Arial"/>
                        </a:rPr>
                        <a:t>H</a:t>
                      </a:r>
                      <a:r>
                        <a:rPr dirty="0" sz="2750" spc="-125" b="1">
                          <a:solidFill>
                            <a:srgbClr val="13181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750" spc="-55" b="1">
                          <a:solidFill>
                            <a:srgbClr val="13181C"/>
                          </a:solidFill>
                          <a:latin typeface="Arial"/>
                          <a:cs typeface="Arial"/>
                        </a:rPr>
                        <a:t>(Our</a:t>
                      </a:r>
                      <a:r>
                        <a:rPr dirty="0" sz="2750" spc="-85" b="1">
                          <a:solidFill>
                            <a:srgbClr val="13181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750" spc="-10" b="1">
                          <a:solidFill>
                            <a:srgbClr val="13181C"/>
                          </a:solidFill>
                          <a:latin typeface="Arial"/>
                          <a:cs typeface="Arial"/>
                        </a:rPr>
                        <a:t>Advantage)</a:t>
                      </a:r>
                      <a:endParaRPr sz="2750">
                        <a:latin typeface="Arial"/>
                        <a:cs typeface="Arial"/>
                      </a:endParaRPr>
                    </a:p>
                    <a:p>
                      <a:pPr algn="ctr" marL="10096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2400" spc="-65">
                          <a:solidFill>
                            <a:srgbClr val="595D60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2400" spc="-204">
                          <a:solidFill>
                            <a:srgbClr val="595D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00" spc="-35">
                          <a:solidFill>
                            <a:srgbClr val="494D4F"/>
                          </a:solidFill>
                          <a:latin typeface="Arial"/>
                          <a:cs typeface="Arial"/>
                        </a:rPr>
                        <a:t>In</a:t>
                      </a:r>
                      <a:r>
                        <a:rPr dirty="0" sz="2400" spc="-35">
                          <a:solidFill>
                            <a:srgbClr val="6D6E6B"/>
                          </a:solidFill>
                          <a:latin typeface="Arial"/>
                          <a:cs typeface="Arial"/>
                        </a:rPr>
                        <a:t>tegrated,</a:t>
                      </a:r>
                      <a:r>
                        <a:rPr dirty="0" sz="2400" spc="-275">
                          <a:solidFill>
                            <a:srgbClr val="6D6E6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00" spc="-110">
                          <a:solidFill>
                            <a:srgbClr val="595D60"/>
                          </a:solidFill>
                          <a:latin typeface="Arial"/>
                          <a:cs typeface="Arial"/>
                        </a:rPr>
                        <a:t>Turnkey</a:t>
                      </a:r>
                      <a:r>
                        <a:rPr dirty="0" sz="2400" spc="65">
                          <a:solidFill>
                            <a:srgbClr val="595D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00" spc="-10">
                          <a:solidFill>
                            <a:srgbClr val="595D60"/>
                          </a:solidFill>
                          <a:latin typeface="Arial"/>
                          <a:cs typeface="Arial"/>
                        </a:rPr>
                        <a:t>Solution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199390">
                    <a:lnL w="38100">
                      <a:solidFill>
                        <a:srgbClr val="000000"/>
                      </a:solidFill>
                      <a:prstDash val="solid"/>
                    </a:lnL>
                    <a:lnT w="571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893444"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2120"/>
                        </a:spcBef>
                      </a:pPr>
                      <a:r>
                        <a:rPr dirty="0" sz="2400" spc="-120">
                          <a:solidFill>
                            <a:srgbClr val="26282B"/>
                          </a:solidFill>
                          <a:latin typeface="Arial"/>
                          <a:cs typeface="Arial"/>
                        </a:rPr>
                        <a:t>DISA</a:t>
                      </a:r>
                      <a:r>
                        <a:rPr dirty="0" sz="2400" spc="-25">
                          <a:solidFill>
                            <a:srgbClr val="26282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00" spc="-20">
                          <a:solidFill>
                            <a:srgbClr val="26282B"/>
                          </a:solidFill>
                          <a:latin typeface="Arial"/>
                          <a:cs typeface="Arial"/>
                        </a:rPr>
                        <a:t>STIG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26924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43815">
                        <a:lnSpc>
                          <a:spcPct val="100000"/>
                        </a:lnSpc>
                        <a:spcBef>
                          <a:spcPts val="2120"/>
                        </a:spcBef>
                      </a:pPr>
                      <a:r>
                        <a:rPr dirty="0" sz="2400" spc="-20">
                          <a:solidFill>
                            <a:srgbClr val="595D60"/>
                          </a:solidFill>
                          <a:latin typeface="Arial"/>
                          <a:cs typeface="Arial"/>
                        </a:rPr>
                        <a:t>Manual </a:t>
                      </a:r>
                      <a:r>
                        <a:rPr dirty="0" sz="2400">
                          <a:solidFill>
                            <a:srgbClr val="595D60"/>
                          </a:solidFill>
                          <a:latin typeface="Arial"/>
                          <a:cs typeface="Arial"/>
                        </a:rPr>
                        <a:t>implementation</a:t>
                      </a:r>
                      <a:r>
                        <a:rPr dirty="0" sz="2400" spc="-229">
                          <a:solidFill>
                            <a:srgbClr val="595D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00">
                          <a:solidFill>
                            <a:srgbClr val="595D60"/>
                          </a:solidFill>
                          <a:latin typeface="Arial"/>
                          <a:cs typeface="Arial"/>
                        </a:rPr>
                        <a:t>using</a:t>
                      </a:r>
                      <a:r>
                        <a:rPr dirty="0" sz="2400" spc="80">
                          <a:solidFill>
                            <a:srgbClr val="595D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00" spc="-10">
                          <a:solidFill>
                            <a:srgbClr val="595D60"/>
                          </a:solidFill>
                          <a:latin typeface="Arial"/>
                          <a:cs typeface="Arial"/>
                        </a:rPr>
                        <a:t>guides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26924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 rowSpan="2">
                  <a:txBody>
                    <a:bodyPr/>
                    <a:lstStyle/>
                    <a:p>
                      <a:pPr algn="ctr" marL="102870">
                        <a:lnSpc>
                          <a:spcPct val="100000"/>
                        </a:lnSpc>
                        <a:spcBef>
                          <a:spcPts val="2070"/>
                        </a:spcBef>
                      </a:pPr>
                      <a:r>
                        <a:rPr dirty="0" sz="2450" spc="-50" b="1">
                          <a:solidFill>
                            <a:srgbClr val="906E26"/>
                          </a:solidFill>
                          <a:latin typeface="Arial"/>
                          <a:cs typeface="Arial"/>
                        </a:rPr>
                        <a:t>Pre-configured</a:t>
                      </a:r>
                      <a:r>
                        <a:rPr dirty="0" sz="2450" spc="-380" b="1">
                          <a:solidFill>
                            <a:srgbClr val="906E2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00" spc="-25" b="1">
                          <a:solidFill>
                            <a:srgbClr val="906E26"/>
                          </a:solidFill>
                          <a:latin typeface="Arial"/>
                          <a:cs typeface="Arial"/>
                        </a:rPr>
                        <a:t>&amp;</a:t>
                      </a:r>
                      <a:r>
                        <a:rPr dirty="0" sz="2400" spc="-250" b="1">
                          <a:solidFill>
                            <a:srgbClr val="906E2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50" spc="-65" b="1">
                          <a:solidFill>
                            <a:srgbClr val="906E26"/>
                          </a:solidFill>
                          <a:latin typeface="Arial"/>
                          <a:cs typeface="Arial"/>
                        </a:rPr>
                        <a:t>automated</a:t>
                      </a:r>
                      <a:r>
                        <a:rPr dirty="0" sz="2450" spc="20" b="1">
                          <a:solidFill>
                            <a:srgbClr val="906E2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50" spc="-65" b="1">
                          <a:solidFill>
                            <a:srgbClr val="906E26"/>
                          </a:solidFill>
                          <a:latin typeface="Arial"/>
                          <a:cs typeface="Arial"/>
                        </a:rPr>
                        <a:t>by</a:t>
                      </a:r>
                      <a:r>
                        <a:rPr dirty="0" sz="2450" spc="-254" b="1">
                          <a:solidFill>
                            <a:srgbClr val="906E2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50" spc="-10" b="1">
                          <a:solidFill>
                            <a:srgbClr val="906E26"/>
                          </a:solidFill>
                          <a:latin typeface="Arial"/>
                          <a:cs typeface="Arial"/>
                        </a:rPr>
                        <a:t>default</a:t>
                      </a:r>
                      <a:endParaRPr sz="2450">
                        <a:latin typeface="Arial"/>
                        <a:cs typeface="Arial"/>
                      </a:endParaRPr>
                    </a:p>
                    <a:p>
                      <a:pPr algn="r" marR="4762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2700" spc="-50">
                          <a:solidFill>
                            <a:srgbClr val="C3C6C8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endParaRPr sz="2700">
                        <a:latin typeface="Times New Roman"/>
                        <a:cs typeface="Times New Roman"/>
                      </a:endParaRPr>
                    </a:p>
                    <a:p>
                      <a:pPr algn="ctr" marL="135255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dirty="0" sz="2450" spc="-95" b="1">
                          <a:solidFill>
                            <a:srgbClr val="906E26"/>
                          </a:solidFill>
                          <a:latin typeface="Arial"/>
                          <a:cs typeface="Arial"/>
                        </a:rPr>
                        <a:t>Addresses</a:t>
                      </a:r>
                      <a:r>
                        <a:rPr dirty="0" sz="2450" spc="95" b="1">
                          <a:solidFill>
                            <a:srgbClr val="906E2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50" spc="-75" b="1">
                          <a:solidFill>
                            <a:srgbClr val="906E26"/>
                          </a:solidFill>
                          <a:latin typeface="Arial"/>
                          <a:cs typeface="Arial"/>
                        </a:rPr>
                        <a:t>53%</a:t>
                      </a:r>
                      <a:r>
                        <a:rPr dirty="0" sz="2450" spc="-160" b="1">
                          <a:solidFill>
                            <a:srgbClr val="906E2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50" spc="-20" b="1">
                          <a:solidFill>
                            <a:srgbClr val="906E26"/>
                          </a:solidFill>
                          <a:latin typeface="Arial"/>
                          <a:cs typeface="Arial"/>
                        </a:rPr>
                        <a:t>of</a:t>
                      </a:r>
                      <a:r>
                        <a:rPr dirty="0" sz="2450" spc="-150" b="1">
                          <a:solidFill>
                            <a:srgbClr val="906E2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50" spc="-85" b="1">
                          <a:solidFill>
                            <a:srgbClr val="906E26"/>
                          </a:solidFill>
                          <a:latin typeface="Arial"/>
                          <a:cs typeface="Arial"/>
                        </a:rPr>
                        <a:t>controls</a:t>
                      </a:r>
                      <a:r>
                        <a:rPr dirty="0" sz="2450" spc="-135" b="1">
                          <a:solidFill>
                            <a:srgbClr val="906E2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50" b="1">
                          <a:solidFill>
                            <a:srgbClr val="906E26"/>
                          </a:solidFill>
                          <a:latin typeface="Arial"/>
                          <a:cs typeface="Arial"/>
                        </a:rPr>
                        <a:t>out-of-the-</a:t>
                      </a:r>
                      <a:r>
                        <a:rPr dirty="0" sz="2450" spc="-25" b="1">
                          <a:solidFill>
                            <a:srgbClr val="906E26"/>
                          </a:solidFill>
                          <a:latin typeface="Arial"/>
                          <a:cs typeface="Arial"/>
                        </a:rPr>
                        <a:t>box</a:t>
                      </a:r>
                      <a:endParaRPr sz="2450">
                        <a:latin typeface="Arial"/>
                        <a:cs typeface="Arial"/>
                      </a:endParaRPr>
                    </a:p>
                  </a:txBody>
                  <a:tcPr marL="0" marR="0" marB="0" marT="262890">
                    <a:lnL w="38100">
                      <a:solidFill>
                        <a:srgbClr val="000000"/>
                      </a:solidFill>
                      <a:prstDash val="solid"/>
                    </a:lnL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906144"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2220"/>
                        </a:spcBef>
                      </a:pPr>
                      <a:r>
                        <a:rPr dirty="0" sz="2400" spc="-65">
                          <a:solidFill>
                            <a:srgbClr val="26282B"/>
                          </a:solidFill>
                          <a:latin typeface="Arial"/>
                          <a:cs typeface="Arial"/>
                        </a:rPr>
                        <a:t>NIST </a:t>
                      </a:r>
                      <a:r>
                        <a:rPr dirty="0" sz="2400" spc="-50">
                          <a:solidFill>
                            <a:srgbClr val="26282B"/>
                          </a:solidFill>
                          <a:latin typeface="Arial"/>
                          <a:cs typeface="Arial"/>
                        </a:rPr>
                        <a:t>800-</a:t>
                      </a:r>
                      <a:r>
                        <a:rPr dirty="0" sz="2400" spc="-10">
                          <a:solidFill>
                            <a:srgbClr val="26282B"/>
                          </a:solidFill>
                          <a:latin typeface="Arial"/>
                          <a:cs typeface="Arial"/>
                        </a:rPr>
                        <a:t>171/CMMC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28194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42795" marR="791210" indent="-1203960">
                        <a:lnSpc>
                          <a:spcPts val="2710"/>
                        </a:lnSpc>
                        <a:spcBef>
                          <a:spcPts val="1045"/>
                        </a:spcBef>
                      </a:pPr>
                      <a:r>
                        <a:rPr dirty="0" sz="2400" spc="-105">
                          <a:solidFill>
                            <a:srgbClr val="595D60"/>
                          </a:solidFill>
                          <a:latin typeface="Arial"/>
                          <a:cs typeface="Arial"/>
                        </a:rPr>
                        <a:t>SCAP</a:t>
                      </a:r>
                      <a:r>
                        <a:rPr dirty="0" sz="2400" spc="-50">
                          <a:solidFill>
                            <a:srgbClr val="595D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00">
                          <a:solidFill>
                            <a:srgbClr val="595D60"/>
                          </a:solidFill>
                          <a:latin typeface="Arial"/>
                          <a:cs typeface="Arial"/>
                        </a:rPr>
                        <a:t>guide</a:t>
                      </a:r>
                      <a:r>
                        <a:rPr dirty="0" sz="2400" spc="-90">
                          <a:solidFill>
                            <a:srgbClr val="595D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00" spc="-20">
                          <a:solidFill>
                            <a:srgbClr val="595D60"/>
                          </a:solidFill>
                          <a:latin typeface="Arial"/>
                          <a:cs typeface="Arial"/>
                        </a:rPr>
                        <a:t>available,</a:t>
                      </a:r>
                      <a:r>
                        <a:rPr dirty="0" sz="2400" spc="-95">
                          <a:solidFill>
                            <a:srgbClr val="595D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00" spc="-10">
                          <a:solidFill>
                            <a:srgbClr val="595D60"/>
                          </a:solidFill>
                          <a:latin typeface="Arial"/>
                          <a:cs typeface="Arial"/>
                        </a:rPr>
                        <a:t>requires manual</a:t>
                      </a:r>
                      <a:r>
                        <a:rPr dirty="0" sz="2400" spc="-155">
                          <a:solidFill>
                            <a:srgbClr val="595D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00" spc="-20">
                          <a:solidFill>
                            <a:srgbClr val="595D60"/>
                          </a:solidFill>
                          <a:latin typeface="Arial"/>
                          <a:cs typeface="Arial"/>
                        </a:rPr>
                        <a:t>work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132715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62890">
                    <a:lnL w="38100">
                      <a:solidFill>
                        <a:srgbClr val="000000"/>
                      </a:solidFill>
                      <a:prstDash val="solid"/>
                    </a:lnL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893444"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2120"/>
                        </a:spcBef>
                      </a:pPr>
                      <a:r>
                        <a:rPr dirty="0" sz="2400" spc="-90">
                          <a:solidFill>
                            <a:srgbClr val="26282B"/>
                          </a:solidFill>
                          <a:latin typeface="Arial"/>
                          <a:cs typeface="Arial"/>
                        </a:rPr>
                        <a:t>CIS</a:t>
                      </a:r>
                      <a:r>
                        <a:rPr dirty="0" sz="2400" spc="-170">
                          <a:solidFill>
                            <a:srgbClr val="26282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00" spc="-10">
                          <a:solidFill>
                            <a:srgbClr val="26282B"/>
                          </a:solidFill>
                          <a:latin typeface="Arial"/>
                          <a:cs typeface="Arial"/>
                        </a:rPr>
                        <a:t>Benchmarks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26924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46355">
                        <a:lnSpc>
                          <a:spcPct val="100000"/>
                        </a:lnSpc>
                        <a:spcBef>
                          <a:spcPts val="2120"/>
                        </a:spcBef>
                      </a:pPr>
                      <a:r>
                        <a:rPr dirty="0" sz="2400" spc="-20">
                          <a:solidFill>
                            <a:srgbClr val="595D60"/>
                          </a:solidFill>
                          <a:latin typeface="Arial"/>
                          <a:cs typeface="Arial"/>
                        </a:rPr>
                        <a:t>Manual</a:t>
                      </a:r>
                      <a:r>
                        <a:rPr dirty="0" sz="2400" spc="55">
                          <a:solidFill>
                            <a:srgbClr val="595D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00">
                          <a:solidFill>
                            <a:srgbClr val="494D4F"/>
                          </a:solidFill>
                          <a:latin typeface="Arial"/>
                          <a:cs typeface="Arial"/>
                        </a:rPr>
                        <a:t>implementation</a:t>
                      </a:r>
                      <a:r>
                        <a:rPr dirty="0" sz="2400" spc="-180">
                          <a:solidFill>
                            <a:srgbClr val="494D4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00" spc="-10">
                          <a:solidFill>
                            <a:srgbClr val="595D60"/>
                          </a:solidFill>
                          <a:latin typeface="Arial"/>
                          <a:cs typeface="Arial"/>
                        </a:rPr>
                        <a:t>required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26924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marL="342265">
                        <a:lnSpc>
                          <a:spcPct val="100000"/>
                        </a:lnSpc>
                        <a:spcBef>
                          <a:spcPts val="2070"/>
                        </a:spcBef>
                      </a:pPr>
                      <a:r>
                        <a:rPr dirty="0" sz="2450" spc="-75" b="1">
                          <a:solidFill>
                            <a:srgbClr val="906E26"/>
                          </a:solidFill>
                          <a:latin typeface="Arial"/>
                          <a:cs typeface="Arial"/>
                        </a:rPr>
                        <a:t>Level</a:t>
                      </a:r>
                      <a:r>
                        <a:rPr dirty="0" sz="2450" spc="-320" b="1">
                          <a:solidFill>
                            <a:srgbClr val="906E2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50" spc="-75" b="1">
                          <a:solidFill>
                            <a:srgbClr val="906E26"/>
                          </a:solidFill>
                          <a:latin typeface="Arial"/>
                          <a:cs typeface="Arial"/>
                        </a:rPr>
                        <a:t>1</a:t>
                      </a:r>
                      <a:r>
                        <a:rPr dirty="0" sz="2450" spc="-275" b="1">
                          <a:solidFill>
                            <a:srgbClr val="906E2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00" spc="-25" b="1">
                          <a:solidFill>
                            <a:srgbClr val="906E26"/>
                          </a:solidFill>
                          <a:latin typeface="Arial"/>
                          <a:cs typeface="Arial"/>
                        </a:rPr>
                        <a:t>&amp;</a:t>
                      </a:r>
                      <a:r>
                        <a:rPr dirty="0" sz="2400" spc="-220" b="1">
                          <a:solidFill>
                            <a:srgbClr val="906E2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50" b="1">
                          <a:solidFill>
                            <a:srgbClr val="906E26"/>
                          </a:solidFill>
                          <a:latin typeface="Arial"/>
                          <a:cs typeface="Arial"/>
                        </a:rPr>
                        <a:t>2</a:t>
                      </a:r>
                      <a:r>
                        <a:rPr dirty="0" sz="2450" spc="-114" b="1">
                          <a:solidFill>
                            <a:srgbClr val="906E2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50" spc="-65" b="1">
                          <a:solidFill>
                            <a:srgbClr val="906E26"/>
                          </a:solidFill>
                          <a:latin typeface="Arial"/>
                          <a:cs typeface="Arial"/>
                        </a:rPr>
                        <a:t>profiles</a:t>
                      </a:r>
                      <a:r>
                        <a:rPr dirty="0" sz="2450" spc="-175" b="1">
                          <a:solidFill>
                            <a:srgbClr val="906E2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50" spc="-10" b="1">
                          <a:solidFill>
                            <a:srgbClr val="906E26"/>
                          </a:solidFill>
                          <a:latin typeface="Arial"/>
                          <a:cs typeface="Arial"/>
                        </a:rPr>
                        <a:t>included</a:t>
                      </a:r>
                      <a:endParaRPr sz="245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80"/>
                        </a:spcBef>
                      </a:pPr>
                      <a:endParaRPr sz="2450">
                        <a:latin typeface="Times New Roman"/>
                        <a:cs typeface="Times New Roman"/>
                      </a:endParaRPr>
                    </a:p>
                    <a:p>
                      <a:pPr algn="ctr" marL="334010">
                        <a:lnSpc>
                          <a:spcPct val="100000"/>
                        </a:lnSpc>
                      </a:pPr>
                      <a:r>
                        <a:rPr dirty="0" sz="2450" spc="-50" b="1">
                          <a:solidFill>
                            <a:srgbClr val="906E26"/>
                          </a:solidFill>
                          <a:latin typeface="Arial"/>
                          <a:cs typeface="Arial"/>
                        </a:rPr>
                        <a:t>Integrated</a:t>
                      </a:r>
                      <a:r>
                        <a:rPr dirty="0" sz="2450" spc="-40" b="1">
                          <a:solidFill>
                            <a:srgbClr val="906E2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00" spc="-145" b="1">
                          <a:solidFill>
                            <a:srgbClr val="906E26"/>
                          </a:solidFill>
                          <a:latin typeface="Arial"/>
                          <a:cs typeface="Arial"/>
                        </a:rPr>
                        <a:t>&amp;</a:t>
                      </a:r>
                      <a:r>
                        <a:rPr dirty="0" sz="2400" spc="-215" b="1">
                          <a:solidFill>
                            <a:srgbClr val="906E2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50" spc="-75" b="1">
                          <a:solidFill>
                            <a:srgbClr val="906E26"/>
                          </a:solidFill>
                          <a:latin typeface="Arial"/>
                          <a:cs typeface="Arial"/>
                        </a:rPr>
                        <a:t>included</a:t>
                      </a:r>
                      <a:r>
                        <a:rPr dirty="0" sz="2450" spc="-210" b="1">
                          <a:solidFill>
                            <a:srgbClr val="906E2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50" b="1">
                          <a:solidFill>
                            <a:srgbClr val="906E26"/>
                          </a:solidFill>
                          <a:latin typeface="Arial"/>
                          <a:cs typeface="Arial"/>
                        </a:rPr>
                        <a:t>in</a:t>
                      </a:r>
                      <a:r>
                        <a:rPr dirty="0" sz="2450" spc="-265" b="1">
                          <a:solidFill>
                            <a:srgbClr val="906E2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50" spc="-40" b="1">
                          <a:solidFill>
                            <a:srgbClr val="906E26"/>
                          </a:solidFill>
                          <a:latin typeface="Arial"/>
                          <a:cs typeface="Arial"/>
                        </a:rPr>
                        <a:t>base</a:t>
                      </a:r>
                      <a:r>
                        <a:rPr dirty="0" sz="2450" spc="-225" b="1">
                          <a:solidFill>
                            <a:srgbClr val="906E2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50" spc="-10" b="1">
                          <a:solidFill>
                            <a:srgbClr val="906E26"/>
                          </a:solidFill>
                          <a:latin typeface="Arial"/>
                          <a:cs typeface="Arial"/>
                        </a:rPr>
                        <a:t>subscription</a:t>
                      </a:r>
                      <a:endParaRPr sz="2450">
                        <a:latin typeface="Arial"/>
                        <a:cs typeface="Arial"/>
                      </a:endParaRPr>
                    </a:p>
                    <a:p>
                      <a:pPr marL="10795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dirty="0" sz="1350" spc="-25">
                          <a:solidFill>
                            <a:srgbClr val="BFB39E"/>
                          </a:solidFill>
                          <a:latin typeface="Arial"/>
                          <a:cs typeface="Arial"/>
                        </a:rPr>
                        <a:t>,-</a:t>
                      </a:r>
                      <a:endParaRPr sz="1350">
                        <a:latin typeface="Arial"/>
                        <a:cs typeface="Arial"/>
                      </a:endParaRPr>
                    </a:p>
                    <a:p>
                      <a:pPr algn="ctr" marL="497840" marR="149225">
                        <a:lnSpc>
                          <a:spcPts val="2710"/>
                        </a:lnSpc>
                        <a:spcBef>
                          <a:spcPts val="580"/>
                        </a:spcBef>
                      </a:pPr>
                      <a:r>
                        <a:rPr dirty="0" sz="2450" spc="-200" b="1">
                          <a:solidFill>
                            <a:srgbClr val="906E26"/>
                          </a:solidFill>
                          <a:latin typeface="Arial"/>
                          <a:cs typeface="Arial"/>
                        </a:rPr>
                        <a:t>LKRG</a:t>
                      </a:r>
                      <a:r>
                        <a:rPr dirty="0" sz="2450" spc="-210" b="1">
                          <a:solidFill>
                            <a:srgbClr val="906E2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50" spc="-65" b="1">
                          <a:solidFill>
                            <a:srgbClr val="906E26"/>
                          </a:solidFill>
                          <a:latin typeface="Arial"/>
                          <a:cs typeface="Arial"/>
                        </a:rPr>
                        <a:t>kernel</a:t>
                      </a:r>
                      <a:r>
                        <a:rPr dirty="0" sz="2450" spc="-110" b="1">
                          <a:solidFill>
                            <a:srgbClr val="906E2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50" spc="-45" b="1">
                          <a:solidFill>
                            <a:srgbClr val="906E26"/>
                          </a:solidFill>
                          <a:latin typeface="Arial"/>
                          <a:cs typeface="Arial"/>
                        </a:rPr>
                        <a:t>integrity</a:t>
                      </a:r>
                      <a:r>
                        <a:rPr dirty="0" sz="2450" spc="-155" b="1">
                          <a:solidFill>
                            <a:srgbClr val="906E2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00" spc="-145" b="1">
                          <a:solidFill>
                            <a:srgbClr val="906E26"/>
                          </a:solidFill>
                          <a:latin typeface="Arial"/>
                          <a:cs typeface="Arial"/>
                        </a:rPr>
                        <a:t>&amp;</a:t>
                      </a:r>
                      <a:r>
                        <a:rPr dirty="0" sz="2400" spc="-204" b="1">
                          <a:solidFill>
                            <a:srgbClr val="906E2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50" spc="-75" b="1">
                          <a:solidFill>
                            <a:srgbClr val="906E26"/>
                          </a:solidFill>
                          <a:latin typeface="Arial"/>
                          <a:cs typeface="Arial"/>
                        </a:rPr>
                        <a:t>hardened_malloc </a:t>
                      </a:r>
                      <a:r>
                        <a:rPr dirty="0" sz="2450" spc="-10" b="1">
                          <a:solidFill>
                            <a:srgbClr val="906E26"/>
                          </a:solidFill>
                          <a:latin typeface="Arial"/>
                          <a:cs typeface="Arial"/>
                        </a:rPr>
                        <a:t>(prevention)</a:t>
                      </a:r>
                      <a:endParaRPr sz="2450">
                        <a:latin typeface="Arial"/>
                        <a:cs typeface="Arial"/>
                      </a:endParaRPr>
                    </a:p>
                  </a:txBody>
                  <a:tcPr marL="0" marR="0" marB="0" marT="262890">
                    <a:lnL w="38100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812289"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2120"/>
                        </a:spcBef>
                      </a:pPr>
                      <a:r>
                        <a:rPr dirty="0" sz="2400">
                          <a:solidFill>
                            <a:srgbClr val="26282B"/>
                          </a:solidFill>
                          <a:latin typeface="Arial"/>
                          <a:cs typeface="Arial"/>
                        </a:rPr>
                        <a:t>Patch</a:t>
                      </a:r>
                      <a:r>
                        <a:rPr dirty="0" sz="2400" spc="-120">
                          <a:solidFill>
                            <a:srgbClr val="26282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00" spc="-10">
                          <a:solidFill>
                            <a:srgbClr val="26282B"/>
                          </a:solidFill>
                          <a:latin typeface="Arial"/>
                          <a:cs typeface="Arial"/>
                        </a:rPr>
                        <a:t>Management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00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103505">
                        <a:lnSpc>
                          <a:spcPct val="100000"/>
                        </a:lnSpc>
                      </a:pPr>
                      <a:r>
                        <a:rPr dirty="0" sz="2400" spc="-10">
                          <a:solidFill>
                            <a:srgbClr val="26282B"/>
                          </a:solidFill>
                          <a:latin typeface="Arial"/>
                          <a:cs typeface="Arial"/>
                        </a:rPr>
                        <a:t>Proactive</a:t>
                      </a:r>
                      <a:r>
                        <a:rPr dirty="0" sz="2400" spc="-125">
                          <a:solidFill>
                            <a:srgbClr val="26282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00" spc="-10">
                          <a:solidFill>
                            <a:srgbClr val="26282B"/>
                          </a:solidFill>
                          <a:latin typeface="Arial"/>
                          <a:cs typeface="Arial"/>
                        </a:rPr>
                        <a:t>Protection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26924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40005">
                        <a:lnSpc>
                          <a:spcPct val="100000"/>
                        </a:lnSpc>
                        <a:spcBef>
                          <a:spcPts val="2020"/>
                        </a:spcBef>
                      </a:pPr>
                      <a:r>
                        <a:rPr dirty="0" sz="2400" spc="-35">
                          <a:solidFill>
                            <a:srgbClr val="595D60"/>
                          </a:solidFill>
                          <a:latin typeface="Arial"/>
                          <a:cs typeface="Arial"/>
                        </a:rPr>
                        <a:t>Requires</a:t>
                      </a:r>
                      <a:r>
                        <a:rPr dirty="0" sz="2400" spc="-75">
                          <a:solidFill>
                            <a:srgbClr val="595D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00">
                          <a:solidFill>
                            <a:srgbClr val="595D60"/>
                          </a:solidFill>
                          <a:latin typeface="Arial"/>
                          <a:cs typeface="Arial"/>
                        </a:rPr>
                        <a:t>expensive</a:t>
                      </a:r>
                      <a:r>
                        <a:rPr dirty="0" sz="2400" spc="-70">
                          <a:solidFill>
                            <a:srgbClr val="595D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00">
                          <a:solidFill>
                            <a:srgbClr val="595D60"/>
                          </a:solidFill>
                          <a:latin typeface="Arial"/>
                          <a:cs typeface="Arial"/>
                        </a:rPr>
                        <a:t>Satellite</a:t>
                      </a:r>
                      <a:r>
                        <a:rPr dirty="0" sz="2400" spc="-75">
                          <a:solidFill>
                            <a:srgbClr val="595D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00">
                          <a:solidFill>
                            <a:srgbClr val="595D60"/>
                          </a:solidFill>
                          <a:latin typeface="Arial"/>
                          <a:cs typeface="Arial"/>
                        </a:rPr>
                        <a:t>add-</a:t>
                      </a:r>
                      <a:r>
                        <a:rPr dirty="0" sz="2400" spc="-25">
                          <a:solidFill>
                            <a:srgbClr val="595D60"/>
                          </a:solidFill>
                          <a:latin typeface="Arial"/>
                          <a:cs typeface="Arial"/>
                        </a:rPr>
                        <a:t>on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00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algn="ctr" marL="24130">
                        <a:lnSpc>
                          <a:spcPct val="100000"/>
                        </a:lnSpc>
                      </a:pPr>
                      <a:r>
                        <a:rPr dirty="0" sz="2400" spc="-70">
                          <a:solidFill>
                            <a:srgbClr val="595D60"/>
                          </a:solidFill>
                          <a:latin typeface="Arial"/>
                          <a:cs typeface="Arial"/>
                        </a:rPr>
                        <a:t>SELinux</a:t>
                      </a:r>
                      <a:r>
                        <a:rPr dirty="0" sz="2400" spc="20">
                          <a:solidFill>
                            <a:srgbClr val="595D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00">
                          <a:solidFill>
                            <a:srgbClr val="595D60"/>
                          </a:solidFill>
                          <a:latin typeface="Arial"/>
                          <a:cs typeface="Arial"/>
                        </a:rPr>
                        <a:t>only</a:t>
                      </a:r>
                      <a:r>
                        <a:rPr dirty="0" sz="2400" spc="-45">
                          <a:solidFill>
                            <a:srgbClr val="595D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00" spc="-10">
                          <a:solidFill>
                            <a:srgbClr val="595D60"/>
                          </a:solidFill>
                          <a:latin typeface="Arial"/>
                          <a:cs typeface="Arial"/>
                        </a:rPr>
                        <a:t>(detection)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25654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62890">
                    <a:lnL w="38100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868044"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2020"/>
                        </a:spcBef>
                      </a:pPr>
                      <a:r>
                        <a:rPr dirty="0" sz="2400" spc="-10">
                          <a:solidFill>
                            <a:srgbClr val="26282B"/>
                          </a:solidFill>
                          <a:latin typeface="Arial"/>
                          <a:cs typeface="Arial"/>
                        </a:rPr>
                        <a:t>Price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25654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49530">
                        <a:lnSpc>
                          <a:spcPct val="100000"/>
                        </a:lnSpc>
                        <a:spcBef>
                          <a:spcPts val="2020"/>
                        </a:spcBef>
                      </a:pPr>
                      <a:r>
                        <a:rPr dirty="0" sz="2400" spc="-20">
                          <a:solidFill>
                            <a:srgbClr val="494D4F"/>
                          </a:solidFill>
                          <a:latin typeface="Arial"/>
                          <a:cs typeface="Arial"/>
                        </a:rPr>
                        <a:t>$1,299</a:t>
                      </a:r>
                      <a:r>
                        <a:rPr dirty="0" sz="2400" spc="80">
                          <a:solidFill>
                            <a:srgbClr val="494D4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00">
                          <a:solidFill>
                            <a:srgbClr val="595D60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dirty="0" sz="2400" spc="210">
                          <a:solidFill>
                            <a:srgbClr val="595D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00">
                          <a:solidFill>
                            <a:srgbClr val="595D60"/>
                          </a:solidFill>
                          <a:latin typeface="Arial"/>
                          <a:cs typeface="Arial"/>
                        </a:rPr>
                        <a:t>$2,499</a:t>
                      </a:r>
                      <a:r>
                        <a:rPr dirty="0" sz="2400" spc="-20">
                          <a:solidFill>
                            <a:srgbClr val="595D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00">
                          <a:solidFill>
                            <a:srgbClr val="595D60"/>
                          </a:solidFill>
                          <a:latin typeface="Arial"/>
                          <a:cs typeface="Arial"/>
                        </a:rPr>
                        <a:t>per</a:t>
                      </a:r>
                      <a:r>
                        <a:rPr dirty="0" sz="2400" spc="10">
                          <a:solidFill>
                            <a:srgbClr val="595D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00" spc="-20">
                          <a:solidFill>
                            <a:srgbClr val="595D60"/>
                          </a:solidFill>
                          <a:latin typeface="Arial"/>
                          <a:cs typeface="Arial"/>
                        </a:rPr>
                        <a:t>node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25654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588010">
                        <a:lnSpc>
                          <a:spcPct val="100000"/>
                        </a:lnSpc>
                        <a:spcBef>
                          <a:spcPts val="1970"/>
                        </a:spcBef>
                      </a:pPr>
                      <a:r>
                        <a:rPr dirty="0" sz="2450" b="1">
                          <a:solidFill>
                            <a:srgbClr val="906E26"/>
                          </a:solidFill>
                          <a:latin typeface="Arial"/>
                          <a:cs typeface="Arial"/>
                        </a:rPr>
                        <a:t>$775</a:t>
                      </a:r>
                      <a:r>
                        <a:rPr dirty="0" sz="2450" spc="-40" b="1">
                          <a:solidFill>
                            <a:srgbClr val="906E2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50" b="1">
                          <a:solidFill>
                            <a:srgbClr val="906E26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dirty="0" sz="2450" spc="110" b="1">
                          <a:solidFill>
                            <a:srgbClr val="906E2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50" b="1">
                          <a:solidFill>
                            <a:srgbClr val="906E26"/>
                          </a:solidFill>
                          <a:latin typeface="Arial"/>
                          <a:cs typeface="Arial"/>
                        </a:rPr>
                        <a:t>$1,000</a:t>
                      </a:r>
                      <a:r>
                        <a:rPr dirty="0" sz="2450" spc="-160" b="1">
                          <a:solidFill>
                            <a:srgbClr val="906E2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50" spc="-25" b="1">
                          <a:solidFill>
                            <a:srgbClr val="906E26"/>
                          </a:solidFill>
                          <a:latin typeface="Arial"/>
                          <a:cs typeface="Arial"/>
                        </a:rPr>
                        <a:t>per</a:t>
                      </a:r>
                      <a:r>
                        <a:rPr dirty="0" sz="2450" spc="-220" b="1">
                          <a:solidFill>
                            <a:srgbClr val="906E2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50" spc="-55" b="1">
                          <a:solidFill>
                            <a:srgbClr val="906E26"/>
                          </a:solidFill>
                          <a:latin typeface="Arial"/>
                          <a:cs typeface="Arial"/>
                        </a:rPr>
                        <a:t>node</a:t>
                      </a:r>
                      <a:r>
                        <a:rPr dirty="0" sz="2450" spc="-170" b="1">
                          <a:solidFill>
                            <a:srgbClr val="906E2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50" spc="60" b="1">
                          <a:solidFill>
                            <a:srgbClr val="906E26"/>
                          </a:solidFill>
                          <a:latin typeface="Arial"/>
                          <a:cs typeface="Arial"/>
                        </a:rPr>
                        <a:t>(40-</a:t>
                      </a:r>
                      <a:r>
                        <a:rPr dirty="0" sz="2450" spc="90" b="1">
                          <a:solidFill>
                            <a:srgbClr val="906E26"/>
                          </a:solidFill>
                          <a:latin typeface="Arial"/>
                          <a:cs typeface="Arial"/>
                        </a:rPr>
                        <a:t>60%</a:t>
                      </a:r>
                      <a:r>
                        <a:rPr dirty="0" sz="2450" spc="-90" b="1">
                          <a:solidFill>
                            <a:srgbClr val="906E2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50" spc="-10" b="1">
                          <a:solidFill>
                            <a:srgbClr val="906E26"/>
                          </a:solidFill>
                          <a:latin typeface="Arial"/>
                          <a:cs typeface="Arial"/>
                        </a:rPr>
                        <a:t>lower)</a:t>
                      </a:r>
                      <a:endParaRPr sz="2450">
                        <a:latin typeface="Arial"/>
                        <a:cs typeface="Arial"/>
                      </a:endParaRPr>
                    </a:p>
                  </a:txBody>
                  <a:tcPr marL="0" marR="0" marB="0" marT="250190">
                    <a:lnL w="38100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00"/>
              </a:lnSpc>
            </a:pPr>
            <a:r>
              <a:rPr dirty="0" sz="1300" spc="-20">
                <a:solidFill>
                  <a:srgbClr val="363838"/>
                </a:solidFill>
              </a:rPr>
              <a:t>Isl\</a:t>
            </a:r>
            <a:r>
              <a:rPr dirty="0" sz="1300" spc="-45">
                <a:solidFill>
                  <a:srgbClr val="363838"/>
                </a:solidFill>
              </a:rPr>
              <a:t> </a:t>
            </a:r>
            <a:r>
              <a:rPr dirty="0" spc="-10">
                <a:solidFill>
                  <a:srgbClr val="070F1F"/>
                </a:solidFill>
              </a:rPr>
              <a:t>N</a:t>
            </a:r>
            <a:r>
              <a:rPr dirty="0" spc="-10"/>
              <a:t>otebookLM</a:t>
            </a:r>
            <a:endParaRPr sz="13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15389" y="3319462"/>
            <a:ext cx="764215" cy="33191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15389" y="3804575"/>
            <a:ext cx="840636" cy="66383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469746" y="3140736"/>
            <a:ext cx="2292645" cy="3446859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3438968" y="3447122"/>
            <a:ext cx="0" cy="1047115"/>
          </a:xfrm>
          <a:custGeom>
            <a:avLst/>
            <a:gdLst/>
            <a:ahLst/>
            <a:cxnLst/>
            <a:rect l="l" t="t" r="r" b="b"/>
            <a:pathLst>
              <a:path w="0" h="1047114">
                <a:moveTo>
                  <a:pt x="0" y="1046823"/>
                </a:moveTo>
                <a:lnTo>
                  <a:pt x="0" y="0"/>
                </a:lnTo>
              </a:path>
            </a:pathLst>
          </a:custGeom>
          <a:ln w="764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394237" y="4034365"/>
            <a:ext cx="0" cy="408940"/>
          </a:xfrm>
          <a:custGeom>
            <a:avLst/>
            <a:gdLst/>
            <a:ahLst/>
            <a:cxnLst/>
            <a:rect l="l" t="t" r="r" b="b"/>
            <a:pathLst>
              <a:path w="0" h="408939">
                <a:moveTo>
                  <a:pt x="0" y="408516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794691" y="2527960"/>
            <a:ext cx="0" cy="3957954"/>
          </a:xfrm>
          <a:custGeom>
            <a:avLst/>
            <a:gdLst/>
            <a:ahLst/>
            <a:cxnLst/>
            <a:rect l="l" t="t" r="r" b="b"/>
            <a:pathLst>
              <a:path w="0" h="3957954">
                <a:moveTo>
                  <a:pt x="0" y="3957503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2762393" y="6562061"/>
            <a:ext cx="3821429" cy="0"/>
          </a:xfrm>
          <a:custGeom>
            <a:avLst/>
            <a:gdLst/>
            <a:ahLst/>
            <a:cxnLst/>
            <a:rect l="l" t="t" r="r" b="b"/>
            <a:pathLst>
              <a:path w="3821430" h="0">
                <a:moveTo>
                  <a:pt x="0" y="0"/>
                </a:moveTo>
                <a:lnTo>
                  <a:pt x="3821075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897952" y="3313078"/>
          <a:ext cx="1171575" cy="8547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57275"/>
              </a:tblGrid>
              <a:tr h="293370">
                <a:tc>
                  <a:txBody>
                    <a:bodyPr/>
                    <a:lstStyle/>
                    <a:p>
                      <a:pPr marL="88265">
                        <a:lnSpc>
                          <a:spcPts val="2210"/>
                        </a:lnSpc>
                        <a:tabLst>
                          <a:tab pos="786765" algn="l"/>
                        </a:tabLst>
                      </a:pPr>
                      <a:r>
                        <a:rPr dirty="0" sz="3350" spc="-250">
                          <a:solidFill>
                            <a:srgbClr val="AC904F"/>
                          </a:solidFill>
                          <a:latin typeface="Arial"/>
                          <a:cs typeface="Arial"/>
                        </a:rPr>
                        <a:t>--</a:t>
                      </a:r>
                      <a:r>
                        <a:rPr dirty="0" sz="3350" spc="-50">
                          <a:solidFill>
                            <a:srgbClr val="AC904F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dirty="0" sz="3350">
                          <a:solidFill>
                            <a:srgbClr val="AC904F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baseline="11494" sz="2175" spc="-75" b="1">
                          <a:solidFill>
                            <a:srgbClr val="B88E2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baseline="11494" sz="2175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93370">
                <a:tc>
                  <a:txBody>
                    <a:bodyPr/>
                    <a:lstStyle/>
                    <a:p>
                      <a:pPr marL="100965">
                        <a:lnSpc>
                          <a:spcPts val="2210"/>
                        </a:lnSpc>
                        <a:tabLst>
                          <a:tab pos="786765" algn="l"/>
                        </a:tabLst>
                      </a:pPr>
                      <a:r>
                        <a:rPr dirty="0" sz="3350" spc="-160">
                          <a:solidFill>
                            <a:srgbClr val="B8A880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dirty="0" sz="3350" spc="-160">
                          <a:solidFill>
                            <a:srgbClr val="AC904F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dirty="0" sz="3350" spc="-50">
                          <a:solidFill>
                            <a:srgbClr val="AC904F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dirty="0" sz="3350">
                          <a:solidFill>
                            <a:srgbClr val="AC904F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baseline="11494" sz="2175" spc="-75" b="1">
                          <a:solidFill>
                            <a:srgbClr val="B88E2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baseline="11494" sz="2175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79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object 10"/>
          <p:cNvSpPr/>
          <p:nvPr/>
        </p:nvSpPr>
        <p:spPr>
          <a:xfrm>
            <a:off x="917058" y="4404583"/>
            <a:ext cx="1057275" cy="0"/>
          </a:xfrm>
          <a:custGeom>
            <a:avLst/>
            <a:gdLst/>
            <a:ahLst/>
            <a:cxnLst/>
            <a:rect l="l" t="t" r="r" b="b"/>
            <a:pathLst>
              <a:path w="1057275" h="0">
                <a:moveTo>
                  <a:pt x="0" y="0"/>
                </a:moveTo>
                <a:lnTo>
                  <a:pt x="1057164" y="0"/>
                </a:lnTo>
              </a:path>
            </a:pathLst>
          </a:custGeom>
          <a:ln w="3829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944937" y="740767"/>
            <a:ext cx="15619094" cy="5924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700" spc="-10" b="1">
                <a:solidFill>
                  <a:srgbClr val="010101"/>
                </a:solidFill>
                <a:latin typeface="Arial"/>
                <a:cs typeface="Arial"/>
              </a:rPr>
              <a:t>The</a:t>
            </a:r>
            <a:r>
              <a:rPr dirty="0" sz="3700" spc="-370" b="1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dirty="0" sz="3700" spc="-80" b="1">
                <a:solidFill>
                  <a:srgbClr val="010101"/>
                </a:solidFill>
                <a:latin typeface="Arial"/>
                <a:cs typeface="Arial"/>
              </a:rPr>
              <a:t>Proof:</a:t>
            </a:r>
            <a:r>
              <a:rPr dirty="0" sz="3700" spc="-365" b="1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dirty="0" sz="3700" spc="-125" b="1">
                <a:solidFill>
                  <a:srgbClr val="010101"/>
                </a:solidFill>
                <a:latin typeface="Arial"/>
                <a:cs typeface="Arial"/>
              </a:rPr>
              <a:t>Turning</a:t>
            </a:r>
            <a:r>
              <a:rPr dirty="0" sz="3700" spc="-200" b="1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dirty="0" sz="3700" spc="-55" b="1">
                <a:solidFill>
                  <a:srgbClr val="010101"/>
                </a:solidFill>
                <a:latin typeface="Arial"/>
                <a:cs typeface="Arial"/>
              </a:rPr>
              <a:t>Months</a:t>
            </a:r>
            <a:r>
              <a:rPr dirty="0" sz="3700" spc="-165" b="1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dirty="0" sz="3700" b="1">
                <a:solidFill>
                  <a:srgbClr val="010101"/>
                </a:solidFill>
                <a:latin typeface="Arial"/>
                <a:cs typeface="Arial"/>
              </a:rPr>
              <a:t>of</a:t>
            </a:r>
            <a:r>
              <a:rPr dirty="0" sz="3700" spc="-110" b="1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dirty="0" sz="3700" spc="-105" b="1">
                <a:solidFill>
                  <a:srgbClr val="010101"/>
                </a:solidFill>
                <a:latin typeface="Arial"/>
                <a:cs typeface="Arial"/>
              </a:rPr>
              <a:t>Work</a:t>
            </a:r>
            <a:r>
              <a:rPr dirty="0" sz="3700" spc="-195" b="1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dirty="0" sz="3700" spc="-55" b="1">
                <a:solidFill>
                  <a:srgbClr val="010101"/>
                </a:solidFill>
                <a:latin typeface="Arial"/>
                <a:cs typeface="Arial"/>
              </a:rPr>
              <a:t>and</a:t>
            </a:r>
            <a:r>
              <a:rPr dirty="0" sz="3700" spc="-265" b="1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dirty="0" sz="3700" spc="-80" b="1">
                <a:solidFill>
                  <a:srgbClr val="010101"/>
                </a:solidFill>
                <a:latin typeface="Arial"/>
                <a:cs typeface="Arial"/>
              </a:rPr>
              <a:t>Millions</a:t>
            </a:r>
            <a:r>
              <a:rPr dirty="0" sz="3700" spc="-320" b="1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dirty="0" sz="3700" b="1">
                <a:solidFill>
                  <a:srgbClr val="010101"/>
                </a:solidFill>
                <a:latin typeface="Arial"/>
                <a:cs typeface="Arial"/>
              </a:rPr>
              <a:t>in</a:t>
            </a:r>
            <a:r>
              <a:rPr dirty="0" sz="3700" spc="-395" b="1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dirty="0" sz="3700" spc="-70" b="1">
                <a:solidFill>
                  <a:srgbClr val="010101"/>
                </a:solidFill>
                <a:latin typeface="Arial"/>
                <a:cs typeface="Arial"/>
              </a:rPr>
              <a:t>Cost</a:t>
            </a:r>
            <a:r>
              <a:rPr dirty="0" sz="3700" spc="-260" b="1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dirty="0" sz="3700" spc="-45" b="1">
                <a:solidFill>
                  <a:srgbClr val="010101"/>
                </a:solidFill>
                <a:latin typeface="Arial"/>
                <a:cs typeface="Arial"/>
              </a:rPr>
              <a:t>into</a:t>
            </a:r>
            <a:r>
              <a:rPr dirty="0" sz="3700" spc="-229" b="1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dirty="0" sz="3700" spc="-130" b="1">
                <a:solidFill>
                  <a:srgbClr val="010101"/>
                </a:solidFill>
                <a:latin typeface="Arial"/>
                <a:cs typeface="Arial"/>
              </a:rPr>
              <a:t>Real</a:t>
            </a:r>
            <a:r>
              <a:rPr dirty="0" sz="3700" spc="-295" b="1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dirty="0" sz="3700" spc="-45" b="1">
                <a:solidFill>
                  <a:srgbClr val="010101"/>
                </a:solidFill>
                <a:latin typeface="Arial"/>
                <a:cs typeface="Arial"/>
              </a:rPr>
              <a:t>Savings</a:t>
            </a:r>
            <a:endParaRPr sz="37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89634" y="2042913"/>
            <a:ext cx="5012055" cy="9017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34290" marR="5080" indent="-22225">
              <a:lnSpc>
                <a:spcPts val="3520"/>
              </a:lnSpc>
              <a:spcBef>
                <a:spcPts val="55"/>
              </a:spcBef>
            </a:pPr>
            <a:r>
              <a:rPr dirty="0" sz="2800" spc="70" b="1">
                <a:solidFill>
                  <a:srgbClr val="010101"/>
                </a:solidFill>
                <a:latin typeface="Arial"/>
                <a:cs typeface="Arial"/>
              </a:rPr>
              <a:t>Large</a:t>
            </a:r>
            <a:r>
              <a:rPr dirty="0" sz="2800" spc="-160" b="1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dirty="0" sz="2800" spc="90" b="1">
                <a:solidFill>
                  <a:srgbClr val="010101"/>
                </a:solidFill>
                <a:latin typeface="Arial"/>
                <a:cs typeface="Arial"/>
              </a:rPr>
              <a:t>DoD</a:t>
            </a:r>
            <a:r>
              <a:rPr dirty="0" sz="2800" spc="-204" b="1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dirty="0" sz="2800" spc="70" b="1">
                <a:solidFill>
                  <a:srgbClr val="010101"/>
                </a:solidFill>
                <a:latin typeface="Arial"/>
                <a:cs typeface="Arial"/>
              </a:rPr>
              <a:t>Prime</a:t>
            </a:r>
            <a:r>
              <a:rPr dirty="0" sz="2800" spc="-165" b="1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dirty="0" sz="2800" spc="70" b="1">
                <a:solidFill>
                  <a:srgbClr val="010101"/>
                </a:solidFill>
                <a:latin typeface="Arial"/>
                <a:cs typeface="Arial"/>
              </a:rPr>
              <a:t>Contractor </a:t>
            </a:r>
            <a:r>
              <a:rPr dirty="0" sz="2800" spc="55" b="1">
                <a:solidFill>
                  <a:srgbClr val="010101"/>
                </a:solidFill>
                <a:latin typeface="Arial"/>
                <a:cs typeface="Arial"/>
              </a:rPr>
              <a:t>(Aerospace)</a:t>
            </a:r>
            <a:endParaRPr sz="2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90854" y="3689747"/>
            <a:ext cx="368300" cy="6229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900" spc="-405">
                <a:solidFill>
                  <a:srgbClr val="AC904F"/>
                </a:solidFill>
                <a:latin typeface="Arial"/>
                <a:cs typeface="Arial"/>
              </a:rPr>
              <a:t>--</a:t>
            </a:r>
            <a:r>
              <a:rPr dirty="0" sz="3900" spc="-455">
                <a:solidFill>
                  <a:srgbClr val="AC904F"/>
                </a:solidFill>
                <a:latin typeface="Arial"/>
                <a:cs typeface="Arial"/>
              </a:rPr>
              <a:t>-</a:t>
            </a:r>
            <a:endParaRPr sz="39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691389" y="3951452"/>
            <a:ext cx="96520" cy="2476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50" spc="-310" b="1">
                <a:solidFill>
                  <a:srgbClr val="B88E2F"/>
                </a:solidFill>
                <a:latin typeface="Arial"/>
                <a:cs typeface="Arial"/>
              </a:rPr>
              <a:t>0</a:t>
            </a:r>
            <a:endParaRPr sz="14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76598" y="4206776"/>
            <a:ext cx="161290" cy="156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 spc="-110" b="1">
                <a:solidFill>
                  <a:srgbClr val="B88E2F"/>
                </a:solidFill>
                <a:latin typeface="Arial"/>
                <a:cs typeface="Arial"/>
              </a:rPr>
              <a:t>_J_</a:t>
            </a:r>
            <a:endParaRPr sz="8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74095" y="4659974"/>
            <a:ext cx="1790064" cy="1026794"/>
          </a:xfrm>
          <a:prstGeom prst="rect">
            <a:avLst/>
          </a:prstGeom>
        </p:spPr>
        <p:txBody>
          <a:bodyPr wrap="square" lIns="0" tIns="27940" rIns="0" bIns="0" rtlCol="0" vert="horz">
            <a:spAutoFit/>
          </a:bodyPr>
          <a:lstStyle/>
          <a:p>
            <a:pPr marL="12700" marR="5080" indent="9525">
              <a:lnSpc>
                <a:spcPts val="2610"/>
              </a:lnSpc>
              <a:spcBef>
                <a:spcPts val="220"/>
              </a:spcBef>
            </a:pPr>
            <a:r>
              <a:rPr dirty="0" sz="2200" spc="-45" b="1">
                <a:solidFill>
                  <a:srgbClr val="010101"/>
                </a:solidFill>
                <a:latin typeface="Arial"/>
                <a:cs typeface="Arial"/>
              </a:rPr>
              <a:t>Environment</a:t>
            </a:r>
            <a:r>
              <a:rPr dirty="0" sz="2200" spc="-45" b="1">
                <a:solidFill>
                  <a:srgbClr val="2A2B2D"/>
                </a:solidFill>
                <a:latin typeface="Arial"/>
                <a:cs typeface="Arial"/>
              </a:rPr>
              <a:t>: </a:t>
            </a:r>
            <a:r>
              <a:rPr dirty="0" sz="2200">
                <a:solidFill>
                  <a:srgbClr val="3F4142"/>
                </a:solidFill>
                <a:latin typeface="Arial"/>
                <a:cs typeface="Arial"/>
              </a:rPr>
              <a:t>10,000</a:t>
            </a:r>
            <a:r>
              <a:rPr dirty="0" sz="2200" spc="10">
                <a:solidFill>
                  <a:srgbClr val="3F4142"/>
                </a:solidFill>
                <a:latin typeface="Arial"/>
                <a:cs typeface="Arial"/>
              </a:rPr>
              <a:t> </a:t>
            </a:r>
            <a:r>
              <a:rPr dirty="0" sz="2200" spc="-10">
                <a:solidFill>
                  <a:srgbClr val="3F4142"/>
                </a:solidFill>
                <a:latin typeface="Arial"/>
                <a:cs typeface="Arial"/>
              </a:rPr>
              <a:t>Linux </a:t>
            </a:r>
            <a:r>
              <a:rPr dirty="0" sz="2200" spc="-10">
                <a:solidFill>
                  <a:srgbClr val="545659"/>
                </a:solidFill>
                <a:latin typeface="Arial"/>
                <a:cs typeface="Arial"/>
              </a:rPr>
              <a:t>Servers</a:t>
            </a:r>
            <a:endParaRPr sz="22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290059" y="4659974"/>
            <a:ext cx="1845945" cy="169037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3335">
              <a:lnSpc>
                <a:spcPts val="2625"/>
              </a:lnSpc>
              <a:spcBef>
                <a:spcPts val="110"/>
              </a:spcBef>
            </a:pPr>
            <a:r>
              <a:rPr dirty="0" sz="2200" spc="-10" b="1">
                <a:solidFill>
                  <a:srgbClr val="010101"/>
                </a:solidFill>
                <a:latin typeface="Arial"/>
                <a:cs typeface="Arial"/>
              </a:rPr>
              <a:t>Needs</a:t>
            </a:r>
            <a:r>
              <a:rPr dirty="0" sz="2200" spc="-10" b="1">
                <a:solidFill>
                  <a:srgbClr val="2A2B2D"/>
                </a:solidFill>
                <a:latin typeface="Arial"/>
                <a:cs typeface="Arial"/>
              </a:rPr>
              <a:t>:</a:t>
            </a:r>
            <a:endParaRPr sz="2200">
              <a:latin typeface="Arial"/>
              <a:cs typeface="Arial"/>
            </a:endParaRPr>
          </a:p>
          <a:p>
            <a:pPr marL="20955">
              <a:lnSpc>
                <a:spcPts val="2615"/>
              </a:lnSpc>
            </a:pPr>
            <a:r>
              <a:rPr dirty="0" sz="2200" spc="-80">
                <a:solidFill>
                  <a:srgbClr val="545659"/>
                </a:solidFill>
                <a:latin typeface="Arial"/>
                <a:cs typeface="Arial"/>
              </a:rPr>
              <a:t>ST</a:t>
            </a:r>
            <a:r>
              <a:rPr dirty="0" sz="2200" spc="-80">
                <a:solidFill>
                  <a:srgbClr val="2A2B2D"/>
                </a:solidFill>
                <a:latin typeface="Arial"/>
                <a:cs typeface="Arial"/>
              </a:rPr>
              <a:t>I</a:t>
            </a:r>
            <a:r>
              <a:rPr dirty="0" sz="2200" spc="-80">
                <a:solidFill>
                  <a:srgbClr val="545659"/>
                </a:solidFill>
                <a:latin typeface="Arial"/>
                <a:cs typeface="Arial"/>
              </a:rPr>
              <a:t>G,</a:t>
            </a:r>
            <a:r>
              <a:rPr dirty="0" sz="2200" spc="-150">
                <a:solidFill>
                  <a:srgbClr val="545659"/>
                </a:solidFill>
                <a:latin typeface="Arial"/>
                <a:cs typeface="Arial"/>
              </a:rPr>
              <a:t> </a:t>
            </a:r>
            <a:r>
              <a:rPr dirty="0" sz="2200" spc="-45">
                <a:solidFill>
                  <a:srgbClr val="545659"/>
                </a:solidFill>
                <a:latin typeface="Arial"/>
                <a:cs typeface="Arial"/>
              </a:rPr>
              <a:t>800-</a:t>
            </a:r>
            <a:r>
              <a:rPr dirty="0" sz="2200" spc="-20">
                <a:solidFill>
                  <a:srgbClr val="545659"/>
                </a:solidFill>
                <a:latin typeface="Arial"/>
                <a:cs typeface="Arial"/>
              </a:rPr>
              <a:t>171,</a:t>
            </a:r>
            <a:endParaRPr sz="2200">
              <a:latin typeface="Arial"/>
              <a:cs typeface="Arial"/>
            </a:endParaRPr>
          </a:p>
          <a:p>
            <a:pPr algn="just" marL="12700" marR="538480">
              <a:lnSpc>
                <a:spcPts val="2610"/>
              </a:lnSpc>
              <a:spcBef>
                <a:spcPts val="100"/>
              </a:spcBef>
            </a:pPr>
            <a:r>
              <a:rPr dirty="0" sz="2200" spc="-10">
                <a:solidFill>
                  <a:srgbClr val="545659"/>
                </a:solidFill>
                <a:latin typeface="Arial"/>
                <a:cs typeface="Arial"/>
              </a:rPr>
              <a:t>Patching, Proactive Protection</a:t>
            </a:r>
            <a:endParaRPr sz="22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208854" y="2381217"/>
            <a:ext cx="493395" cy="3092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850" spc="-25">
                <a:solidFill>
                  <a:srgbClr val="797C80"/>
                </a:solidFill>
                <a:latin typeface="Arial"/>
                <a:cs typeface="Arial"/>
              </a:rPr>
              <a:t>15M</a:t>
            </a:r>
            <a:endParaRPr sz="18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791695" y="3000375"/>
            <a:ext cx="240029" cy="3625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200" spc="-470">
                <a:solidFill>
                  <a:srgbClr val="3F4142"/>
                </a:solidFill>
                <a:latin typeface="Arial"/>
                <a:cs typeface="Arial"/>
              </a:rPr>
              <a:t>�</a:t>
            </a:r>
            <a:endParaRPr sz="22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629755" y="3217400"/>
            <a:ext cx="2385695" cy="280098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ts val="4365"/>
              </a:lnSpc>
              <a:spcBef>
                <a:spcPts val="120"/>
              </a:spcBef>
            </a:pPr>
            <a:r>
              <a:rPr dirty="0" sz="4000" spc="830" i="1">
                <a:solidFill>
                  <a:srgbClr val="CAA548"/>
                </a:solidFill>
                <a:latin typeface="Arial"/>
                <a:cs typeface="Arial"/>
              </a:rPr>
              <a:t>�())</a:t>
            </a:r>
            <a:endParaRPr sz="4000">
              <a:latin typeface="Arial"/>
              <a:cs typeface="Arial"/>
            </a:endParaRPr>
          </a:p>
          <a:p>
            <a:pPr marL="45085">
              <a:lnSpc>
                <a:spcPts val="6045"/>
              </a:lnSpc>
            </a:pPr>
            <a:r>
              <a:rPr dirty="0" sz="5400" spc="680">
                <a:solidFill>
                  <a:srgbClr val="CAA548"/>
                </a:solidFill>
                <a:latin typeface="Arial"/>
                <a:cs typeface="Arial"/>
              </a:rPr>
              <a:t>?;t;</a:t>
            </a:r>
            <a:endParaRPr sz="5400">
              <a:latin typeface="Arial"/>
              <a:cs typeface="Arial"/>
            </a:endParaRPr>
          </a:p>
          <a:p>
            <a:pPr marL="77470" marR="5080" indent="-2540">
              <a:lnSpc>
                <a:spcPts val="2610"/>
              </a:lnSpc>
              <a:spcBef>
                <a:spcPts val="1055"/>
              </a:spcBef>
            </a:pPr>
            <a:r>
              <a:rPr dirty="0" sz="2200" spc="-20" b="1">
                <a:solidFill>
                  <a:srgbClr val="010101"/>
                </a:solidFill>
                <a:latin typeface="Arial"/>
                <a:cs typeface="Arial"/>
              </a:rPr>
              <a:t>Current</a:t>
            </a:r>
            <a:r>
              <a:rPr dirty="0" sz="2200" spc="-90" b="1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dirty="0" sz="2200" spc="-10" b="1">
                <a:solidFill>
                  <a:srgbClr val="010101"/>
                </a:solidFill>
                <a:latin typeface="Arial"/>
                <a:cs typeface="Arial"/>
              </a:rPr>
              <a:t>State: </a:t>
            </a:r>
            <a:r>
              <a:rPr dirty="0" sz="2200">
                <a:solidFill>
                  <a:srgbClr val="3F4142"/>
                </a:solidFill>
                <a:latin typeface="Arial"/>
                <a:cs typeface="Arial"/>
              </a:rPr>
              <a:t>Manual</a:t>
            </a:r>
            <a:r>
              <a:rPr dirty="0" sz="2200" spc="-130">
                <a:solidFill>
                  <a:srgbClr val="3F4142"/>
                </a:solidFill>
                <a:latin typeface="Arial"/>
                <a:cs typeface="Arial"/>
              </a:rPr>
              <a:t> </a:t>
            </a:r>
            <a:r>
              <a:rPr dirty="0" sz="2200" spc="-10">
                <a:solidFill>
                  <a:srgbClr val="3F4142"/>
                </a:solidFill>
                <a:latin typeface="Arial"/>
                <a:cs typeface="Arial"/>
              </a:rPr>
              <a:t>hardening, </a:t>
            </a:r>
            <a:r>
              <a:rPr dirty="0" sz="2200">
                <a:solidFill>
                  <a:srgbClr val="545659"/>
                </a:solidFill>
                <a:latin typeface="Arial"/>
                <a:cs typeface="Arial"/>
              </a:rPr>
              <a:t>custom</a:t>
            </a:r>
            <a:r>
              <a:rPr dirty="0" sz="2200" spc="114">
                <a:solidFill>
                  <a:srgbClr val="545659"/>
                </a:solidFill>
                <a:latin typeface="Arial"/>
                <a:cs typeface="Arial"/>
              </a:rPr>
              <a:t> </a:t>
            </a:r>
            <a:r>
              <a:rPr dirty="0" sz="2200" spc="-10">
                <a:solidFill>
                  <a:srgbClr val="545659"/>
                </a:solidFill>
                <a:latin typeface="Arial"/>
                <a:cs typeface="Arial"/>
              </a:rPr>
              <a:t>scripts, </a:t>
            </a:r>
            <a:r>
              <a:rPr dirty="0" sz="2200" spc="-55">
                <a:solidFill>
                  <a:srgbClr val="545659"/>
                </a:solidFill>
                <a:latin typeface="Arial"/>
                <a:cs typeface="Arial"/>
              </a:rPr>
              <a:t>Red</a:t>
            </a:r>
            <a:r>
              <a:rPr dirty="0" sz="2200" spc="-80">
                <a:solidFill>
                  <a:srgbClr val="545659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3F4142"/>
                </a:solidFill>
                <a:latin typeface="Arial"/>
                <a:cs typeface="Arial"/>
              </a:rPr>
              <a:t>Hat</a:t>
            </a:r>
            <a:r>
              <a:rPr dirty="0" sz="2200" spc="15">
                <a:solidFill>
                  <a:srgbClr val="3F4142"/>
                </a:solidFill>
                <a:latin typeface="Arial"/>
                <a:cs typeface="Arial"/>
              </a:rPr>
              <a:t> </a:t>
            </a:r>
            <a:r>
              <a:rPr dirty="0" sz="2200" spc="-10">
                <a:solidFill>
                  <a:srgbClr val="3F4142"/>
                </a:solidFill>
                <a:latin typeface="Arial"/>
                <a:cs typeface="Arial"/>
              </a:rPr>
              <a:t>Satellite</a:t>
            </a:r>
            <a:endParaRPr sz="22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871963" y="3281229"/>
            <a:ext cx="232410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140">
                <a:solidFill>
                  <a:srgbClr val="2A2B2D"/>
                </a:solidFill>
                <a:latin typeface="Arial"/>
                <a:cs typeface="Arial"/>
              </a:rPr>
              <a:t>&lt;J)</a:t>
            </a:r>
            <a:endParaRPr sz="8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870663" y="3396126"/>
            <a:ext cx="170180" cy="1943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285">
                <a:solidFill>
                  <a:srgbClr val="2A2B2D"/>
                </a:solidFill>
                <a:latin typeface="Arial"/>
                <a:cs typeface="Arial"/>
              </a:rPr>
              <a:t>C</a:t>
            </a:r>
            <a:endParaRPr sz="11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831998" y="3517403"/>
            <a:ext cx="152400" cy="2171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250" spc="240">
                <a:solidFill>
                  <a:srgbClr val="2A2B2D"/>
                </a:solidFill>
                <a:latin typeface="Arial"/>
                <a:cs typeface="Arial"/>
              </a:rPr>
              <a:t>0</a:t>
            </a:r>
            <a:endParaRPr sz="125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814814" y="3970534"/>
            <a:ext cx="191135" cy="0"/>
          </a:xfrm>
          <a:custGeom>
            <a:avLst/>
            <a:gdLst/>
            <a:ahLst/>
            <a:cxnLst/>
            <a:rect l="l" t="t" r="r" b="b"/>
            <a:pathLst>
              <a:path w="191134" h="0">
                <a:moveTo>
                  <a:pt x="0" y="0"/>
                </a:moveTo>
                <a:lnTo>
                  <a:pt x="191053" y="0"/>
                </a:lnTo>
              </a:path>
            </a:pathLst>
          </a:custGeom>
          <a:ln w="12766">
            <a:solidFill>
              <a:srgbClr val="2A2B2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8764013" y="3517403"/>
            <a:ext cx="964565" cy="5543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14"/>
              </a:spcBef>
              <a:tabLst>
                <a:tab pos="444500" algn="l"/>
              </a:tabLst>
            </a:pPr>
            <a:r>
              <a:rPr dirty="0" sz="3450" spc="-1980">
                <a:solidFill>
                  <a:srgbClr val="2A2B2D"/>
                </a:solidFill>
                <a:latin typeface="Arial"/>
                <a:cs typeface="Arial"/>
              </a:rPr>
              <a:t>=</a:t>
            </a:r>
            <a:r>
              <a:rPr dirty="0" baseline="-30303" sz="3300" spc="44">
                <a:solidFill>
                  <a:srgbClr val="2A2B2D"/>
                </a:solidFill>
                <a:latin typeface="Arial"/>
                <a:cs typeface="Arial"/>
              </a:rPr>
              <a:t>�</a:t>
            </a:r>
            <a:r>
              <a:rPr dirty="0" baseline="-30303" sz="3300">
                <a:solidFill>
                  <a:srgbClr val="2A2B2D"/>
                </a:solidFill>
                <a:latin typeface="Arial"/>
                <a:cs typeface="Arial"/>
              </a:rPr>
              <a:t>	</a:t>
            </a:r>
            <a:r>
              <a:rPr dirty="0" sz="1850" spc="30">
                <a:solidFill>
                  <a:srgbClr val="797C80"/>
                </a:solidFill>
                <a:latin typeface="Arial"/>
                <a:cs typeface="Arial"/>
              </a:rPr>
              <a:t>10M</a:t>
            </a:r>
            <a:endParaRPr sz="185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766295" y="4136561"/>
            <a:ext cx="262255" cy="3930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dirty="0" sz="2200" spc="-1675">
                <a:solidFill>
                  <a:srgbClr val="2A2B2D"/>
                </a:solidFill>
                <a:latin typeface="Arial"/>
                <a:cs typeface="Arial"/>
              </a:rPr>
              <a:t>�</a:t>
            </a:r>
            <a:r>
              <a:rPr dirty="0" sz="2400" spc="-320">
                <a:solidFill>
                  <a:srgbClr val="3F4142"/>
                </a:solidFill>
                <a:latin typeface="Arial"/>
                <a:cs typeface="Arial"/>
              </a:rPr>
              <a:t>·</a:t>
            </a:r>
            <a:r>
              <a:rPr dirty="0" baseline="50505" sz="1650" spc="-1177">
                <a:solidFill>
                  <a:srgbClr val="2A2B2D"/>
                </a:solidFill>
                <a:latin typeface="Arial"/>
                <a:cs typeface="Arial"/>
              </a:rPr>
              <a:t>C</a:t>
            </a:r>
            <a:r>
              <a:rPr dirty="0" sz="2400" spc="-130">
                <a:solidFill>
                  <a:srgbClr val="010101"/>
                </a:solidFill>
                <a:latin typeface="Arial"/>
                <a:cs typeface="Arial"/>
              </a:rPr>
              <a:t>-</a:t>
            </a:r>
            <a:endParaRPr sz="24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815697" y="4308904"/>
            <a:ext cx="248285" cy="7518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ts val="2410"/>
              </a:lnSpc>
              <a:spcBef>
                <a:spcPts val="110"/>
              </a:spcBef>
            </a:pPr>
            <a:r>
              <a:rPr dirty="0" sz="2050" spc="-130">
                <a:solidFill>
                  <a:srgbClr val="111111"/>
                </a:solidFill>
                <a:latin typeface="Arial"/>
                <a:cs typeface="Arial"/>
              </a:rPr>
              <a:t>...,</a:t>
            </a:r>
            <a:endParaRPr sz="2050">
              <a:latin typeface="Arial"/>
              <a:cs typeface="Arial"/>
            </a:endParaRPr>
          </a:p>
          <a:p>
            <a:pPr marL="68580">
              <a:lnSpc>
                <a:spcPts val="805"/>
              </a:lnSpc>
            </a:pPr>
            <a:r>
              <a:rPr dirty="0" sz="800" spc="-25">
                <a:solidFill>
                  <a:srgbClr val="2A2B2D"/>
                </a:solidFill>
                <a:latin typeface="Arial"/>
                <a:cs typeface="Arial"/>
              </a:rPr>
              <a:t>&lt;J)</a:t>
            </a:r>
            <a:endParaRPr sz="800">
              <a:latin typeface="Arial"/>
              <a:cs typeface="Arial"/>
            </a:endParaRPr>
          </a:p>
          <a:p>
            <a:pPr marL="28575">
              <a:lnSpc>
                <a:spcPts val="1225"/>
              </a:lnSpc>
            </a:pPr>
            <a:r>
              <a:rPr dirty="0" sz="1250" spc="-50">
                <a:solidFill>
                  <a:srgbClr val="2A2B2D"/>
                </a:solidFill>
                <a:latin typeface="Arial"/>
                <a:cs typeface="Arial"/>
              </a:rPr>
              <a:t>0</a:t>
            </a:r>
            <a:endParaRPr sz="1250">
              <a:latin typeface="Arial"/>
              <a:cs typeface="Arial"/>
            </a:endParaRPr>
          </a:p>
          <a:p>
            <a:pPr marL="26670">
              <a:lnSpc>
                <a:spcPts val="1270"/>
              </a:lnSpc>
            </a:pPr>
            <a:r>
              <a:rPr dirty="0" sz="1200" spc="-25">
                <a:solidFill>
                  <a:srgbClr val="2A2B2D"/>
                </a:solidFill>
                <a:latin typeface="Arial"/>
                <a:cs typeface="Arial"/>
              </a:rPr>
              <a:t>()</a:t>
            </a:r>
            <a:endParaRPr sz="12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872574" y="5157854"/>
            <a:ext cx="160020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25">
                <a:solidFill>
                  <a:srgbClr val="2A2B2D"/>
                </a:solidFill>
                <a:latin typeface="Arial"/>
                <a:cs typeface="Arial"/>
              </a:rPr>
              <a:t>Ct)</a:t>
            </a:r>
            <a:endParaRPr sz="8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325359" y="5062107"/>
            <a:ext cx="379095" cy="3092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850" spc="-25">
                <a:solidFill>
                  <a:srgbClr val="797C80"/>
                </a:solidFill>
                <a:latin typeface="Arial"/>
                <a:cs typeface="Arial"/>
              </a:rPr>
              <a:t>SM</a:t>
            </a:r>
            <a:endParaRPr sz="185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830898" y="5215301"/>
            <a:ext cx="200025" cy="66294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52069" indent="-8890">
              <a:lnSpc>
                <a:spcPts val="1590"/>
              </a:lnSpc>
              <a:spcBef>
                <a:spcPts val="105"/>
              </a:spcBef>
            </a:pPr>
            <a:r>
              <a:rPr dirty="0" sz="1350" spc="-25">
                <a:solidFill>
                  <a:srgbClr val="2A2B2D"/>
                </a:solidFill>
                <a:latin typeface="Arial"/>
                <a:cs typeface="Arial"/>
              </a:rPr>
              <a:t>::,</a:t>
            </a:r>
            <a:endParaRPr sz="1350">
              <a:latin typeface="Arial"/>
              <a:cs typeface="Arial"/>
            </a:endParaRPr>
          </a:p>
          <a:p>
            <a:pPr marL="52069" marR="33655">
              <a:lnSpc>
                <a:spcPts val="1110"/>
              </a:lnSpc>
              <a:spcBef>
                <a:spcPts val="180"/>
              </a:spcBef>
            </a:pPr>
            <a:r>
              <a:rPr dirty="0" sz="1100" spc="-50">
                <a:solidFill>
                  <a:srgbClr val="2A2B2D"/>
                </a:solidFill>
                <a:latin typeface="Arial"/>
                <a:cs typeface="Arial"/>
              </a:rPr>
              <a:t>C C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ts val="1019"/>
              </a:lnSpc>
            </a:pPr>
            <a:r>
              <a:rPr dirty="0" sz="1200" spc="-25">
                <a:solidFill>
                  <a:srgbClr val="2A2B2D"/>
                </a:solidFill>
                <a:latin typeface="Arial"/>
                <a:cs typeface="Arial"/>
              </a:rPr>
              <a:t>&lt;(</a:t>
            </a:r>
            <a:endParaRPr sz="12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9324582" y="6383404"/>
            <a:ext cx="6449695" cy="57213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ts val="2145"/>
              </a:lnSpc>
              <a:spcBef>
                <a:spcPts val="110"/>
              </a:spcBef>
            </a:pPr>
            <a:r>
              <a:rPr dirty="0" sz="1900" spc="505">
                <a:solidFill>
                  <a:srgbClr val="797C80"/>
                </a:solidFill>
                <a:latin typeface="Arial"/>
                <a:cs typeface="Arial"/>
              </a:rPr>
              <a:t>OM'-</a:t>
            </a:r>
            <a:r>
              <a:rPr dirty="0" sz="1900" spc="315">
                <a:solidFill>
                  <a:srgbClr val="797C80"/>
                </a:solidFill>
                <a:latin typeface="Arial"/>
                <a:cs typeface="Arial"/>
              </a:rPr>
              <a:t>--</a:t>
            </a:r>
            <a:r>
              <a:rPr dirty="0" sz="1900" spc="265">
                <a:solidFill>
                  <a:srgbClr val="797C80"/>
                </a:solidFill>
                <a:latin typeface="Arial"/>
                <a:cs typeface="Arial"/>
              </a:rPr>
              <a:t>-</a:t>
            </a:r>
            <a:endParaRPr sz="1900">
              <a:latin typeface="Arial"/>
              <a:cs typeface="Arial"/>
            </a:endParaRPr>
          </a:p>
          <a:p>
            <a:pPr marL="1209040">
              <a:lnSpc>
                <a:spcPts val="2145"/>
              </a:lnSpc>
              <a:tabLst>
                <a:tab pos="4386580" algn="l"/>
              </a:tabLst>
            </a:pPr>
            <a:r>
              <a:rPr dirty="0" sz="1900">
                <a:solidFill>
                  <a:srgbClr val="2A2B2D"/>
                </a:solidFill>
                <a:latin typeface="Arial"/>
                <a:cs typeface="Arial"/>
              </a:rPr>
              <a:t>Current</a:t>
            </a:r>
            <a:r>
              <a:rPr dirty="0" sz="1900" spc="-15">
                <a:solidFill>
                  <a:srgbClr val="2A2B2D"/>
                </a:solidFill>
                <a:latin typeface="Arial"/>
                <a:cs typeface="Arial"/>
              </a:rPr>
              <a:t> </a:t>
            </a:r>
            <a:r>
              <a:rPr dirty="0" sz="1900" spc="-50">
                <a:solidFill>
                  <a:srgbClr val="2A2B2D"/>
                </a:solidFill>
                <a:latin typeface="Arial"/>
                <a:cs typeface="Arial"/>
              </a:rPr>
              <a:t>Ann</a:t>
            </a:r>
            <a:r>
              <a:rPr dirty="0" sz="1900" spc="-50">
                <a:solidFill>
                  <a:srgbClr val="111111"/>
                </a:solidFill>
                <a:latin typeface="Arial"/>
                <a:cs typeface="Arial"/>
              </a:rPr>
              <a:t>u</a:t>
            </a:r>
            <a:r>
              <a:rPr dirty="0" sz="1900" spc="-50">
                <a:solidFill>
                  <a:srgbClr val="2A2B2D"/>
                </a:solidFill>
                <a:latin typeface="Arial"/>
                <a:cs typeface="Arial"/>
              </a:rPr>
              <a:t>al</a:t>
            </a:r>
            <a:r>
              <a:rPr dirty="0" sz="1900" spc="-135">
                <a:solidFill>
                  <a:srgbClr val="2A2B2D"/>
                </a:solidFill>
                <a:latin typeface="Arial"/>
                <a:cs typeface="Arial"/>
              </a:rPr>
              <a:t> </a:t>
            </a:r>
            <a:r>
              <a:rPr dirty="0" sz="1900" spc="-20">
                <a:solidFill>
                  <a:srgbClr val="2A2B2D"/>
                </a:solidFill>
                <a:latin typeface="Arial"/>
                <a:cs typeface="Arial"/>
              </a:rPr>
              <a:t>Cost</a:t>
            </a:r>
            <a:r>
              <a:rPr dirty="0" sz="1900">
                <a:solidFill>
                  <a:srgbClr val="2A2B2D"/>
                </a:solidFill>
                <a:latin typeface="Arial"/>
                <a:cs typeface="Arial"/>
              </a:rPr>
              <a:t>	</a:t>
            </a:r>
            <a:r>
              <a:rPr dirty="0" sz="1900" spc="-70">
                <a:solidFill>
                  <a:srgbClr val="2A2B2D"/>
                </a:solidFill>
                <a:latin typeface="Arial"/>
                <a:cs typeface="Arial"/>
              </a:rPr>
              <a:t>RLC-</a:t>
            </a:r>
            <a:r>
              <a:rPr dirty="0" sz="1900">
                <a:solidFill>
                  <a:srgbClr val="2A2B2D"/>
                </a:solidFill>
                <a:latin typeface="Arial"/>
                <a:cs typeface="Arial"/>
              </a:rPr>
              <a:t>H</a:t>
            </a:r>
            <a:r>
              <a:rPr dirty="0" sz="1900" spc="-50">
                <a:solidFill>
                  <a:srgbClr val="2A2B2D"/>
                </a:solidFill>
                <a:latin typeface="Arial"/>
                <a:cs typeface="Arial"/>
              </a:rPr>
              <a:t> Annual</a:t>
            </a:r>
            <a:r>
              <a:rPr dirty="0" sz="1900" spc="-160">
                <a:solidFill>
                  <a:srgbClr val="2A2B2D"/>
                </a:solidFill>
                <a:latin typeface="Arial"/>
                <a:cs typeface="Arial"/>
              </a:rPr>
              <a:t> </a:t>
            </a:r>
            <a:r>
              <a:rPr dirty="0" sz="1900" spc="-20">
                <a:solidFill>
                  <a:srgbClr val="2A2B2D"/>
                </a:solidFill>
                <a:latin typeface="Arial"/>
                <a:cs typeface="Arial"/>
              </a:rPr>
              <a:t>Cost</a:t>
            </a:r>
            <a:endParaRPr sz="19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0749091" y="1985466"/>
            <a:ext cx="1727835" cy="5080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150" spc="145" b="1">
                <a:solidFill>
                  <a:srgbClr val="0A182B"/>
                </a:solidFill>
                <a:latin typeface="Arial"/>
                <a:cs typeface="Arial"/>
              </a:rPr>
              <a:t>$14.99M</a:t>
            </a:r>
            <a:endParaRPr sz="3150">
              <a:latin typeface="Arial"/>
              <a:cs typeface="Arial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11276899" y="2570220"/>
            <a:ext cx="657860" cy="327660"/>
          </a:xfrm>
          <a:custGeom>
            <a:avLst/>
            <a:gdLst/>
            <a:ahLst/>
            <a:cxnLst/>
            <a:rect l="l" t="t" r="r" b="b"/>
            <a:pathLst>
              <a:path w="657859" h="327660">
                <a:moveTo>
                  <a:pt x="657475" y="327506"/>
                </a:moveTo>
                <a:lnTo>
                  <a:pt x="0" y="327506"/>
                </a:lnTo>
                <a:lnTo>
                  <a:pt x="0" y="0"/>
                </a:lnTo>
                <a:lnTo>
                  <a:pt x="657475" y="0"/>
                </a:lnTo>
                <a:lnTo>
                  <a:pt x="657475" y="327506"/>
                </a:lnTo>
                <a:close/>
              </a:path>
            </a:pathLst>
          </a:custGeom>
          <a:solidFill>
            <a:srgbClr val="0C1C2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11264199" y="2559943"/>
            <a:ext cx="709295" cy="3092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850" spc="-10" b="1">
                <a:solidFill>
                  <a:srgbClr val="E2EBF2"/>
                </a:solidFill>
                <a:latin typeface="Arial"/>
                <a:cs typeface="Arial"/>
              </a:rPr>
              <a:t>$2</a:t>
            </a:r>
            <a:r>
              <a:rPr dirty="0" sz="1850" spc="-10" b="1">
                <a:solidFill>
                  <a:srgbClr val="BCC8D6"/>
                </a:solidFill>
                <a:latin typeface="Arial"/>
                <a:cs typeface="Arial"/>
              </a:rPr>
              <a:t>.</a:t>
            </a:r>
            <a:r>
              <a:rPr dirty="0" sz="1850" spc="-10" b="1">
                <a:solidFill>
                  <a:srgbClr val="E2EBF2"/>
                </a:solidFill>
                <a:latin typeface="Arial"/>
                <a:cs typeface="Arial"/>
              </a:rPr>
              <a:t>0M</a:t>
            </a:r>
            <a:endParaRPr sz="1850">
              <a:latin typeface="Arial"/>
              <a:cs typeface="Arial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10561154" y="2852487"/>
            <a:ext cx="1991360" cy="229870"/>
          </a:xfrm>
          <a:custGeom>
            <a:avLst/>
            <a:gdLst/>
            <a:ahLst/>
            <a:cxnLst/>
            <a:rect l="l" t="t" r="r" b="b"/>
            <a:pathLst>
              <a:path w="1991359" h="229869">
                <a:moveTo>
                  <a:pt x="1990839" y="229313"/>
                </a:moveTo>
                <a:lnTo>
                  <a:pt x="0" y="229313"/>
                </a:lnTo>
                <a:lnTo>
                  <a:pt x="0" y="0"/>
                </a:lnTo>
                <a:lnTo>
                  <a:pt x="1990839" y="0"/>
                </a:lnTo>
                <a:lnTo>
                  <a:pt x="1990839" y="229313"/>
                </a:lnTo>
                <a:close/>
              </a:path>
            </a:pathLst>
          </a:custGeom>
          <a:solidFill>
            <a:srgbClr val="0C1C2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12616187" y="2852487"/>
            <a:ext cx="38735" cy="229870"/>
          </a:xfrm>
          <a:custGeom>
            <a:avLst/>
            <a:gdLst/>
            <a:ahLst/>
            <a:cxnLst/>
            <a:rect l="l" t="t" r="r" b="b"/>
            <a:pathLst>
              <a:path w="38734" h="229869">
                <a:moveTo>
                  <a:pt x="38210" y="229313"/>
                </a:moveTo>
                <a:lnTo>
                  <a:pt x="0" y="229313"/>
                </a:lnTo>
                <a:lnTo>
                  <a:pt x="0" y="0"/>
                </a:lnTo>
                <a:lnTo>
                  <a:pt x="38210" y="0"/>
                </a:lnTo>
                <a:lnTo>
                  <a:pt x="38210" y="229313"/>
                </a:lnTo>
                <a:close/>
              </a:path>
            </a:pathLst>
          </a:custGeom>
          <a:solidFill>
            <a:srgbClr val="0C1C2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10548453" y="2840797"/>
            <a:ext cx="2142490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45">
                <a:solidFill>
                  <a:srgbClr val="BCC8D6"/>
                </a:solidFill>
                <a:latin typeface="Arial"/>
                <a:cs typeface="Arial"/>
              </a:rPr>
              <a:t>(Manual</a:t>
            </a:r>
            <a:r>
              <a:rPr dirty="0" sz="1350" spc="-10">
                <a:solidFill>
                  <a:srgbClr val="BCC8D6"/>
                </a:solidFill>
                <a:latin typeface="Arial"/>
                <a:cs typeface="Arial"/>
              </a:rPr>
              <a:t> </a:t>
            </a:r>
            <a:r>
              <a:rPr dirty="0" sz="1350" spc="10">
                <a:solidFill>
                  <a:srgbClr val="CFDBEB"/>
                </a:solidFill>
                <a:latin typeface="Arial"/>
                <a:cs typeface="Arial"/>
              </a:rPr>
              <a:t>Hardening</a:t>
            </a:r>
            <a:r>
              <a:rPr dirty="0" sz="1350" spc="65">
                <a:solidFill>
                  <a:srgbClr val="CFDBEB"/>
                </a:solidFill>
                <a:latin typeface="Arial"/>
                <a:cs typeface="Arial"/>
              </a:rPr>
              <a:t> </a:t>
            </a:r>
            <a:r>
              <a:rPr dirty="0" sz="1350" spc="40">
                <a:solidFill>
                  <a:srgbClr val="E2EBF2"/>
                </a:solidFill>
                <a:latin typeface="Arial"/>
                <a:cs typeface="Arial"/>
              </a:rPr>
              <a:t>L</a:t>
            </a:r>
            <a:r>
              <a:rPr dirty="0" sz="1350" spc="40">
                <a:solidFill>
                  <a:srgbClr val="BCC8D6"/>
                </a:solidFill>
                <a:latin typeface="Arial"/>
                <a:cs typeface="Arial"/>
              </a:rPr>
              <a:t>abo</a:t>
            </a:r>
            <a:r>
              <a:rPr dirty="0" sz="1350" spc="40">
                <a:solidFill>
                  <a:srgbClr val="9EA8B8"/>
                </a:solidFill>
                <a:latin typeface="Arial"/>
                <a:cs typeface="Arial"/>
              </a:rPr>
              <a:t>r</a:t>
            </a:r>
            <a:r>
              <a:rPr dirty="0" sz="1350" spc="40">
                <a:solidFill>
                  <a:srgbClr val="BCC8D6"/>
                </a:solidFill>
                <a:latin typeface="Arial"/>
                <a:cs typeface="Arial"/>
              </a:rPr>
              <a:t>)</a:t>
            </a:r>
            <a:endParaRPr sz="1350">
              <a:latin typeface="Arial"/>
              <a:cs typeface="Arial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13499517" y="4481180"/>
            <a:ext cx="1128395" cy="0"/>
          </a:xfrm>
          <a:custGeom>
            <a:avLst/>
            <a:gdLst/>
            <a:ahLst/>
            <a:cxnLst/>
            <a:rect l="l" t="t" r="r" b="b"/>
            <a:pathLst>
              <a:path w="1128394" h="0">
                <a:moveTo>
                  <a:pt x="0" y="0"/>
                </a:moveTo>
                <a:lnTo>
                  <a:pt x="1128363" y="0"/>
                </a:lnTo>
              </a:path>
            </a:pathLst>
          </a:custGeom>
          <a:ln w="12766">
            <a:solidFill>
              <a:srgbClr val="280C0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13486815" y="3747195"/>
            <a:ext cx="2070100" cy="79438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497205">
              <a:lnSpc>
                <a:spcPct val="100000"/>
              </a:lnSpc>
              <a:spcBef>
                <a:spcPts val="114"/>
              </a:spcBef>
            </a:pPr>
            <a:r>
              <a:rPr dirty="0" sz="3150" spc="200" b="1">
                <a:solidFill>
                  <a:srgbClr val="B88E2F"/>
                </a:solidFill>
                <a:latin typeface="Arial"/>
                <a:cs typeface="Arial"/>
              </a:rPr>
              <a:t>$8.25M</a:t>
            </a:r>
            <a:endParaRPr sz="3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850" spc="-210" b="1">
                <a:solidFill>
                  <a:srgbClr val="DFB33B"/>
                </a:solidFill>
                <a:latin typeface="Arial"/>
                <a:cs typeface="Arial"/>
              </a:rPr>
              <a:t>�</a:t>
            </a:r>
            <a:r>
              <a:rPr dirty="0" sz="1850" spc="-210" b="1">
                <a:solidFill>
                  <a:srgbClr val="280C01"/>
                </a:solidFill>
                <a:latin typeface="Arial"/>
                <a:cs typeface="Arial"/>
              </a:rPr>
              <a:t>$</a:t>
            </a:r>
            <a:r>
              <a:rPr dirty="0" sz="1850" spc="-210" b="1">
                <a:solidFill>
                  <a:srgbClr val="AC904F"/>
                </a:solidFill>
                <a:latin typeface="Arial"/>
                <a:cs typeface="Arial"/>
              </a:rPr>
              <a:t>=</a:t>
            </a:r>
            <a:r>
              <a:rPr dirty="0" sz="1850" spc="-210" b="1">
                <a:solidFill>
                  <a:srgbClr val="280C01"/>
                </a:solidFill>
                <a:latin typeface="Arial"/>
                <a:cs typeface="Arial"/>
              </a:rPr>
              <a:t>0</a:t>
            </a:r>
            <a:r>
              <a:rPr dirty="0" sz="1850" spc="-210" b="1">
                <a:solidFill>
                  <a:srgbClr val="AC904F"/>
                </a:solidFill>
                <a:latin typeface="Arial"/>
                <a:cs typeface="Arial"/>
              </a:rPr>
              <a:t>-</a:t>
            </a:r>
            <a:r>
              <a:rPr dirty="0" sz="1850" spc="-125" b="1">
                <a:solidFill>
                  <a:srgbClr val="AC904F"/>
                </a:solidFill>
                <a:latin typeface="Arial"/>
                <a:cs typeface="Arial"/>
              </a:rPr>
              <a:t>--</a:t>
            </a:r>
            <a:r>
              <a:rPr dirty="0" sz="1850" spc="-195" b="1">
                <a:solidFill>
                  <a:srgbClr val="AC904F"/>
                </a:solidFill>
                <a:latin typeface="Arial"/>
                <a:cs typeface="Arial"/>
              </a:rPr>
              <a:t>=</a:t>
            </a:r>
            <a:r>
              <a:rPr dirty="0" sz="1850" spc="-195" b="1">
                <a:solidFill>
                  <a:srgbClr val="A17B2F"/>
                </a:solidFill>
                <a:latin typeface="Arial"/>
                <a:cs typeface="Arial"/>
              </a:rPr>
              <a:t>:</a:t>
            </a:r>
            <a:r>
              <a:rPr dirty="0" sz="1850" spc="-195" b="1">
                <a:solidFill>
                  <a:srgbClr val="280C01"/>
                </a:solidFill>
                <a:latin typeface="Arial"/>
                <a:cs typeface="Arial"/>
              </a:rPr>
              <a:t>sM</a:t>
            </a:r>
            <a:r>
              <a:rPr dirty="0" sz="1850" spc="-50" b="1">
                <a:solidFill>
                  <a:srgbClr val="280C01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643803"/>
                </a:solidFill>
                <a:latin typeface="Arial"/>
                <a:cs typeface="Arial"/>
              </a:rPr>
              <a:t>(Migrat</a:t>
            </a:r>
            <a:r>
              <a:rPr dirty="0" sz="1350" spc="-10">
                <a:solidFill>
                  <a:srgbClr val="3F1800"/>
                </a:solidFill>
                <a:latin typeface="Arial"/>
                <a:cs typeface="Arial"/>
              </a:rPr>
              <a:t>i</a:t>
            </a:r>
            <a:r>
              <a:rPr dirty="0" sz="1350" spc="-10">
                <a:solidFill>
                  <a:srgbClr val="643803"/>
                </a:solidFill>
                <a:latin typeface="Arial"/>
                <a:cs typeface="Arial"/>
              </a:rPr>
              <a:t>on)</a:t>
            </a:r>
            <a:endParaRPr sz="1350">
              <a:latin typeface="Arial"/>
              <a:cs typeface="Arial"/>
            </a:endParaRPr>
          </a:p>
        </p:txBody>
      </p:sp>
      <p:sp>
        <p:nvSpPr>
          <p:cNvPr id="43" name="object 4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00"/>
              </a:lnSpc>
            </a:pPr>
            <a:r>
              <a:rPr dirty="0" sz="1300" spc="-20">
                <a:solidFill>
                  <a:srgbClr val="363838"/>
                </a:solidFill>
              </a:rPr>
              <a:t>Isl\</a:t>
            </a:r>
            <a:r>
              <a:rPr dirty="0" sz="1300" spc="-45">
                <a:solidFill>
                  <a:srgbClr val="363838"/>
                </a:solidFill>
              </a:rPr>
              <a:t> </a:t>
            </a:r>
            <a:r>
              <a:rPr dirty="0" spc="-10">
                <a:solidFill>
                  <a:srgbClr val="070F1F"/>
                </a:solidFill>
              </a:rPr>
              <a:t>N</a:t>
            </a:r>
            <a:r>
              <a:rPr dirty="0" spc="-10"/>
              <a:t>otebookLM</a:t>
            </a:r>
            <a:endParaRPr sz="1300"/>
          </a:p>
        </p:txBody>
      </p:sp>
      <p:sp>
        <p:nvSpPr>
          <p:cNvPr id="40" name="object 40"/>
          <p:cNvSpPr txBox="1"/>
          <p:nvPr/>
        </p:nvSpPr>
        <p:spPr>
          <a:xfrm>
            <a:off x="13872793" y="5304663"/>
            <a:ext cx="1734820" cy="50038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ctr" marR="4445">
              <a:lnSpc>
                <a:spcPct val="100000"/>
              </a:lnSpc>
              <a:spcBef>
                <a:spcPts val="110"/>
              </a:spcBef>
            </a:pPr>
            <a:r>
              <a:rPr dirty="0" sz="1750" spc="-10" b="1">
                <a:solidFill>
                  <a:srgbClr val="280C01"/>
                </a:solidFill>
                <a:latin typeface="Arial"/>
                <a:cs typeface="Arial"/>
              </a:rPr>
              <a:t>$7</a:t>
            </a:r>
            <a:r>
              <a:rPr dirty="0" sz="1750" spc="-10" b="1">
                <a:solidFill>
                  <a:srgbClr val="643803"/>
                </a:solidFill>
                <a:latin typeface="Arial"/>
                <a:cs typeface="Arial"/>
              </a:rPr>
              <a:t>.</a:t>
            </a:r>
            <a:r>
              <a:rPr dirty="0" sz="1750" spc="-10" b="1">
                <a:solidFill>
                  <a:srgbClr val="3F1800"/>
                </a:solidFill>
                <a:latin typeface="Arial"/>
                <a:cs typeface="Arial"/>
              </a:rPr>
              <a:t>75M</a:t>
            </a:r>
            <a:endParaRPr sz="17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dirty="0" sz="1350">
                <a:solidFill>
                  <a:srgbClr val="774803"/>
                </a:solidFill>
                <a:latin typeface="Arial"/>
                <a:cs typeface="Arial"/>
              </a:rPr>
              <a:t>(R</a:t>
            </a:r>
            <a:r>
              <a:rPr dirty="0" sz="1350">
                <a:solidFill>
                  <a:srgbClr val="3F1800"/>
                </a:solidFill>
                <a:latin typeface="Arial"/>
                <a:cs typeface="Arial"/>
              </a:rPr>
              <a:t>L</a:t>
            </a:r>
            <a:r>
              <a:rPr dirty="0" sz="1350">
                <a:solidFill>
                  <a:srgbClr val="643803"/>
                </a:solidFill>
                <a:latin typeface="Arial"/>
                <a:cs typeface="Arial"/>
              </a:rPr>
              <a:t>C</a:t>
            </a:r>
            <a:r>
              <a:rPr dirty="0" sz="1350">
                <a:solidFill>
                  <a:srgbClr val="8C5600"/>
                </a:solidFill>
                <a:latin typeface="Arial"/>
                <a:cs typeface="Arial"/>
              </a:rPr>
              <a:t>·</a:t>
            </a:r>
            <a:r>
              <a:rPr dirty="0" sz="1350">
                <a:solidFill>
                  <a:srgbClr val="643803"/>
                </a:solidFill>
                <a:latin typeface="Arial"/>
                <a:cs typeface="Arial"/>
              </a:rPr>
              <a:t>H</a:t>
            </a:r>
            <a:r>
              <a:rPr dirty="0" sz="1350" spc="-45">
                <a:solidFill>
                  <a:srgbClr val="643803"/>
                </a:solidFill>
                <a:latin typeface="Arial"/>
                <a:cs typeface="Arial"/>
              </a:rPr>
              <a:t> </a:t>
            </a:r>
            <a:r>
              <a:rPr dirty="0" sz="1350" spc="35">
                <a:solidFill>
                  <a:srgbClr val="643803"/>
                </a:solidFill>
                <a:latin typeface="Arial"/>
                <a:cs typeface="Arial"/>
              </a:rPr>
              <a:t>Subscript</a:t>
            </a:r>
            <a:r>
              <a:rPr dirty="0" sz="1350" spc="35">
                <a:solidFill>
                  <a:srgbClr val="3F1800"/>
                </a:solidFill>
                <a:latin typeface="Arial"/>
                <a:cs typeface="Arial"/>
              </a:rPr>
              <a:t>i</a:t>
            </a:r>
            <a:r>
              <a:rPr dirty="0" sz="1350" spc="35">
                <a:solidFill>
                  <a:srgbClr val="643803"/>
                </a:solidFill>
                <a:latin typeface="Arial"/>
                <a:cs typeface="Arial"/>
              </a:rPr>
              <a:t>on)</a:t>
            </a:r>
            <a:endParaRPr sz="135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8813079" y="7257884"/>
            <a:ext cx="7893050" cy="5080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150" spc="155" b="1">
                <a:solidFill>
                  <a:srgbClr val="B88E2F"/>
                </a:solidFill>
                <a:latin typeface="Arial"/>
                <a:cs typeface="Arial"/>
              </a:rPr>
              <a:t>$6.74M</a:t>
            </a:r>
            <a:r>
              <a:rPr dirty="0" sz="3150" spc="-30" b="1">
                <a:solidFill>
                  <a:srgbClr val="B88E2F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B88E2F"/>
                </a:solidFill>
                <a:latin typeface="Arial"/>
                <a:cs typeface="Arial"/>
              </a:rPr>
              <a:t>Annual</a:t>
            </a:r>
            <a:r>
              <a:rPr dirty="0" sz="3150" spc="-55" b="1">
                <a:solidFill>
                  <a:srgbClr val="B88E2F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B88E2F"/>
                </a:solidFill>
                <a:latin typeface="Arial"/>
                <a:cs typeface="Arial"/>
              </a:rPr>
              <a:t>Savings</a:t>
            </a:r>
            <a:r>
              <a:rPr dirty="0" sz="3150" spc="-114" b="1">
                <a:solidFill>
                  <a:srgbClr val="B88E2F"/>
                </a:solidFill>
                <a:latin typeface="Arial"/>
                <a:cs typeface="Arial"/>
              </a:rPr>
              <a:t> </a:t>
            </a:r>
            <a:r>
              <a:rPr dirty="0" sz="3150" spc="125" b="1">
                <a:solidFill>
                  <a:srgbClr val="B88E2F"/>
                </a:solidFill>
                <a:latin typeface="Arial"/>
                <a:cs typeface="Arial"/>
              </a:rPr>
              <a:t>(45%</a:t>
            </a:r>
            <a:r>
              <a:rPr dirty="0" sz="3150" spc="-220" b="1">
                <a:solidFill>
                  <a:srgbClr val="B88E2F"/>
                </a:solidFill>
                <a:latin typeface="Arial"/>
                <a:cs typeface="Arial"/>
              </a:rPr>
              <a:t> </a:t>
            </a:r>
            <a:r>
              <a:rPr dirty="0" sz="3150" spc="-10" b="1">
                <a:solidFill>
                  <a:srgbClr val="B88E2F"/>
                </a:solidFill>
                <a:latin typeface="Arial"/>
                <a:cs typeface="Arial"/>
              </a:rPr>
              <a:t>Reduction)</a:t>
            </a:r>
            <a:endParaRPr sz="315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904321" y="8157829"/>
            <a:ext cx="15679419" cy="1149350"/>
          </a:xfrm>
          <a:prstGeom prst="rect">
            <a:avLst/>
          </a:prstGeom>
          <a:ln w="12736">
            <a:solidFill>
              <a:srgbClr val="000000"/>
            </a:solidFill>
          </a:ln>
        </p:spPr>
        <p:txBody>
          <a:bodyPr wrap="square" lIns="0" tIns="167640" rIns="0" bIns="0" rtlCol="0" vert="horz">
            <a:spAutoFit/>
          </a:bodyPr>
          <a:lstStyle/>
          <a:p>
            <a:pPr marL="3964304" marR="720090" indent="-3496310">
              <a:lnSpc>
                <a:spcPct val="100000"/>
              </a:lnSpc>
              <a:spcBef>
                <a:spcPts val="1320"/>
              </a:spcBef>
            </a:pPr>
            <a:r>
              <a:rPr dirty="0" sz="2600" spc="-25">
                <a:solidFill>
                  <a:srgbClr val="111111"/>
                </a:solidFill>
                <a:latin typeface="Arial"/>
                <a:cs typeface="Arial"/>
              </a:rPr>
              <a:t>"RLC-</a:t>
            </a:r>
            <a:r>
              <a:rPr dirty="0" sz="2600">
                <a:solidFill>
                  <a:srgbClr val="111111"/>
                </a:solidFill>
                <a:latin typeface="Arial"/>
                <a:cs typeface="Arial"/>
              </a:rPr>
              <a:t>H</a:t>
            </a:r>
            <a:r>
              <a:rPr dirty="0" sz="2600" spc="-1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600">
                <a:solidFill>
                  <a:srgbClr val="111111"/>
                </a:solidFill>
                <a:latin typeface="Arial"/>
                <a:cs typeface="Arial"/>
              </a:rPr>
              <a:t>reduces</a:t>
            </a:r>
            <a:r>
              <a:rPr dirty="0" sz="2600" spc="9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600" spc="50">
                <a:solidFill>
                  <a:srgbClr val="111111"/>
                </a:solidFill>
                <a:latin typeface="Arial"/>
                <a:cs typeface="Arial"/>
              </a:rPr>
              <a:t>audit</a:t>
            </a:r>
            <a:r>
              <a:rPr dirty="0" sz="2600" spc="17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600">
                <a:solidFill>
                  <a:srgbClr val="010101"/>
                </a:solidFill>
                <a:latin typeface="Arial"/>
                <a:cs typeface="Arial"/>
              </a:rPr>
              <a:t>preparation</a:t>
            </a:r>
            <a:r>
              <a:rPr dirty="0" sz="2600" spc="155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dirty="0" sz="2600" spc="75">
                <a:solidFill>
                  <a:srgbClr val="010101"/>
                </a:solidFill>
                <a:latin typeface="Arial"/>
                <a:cs typeface="Arial"/>
              </a:rPr>
              <a:t>from </a:t>
            </a:r>
            <a:r>
              <a:rPr dirty="0" sz="2600">
                <a:solidFill>
                  <a:srgbClr val="010101"/>
                </a:solidFill>
                <a:latin typeface="Arial"/>
                <a:cs typeface="Arial"/>
              </a:rPr>
              <a:t>months</a:t>
            </a:r>
            <a:r>
              <a:rPr dirty="0" sz="2600" spc="215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dirty="0" sz="2600">
                <a:solidFill>
                  <a:srgbClr val="010101"/>
                </a:solidFill>
                <a:latin typeface="Arial"/>
                <a:cs typeface="Arial"/>
              </a:rPr>
              <a:t>to</a:t>
            </a:r>
            <a:r>
              <a:rPr dirty="0" sz="2600" spc="28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dirty="0" sz="2600">
                <a:solidFill>
                  <a:srgbClr val="111111"/>
                </a:solidFill>
                <a:latin typeface="Arial"/>
                <a:cs typeface="Arial"/>
              </a:rPr>
              <a:t>weeks</a:t>
            </a:r>
            <a:r>
              <a:rPr dirty="0" sz="2600" spc="165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600">
                <a:solidFill>
                  <a:srgbClr val="111111"/>
                </a:solidFill>
                <a:latin typeface="Arial"/>
                <a:cs typeface="Arial"/>
              </a:rPr>
              <a:t>while</a:t>
            </a:r>
            <a:r>
              <a:rPr dirty="0" sz="2600" spc="7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600">
                <a:solidFill>
                  <a:srgbClr val="010101"/>
                </a:solidFill>
                <a:latin typeface="Arial"/>
                <a:cs typeface="Arial"/>
              </a:rPr>
              <a:t>providing</a:t>
            </a:r>
            <a:r>
              <a:rPr dirty="0" sz="2600" spc="16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dirty="0" sz="2600">
                <a:solidFill>
                  <a:srgbClr val="111111"/>
                </a:solidFill>
                <a:latin typeface="Arial"/>
                <a:cs typeface="Arial"/>
              </a:rPr>
              <a:t>a</a:t>
            </a:r>
            <a:r>
              <a:rPr dirty="0" sz="2600" spc="55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600">
                <a:solidFill>
                  <a:srgbClr val="111111"/>
                </a:solidFill>
                <a:latin typeface="Arial"/>
                <a:cs typeface="Arial"/>
              </a:rPr>
              <a:t>superior</a:t>
            </a:r>
            <a:r>
              <a:rPr dirty="0" sz="2600">
                <a:solidFill>
                  <a:srgbClr val="2A2B2D"/>
                </a:solidFill>
                <a:latin typeface="Arial"/>
                <a:cs typeface="Arial"/>
              </a:rPr>
              <a:t>,</a:t>
            </a:r>
            <a:r>
              <a:rPr dirty="0" sz="2600" spc="-105">
                <a:solidFill>
                  <a:srgbClr val="2A2B2D"/>
                </a:solidFill>
                <a:latin typeface="Arial"/>
                <a:cs typeface="Arial"/>
              </a:rPr>
              <a:t> </a:t>
            </a:r>
            <a:r>
              <a:rPr dirty="0" sz="2600" spc="-10">
                <a:solidFill>
                  <a:srgbClr val="111111"/>
                </a:solidFill>
                <a:latin typeface="Arial"/>
                <a:cs typeface="Arial"/>
              </a:rPr>
              <a:t>continuously </a:t>
            </a:r>
            <a:r>
              <a:rPr dirty="0" sz="2600">
                <a:solidFill>
                  <a:srgbClr val="010101"/>
                </a:solidFill>
                <a:latin typeface="Arial"/>
                <a:cs typeface="Arial"/>
              </a:rPr>
              <a:t>monitored</a:t>
            </a:r>
            <a:r>
              <a:rPr dirty="0" sz="2600" spc="254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dirty="0" sz="2600">
                <a:solidFill>
                  <a:srgbClr val="111111"/>
                </a:solidFill>
                <a:latin typeface="Arial"/>
                <a:cs typeface="Arial"/>
              </a:rPr>
              <a:t>security</a:t>
            </a:r>
            <a:r>
              <a:rPr dirty="0" sz="2600" spc="285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600" spc="45">
                <a:solidFill>
                  <a:srgbClr val="010101"/>
                </a:solidFill>
                <a:latin typeface="Arial"/>
                <a:cs typeface="Arial"/>
              </a:rPr>
              <a:t>posture</a:t>
            </a:r>
            <a:r>
              <a:rPr dirty="0" sz="2600" spc="12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dirty="0" sz="2600" spc="95">
                <a:solidFill>
                  <a:srgbClr val="111111"/>
                </a:solidFill>
                <a:latin typeface="Arial"/>
                <a:cs typeface="Arial"/>
              </a:rPr>
              <a:t>at</a:t>
            </a:r>
            <a:r>
              <a:rPr dirty="0" sz="2600" spc="-35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600">
                <a:solidFill>
                  <a:srgbClr val="010101"/>
                </a:solidFill>
                <a:latin typeface="Arial"/>
                <a:cs typeface="Arial"/>
              </a:rPr>
              <a:t>nearly</a:t>
            </a:r>
            <a:r>
              <a:rPr dirty="0" sz="2600" spc="18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dirty="0" sz="2600">
                <a:solidFill>
                  <a:srgbClr val="010101"/>
                </a:solidFill>
                <a:latin typeface="Arial"/>
                <a:cs typeface="Arial"/>
              </a:rPr>
              <a:t>half</a:t>
            </a:r>
            <a:r>
              <a:rPr dirty="0" sz="2600" spc="8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dirty="0" sz="2600">
                <a:solidFill>
                  <a:srgbClr val="010101"/>
                </a:solidFill>
                <a:latin typeface="Arial"/>
                <a:cs typeface="Arial"/>
              </a:rPr>
              <a:t>the</a:t>
            </a:r>
            <a:r>
              <a:rPr dirty="0" sz="2600" spc="225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dirty="0" sz="2600" spc="-10">
                <a:solidFill>
                  <a:srgbClr val="111111"/>
                </a:solidFill>
                <a:latin typeface="Arial"/>
                <a:cs typeface="Arial"/>
              </a:rPr>
              <a:t>cost."</a:t>
            </a:r>
            <a:endParaRPr sz="2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6337" y="6408869"/>
            <a:ext cx="2547383" cy="2297906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039472" y="587572"/>
            <a:ext cx="13416280" cy="638175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4000" spc="204">
                <a:solidFill>
                  <a:srgbClr val="212324"/>
                </a:solidFill>
              </a:rPr>
              <a:t>The</a:t>
            </a:r>
            <a:r>
              <a:rPr dirty="0" sz="4000" spc="-260">
                <a:solidFill>
                  <a:srgbClr val="212324"/>
                </a:solidFill>
              </a:rPr>
              <a:t> </a:t>
            </a:r>
            <a:r>
              <a:rPr dirty="0" sz="4000" spc="50">
                <a:solidFill>
                  <a:srgbClr val="212324"/>
                </a:solidFill>
              </a:rPr>
              <a:t>Financial</a:t>
            </a:r>
            <a:r>
              <a:rPr dirty="0" sz="4000" spc="-25">
                <a:solidFill>
                  <a:srgbClr val="212324"/>
                </a:solidFill>
              </a:rPr>
              <a:t> </a:t>
            </a:r>
            <a:r>
              <a:rPr dirty="0" sz="4000" spc="75">
                <a:solidFill>
                  <a:srgbClr val="212324"/>
                </a:solidFill>
              </a:rPr>
              <a:t>Blueprint:</a:t>
            </a:r>
            <a:r>
              <a:rPr dirty="0" sz="4000" spc="-190">
                <a:solidFill>
                  <a:srgbClr val="212324"/>
                </a:solidFill>
              </a:rPr>
              <a:t> </a:t>
            </a:r>
            <a:r>
              <a:rPr dirty="0" sz="4000" spc="55">
                <a:solidFill>
                  <a:srgbClr val="212324"/>
                </a:solidFill>
              </a:rPr>
              <a:t>Scaling</a:t>
            </a:r>
            <a:r>
              <a:rPr dirty="0" sz="4000" spc="-55">
                <a:solidFill>
                  <a:srgbClr val="212324"/>
                </a:solidFill>
              </a:rPr>
              <a:t> </a:t>
            </a:r>
            <a:r>
              <a:rPr dirty="0" sz="4000" spc="185">
                <a:solidFill>
                  <a:srgbClr val="212324"/>
                </a:solidFill>
              </a:rPr>
              <a:t>to</a:t>
            </a:r>
            <a:r>
              <a:rPr dirty="0" sz="4000" spc="-235">
                <a:solidFill>
                  <a:srgbClr val="212324"/>
                </a:solidFill>
              </a:rPr>
              <a:t> </a:t>
            </a:r>
            <a:r>
              <a:rPr dirty="0" sz="4000" spc="220">
                <a:solidFill>
                  <a:srgbClr val="212324"/>
                </a:solidFill>
              </a:rPr>
              <a:t>a</a:t>
            </a:r>
            <a:r>
              <a:rPr dirty="0" sz="4000" spc="-240">
                <a:solidFill>
                  <a:srgbClr val="212324"/>
                </a:solidFill>
              </a:rPr>
              <a:t> </a:t>
            </a:r>
            <a:r>
              <a:rPr dirty="0" sz="4000" spc="390">
                <a:solidFill>
                  <a:srgbClr val="DDAC2A"/>
                </a:solidFill>
              </a:rPr>
              <a:t>$576M</a:t>
            </a:r>
            <a:r>
              <a:rPr dirty="0" sz="4000" spc="-345">
                <a:solidFill>
                  <a:srgbClr val="DDAC2A"/>
                </a:solidFill>
              </a:rPr>
              <a:t> </a:t>
            </a:r>
            <a:r>
              <a:rPr dirty="0" sz="4000" spc="-10">
                <a:solidFill>
                  <a:srgbClr val="212324"/>
                </a:solidFill>
              </a:rPr>
              <a:t>Business</a:t>
            </a:r>
            <a:endParaRPr sz="4000"/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00"/>
              </a:lnSpc>
            </a:pPr>
            <a:r>
              <a:rPr dirty="0" sz="1300" spc="-20">
                <a:solidFill>
                  <a:srgbClr val="363838"/>
                </a:solidFill>
              </a:rPr>
              <a:t>Isl\</a:t>
            </a:r>
            <a:r>
              <a:rPr dirty="0" sz="1300" spc="-45">
                <a:solidFill>
                  <a:srgbClr val="363838"/>
                </a:solidFill>
              </a:rPr>
              <a:t> </a:t>
            </a:r>
            <a:r>
              <a:rPr dirty="0" spc="-10">
                <a:solidFill>
                  <a:srgbClr val="070F1F"/>
                </a:solidFill>
              </a:rPr>
              <a:t>N</a:t>
            </a:r>
            <a:r>
              <a:rPr dirty="0" spc="-10"/>
              <a:t>otebookLM</a:t>
            </a:r>
            <a:endParaRPr sz="1300"/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717429" y="1822326"/>
          <a:ext cx="13232130" cy="29121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32250"/>
                <a:gridCol w="3300729"/>
                <a:gridCol w="3576320"/>
                <a:gridCol w="2245994"/>
              </a:tblGrid>
              <a:tr h="422275">
                <a:tc>
                  <a:txBody>
                    <a:bodyPr/>
                    <a:lstStyle/>
                    <a:p>
                      <a:pPr marL="31750">
                        <a:lnSpc>
                          <a:spcPts val="2610"/>
                        </a:lnSpc>
                      </a:pPr>
                      <a:r>
                        <a:rPr dirty="0" sz="2350" spc="-10" b="1">
                          <a:solidFill>
                            <a:srgbClr val="010303"/>
                          </a:solidFill>
                          <a:latin typeface="Arial"/>
                          <a:cs typeface="Arial"/>
                        </a:rPr>
                        <a:t>Metric</a:t>
                      </a:r>
                      <a:endParaRPr sz="23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302385">
                        <a:lnSpc>
                          <a:spcPts val="2610"/>
                        </a:lnSpc>
                      </a:pPr>
                      <a:r>
                        <a:rPr dirty="0" sz="2350" spc="-10" b="1">
                          <a:solidFill>
                            <a:srgbClr val="010303"/>
                          </a:solidFill>
                          <a:latin typeface="Arial"/>
                          <a:cs typeface="Arial"/>
                        </a:rPr>
                        <a:t>Year1</a:t>
                      </a:r>
                      <a:endParaRPr sz="23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7145">
                        <a:lnSpc>
                          <a:spcPts val="2610"/>
                        </a:lnSpc>
                      </a:pPr>
                      <a:r>
                        <a:rPr dirty="0" sz="2350" spc="45" b="1">
                          <a:solidFill>
                            <a:srgbClr val="010303"/>
                          </a:solidFill>
                          <a:latin typeface="Arial"/>
                          <a:cs typeface="Arial"/>
                        </a:rPr>
                        <a:t>Year2</a:t>
                      </a:r>
                      <a:endParaRPr sz="23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69850">
                        <a:lnSpc>
                          <a:spcPts val="2610"/>
                        </a:lnSpc>
                      </a:pPr>
                      <a:r>
                        <a:rPr dirty="0" sz="2350" spc="-10" b="1">
                          <a:solidFill>
                            <a:srgbClr val="010303"/>
                          </a:solidFill>
                          <a:latin typeface="Arial"/>
                          <a:cs typeface="Arial"/>
                        </a:rPr>
                        <a:t>Year3</a:t>
                      </a:r>
                      <a:endParaRPr sz="23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516890"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2350">
                          <a:solidFill>
                            <a:srgbClr val="212324"/>
                          </a:solidFill>
                          <a:latin typeface="Arial"/>
                          <a:cs typeface="Arial"/>
                        </a:rPr>
                        <a:t>New</a:t>
                      </a:r>
                      <a:r>
                        <a:rPr dirty="0" sz="2350" spc="-105">
                          <a:solidFill>
                            <a:srgbClr val="21232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350" spc="-10">
                          <a:solidFill>
                            <a:srgbClr val="212324"/>
                          </a:solidFill>
                          <a:latin typeface="Arial"/>
                          <a:cs typeface="Arial"/>
                        </a:rPr>
                        <a:t>Customers</a:t>
                      </a:r>
                      <a:endParaRPr sz="2350">
                        <a:latin typeface="Arial"/>
                        <a:cs typeface="Arial"/>
                      </a:endParaRPr>
                    </a:p>
                  </a:txBody>
                  <a:tcPr marL="0" marR="0" marB="0" marT="60960"/>
                </a:tc>
                <a:tc>
                  <a:txBody>
                    <a:bodyPr/>
                    <a:lstStyle/>
                    <a:p>
                      <a:pPr algn="ctr" marR="164465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2350" spc="-25">
                          <a:solidFill>
                            <a:srgbClr val="212324"/>
                          </a:solidFill>
                          <a:latin typeface="Arial"/>
                          <a:cs typeface="Arial"/>
                        </a:rPr>
                        <a:t>75</a:t>
                      </a:r>
                      <a:endParaRPr sz="2350">
                        <a:latin typeface="Arial"/>
                        <a:cs typeface="Arial"/>
                      </a:endParaRPr>
                    </a:p>
                  </a:txBody>
                  <a:tcPr marL="0" marR="0" marB="0" marT="60960"/>
                </a:tc>
                <a:tc>
                  <a:txBody>
                    <a:bodyPr/>
                    <a:lstStyle/>
                    <a:p>
                      <a:pPr algn="ctr" marR="889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2350" spc="-25">
                          <a:solidFill>
                            <a:srgbClr val="212324"/>
                          </a:solidFill>
                          <a:latin typeface="Arial"/>
                          <a:cs typeface="Arial"/>
                        </a:rPr>
                        <a:t>125</a:t>
                      </a:r>
                      <a:endParaRPr sz="2350">
                        <a:latin typeface="Arial"/>
                        <a:cs typeface="Arial"/>
                      </a:endParaRPr>
                    </a:p>
                  </a:txBody>
                  <a:tcPr marL="0" marR="0" marB="0" marT="60960"/>
                </a:tc>
                <a:tc>
                  <a:txBody>
                    <a:bodyPr/>
                    <a:lstStyle/>
                    <a:p>
                      <a:pPr marL="1478915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2350" spc="-25">
                          <a:solidFill>
                            <a:srgbClr val="010303"/>
                          </a:solidFill>
                          <a:latin typeface="Arial"/>
                          <a:cs typeface="Arial"/>
                        </a:rPr>
                        <a:t>1</a:t>
                      </a:r>
                      <a:r>
                        <a:rPr dirty="0" sz="2350" spc="-25">
                          <a:solidFill>
                            <a:srgbClr val="212324"/>
                          </a:solidFill>
                          <a:latin typeface="Arial"/>
                          <a:cs typeface="Arial"/>
                        </a:rPr>
                        <a:t>00</a:t>
                      </a:r>
                      <a:endParaRPr sz="2350">
                        <a:latin typeface="Arial"/>
                        <a:cs typeface="Arial"/>
                      </a:endParaRPr>
                    </a:p>
                  </a:txBody>
                  <a:tcPr marL="0" marR="0" marB="0" marT="60960"/>
                </a:tc>
              </a:tr>
              <a:tr h="516890"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2350" spc="-55">
                          <a:solidFill>
                            <a:srgbClr val="212324"/>
                          </a:solidFill>
                          <a:latin typeface="Arial"/>
                          <a:cs typeface="Arial"/>
                        </a:rPr>
                        <a:t>Total</a:t>
                      </a:r>
                      <a:r>
                        <a:rPr dirty="0" sz="2350" spc="-85">
                          <a:solidFill>
                            <a:srgbClr val="21232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350" spc="-10">
                          <a:solidFill>
                            <a:srgbClr val="212324"/>
                          </a:solidFill>
                          <a:latin typeface="Arial"/>
                          <a:cs typeface="Arial"/>
                        </a:rPr>
                        <a:t>Customers</a:t>
                      </a:r>
                      <a:endParaRPr sz="2350">
                        <a:latin typeface="Arial"/>
                        <a:cs typeface="Arial"/>
                      </a:endParaRPr>
                    </a:p>
                  </a:txBody>
                  <a:tcPr marL="0" marR="0" marB="0" marT="67310"/>
                </a:tc>
                <a:tc>
                  <a:txBody>
                    <a:bodyPr/>
                    <a:lstStyle/>
                    <a:p>
                      <a:pPr algn="ctr" marR="151130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2350" spc="35">
                          <a:solidFill>
                            <a:srgbClr val="212324"/>
                          </a:solidFill>
                          <a:latin typeface="Arial"/>
                          <a:cs typeface="Arial"/>
                        </a:rPr>
                        <a:t>75</a:t>
                      </a:r>
                      <a:endParaRPr sz="2350">
                        <a:latin typeface="Arial"/>
                        <a:cs typeface="Arial"/>
                      </a:endParaRPr>
                    </a:p>
                  </a:txBody>
                  <a:tcPr marL="0" marR="0" marB="0" marT="67310"/>
                </a:tc>
                <a:tc>
                  <a:txBody>
                    <a:bodyPr/>
                    <a:lstStyle/>
                    <a:p>
                      <a:pPr algn="ctr" marL="9525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2350" spc="-25">
                          <a:solidFill>
                            <a:srgbClr val="212324"/>
                          </a:solidFill>
                          <a:latin typeface="Arial"/>
                          <a:cs typeface="Arial"/>
                        </a:rPr>
                        <a:t>200</a:t>
                      </a:r>
                      <a:endParaRPr sz="2350">
                        <a:latin typeface="Arial"/>
                        <a:cs typeface="Arial"/>
                      </a:endParaRPr>
                    </a:p>
                  </a:txBody>
                  <a:tcPr marL="0" marR="0" marB="0" marT="67310"/>
                </a:tc>
                <a:tc>
                  <a:txBody>
                    <a:bodyPr/>
                    <a:lstStyle/>
                    <a:p>
                      <a:pPr marL="1485900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2350" spc="35">
                          <a:solidFill>
                            <a:srgbClr val="212324"/>
                          </a:solidFill>
                          <a:latin typeface="Arial"/>
                          <a:cs typeface="Arial"/>
                        </a:rPr>
                        <a:t>300</a:t>
                      </a:r>
                      <a:endParaRPr sz="2350">
                        <a:latin typeface="Arial"/>
                        <a:cs typeface="Arial"/>
                      </a:endParaRPr>
                    </a:p>
                  </a:txBody>
                  <a:tcPr marL="0" marR="0" marB="0" marT="67310"/>
                </a:tc>
              </a:tr>
              <a:tr h="523240">
                <a:tc>
                  <a:txBody>
                    <a:bodyPr/>
                    <a:lstStyle/>
                    <a:p>
                      <a:pPr marL="4064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2350" spc="-35">
                          <a:solidFill>
                            <a:srgbClr val="212324"/>
                          </a:solidFill>
                          <a:latin typeface="Arial"/>
                          <a:cs typeface="Arial"/>
                        </a:rPr>
                        <a:t>Avg.</a:t>
                      </a:r>
                      <a:r>
                        <a:rPr dirty="0" sz="2350" spc="-210">
                          <a:solidFill>
                            <a:srgbClr val="21232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350" spc="-10">
                          <a:solidFill>
                            <a:srgbClr val="010303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dirty="0" sz="2350" spc="-10">
                          <a:solidFill>
                            <a:srgbClr val="212324"/>
                          </a:solidFill>
                          <a:latin typeface="Arial"/>
                          <a:cs typeface="Arial"/>
                        </a:rPr>
                        <a:t>odes/Customer</a:t>
                      </a:r>
                      <a:endParaRPr sz="2350">
                        <a:latin typeface="Arial"/>
                        <a:cs typeface="Arial"/>
                      </a:endParaRPr>
                    </a:p>
                  </a:txBody>
                  <a:tcPr marL="0" marR="0" marB="0" marT="60960"/>
                </a:tc>
                <a:tc>
                  <a:txBody>
                    <a:bodyPr/>
                    <a:lstStyle/>
                    <a:p>
                      <a:pPr marL="1195705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2350" spc="-10">
                          <a:solidFill>
                            <a:srgbClr val="212324"/>
                          </a:solidFill>
                          <a:latin typeface="Arial"/>
                          <a:cs typeface="Arial"/>
                        </a:rPr>
                        <a:t>2,000</a:t>
                      </a:r>
                      <a:endParaRPr sz="2350">
                        <a:latin typeface="Arial"/>
                        <a:cs typeface="Arial"/>
                      </a:endParaRPr>
                    </a:p>
                  </a:txBody>
                  <a:tcPr marL="0" marR="0" marB="0" marT="60960"/>
                </a:tc>
                <a:tc>
                  <a:txBody>
                    <a:bodyPr/>
                    <a:lstStyle/>
                    <a:p>
                      <a:pPr algn="ctr" marL="19685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dirty="0" sz="2350" spc="-10">
                          <a:solidFill>
                            <a:srgbClr val="212324"/>
                          </a:solidFill>
                          <a:latin typeface="Arial"/>
                          <a:cs typeface="Arial"/>
                        </a:rPr>
                        <a:t>2,500</a:t>
                      </a:r>
                      <a:endParaRPr sz="2350">
                        <a:latin typeface="Arial"/>
                        <a:cs typeface="Arial"/>
                      </a:endParaRPr>
                    </a:p>
                  </a:txBody>
                  <a:tcPr marL="0" marR="0" marB="0" marT="73660"/>
                </a:tc>
                <a:tc>
                  <a:txBody>
                    <a:bodyPr/>
                    <a:lstStyle/>
                    <a:p>
                      <a:pPr marL="136271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2350" spc="-10">
                          <a:solidFill>
                            <a:srgbClr val="212324"/>
                          </a:solidFill>
                          <a:latin typeface="Arial"/>
                          <a:cs typeface="Arial"/>
                        </a:rPr>
                        <a:t>2,800</a:t>
                      </a:r>
                      <a:endParaRPr sz="2350">
                        <a:latin typeface="Arial"/>
                        <a:cs typeface="Arial"/>
                      </a:endParaRPr>
                    </a:p>
                  </a:txBody>
                  <a:tcPr marL="0" marR="0" marB="0" marT="60960"/>
                </a:tc>
              </a:tr>
              <a:tr h="510540"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2350" spc="-60">
                          <a:solidFill>
                            <a:srgbClr val="212324"/>
                          </a:solidFill>
                          <a:latin typeface="Arial"/>
                          <a:cs typeface="Arial"/>
                        </a:rPr>
                        <a:t>Annual</a:t>
                      </a:r>
                      <a:r>
                        <a:rPr dirty="0" sz="2350" spc="-125">
                          <a:solidFill>
                            <a:srgbClr val="21232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350" spc="-10">
                          <a:solidFill>
                            <a:srgbClr val="212324"/>
                          </a:solidFill>
                          <a:latin typeface="Arial"/>
                          <a:cs typeface="Arial"/>
                        </a:rPr>
                        <a:t>Revenue</a:t>
                      </a:r>
                      <a:endParaRPr sz="2350">
                        <a:latin typeface="Arial"/>
                        <a:cs typeface="Arial"/>
                      </a:endParaRPr>
                    </a:p>
                  </a:txBody>
                  <a:tcPr marL="0" marR="0" marB="0" marT="60960"/>
                </a:tc>
                <a:tc>
                  <a:txBody>
                    <a:bodyPr/>
                    <a:lstStyle/>
                    <a:p>
                      <a:pPr algn="r" marR="1298575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2350" spc="-10">
                          <a:solidFill>
                            <a:srgbClr val="212324"/>
                          </a:solidFill>
                          <a:latin typeface="Arial"/>
                          <a:cs typeface="Arial"/>
                        </a:rPr>
                        <a:t>$116M</a:t>
                      </a:r>
                      <a:endParaRPr sz="2350">
                        <a:latin typeface="Arial"/>
                        <a:cs typeface="Arial"/>
                      </a:endParaRPr>
                    </a:p>
                  </a:txBody>
                  <a:tcPr marL="0" marR="0" marB="0" marT="6096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2350" spc="-10">
                          <a:solidFill>
                            <a:srgbClr val="212324"/>
                          </a:solidFill>
                          <a:latin typeface="Arial"/>
                          <a:cs typeface="Arial"/>
                        </a:rPr>
                        <a:t>$388M</a:t>
                      </a:r>
                      <a:endParaRPr sz="2350">
                        <a:latin typeface="Arial"/>
                        <a:cs typeface="Arial"/>
                      </a:endParaRPr>
                    </a:p>
                  </a:txBody>
                  <a:tcPr marL="0" marR="0" marB="0" marT="60960"/>
                </a:tc>
                <a:tc>
                  <a:txBody>
                    <a:bodyPr/>
                    <a:lstStyle/>
                    <a:p>
                      <a:pPr algn="r" marR="37465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2350" spc="-10">
                          <a:solidFill>
                            <a:srgbClr val="212324"/>
                          </a:solidFill>
                          <a:latin typeface="Arial"/>
                          <a:cs typeface="Arial"/>
                        </a:rPr>
                        <a:t>$651</a:t>
                      </a:r>
                      <a:r>
                        <a:rPr dirty="0" sz="2350" spc="-10">
                          <a:solidFill>
                            <a:srgbClr val="010303"/>
                          </a:solidFill>
                          <a:latin typeface="Arial"/>
                          <a:cs typeface="Arial"/>
                        </a:rPr>
                        <a:t>M</a:t>
                      </a:r>
                      <a:endParaRPr sz="2350">
                        <a:latin typeface="Arial"/>
                        <a:cs typeface="Arial"/>
                      </a:endParaRPr>
                    </a:p>
                  </a:txBody>
                  <a:tcPr marL="0" marR="0" marB="0" marT="60960"/>
                </a:tc>
              </a:tr>
              <a:tr h="422275">
                <a:tc>
                  <a:txBody>
                    <a:bodyPr/>
                    <a:lstStyle/>
                    <a:p>
                      <a:pPr marL="38735">
                        <a:lnSpc>
                          <a:spcPts val="2750"/>
                        </a:lnSpc>
                        <a:spcBef>
                          <a:spcPts val="480"/>
                        </a:spcBef>
                      </a:pPr>
                      <a:r>
                        <a:rPr dirty="0" sz="2350" spc="-75" b="1">
                          <a:solidFill>
                            <a:srgbClr val="010303"/>
                          </a:solidFill>
                          <a:latin typeface="Arial"/>
                          <a:cs typeface="Arial"/>
                        </a:rPr>
                        <a:t>Cumulative</a:t>
                      </a:r>
                      <a:r>
                        <a:rPr dirty="0" sz="2350" spc="-5" b="1">
                          <a:solidFill>
                            <a:srgbClr val="01030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350" spc="-25" b="1">
                          <a:solidFill>
                            <a:srgbClr val="010303"/>
                          </a:solidFill>
                          <a:latin typeface="Arial"/>
                          <a:cs typeface="Arial"/>
                        </a:rPr>
                        <a:t>ARR</a:t>
                      </a:r>
                      <a:endParaRPr sz="2350">
                        <a:latin typeface="Arial"/>
                        <a:cs typeface="Arial"/>
                      </a:endParaRPr>
                    </a:p>
                  </a:txBody>
                  <a:tcPr marL="0" marR="0" marB="0" marT="60960"/>
                </a:tc>
                <a:tc>
                  <a:txBody>
                    <a:bodyPr/>
                    <a:lstStyle/>
                    <a:p>
                      <a:pPr marL="1117600">
                        <a:lnSpc>
                          <a:spcPts val="2750"/>
                        </a:lnSpc>
                        <a:spcBef>
                          <a:spcPts val="480"/>
                        </a:spcBef>
                      </a:pPr>
                      <a:r>
                        <a:rPr dirty="0" sz="2350" spc="-10" b="1">
                          <a:solidFill>
                            <a:srgbClr val="010303"/>
                          </a:solidFill>
                          <a:latin typeface="Arial"/>
                          <a:cs typeface="Arial"/>
                        </a:rPr>
                        <a:t>$116M</a:t>
                      </a:r>
                      <a:endParaRPr sz="2350">
                        <a:latin typeface="Arial"/>
                        <a:cs typeface="Arial"/>
                      </a:endParaRPr>
                    </a:p>
                  </a:txBody>
                  <a:tcPr marL="0" marR="0" marB="0" marT="60960"/>
                </a:tc>
                <a:tc>
                  <a:txBody>
                    <a:bodyPr/>
                    <a:lstStyle/>
                    <a:p>
                      <a:pPr algn="ctr" marL="10160">
                        <a:lnSpc>
                          <a:spcPts val="2750"/>
                        </a:lnSpc>
                        <a:spcBef>
                          <a:spcPts val="480"/>
                        </a:spcBef>
                      </a:pPr>
                      <a:r>
                        <a:rPr dirty="0" sz="2350" spc="105" b="1">
                          <a:solidFill>
                            <a:srgbClr val="010303"/>
                          </a:solidFill>
                          <a:latin typeface="Arial"/>
                          <a:cs typeface="Arial"/>
                        </a:rPr>
                        <a:t>$504M</a:t>
                      </a:r>
                      <a:endParaRPr sz="2350">
                        <a:latin typeface="Arial"/>
                        <a:cs typeface="Arial"/>
                      </a:endParaRPr>
                    </a:p>
                  </a:txBody>
                  <a:tcPr marL="0" marR="0" marB="0" marT="6096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2750"/>
                        </a:lnSpc>
                        <a:spcBef>
                          <a:spcPts val="480"/>
                        </a:spcBef>
                        <a:tabLst>
                          <a:tab pos="508000" algn="l"/>
                        </a:tabLst>
                      </a:pPr>
                      <a:r>
                        <a:rPr dirty="0" sz="2350" spc="-25" b="1">
                          <a:solidFill>
                            <a:srgbClr val="CDA83F"/>
                          </a:solidFill>
                          <a:latin typeface="Arial"/>
                          <a:cs typeface="Arial"/>
                        </a:rPr>
                        <a:t>57</a:t>
                      </a:r>
                      <a:r>
                        <a:rPr dirty="0" sz="2350" b="1">
                          <a:solidFill>
                            <a:srgbClr val="CDA83F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1450" spc="-335" b="1">
                          <a:solidFill>
                            <a:srgbClr val="CDA83F"/>
                          </a:solidFill>
                          <a:latin typeface="Arial"/>
                          <a:cs typeface="Arial"/>
                        </a:rPr>
                        <a:t>111'1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B="0" marT="60960"/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1235517" y="5438708"/>
            <a:ext cx="7322184" cy="118110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2700" spc="-85" b="1">
                <a:solidFill>
                  <a:srgbClr val="010303"/>
                </a:solidFill>
                <a:latin typeface="Arial"/>
                <a:cs typeface="Arial"/>
              </a:rPr>
              <a:t>Vear</a:t>
            </a:r>
            <a:r>
              <a:rPr dirty="0" sz="2700" spc="-325" b="1">
                <a:solidFill>
                  <a:srgbClr val="010303"/>
                </a:solidFill>
                <a:latin typeface="Arial"/>
                <a:cs typeface="Arial"/>
              </a:rPr>
              <a:t> </a:t>
            </a:r>
            <a:r>
              <a:rPr dirty="0" sz="2700" spc="-75" b="1">
                <a:solidFill>
                  <a:srgbClr val="010303"/>
                </a:solidFill>
                <a:latin typeface="Arial"/>
                <a:cs typeface="Arial"/>
              </a:rPr>
              <a:t>1</a:t>
            </a:r>
            <a:r>
              <a:rPr dirty="0" sz="2700" spc="-190" b="1">
                <a:solidFill>
                  <a:srgbClr val="010303"/>
                </a:solidFill>
                <a:latin typeface="Arial"/>
                <a:cs typeface="Arial"/>
              </a:rPr>
              <a:t> </a:t>
            </a:r>
            <a:r>
              <a:rPr dirty="0" sz="2700" spc="-55" b="1">
                <a:solidFill>
                  <a:srgbClr val="010303"/>
                </a:solidFill>
                <a:latin typeface="Arial"/>
                <a:cs typeface="Arial"/>
              </a:rPr>
              <a:t>Customer </a:t>
            </a:r>
            <a:r>
              <a:rPr dirty="0" sz="2700" spc="-75" b="1">
                <a:solidFill>
                  <a:srgbClr val="010303"/>
                </a:solidFill>
                <a:latin typeface="Arial"/>
                <a:cs typeface="Arial"/>
              </a:rPr>
              <a:t>Acquisition</a:t>
            </a:r>
            <a:r>
              <a:rPr dirty="0" sz="2700" spc="-65" b="1">
                <a:solidFill>
                  <a:srgbClr val="010303"/>
                </a:solidFill>
                <a:latin typeface="Arial"/>
                <a:cs typeface="Arial"/>
              </a:rPr>
              <a:t> </a:t>
            </a:r>
            <a:r>
              <a:rPr dirty="0" sz="2700" spc="-40" b="1">
                <a:solidFill>
                  <a:srgbClr val="010303"/>
                </a:solidFill>
                <a:latin typeface="Arial"/>
                <a:cs typeface="Arial"/>
              </a:rPr>
              <a:t>Targets</a:t>
            </a:r>
            <a:r>
              <a:rPr dirty="0" sz="2700" spc="-105" b="1">
                <a:solidFill>
                  <a:srgbClr val="010303"/>
                </a:solidFill>
                <a:latin typeface="Arial"/>
                <a:cs typeface="Arial"/>
              </a:rPr>
              <a:t> </a:t>
            </a:r>
            <a:r>
              <a:rPr dirty="0" sz="2700" spc="50" b="1">
                <a:solidFill>
                  <a:srgbClr val="010303"/>
                </a:solidFill>
                <a:latin typeface="Arial"/>
                <a:cs typeface="Arial"/>
              </a:rPr>
              <a:t>(75</a:t>
            </a:r>
            <a:r>
              <a:rPr dirty="0" sz="2700" spc="-140" b="1">
                <a:solidFill>
                  <a:srgbClr val="010303"/>
                </a:solidFill>
                <a:latin typeface="Arial"/>
                <a:cs typeface="Arial"/>
              </a:rPr>
              <a:t> </a:t>
            </a:r>
            <a:r>
              <a:rPr dirty="0" sz="2700" spc="-10" b="1">
                <a:solidFill>
                  <a:srgbClr val="010303"/>
                </a:solidFill>
                <a:latin typeface="Arial"/>
                <a:cs typeface="Arial"/>
              </a:rPr>
              <a:t>Total)</a:t>
            </a:r>
            <a:endParaRPr sz="2700">
              <a:latin typeface="Arial"/>
              <a:cs typeface="Arial"/>
            </a:endParaRPr>
          </a:p>
          <a:p>
            <a:pPr marL="1294765" marR="3662679" indent="-407034">
              <a:lnSpc>
                <a:spcPts val="1910"/>
              </a:lnSpc>
              <a:spcBef>
                <a:spcPts val="2050"/>
              </a:spcBef>
              <a:tabLst>
                <a:tab pos="3061970" algn="l"/>
              </a:tabLst>
            </a:pPr>
            <a:r>
              <a:rPr dirty="0" sz="1650">
                <a:solidFill>
                  <a:srgbClr val="212324"/>
                </a:solidFill>
                <a:latin typeface="Arial"/>
                <a:cs typeface="Arial"/>
              </a:rPr>
              <a:t>Multi-Segment</a:t>
            </a:r>
            <a:r>
              <a:rPr dirty="0" sz="1650" spc="55">
                <a:solidFill>
                  <a:srgbClr val="212324"/>
                </a:solidFill>
                <a:latin typeface="Arial"/>
                <a:cs typeface="Arial"/>
              </a:rPr>
              <a:t>  </a:t>
            </a:r>
            <a:r>
              <a:rPr dirty="0" sz="1650" spc="-10">
                <a:solidFill>
                  <a:srgbClr val="343436"/>
                </a:solidFill>
                <a:latin typeface="Arial"/>
                <a:cs typeface="Arial"/>
              </a:rPr>
              <a:t>(Large </a:t>
            </a:r>
            <a:r>
              <a:rPr dirty="0" sz="1650">
                <a:solidFill>
                  <a:srgbClr val="343436"/>
                </a:solidFill>
                <a:latin typeface="Arial"/>
                <a:cs typeface="Arial"/>
              </a:rPr>
              <a:t>Enterprise):</a:t>
            </a:r>
            <a:r>
              <a:rPr dirty="0" sz="1650" spc="215">
                <a:solidFill>
                  <a:srgbClr val="343436"/>
                </a:solidFill>
                <a:latin typeface="Arial"/>
                <a:cs typeface="Arial"/>
              </a:rPr>
              <a:t> </a:t>
            </a:r>
            <a:r>
              <a:rPr dirty="0" sz="1750" spc="-50" b="1">
                <a:solidFill>
                  <a:srgbClr val="212324"/>
                </a:solidFill>
                <a:latin typeface="Arial"/>
                <a:cs typeface="Arial"/>
              </a:rPr>
              <a:t>5</a:t>
            </a:r>
            <a:r>
              <a:rPr dirty="0" sz="1750" b="1">
                <a:solidFill>
                  <a:srgbClr val="212324"/>
                </a:solidFill>
                <a:latin typeface="Arial"/>
                <a:cs typeface="Arial"/>
              </a:rPr>
              <a:t>	</a:t>
            </a:r>
            <a:r>
              <a:rPr dirty="0" sz="1750" spc="370">
                <a:solidFill>
                  <a:srgbClr val="BFC1C3"/>
                </a:solidFill>
                <a:latin typeface="Arial"/>
                <a:cs typeface="Arial"/>
              </a:rPr>
              <a:t>---</a:t>
            </a:r>
            <a:r>
              <a:rPr dirty="0" sz="1750" spc="310">
                <a:solidFill>
                  <a:srgbClr val="BFC1C3"/>
                </a:solidFill>
                <a:latin typeface="Arial"/>
                <a:cs typeface="Arial"/>
              </a:rPr>
              <a:t>.-</a:t>
            </a:r>
            <a:endParaRPr sz="17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69855" y="6900433"/>
            <a:ext cx="2499995" cy="536575"/>
          </a:xfrm>
          <a:prstGeom prst="rect">
            <a:avLst/>
          </a:prstGeom>
        </p:spPr>
        <p:txBody>
          <a:bodyPr wrap="square" lIns="0" tIns="19050" rIns="0" bIns="0" rtlCol="0" vert="horz">
            <a:spAutoFit/>
          </a:bodyPr>
          <a:lstStyle/>
          <a:p>
            <a:pPr marL="12700" marR="5080" indent="434975">
              <a:lnSpc>
                <a:spcPts val="2010"/>
              </a:lnSpc>
              <a:spcBef>
                <a:spcPts val="150"/>
              </a:spcBef>
            </a:pPr>
            <a:r>
              <a:rPr dirty="0" sz="1650" spc="-20">
                <a:solidFill>
                  <a:srgbClr val="343436"/>
                </a:solidFill>
                <a:latin typeface="Arial"/>
                <a:cs typeface="Arial"/>
              </a:rPr>
              <a:t>CIS</a:t>
            </a:r>
            <a:r>
              <a:rPr dirty="0" sz="1650" spc="-100">
                <a:solidFill>
                  <a:srgbClr val="343436"/>
                </a:solidFill>
                <a:latin typeface="Arial"/>
                <a:cs typeface="Arial"/>
              </a:rPr>
              <a:t> </a:t>
            </a:r>
            <a:r>
              <a:rPr dirty="0" sz="1650" spc="-10">
                <a:solidFill>
                  <a:srgbClr val="212324"/>
                </a:solidFill>
                <a:latin typeface="Arial"/>
                <a:cs typeface="Arial"/>
              </a:rPr>
              <a:t>Benchmarks </a:t>
            </a:r>
            <a:r>
              <a:rPr dirty="0" sz="1650" spc="20">
                <a:solidFill>
                  <a:srgbClr val="343436"/>
                </a:solidFill>
                <a:latin typeface="Arial"/>
                <a:cs typeface="Arial"/>
              </a:rPr>
              <a:t>(Financial/Hea</a:t>
            </a:r>
            <a:r>
              <a:rPr dirty="0" sz="1650" spc="20">
                <a:solidFill>
                  <a:srgbClr val="010303"/>
                </a:solidFill>
                <a:latin typeface="Arial"/>
                <a:cs typeface="Arial"/>
              </a:rPr>
              <a:t>l</a:t>
            </a:r>
            <a:r>
              <a:rPr dirty="0" sz="1650" spc="20">
                <a:solidFill>
                  <a:srgbClr val="212324"/>
                </a:solidFill>
                <a:latin typeface="Arial"/>
                <a:cs typeface="Arial"/>
              </a:rPr>
              <a:t>thcare):</a:t>
            </a:r>
            <a:r>
              <a:rPr dirty="0" sz="1650" spc="-220">
                <a:solidFill>
                  <a:srgbClr val="212324"/>
                </a:solidFill>
                <a:latin typeface="Arial"/>
                <a:cs typeface="Arial"/>
              </a:rPr>
              <a:t> </a:t>
            </a:r>
            <a:r>
              <a:rPr dirty="0" sz="1750" spc="25" b="1">
                <a:solidFill>
                  <a:srgbClr val="010303"/>
                </a:solidFill>
                <a:latin typeface="Arial"/>
                <a:cs typeface="Arial"/>
              </a:rPr>
              <a:t>15</a:t>
            </a:r>
            <a:endParaRPr sz="17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58286" y="8623861"/>
            <a:ext cx="3404235" cy="523875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marL="222250" marR="5080" indent="-210185">
              <a:lnSpc>
                <a:spcPts val="1910"/>
              </a:lnSpc>
              <a:spcBef>
                <a:spcPts val="229"/>
              </a:spcBef>
            </a:pPr>
            <a:r>
              <a:rPr dirty="0" sz="1650">
                <a:solidFill>
                  <a:srgbClr val="343436"/>
                </a:solidFill>
                <a:latin typeface="Arial"/>
                <a:cs typeface="Arial"/>
              </a:rPr>
              <a:t>NIST/CMMC</a:t>
            </a:r>
            <a:r>
              <a:rPr dirty="0" sz="1650" spc="200">
                <a:solidFill>
                  <a:srgbClr val="343436"/>
                </a:solidFill>
                <a:latin typeface="Arial"/>
                <a:cs typeface="Arial"/>
              </a:rPr>
              <a:t> </a:t>
            </a:r>
            <a:r>
              <a:rPr dirty="0" sz="1650" spc="215">
                <a:solidFill>
                  <a:srgbClr val="343436"/>
                </a:solidFill>
                <a:latin typeface="Arial"/>
                <a:cs typeface="Arial"/>
              </a:rPr>
              <a:t>(Defense</a:t>
            </a:r>
            <a:r>
              <a:rPr dirty="0" sz="1650" spc="215">
                <a:solidFill>
                  <a:srgbClr val="BFC1C3"/>
                </a:solidFill>
                <a:latin typeface="Arial"/>
                <a:cs typeface="Arial"/>
              </a:rPr>
              <a:t>-</a:t>
            </a:r>
            <a:r>
              <a:rPr dirty="0" sz="1650" spc="140">
                <a:solidFill>
                  <a:srgbClr val="BFC1C3"/>
                </a:solidFill>
                <a:latin typeface="Arial"/>
                <a:cs typeface="Arial"/>
              </a:rPr>
              <a:t>----</a:t>
            </a:r>
            <a:r>
              <a:rPr dirty="0" sz="1650" spc="165">
                <a:solidFill>
                  <a:srgbClr val="BFC1C3"/>
                </a:solidFill>
                <a:latin typeface="Arial"/>
                <a:cs typeface="Arial"/>
              </a:rPr>
              <a:t>-</a:t>
            </a:r>
            <a:r>
              <a:rPr dirty="0" sz="1650" spc="290">
                <a:solidFill>
                  <a:srgbClr val="DDAC2A"/>
                </a:solidFill>
                <a:latin typeface="Arial"/>
                <a:cs typeface="Arial"/>
              </a:rPr>
              <a:t>�-</a:t>
            </a:r>
            <a:r>
              <a:rPr dirty="0" sz="1650" spc="-635">
                <a:solidFill>
                  <a:srgbClr val="DDAC2A"/>
                </a:solidFill>
                <a:latin typeface="Arial"/>
                <a:cs typeface="Arial"/>
              </a:rPr>
              <a:t>�</a:t>
            </a:r>
            <a:r>
              <a:rPr dirty="0" sz="1650">
                <a:solidFill>
                  <a:srgbClr val="DDAC2A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43436"/>
                </a:solidFill>
                <a:latin typeface="Arial"/>
                <a:cs typeface="Arial"/>
              </a:rPr>
              <a:t>Supply</a:t>
            </a:r>
            <a:r>
              <a:rPr dirty="0" sz="1650" spc="160">
                <a:solidFill>
                  <a:srgbClr val="343436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43436"/>
                </a:solidFill>
                <a:latin typeface="Arial"/>
                <a:cs typeface="Arial"/>
              </a:rPr>
              <a:t>Chain):</a:t>
            </a:r>
            <a:r>
              <a:rPr dirty="0" sz="1650" spc="60">
                <a:solidFill>
                  <a:srgbClr val="343436"/>
                </a:solidFill>
                <a:latin typeface="Arial"/>
                <a:cs typeface="Arial"/>
              </a:rPr>
              <a:t> </a:t>
            </a:r>
            <a:r>
              <a:rPr dirty="0" sz="1750" spc="45" b="1">
                <a:solidFill>
                  <a:srgbClr val="212324"/>
                </a:solidFill>
                <a:latin typeface="Arial"/>
                <a:cs typeface="Arial"/>
              </a:rPr>
              <a:t>2</a:t>
            </a:r>
            <a:r>
              <a:rPr dirty="0" sz="1750" spc="45" b="1">
                <a:solidFill>
                  <a:srgbClr val="010303"/>
                </a:solidFill>
                <a:latin typeface="Arial"/>
                <a:cs typeface="Arial"/>
              </a:rPr>
              <a:t>5</a:t>
            </a:r>
            <a:endParaRPr sz="17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94418" y="6772771"/>
            <a:ext cx="1985010" cy="5365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408305">
              <a:lnSpc>
                <a:spcPts val="1945"/>
              </a:lnSpc>
              <a:spcBef>
                <a:spcPts val="105"/>
              </a:spcBef>
            </a:pPr>
            <a:r>
              <a:rPr dirty="0" sz="1650" spc="-20">
                <a:solidFill>
                  <a:srgbClr val="343436"/>
                </a:solidFill>
                <a:latin typeface="Arial"/>
                <a:cs typeface="Arial"/>
              </a:rPr>
              <a:t>D</a:t>
            </a:r>
            <a:r>
              <a:rPr dirty="0" sz="1650" spc="-20">
                <a:solidFill>
                  <a:srgbClr val="010303"/>
                </a:solidFill>
                <a:latin typeface="Arial"/>
                <a:cs typeface="Arial"/>
              </a:rPr>
              <a:t>I</a:t>
            </a:r>
            <a:r>
              <a:rPr dirty="0" sz="1650" spc="-20">
                <a:solidFill>
                  <a:srgbClr val="343436"/>
                </a:solidFill>
                <a:latin typeface="Arial"/>
                <a:cs typeface="Arial"/>
              </a:rPr>
              <a:t>SA</a:t>
            </a:r>
            <a:r>
              <a:rPr dirty="0" sz="1650" spc="-85">
                <a:solidFill>
                  <a:srgbClr val="343436"/>
                </a:solidFill>
                <a:latin typeface="Arial"/>
                <a:cs typeface="Arial"/>
              </a:rPr>
              <a:t> </a:t>
            </a:r>
            <a:r>
              <a:rPr dirty="0" sz="1650" spc="-25">
                <a:solidFill>
                  <a:srgbClr val="343436"/>
                </a:solidFill>
                <a:latin typeface="Arial"/>
                <a:cs typeface="Arial"/>
              </a:rPr>
              <a:t>STIG</a:t>
            </a:r>
            <a:r>
              <a:rPr dirty="0" sz="1650" spc="-90">
                <a:solidFill>
                  <a:srgbClr val="343436"/>
                </a:solidFill>
                <a:latin typeface="Arial"/>
                <a:cs typeface="Arial"/>
              </a:rPr>
              <a:t> </a:t>
            </a:r>
            <a:r>
              <a:rPr dirty="0" sz="1650" spc="-20">
                <a:solidFill>
                  <a:srgbClr val="343436"/>
                </a:solidFill>
                <a:latin typeface="Arial"/>
                <a:cs typeface="Arial"/>
              </a:rPr>
              <a:t>(DoD</a:t>
            </a:r>
            <a:endParaRPr sz="1650">
              <a:latin typeface="Arial"/>
              <a:cs typeface="Arial"/>
            </a:endParaRPr>
          </a:p>
          <a:p>
            <a:pPr marL="12700">
              <a:lnSpc>
                <a:spcPts val="2065"/>
              </a:lnSpc>
            </a:pPr>
            <a:r>
              <a:rPr dirty="0" sz="1650" spc="-195">
                <a:solidFill>
                  <a:srgbClr val="BFC1C3"/>
                </a:solidFill>
                <a:latin typeface="Arial"/>
                <a:cs typeface="Arial"/>
              </a:rPr>
              <a:t>,,,,,,-</a:t>
            </a:r>
            <a:r>
              <a:rPr dirty="0" sz="1650" spc="-220">
                <a:solidFill>
                  <a:srgbClr val="BFC1C3"/>
                </a:solidFill>
                <a:latin typeface="Arial"/>
                <a:cs typeface="Arial"/>
              </a:rPr>
              <a:t>-</a:t>
            </a:r>
            <a:r>
              <a:rPr dirty="0" sz="1650" spc="-195">
                <a:solidFill>
                  <a:srgbClr val="BFC1C3"/>
                </a:solidFill>
                <a:latin typeface="Arial"/>
                <a:cs typeface="Arial"/>
              </a:rPr>
              <a:t>-</a:t>
            </a:r>
            <a:r>
              <a:rPr dirty="0" sz="1650" spc="50">
                <a:solidFill>
                  <a:srgbClr val="343436"/>
                </a:solidFill>
                <a:latin typeface="Arial"/>
                <a:cs typeface="Arial"/>
              </a:rPr>
              <a:t>Contractors):</a:t>
            </a:r>
            <a:r>
              <a:rPr dirty="0" sz="1650" spc="45">
                <a:solidFill>
                  <a:srgbClr val="343436"/>
                </a:solidFill>
                <a:latin typeface="Arial"/>
                <a:cs typeface="Arial"/>
              </a:rPr>
              <a:t> </a:t>
            </a:r>
            <a:r>
              <a:rPr dirty="0" sz="1750" spc="-25" b="1">
                <a:solidFill>
                  <a:srgbClr val="212324"/>
                </a:solidFill>
                <a:latin typeface="Arial"/>
                <a:cs typeface="Arial"/>
              </a:rPr>
              <a:t>3</a:t>
            </a:r>
            <a:r>
              <a:rPr dirty="0" sz="1750" spc="-25" b="1">
                <a:solidFill>
                  <a:srgbClr val="010303"/>
                </a:solidFill>
                <a:latin typeface="Arial"/>
                <a:cs typeface="Arial"/>
              </a:rPr>
              <a:t>0</a:t>
            </a:r>
            <a:endParaRPr sz="17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768935" y="5438708"/>
            <a:ext cx="5962015" cy="2536825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2700" spc="-105" b="1">
                <a:solidFill>
                  <a:srgbClr val="010303"/>
                </a:solidFill>
                <a:latin typeface="Arial"/>
                <a:cs typeface="Arial"/>
              </a:rPr>
              <a:t>Key</a:t>
            </a:r>
            <a:r>
              <a:rPr dirty="0" sz="2700" spc="-100" b="1">
                <a:solidFill>
                  <a:srgbClr val="010303"/>
                </a:solidFill>
                <a:latin typeface="Arial"/>
                <a:cs typeface="Arial"/>
              </a:rPr>
              <a:t> </a:t>
            </a:r>
            <a:r>
              <a:rPr dirty="0" sz="2700" spc="-10" b="1">
                <a:solidFill>
                  <a:srgbClr val="010303"/>
                </a:solidFill>
                <a:latin typeface="Arial"/>
                <a:cs typeface="Arial"/>
              </a:rPr>
              <a:t>Assumptions</a:t>
            </a:r>
            <a:endParaRPr sz="2700">
              <a:latin typeface="Arial"/>
              <a:cs typeface="Arial"/>
            </a:endParaRPr>
          </a:p>
          <a:p>
            <a:pPr marL="459105" marR="5080" indent="-10795">
              <a:lnSpc>
                <a:spcPct val="156800"/>
              </a:lnSpc>
              <a:spcBef>
                <a:spcPts val="330"/>
              </a:spcBef>
            </a:pPr>
            <a:r>
              <a:rPr dirty="0" sz="2350">
                <a:solidFill>
                  <a:srgbClr val="212324"/>
                </a:solidFill>
                <a:latin typeface="Arial"/>
                <a:cs typeface="Arial"/>
              </a:rPr>
              <a:t>Pr</a:t>
            </a:r>
            <a:r>
              <a:rPr dirty="0" sz="2350">
                <a:solidFill>
                  <a:srgbClr val="010303"/>
                </a:solidFill>
                <a:latin typeface="Arial"/>
                <a:cs typeface="Arial"/>
              </a:rPr>
              <a:t>i</a:t>
            </a:r>
            <a:r>
              <a:rPr dirty="0" sz="2350">
                <a:solidFill>
                  <a:srgbClr val="212324"/>
                </a:solidFill>
                <a:latin typeface="Arial"/>
                <a:cs typeface="Arial"/>
              </a:rPr>
              <a:t>cing</a:t>
            </a:r>
            <a:r>
              <a:rPr dirty="0" sz="2350" spc="15">
                <a:solidFill>
                  <a:srgbClr val="212324"/>
                </a:solidFill>
                <a:latin typeface="Arial"/>
                <a:cs typeface="Arial"/>
              </a:rPr>
              <a:t> </a:t>
            </a:r>
            <a:r>
              <a:rPr dirty="0" sz="2350">
                <a:solidFill>
                  <a:srgbClr val="212324"/>
                </a:solidFill>
                <a:latin typeface="Arial"/>
                <a:cs typeface="Arial"/>
              </a:rPr>
              <a:t>at</a:t>
            </a:r>
            <a:r>
              <a:rPr dirty="0" sz="2350" spc="15">
                <a:solidFill>
                  <a:srgbClr val="212324"/>
                </a:solidFill>
                <a:latin typeface="Arial"/>
                <a:cs typeface="Arial"/>
              </a:rPr>
              <a:t> </a:t>
            </a:r>
            <a:r>
              <a:rPr dirty="0" sz="2350" spc="-30">
                <a:solidFill>
                  <a:srgbClr val="212324"/>
                </a:solidFill>
                <a:latin typeface="Arial"/>
                <a:cs typeface="Arial"/>
              </a:rPr>
              <a:t>an</a:t>
            </a:r>
            <a:r>
              <a:rPr dirty="0" sz="2350" spc="-125">
                <a:solidFill>
                  <a:srgbClr val="212324"/>
                </a:solidFill>
                <a:latin typeface="Arial"/>
                <a:cs typeface="Arial"/>
              </a:rPr>
              <a:t> </a:t>
            </a:r>
            <a:r>
              <a:rPr dirty="0" sz="2350">
                <a:solidFill>
                  <a:srgbClr val="212324"/>
                </a:solidFill>
                <a:latin typeface="Arial"/>
                <a:cs typeface="Arial"/>
              </a:rPr>
              <a:t>effective</a:t>
            </a:r>
            <a:r>
              <a:rPr dirty="0" sz="2350" spc="45">
                <a:solidFill>
                  <a:srgbClr val="212324"/>
                </a:solidFill>
                <a:latin typeface="Arial"/>
                <a:cs typeface="Arial"/>
              </a:rPr>
              <a:t> </a:t>
            </a:r>
            <a:r>
              <a:rPr dirty="0" sz="2350" spc="-150">
                <a:solidFill>
                  <a:srgbClr val="212324"/>
                </a:solidFill>
                <a:latin typeface="Arial"/>
                <a:cs typeface="Arial"/>
              </a:rPr>
              <a:t>ASP</a:t>
            </a:r>
            <a:r>
              <a:rPr dirty="0" sz="2350" spc="-90">
                <a:solidFill>
                  <a:srgbClr val="212324"/>
                </a:solidFill>
                <a:latin typeface="Arial"/>
                <a:cs typeface="Arial"/>
              </a:rPr>
              <a:t> </a:t>
            </a:r>
            <a:r>
              <a:rPr dirty="0" sz="2350">
                <a:solidFill>
                  <a:srgbClr val="212324"/>
                </a:solidFill>
                <a:latin typeface="Arial"/>
                <a:cs typeface="Arial"/>
              </a:rPr>
              <a:t>of</a:t>
            </a:r>
            <a:r>
              <a:rPr dirty="0" sz="2350" spc="-5">
                <a:solidFill>
                  <a:srgbClr val="212324"/>
                </a:solidFill>
                <a:latin typeface="Arial"/>
                <a:cs typeface="Arial"/>
              </a:rPr>
              <a:t> </a:t>
            </a:r>
            <a:r>
              <a:rPr dirty="0" sz="2350" spc="-10">
                <a:solidFill>
                  <a:srgbClr val="212324"/>
                </a:solidFill>
                <a:latin typeface="Arial"/>
                <a:cs typeface="Arial"/>
              </a:rPr>
              <a:t>~$725/node </a:t>
            </a:r>
            <a:r>
              <a:rPr dirty="0" sz="2350" spc="-90">
                <a:solidFill>
                  <a:srgbClr val="212324"/>
                </a:solidFill>
                <a:latin typeface="Arial"/>
                <a:cs typeface="Arial"/>
              </a:rPr>
              <a:t>85%</a:t>
            </a:r>
            <a:r>
              <a:rPr dirty="0" sz="2350" spc="-75">
                <a:solidFill>
                  <a:srgbClr val="212324"/>
                </a:solidFill>
                <a:latin typeface="Arial"/>
                <a:cs typeface="Arial"/>
              </a:rPr>
              <a:t> </a:t>
            </a:r>
            <a:r>
              <a:rPr dirty="0" sz="2350" spc="-25">
                <a:solidFill>
                  <a:srgbClr val="212324"/>
                </a:solidFill>
                <a:latin typeface="Arial"/>
                <a:cs typeface="Arial"/>
              </a:rPr>
              <a:t>renewal</a:t>
            </a:r>
            <a:r>
              <a:rPr dirty="0" sz="2350" spc="-100">
                <a:solidFill>
                  <a:srgbClr val="212324"/>
                </a:solidFill>
                <a:latin typeface="Arial"/>
                <a:cs typeface="Arial"/>
              </a:rPr>
              <a:t> </a:t>
            </a:r>
            <a:r>
              <a:rPr dirty="0" sz="2350" spc="-20">
                <a:solidFill>
                  <a:srgbClr val="212324"/>
                </a:solidFill>
                <a:latin typeface="Arial"/>
                <a:cs typeface="Arial"/>
              </a:rPr>
              <a:t>ra</a:t>
            </a:r>
            <a:r>
              <a:rPr dirty="0" sz="2350" spc="-20">
                <a:solidFill>
                  <a:srgbClr val="010303"/>
                </a:solidFill>
                <a:latin typeface="Arial"/>
                <a:cs typeface="Arial"/>
              </a:rPr>
              <a:t>t</a:t>
            </a:r>
            <a:r>
              <a:rPr dirty="0" sz="2350" spc="-20">
                <a:solidFill>
                  <a:srgbClr val="212324"/>
                </a:solidFill>
                <a:latin typeface="Arial"/>
                <a:cs typeface="Arial"/>
              </a:rPr>
              <a:t>e</a:t>
            </a:r>
            <a:endParaRPr sz="2350">
              <a:latin typeface="Arial"/>
              <a:cs typeface="Arial"/>
            </a:endParaRPr>
          </a:p>
          <a:p>
            <a:pPr marL="470534" marR="71755" indent="-3175">
              <a:lnSpc>
                <a:spcPct val="100000"/>
              </a:lnSpc>
              <a:spcBef>
                <a:spcPts val="1705"/>
              </a:spcBef>
            </a:pPr>
            <a:r>
              <a:rPr dirty="0" sz="2350" spc="-85">
                <a:solidFill>
                  <a:srgbClr val="212324"/>
                </a:solidFill>
                <a:latin typeface="Arial"/>
                <a:cs typeface="Arial"/>
              </a:rPr>
              <a:t>40%</a:t>
            </a:r>
            <a:r>
              <a:rPr dirty="0" sz="2350" spc="-70">
                <a:solidFill>
                  <a:srgbClr val="212324"/>
                </a:solidFill>
                <a:latin typeface="Arial"/>
                <a:cs typeface="Arial"/>
              </a:rPr>
              <a:t> </a:t>
            </a:r>
            <a:r>
              <a:rPr dirty="0" sz="2350">
                <a:solidFill>
                  <a:srgbClr val="212324"/>
                </a:solidFill>
                <a:latin typeface="Arial"/>
                <a:cs typeface="Arial"/>
              </a:rPr>
              <a:t>of</a:t>
            </a:r>
            <a:r>
              <a:rPr dirty="0" sz="2350" spc="-70">
                <a:solidFill>
                  <a:srgbClr val="212324"/>
                </a:solidFill>
                <a:latin typeface="Arial"/>
                <a:cs typeface="Arial"/>
              </a:rPr>
              <a:t> </a:t>
            </a:r>
            <a:r>
              <a:rPr dirty="0" sz="2350" spc="-30">
                <a:solidFill>
                  <a:srgbClr val="212324"/>
                </a:solidFill>
                <a:latin typeface="Arial"/>
                <a:cs typeface="Arial"/>
              </a:rPr>
              <a:t>revenue</a:t>
            </a:r>
            <a:r>
              <a:rPr dirty="0" sz="2350" spc="-25">
                <a:solidFill>
                  <a:srgbClr val="212324"/>
                </a:solidFill>
                <a:latin typeface="Arial"/>
                <a:cs typeface="Arial"/>
              </a:rPr>
              <a:t> </a:t>
            </a:r>
            <a:r>
              <a:rPr dirty="0" sz="2350">
                <a:solidFill>
                  <a:srgbClr val="212324"/>
                </a:solidFill>
                <a:latin typeface="Arial"/>
                <a:cs typeface="Arial"/>
              </a:rPr>
              <a:t>from</a:t>
            </a:r>
            <a:r>
              <a:rPr dirty="0" sz="2350" spc="-105">
                <a:solidFill>
                  <a:srgbClr val="212324"/>
                </a:solidFill>
                <a:latin typeface="Arial"/>
                <a:cs typeface="Arial"/>
              </a:rPr>
              <a:t> </a:t>
            </a:r>
            <a:r>
              <a:rPr dirty="0" sz="2350" spc="-35">
                <a:solidFill>
                  <a:srgbClr val="212324"/>
                </a:solidFill>
                <a:latin typeface="Arial"/>
                <a:cs typeface="Arial"/>
              </a:rPr>
              <a:t>channel</a:t>
            </a:r>
            <a:r>
              <a:rPr dirty="0" sz="2350" spc="-65">
                <a:solidFill>
                  <a:srgbClr val="212324"/>
                </a:solidFill>
                <a:latin typeface="Arial"/>
                <a:cs typeface="Arial"/>
              </a:rPr>
              <a:t> </a:t>
            </a:r>
            <a:r>
              <a:rPr dirty="0" sz="2350">
                <a:solidFill>
                  <a:srgbClr val="212324"/>
                </a:solidFill>
                <a:latin typeface="Arial"/>
                <a:cs typeface="Arial"/>
              </a:rPr>
              <a:t>partners</a:t>
            </a:r>
            <a:r>
              <a:rPr dirty="0" sz="2350" spc="60">
                <a:solidFill>
                  <a:srgbClr val="212324"/>
                </a:solidFill>
                <a:latin typeface="Arial"/>
                <a:cs typeface="Arial"/>
              </a:rPr>
              <a:t> </a:t>
            </a:r>
            <a:r>
              <a:rPr dirty="0" sz="2350" spc="-25">
                <a:solidFill>
                  <a:srgbClr val="212324"/>
                </a:solidFill>
                <a:latin typeface="Arial"/>
                <a:cs typeface="Arial"/>
              </a:rPr>
              <a:t>by </a:t>
            </a:r>
            <a:r>
              <a:rPr dirty="0" sz="2350" spc="-125">
                <a:solidFill>
                  <a:srgbClr val="212324"/>
                </a:solidFill>
                <a:latin typeface="Arial"/>
                <a:cs typeface="Arial"/>
              </a:rPr>
              <a:t>Year</a:t>
            </a:r>
            <a:r>
              <a:rPr dirty="0" sz="2350" spc="-20">
                <a:solidFill>
                  <a:srgbClr val="212324"/>
                </a:solidFill>
                <a:latin typeface="Arial"/>
                <a:cs typeface="Arial"/>
              </a:rPr>
              <a:t> </a:t>
            </a:r>
            <a:r>
              <a:rPr dirty="0" sz="2350" spc="-50">
                <a:solidFill>
                  <a:srgbClr val="212324"/>
                </a:solidFill>
                <a:latin typeface="Arial"/>
                <a:cs typeface="Arial"/>
              </a:rPr>
              <a:t>3</a:t>
            </a:r>
            <a:endParaRPr sz="23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855784" y="8738757"/>
            <a:ext cx="2159635" cy="54927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222250" marR="5080" indent="-210185">
              <a:lnSpc>
                <a:spcPct val="101600"/>
              </a:lnSpc>
              <a:spcBef>
                <a:spcPts val="75"/>
              </a:spcBef>
            </a:pPr>
            <a:r>
              <a:rPr dirty="0" sz="1650">
                <a:solidFill>
                  <a:srgbClr val="212324"/>
                </a:solidFill>
                <a:latin typeface="Arial"/>
                <a:cs typeface="Arial"/>
              </a:rPr>
              <a:t>N</a:t>
            </a:r>
            <a:r>
              <a:rPr dirty="0" sz="1650">
                <a:solidFill>
                  <a:srgbClr val="010303"/>
                </a:solidFill>
                <a:latin typeface="Arial"/>
                <a:cs typeface="Arial"/>
              </a:rPr>
              <a:t>I</a:t>
            </a:r>
            <a:r>
              <a:rPr dirty="0" sz="1650">
                <a:solidFill>
                  <a:srgbClr val="343436"/>
                </a:solidFill>
                <a:latin typeface="Arial"/>
                <a:cs typeface="Arial"/>
              </a:rPr>
              <a:t>ST/CMMC</a:t>
            </a:r>
            <a:r>
              <a:rPr dirty="0" sz="1650" spc="75">
                <a:solidFill>
                  <a:srgbClr val="343436"/>
                </a:solidFill>
                <a:latin typeface="Arial"/>
                <a:cs typeface="Arial"/>
              </a:rPr>
              <a:t> </a:t>
            </a:r>
            <a:r>
              <a:rPr dirty="0" sz="1650" spc="-10">
                <a:solidFill>
                  <a:srgbClr val="343436"/>
                </a:solidFill>
                <a:latin typeface="Arial"/>
                <a:cs typeface="Arial"/>
              </a:rPr>
              <a:t>(Defense </a:t>
            </a:r>
            <a:r>
              <a:rPr dirty="0" sz="1650">
                <a:solidFill>
                  <a:srgbClr val="212324"/>
                </a:solidFill>
                <a:latin typeface="Arial"/>
                <a:cs typeface="Arial"/>
              </a:rPr>
              <a:t>Supp</a:t>
            </a:r>
            <a:r>
              <a:rPr dirty="0" sz="1650">
                <a:solidFill>
                  <a:srgbClr val="010303"/>
                </a:solidFill>
                <a:latin typeface="Arial"/>
                <a:cs typeface="Arial"/>
              </a:rPr>
              <a:t>l</a:t>
            </a:r>
            <a:r>
              <a:rPr dirty="0" sz="1650">
                <a:solidFill>
                  <a:srgbClr val="212324"/>
                </a:solidFill>
                <a:latin typeface="Arial"/>
                <a:cs typeface="Arial"/>
              </a:rPr>
              <a:t>y</a:t>
            </a:r>
            <a:r>
              <a:rPr dirty="0" sz="1650" spc="130">
                <a:solidFill>
                  <a:srgbClr val="21232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43436"/>
                </a:solidFill>
                <a:latin typeface="Arial"/>
                <a:cs typeface="Arial"/>
              </a:rPr>
              <a:t>Chain):</a:t>
            </a:r>
            <a:r>
              <a:rPr dirty="0" sz="1650" spc="-20">
                <a:solidFill>
                  <a:srgbClr val="343436"/>
                </a:solidFill>
                <a:latin typeface="Arial"/>
                <a:cs typeface="Arial"/>
              </a:rPr>
              <a:t> </a:t>
            </a:r>
            <a:r>
              <a:rPr dirty="0" sz="1750" spc="45" b="1">
                <a:solidFill>
                  <a:srgbClr val="010303"/>
                </a:solidFill>
                <a:latin typeface="Arial"/>
                <a:cs typeface="Arial"/>
              </a:rPr>
              <a:t>2</a:t>
            </a:r>
            <a:r>
              <a:rPr dirty="0" sz="1750" spc="45" b="1">
                <a:solidFill>
                  <a:srgbClr val="212324"/>
                </a:solidFill>
                <a:latin typeface="Arial"/>
                <a:cs typeface="Arial"/>
              </a:rPr>
              <a:t>5</a:t>
            </a:r>
            <a:endParaRPr sz="17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55799" y="1327943"/>
            <a:ext cx="993479" cy="194045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78543" y="1557733"/>
            <a:ext cx="942532" cy="145534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948445" y="1532201"/>
            <a:ext cx="1044427" cy="148087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120241" y="1557733"/>
            <a:ext cx="1044427" cy="148087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572857" y="4085431"/>
            <a:ext cx="3693706" cy="367665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393932" y="1532201"/>
            <a:ext cx="1426535" cy="148087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629110" y="1327943"/>
            <a:ext cx="993479" cy="194045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0826380" y="1557733"/>
            <a:ext cx="968005" cy="145534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3119024" y="1557733"/>
            <a:ext cx="1044427" cy="1480872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4367243" y="1532201"/>
            <a:ext cx="1426535" cy="1480872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2560120" y="5540770"/>
            <a:ext cx="0" cy="817244"/>
          </a:xfrm>
          <a:custGeom>
            <a:avLst/>
            <a:gdLst/>
            <a:ahLst/>
            <a:cxnLst/>
            <a:rect l="l" t="t" r="r" b="b"/>
            <a:pathLst>
              <a:path w="0" h="817245">
                <a:moveTo>
                  <a:pt x="0" y="817033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451401" y="8196127"/>
            <a:ext cx="0" cy="1225550"/>
          </a:xfrm>
          <a:custGeom>
            <a:avLst/>
            <a:gdLst/>
            <a:ahLst/>
            <a:cxnLst/>
            <a:rect l="l" t="t" r="r" b="b"/>
            <a:pathLst>
              <a:path w="0" h="1225550">
                <a:moveTo>
                  <a:pt x="0" y="1225549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8750263" y="4136494"/>
            <a:ext cx="0" cy="3676650"/>
          </a:xfrm>
          <a:custGeom>
            <a:avLst/>
            <a:gdLst/>
            <a:ahLst/>
            <a:cxnLst/>
            <a:rect l="l" t="t" r="r" b="b"/>
            <a:pathLst>
              <a:path w="0" h="3676650">
                <a:moveTo>
                  <a:pt x="0" y="3676648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2049125" y="8196127"/>
            <a:ext cx="0" cy="1225550"/>
          </a:xfrm>
          <a:custGeom>
            <a:avLst/>
            <a:gdLst/>
            <a:ahLst/>
            <a:cxnLst/>
            <a:rect l="l" t="t" r="r" b="b"/>
            <a:pathLst>
              <a:path w="0" h="1225550">
                <a:moveTo>
                  <a:pt x="0" y="1225549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897497" y="7762078"/>
            <a:ext cx="1019175" cy="0"/>
          </a:xfrm>
          <a:custGeom>
            <a:avLst/>
            <a:gdLst/>
            <a:ahLst/>
            <a:cxnLst/>
            <a:rect l="l" t="t" r="r" b="b"/>
            <a:pathLst>
              <a:path w="1019175" h="0">
                <a:moveTo>
                  <a:pt x="0" y="0"/>
                </a:moveTo>
                <a:lnTo>
                  <a:pt x="1018953" y="0"/>
                </a:lnTo>
              </a:path>
            </a:pathLst>
          </a:custGeom>
          <a:ln w="3829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5451401" y="8208894"/>
            <a:ext cx="6623684" cy="0"/>
          </a:xfrm>
          <a:custGeom>
            <a:avLst/>
            <a:gdLst/>
            <a:ahLst/>
            <a:cxnLst/>
            <a:rect l="l" t="t" r="r" b="b"/>
            <a:pathLst>
              <a:path w="6623684" h="0">
                <a:moveTo>
                  <a:pt x="0" y="0"/>
                </a:moveTo>
                <a:lnTo>
                  <a:pt x="6623198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5451401" y="9396145"/>
            <a:ext cx="6623684" cy="0"/>
          </a:xfrm>
          <a:custGeom>
            <a:avLst/>
            <a:gdLst/>
            <a:ahLst/>
            <a:cxnLst/>
            <a:rect l="l" t="t" r="r" b="b"/>
            <a:pathLst>
              <a:path w="6623684" h="0">
                <a:moveTo>
                  <a:pt x="0" y="0"/>
                </a:moveTo>
                <a:lnTo>
                  <a:pt x="6623198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3308751" y="440763"/>
            <a:ext cx="10894060" cy="492759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050" spc="-180" b="1">
                <a:solidFill>
                  <a:srgbClr val="080808"/>
                </a:solidFill>
                <a:latin typeface="Arial"/>
                <a:cs typeface="Arial"/>
              </a:rPr>
              <a:t>Fueling</a:t>
            </a:r>
            <a:r>
              <a:rPr dirty="0" sz="3050" spc="-280" b="1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3050" spc="-190" b="1">
                <a:solidFill>
                  <a:srgbClr val="080808"/>
                </a:solidFill>
                <a:latin typeface="Arial"/>
                <a:cs typeface="Arial"/>
              </a:rPr>
              <a:t>Our</a:t>
            </a:r>
            <a:r>
              <a:rPr dirty="0" sz="3050" spc="-335" b="1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3050" spc="-114" b="1">
                <a:solidFill>
                  <a:srgbClr val="080808"/>
                </a:solidFill>
                <a:latin typeface="Arial"/>
                <a:cs typeface="Arial"/>
              </a:rPr>
              <a:t>Growth</a:t>
            </a:r>
            <a:r>
              <a:rPr dirty="0" sz="3050" spc="-114" b="1">
                <a:solidFill>
                  <a:srgbClr val="28282A"/>
                </a:solidFill>
                <a:latin typeface="Arial"/>
                <a:cs typeface="Arial"/>
              </a:rPr>
              <a:t>:</a:t>
            </a:r>
            <a:r>
              <a:rPr dirty="0" sz="3050" spc="-525" b="1">
                <a:solidFill>
                  <a:srgbClr val="28282A"/>
                </a:solidFill>
                <a:latin typeface="Arial"/>
                <a:cs typeface="Arial"/>
              </a:rPr>
              <a:t> </a:t>
            </a:r>
            <a:r>
              <a:rPr dirty="0" sz="3050" spc="-330" b="1">
                <a:solidFill>
                  <a:srgbClr val="080808"/>
                </a:solidFill>
                <a:latin typeface="Arial"/>
                <a:cs typeface="Arial"/>
              </a:rPr>
              <a:t>A</a:t>
            </a:r>
            <a:r>
              <a:rPr dirty="0" sz="3050" spc="-310" b="1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3050" spc="-165" b="1">
                <a:solidFill>
                  <a:srgbClr val="080808"/>
                </a:solidFill>
                <a:latin typeface="Arial"/>
                <a:cs typeface="Arial"/>
              </a:rPr>
              <a:t>$125M-</a:t>
            </a:r>
            <a:r>
              <a:rPr dirty="0" sz="3050" spc="-145" b="1">
                <a:solidFill>
                  <a:srgbClr val="080808"/>
                </a:solidFill>
                <a:latin typeface="Arial"/>
                <a:cs typeface="Arial"/>
              </a:rPr>
              <a:t>$185M</a:t>
            </a:r>
            <a:r>
              <a:rPr dirty="0" sz="3050" spc="80" b="1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3050" spc="-135" b="1">
                <a:solidFill>
                  <a:srgbClr val="080808"/>
                </a:solidFill>
                <a:latin typeface="Arial"/>
                <a:cs typeface="Arial"/>
              </a:rPr>
              <a:t>Investment</a:t>
            </a:r>
            <a:r>
              <a:rPr dirty="0" sz="3050" spc="-70" b="1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3050" spc="-90" b="1">
                <a:solidFill>
                  <a:srgbClr val="080808"/>
                </a:solidFill>
                <a:latin typeface="Arial"/>
                <a:cs typeface="Arial"/>
              </a:rPr>
              <a:t>for</a:t>
            </a:r>
            <a:r>
              <a:rPr dirty="0" sz="3050" spc="-225" b="1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3050" spc="-145" b="1">
                <a:solidFill>
                  <a:srgbClr val="080808"/>
                </a:solidFill>
                <a:latin typeface="Arial"/>
                <a:cs typeface="Arial"/>
              </a:rPr>
              <a:t>a</a:t>
            </a:r>
            <a:r>
              <a:rPr dirty="0" sz="3050" spc="-240" b="1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3050" spc="-100" b="1">
                <a:solidFill>
                  <a:srgbClr val="080808"/>
                </a:solidFill>
                <a:latin typeface="Arial"/>
                <a:cs typeface="Arial"/>
              </a:rPr>
              <a:t>4.6x</a:t>
            </a:r>
            <a:r>
              <a:rPr dirty="0" sz="3050" spc="-275" b="1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3050" spc="-90" b="1">
                <a:solidFill>
                  <a:srgbClr val="080808"/>
                </a:solidFill>
                <a:latin typeface="Arial"/>
                <a:cs typeface="Arial"/>
              </a:rPr>
              <a:t>Return</a:t>
            </a:r>
            <a:endParaRPr sz="30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15836" y="4085497"/>
            <a:ext cx="1985645" cy="586105"/>
          </a:xfrm>
          <a:prstGeom prst="rect">
            <a:avLst/>
          </a:prstGeom>
        </p:spPr>
        <p:txBody>
          <a:bodyPr wrap="square" lIns="0" tIns="40640" rIns="0" bIns="0" rtlCol="0" vert="horz">
            <a:spAutoFit/>
          </a:bodyPr>
          <a:lstStyle/>
          <a:p>
            <a:pPr marL="166370" marR="5080" indent="-154305">
              <a:lnSpc>
                <a:spcPts val="2110"/>
              </a:lnSpc>
              <a:spcBef>
                <a:spcPts val="320"/>
              </a:spcBef>
            </a:pPr>
            <a:r>
              <a:rPr dirty="0" sz="1900" spc="-145">
                <a:solidFill>
                  <a:srgbClr val="28282A"/>
                </a:solidFill>
                <a:latin typeface="Arial"/>
                <a:cs typeface="Arial"/>
              </a:rPr>
              <a:t>Customer</a:t>
            </a:r>
            <a:r>
              <a:rPr dirty="0" sz="1900" spc="-65">
                <a:solidFill>
                  <a:srgbClr val="28282A"/>
                </a:solidFill>
                <a:latin typeface="Arial"/>
                <a:cs typeface="Arial"/>
              </a:rPr>
              <a:t> </a:t>
            </a:r>
            <a:r>
              <a:rPr dirty="0" sz="1900" spc="-180">
                <a:solidFill>
                  <a:srgbClr val="28282A"/>
                </a:solidFill>
                <a:latin typeface="Arial"/>
                <a:cs typeface="Arial"/>
              </a:rPr>
              <a:t>Success</a:t>
            </a:r>
            <a:r>
              <a:rPr dirty="0" sz="1900" spc="-165">
                <a:solidFill>
                  <a:srgbClr val="28282A"/>
                </a:solidFill>
                <a:latin typeface="Arial"/>
                <a:cs typeface="Arial"/>
              </a:rPr>
              <a:t> </a:t>
            </a:r>
            <a:r>
              <a:rPr dirty="0" sz="1900" spc="-50">
                <a:solidFill>
                  <a:srgbClr val="28282A"/>
                </a:solidFill>
                <a:latin typeface="Arial"/>
                <a:cs typeface="Arial"/>
              </a:rPr>
              <a:t>&amp; </a:t>
            </a:r>
            <a:r>
              <a:rPr dirty="0" sz="1900" spc="-75">
                <a:solidFill>
                  <a:srgbClr val="28282A"/>
                </a:solidFill>
                <a:latin typeface="Arial"/>
                <a:cs typeface="Arial"/>
              </a:rPr>
              <a:t>Support:</a:t>
            </a:r>
            <a:r>
              <a:rPr dirty="0" sz="1900" spc="-95">
                <a:solidFill>
                  <a:srgbClr val="28282A"/>
                </a:solidFill>
                <a:latin typeface="Arial"/>
                <a:cs typeface="Arial"/>
              </a:rPr>
              <a:t> </a:t>
            </a:r>
            <a:r>
              <a:rPr dirty="0" sz="1950" spc="-75" b="1">
                <a:solidFill>
                  <a:srgbClr val="080808"/>
                </a:solidFill>
                <a:latin typeface="Arial"/>
                <a:cs typeface="Arial"/>
              </a:rPr>
              <a:t>$25</a:t>
            </a:r>
            <a:r>
              <a:rPr dirty="0" sz="1950" spc="-75" b="1">
                <a:solidFill>
                  <a:srgbClr val="28282A"/>
                </a:solidFill>
                <a:latin typeface="Arial"/>
                <a:cs typeface="Arial"/>
              </a:rPr>
              <a:t>-</a:t>
            </a:r>
            <a:r>
              <a:rPr dirty="0" sz="1950" spc="-95" b="1">
                <a:solidFill>
                  <a:srgbClr val="080808"/>
                </a:solidFill>
                <a:latin typeface="Arial"/>
                <a:cs typeface="Arial"/>
              </a:rPr>
              <a:t>40M</a:t>
            </a:r>
            <a:endParaRPr sz="195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08818" y="6906815"/>
            <a:ext cx="2150110" cy="586105"/>
          </a:xfrm>
          <a:prstGeom prst="rect">
            <a:avLst/>
          </a:prstGeom>
        </p:spPr>
        <p:txBody>
          <a:bodyPr wrap="square" lIns="0" tIns="40640" rIns="0" bIns="0" rtlCol="0" vert="horz">
            <a:spAutoFit/>
          </a:bodyPr>
          <a:lstStyle/>
          <a:p>
            <a:pPr marL="12700" marR="5080">
              <a:lnSpc>
                <a:spcPts val="2110"/>
              </a:lnSpc>
              <a:spcBef>
                <a:spcPts val="320"/>
              </a:spcBef>
            </a:pPr>
            <a:r>
              <a:rPr dirty="0" sz="1900" spc="-10">
                <a:solidFill>
                  <a:srgbClr val="28282A"/>
                </a:solidFill>
                <a:latin typeface="Arial"/>
                <a:cs typeface="Arial"/>
              </a:rPr>
              <a:t>Product&amp; </a:t>
            </a:r>
            <a:r>
              <a:rPr dirty="0" sz="1900" spc="-120">
                <a:solidFill>
                  <a:srgbClr val="28282A"/>
                </a:solidFill>
                <a:latin typeface="Arial"/>
                <a:cs typeface="Arial"/>
              </a:rPr>
              <a:t>Engineering:</a:t>
            </a:r>
            <a:r>
              <a:rPr dirty="0" sz="1900" spc="105">
                <a:solidFill>
                  <a:srgbClr val="28282A"/>
                </a:solidFill>
                <a:latin typeface="Arial"/>
                <a:cs typeface="Arial"/>
              </a:rPr>
              <a:t> </a:t>
            </a:r>
            <a:r>
              <a:rPr dirty="0" sz="1950" spc="-135" b="1">
                <a:solidFill>
                  <a:srgbClr val="080808"/>
                </a:solidFill>
                <a:latin typeface="Arial"/>
                <a:cs typeface="Arial"/>
              </a:rPr>
              <a:t>$40-60M</a:t>
            </a:r>
            <a:endParaRPr sz="195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053820" y="5285514"/>
            <a:ext cx="2406015" cy="5861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608965">
              <a:lnSpc>
                <a:spcPts val="2170"/>
              </a:lnSpc>
              <a:spcBef>
                <a:spcPts val="110"/>
              </a:spcBef>
            </a:pPr>
            <a:r>
              <a:rPr dirty="0" sz="1900" spc="-60">
                <a:solidFill>
                  <a:srgbClr val="28282A"/>
                </a:solidFill>
                <a:latin typeface="Arial"/>
                <a:cs typeface="Arial"/>
              </a:rPr>
              <a:t>Sa</a:t>
            </a:r>
            <a:r>
              <a:rPr dirty="0" sz="1900" spc="-60">
                <a:solidFill>
                  <a:srgbClr val="080808"/>
                </a:solidFill>
                <a:latin typeface="Arial"/>
                <a:cs typeface="Arial"/>
              </a:rPr>
              <a:t>l</a:t>
            </a:r>
            <a:r>
              <a:rPr dirty="0" sz="1900" spc="-60">
                <a:solidFill>
                  <a:srgbClr val="28282A"/>
                </a:solidFill>
                <a:latin typeface="Arial"/>
                <a:cs typeface="Arial"/>
              </a:rPr>
              <a:t>es&amp;</a:t>
            </a:r>
            <a:r>
              <a:rPr dirty="0" sz="1900" spc="-60">
                <a:solidFill>
                  <a:srgbClr val="080808"/>
                </a:solidFill>
                <a:latin typeface="Arial"/>
                <a:cs typeface="Arial"/>
              </a:rPr>
              <a:t>M</a:t>
            </a:r>
            <a:r>
              <a:rPr dirty="0" sz="1900" spc="-60">
                <a:solidFill>
                  <a:srgbClr val="28282A"/>
                </a:solidFill>
                <a:latin typeface="Arial"/>
                <a:cs typeface="Arial"/>
              </a:rPr>
              <a:t>arketing:</a:t>
            </a:r>
            <a:endParaRPr sz="1900">
              <a:latin typeface="Arial"/>
              <a:cs typeface="Arial"/>
            </a:endParaRPr>
          </a:p>
          <a:p>
            <a:pPr marL="12700">
              <a:lnSpc>
                <a:spcPts val="2230"/>
              </a:lnSpc>
              <a:tabLst>
                <a:tab pos="611505" algn="l"/>
              </a:tabLst>
            </a:pPr>
            <a:r>
              <a:rPr dirty="0" sz="1950" spc="-50">
                <a:solidFill>
                  <a:srgbClr val="909397"/>
                </a:solidFill>
                <a:latin typeface="Arial"/>
                <a:cs typeface="Arial"/>
              </a:rPr>
              <a:t>-</a:t>
            </a:r>
            <a:r>
              <a:rPr dirty="0" sz="1950">
                <a:solidFill>
                  <a:srgbClr val="909397"/>
                </a:solidFill>
                <a:latin typeface="Arial"/>
                <a:cs typeface="Arial"/>
              </a:rPr>
              <a:t>	</a:t>
            </a:r>
            <a:r>
              <a:rPr dirty="0" sz="1950" spc="-140" b="1">
                <a:solidFill>
                  <a:srgbClr val="080808"/>
                </a:solidFill>
                <a:latin typeface="Arial"/>
                <a:cs typeface="Arial"/>
              </a:rPr>
              <a:t>$60</a:t>
            </a:r>
            <a:r>
              <a:rPr dirty="0" sz="1950" spc="-140" b="1">
                <a:solidFill>
                  <a:srgbClr val="28282A"/>
                </a:solidFill>
                <a:latin typeface="Arial"/>
                <a:cs typeface="Arial"/>
              </a:rPr>
              <a:t>-</a:t>
            </a:r>
            <a:r>
              <a:rPr dirty="0" sz="1950" spc="-25" b="1">
                <a:solidFill>
                  <a:srgbClr val="28282A"/>
                </a:solidFill>
                <a:latin typeface="Arial"/>
                <a:cs typeface="Arial"/>
              </a:rPr>
              <a:t>S</a:t>
            </a:r>
            <a:r>
              <a:rPr dirty="0" sz="1950" spc="-25" b="1">
                <a:solidFill>
                  <a:srgbClr val="080808"/>
                </a:solidFill>
                <a:latin typeface="Arial"/>
                <a:cs typeface="Arial"/>
              </a:rPr>
              <a:t>SM</a:t>
            </a:r>
            <a:endParaRPr sz="195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428885" y="1800357"/>
            <a:ext cx="262890" cy="11283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dirty="0" sz="7200" spc="-390">
                <a:solidFill>
                  <a:srgbClr val="08162B"/>
                </a:solidFill>
                <a:latin typeface="Arial"/>
                <a:cs typeface="Arial"/>
              </a:rPr>
              <a:t>-</a:t>
            </a:r>
            <a:endParaRPr sz="720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2255259" y="1437452"/>
            <a:ext cx="331470" cy="1223010"/>
          </a:xfrm>
          <a:custGeom>
            <a:avLst/>
            <a:gdLst/>
            <a:ahLst/>
            <a:cxnLst/>
            <a:rect l="l" t="t" r="r" b="b"/>
            <a:pathLst>
              <a:path w="331470" h="1223010">
                <a:moveTo>
                  <a:pt x="331159" y="1223006"/>
                </a:moveTo>
                <a:lnTo>
                  <a:pt x="0" y="1223006"/>
                </a:lnTo>
                <a:lnTo>
                  <a:pt x="0" y="0"/>
                </a:lnTo>
                <a:lnTo>
                  <a:pt x="331159" y="0"/>
                </a:lnTo>
                <a:lnTo>
                  <a:pt x="331159" y="1223006"/>
                </a:lnTo>
                <a:close/>
              </a:path>
            </a:pathLst>
          </a:custGeom>
          <a:solidFill>
            <a:srgbClr val="0A1A2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$PPTXTitle"/>
          <p:cNvSpPr txBox="1">
            <a:spLocks noGrp="1"/>
          </p:cNvSpPr>
          <p:nvPr>
            <p:ph type="title"/>
          </p:nvPr>
        </p:nvSpPr>
        <p:spPr>
          <a:xfrm>
            <a:off x="12255258" y="1430139"/>
            <a:ext cx="288925" cy="112839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dirty="0" sz="7200" spc="-405" b="0">
                <a:solidFill>
                  <a:srgbClr val="EFF4F7"/>
                </a:solidFill>
                <a:latin typeface="Arial"/>
                <a:cs typeface="Arial"/>
              </a:rPr>
              <a:t>•</a:t>
            </a:r>
            <a:endParaRPr sz="720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2204312" y="2062993"/>
            <a:ext cx="407670" cy="1223010"/>
          </a:xfrm>
          <a:custGeom>
            <a:avLst/>
            <a:gdLst/>
            <a:ahLst/>
            <a:cxnLst/>
            <a:rect l="l" t="t" r="r" b="b"/>
            <a:pathLst>
              <a:path w="407670" h="1223010">
                <a:moveTo>
                  <a:pt x="407581" y="1223006"/>
                </a:moveTo>
                <a:lnTo>
                  <a:pt x="0" y="1223006"/>
                </a:lnTo>
                <a:lnTo>
                  <a:pt x="0" y="0"/>
                </a:lnTo>
                <a:lnTo>
                  <a:pt x="407581" y="0"/>
                </a:lnTo>
                <a:lnTo>
                  <a:pt x="407581" y="1223006"/>
                </a:lnTo>
                <a:close/>
              </a:path>
            </a:pathLst>
          </a:custGeom>
          <a:solidFill>
            <a:srgbClr val="0A1A2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12204311" y="2055681"/>
            <a:ext cx="288925" cy="11283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dirty="0" sz="7200" spc="-405">
                <a:solidFill>
                  <a:srgbClr val="EFF4F7"/>
                </a:solidFill>
                <a:latin typeface="Arial"/>
                <a:cs typeface="Arial"/>
              </a:rPr>
              <a:t>•</a:t>
            </a:r>
            <a:endParaRPr sz="7200">
              <a:latin typeface="Arial"/>
              <a:cs typeface="Arial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00"/>
              </a:lnSpc>
            </a:pPr>
            <a:r>
              <a:rPr dirty="0" sz="1300" spc="-20">
                <a:solidFill>
                  <a:srgbClr val="363838"/>
                </a:solidFill>
              </a:rPr>
              <a:t>Isl\</a:t>
            </a:r>
            <a:r>
              <a:rPr dirty="0" sz="1300" spc="-45">
                <a:solidFill>
                  <a:srgbClr val="363838"/>
                </a:solidFill>
              </a:rPr>
              <a:t> </a:t>
            </a:r>
            <a:r>
              <a:rPr dirty="0" spc="-10">
                <a:solidFill>
                  <a:srgbClr val="070F1F"/>
                </a:solidFill>
              </a:rPr>
              <a:t>N</a:t>
            </a:r>
            <a:r>
              <a:rPr dirty="0" spc="-10"/>
              <a:t>otebookLM</a:t>
            </a:r>
            <a:endParaRPr sz="1300"/>
          </a:p>
        </p:txBody>
      </p:sp>
      <p:sp>
        <p:nvSpPr>
          <p:cNvPr id="28" name="object 28"/>
          <p:cNvSpPr txBox="1"/>
          <p:nvPr/>
        </p:nvSpPr>
        <p:spPr>
          <a:xfrm>
            <a:off x="7662784" y="3223782"/>
            <a:ext cx="2188210" cy="5543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dirty="0" sz="3450" spc="-250" b="1">
                <a:solidFill>
                  <a:srgbClr val="080808"/>
                </a:solidFill>
                <a:latin typeface="Arial"/>
                <a:cs typeface="Arial"/>
              </a:rPr>
              <a:t>over</a:t>
            </a:r>
            <a:r>
              <a:rPr dirty="0" sz="3450" spc="-160" b="1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3350" spc="-25" b="1">
                <a:solidFill>
                  <a:srgbClr val="080808"/>
                </a:solidFill>
                <a:latin typeface="Arial"/>
                <a:cs typeface="Arial"/>
              </a:rPr>
              <a:t>3</a:t>
            </a:r>
            <a:r>
              <a:rPr dirty="0" sz="3350" spc="-350" b="1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3450" spc="-295" b="1">
                <a:solidFill>
                  <a:srgbClr val="080808"/>
                </a:solidFill>
                <a:latin typeface="Arial"/>
                <a:cs typeface="Arial"/>
              </a:rPr>
              <a:t>years</a:t>
            </a:r>
            <a:endParaRPr sz="3450">
              <a:latin typeface="Arial"/>
              <a:cs typeface="Arial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21590">
              <a:lnSpc>
                <a:spcPts val="2250"/>
              </a:lnSpc>
              <a:spcBef>
                <a:spcPts val="110"/>
              </a:spcBef>
            </a:pPr>
            <a:r>
              <a:rPr dirty="0" spc="-80"/>
              <a:t>S</a:t>
            </a:r>
            <a:r>
              <a:rPr dirty="0" spc="-80">
                <a:solidFill>
                  <a:srgbClr val="28282A"/>
                </a:solidFill>
              </a:rPr>
              <a:t>a</a:t>
            </a:r>
            <a:r>
              <a:rPr dirty="0" spc="-80"/>
              <a:t>l</a:t>
            </a:r>
            <a:r>
              <a:rPr dirty="0" spc="-80">
                <a:solidFill>
                  <a:srgbClr val="28282A"/>
                </a:solidFill>
              </a:rPr>
              <a:t>e</a:t>
            </a:r>
            <a:r>
              <a:rPr dirty="0" spc="-80"/>
              <a:t>s&amp;</a:t>
            </a:r>
            <a:r>
              <a:rPr dirty="0" spc="-204"/>
              <a:t> </a:t>
            </a:r>
            <a:r>
              <a:rPr dirty="0" spc="-80"/>
              <a:t>M</a:t>
            </a:r>
            <a:r>
              <a:rPr dirty="0" spc="-80">
                <a:solidFill>
                  <a:srgbClr val="28282A"/>
                </a:solidFill>
              </a:rPr>
              <a:t>a</a:t>
            </a:r>
            <a:r>
              <a:rPr dirty="0" spc="-80"/>
              <a:t>rketing</a:t>
            </a:r>
            <a:r>
              <a:rPr dirty="0" spc="-80">
                <a:solidFill>
                  <a:srgbClr val="28282A"/>
                </a:solidFill>
              </a:rPr>
              <a:t>:</a:t>
            </a:r>
            <a:r>
              <a:rPr dirty="0" spc="-275">
                <a:solidFill>
                  <a:srgbClr val="28282A"/>
                </a:solidFill>
              </a:rPr>
              <a:t> </a:t>
            </a:r>
            <a:r>
              <a:rPr dirty="0" spc="-145"/>
              <a:t>$60-</a:t>
            </a:r>
            <a:r>
              <a:rPr dirty="0" spc="-25"/>
              <a:t>SSM</a:t>
            </a:r>
          </a:p>
          <a:p>
            <a:pPr marL="331470" indent="-212090">
              <a:lnSpc>
                <a:spcPts val="2155"/>
              </a:lnSpc>
              <a:buClr>
                <a:srgbClr val="080808"/>
              </a:buClr>
              <a:buChar char="•"/>
              <a:tabLst>
                <a:tab pos="331470" algn="l"/>
              </a:tabLst>
            </a:pPr>
            <a:r>
              <a:rPr dirty="0" sz="1900" spc="-45" b="0">
                <a:solidFill>
                  <a:srgbClr val="28282A"/>
                </a:solidFill>
                <a:latin typeface="Arial"/>
                <a:cs typeface="Arial"/>
              </a:rPr>
              <a:t>Building</a:t>
            </a:r>
            <a:r>
              <a:rPr dirty="0" sz="1900" spc="-285" b="0">
                <a:solidFill>
                  <a:srgbClr val="28282A"/>
                </a:solidFill>
                <a:latin typeface="Arial"/>
                <a:cs typeface="Arial"/>
              </a:rPr>
              <a:t> </a:t>
            </a:r>
            <a:r>
              <a:rPr dirty="0" sz="1900" spc="-50" b="0">
                <a:solidFill>
                  <a:srgbClr val="28282A"/>
                </a:solidFill>
                <a:latin typeface="Arial"/>
                <a:cs typeface="Arial"/>
              </a:rPr>
              <a:t>a</a:t>
            </a:r>
            <a:r>
              <a:rPr dirty="0" sz="1900" spc="-204" b="0">
                <a:solidFill>
                  <a:srgbClr val="28282A"/>
                </a:solidFill>
                <a:latin typeface="Arial"/>
                <a:cs typeface="Arial"/>
              </a:rPr>
              <a:t> </a:t>
            </a:r>
            <a:r>
              <a:rPr dirty="0" sz="1900" spc="-105" b="0">
                <a:solidFill>
                  <a:srgbClr val="28282A"/>
                </a:solidFill>
                <a:latin typeface="Arial"/>
                <a:cs typeface="Arial"/>
              </a:rPr>
              <a:t>specialized</a:t>
            </a:r>
            <a:r>
              <a:rPr dirty="0" sz="1900" spc="-95" b="0">
                <a:solidFill>
                  <a:srgbClr val="28282A"/>
                </a:solidFill>
                <a:latin typeface="Arial"/>
                <a:cs typeface="Arial"/>
              </a:rPr>
              <a:t> </a:t>
            </a:r>
            <a:r>
              <a:rPr dirty="0" sz="1900" spc="-80" b="0">
                <a:solidFill>
                  <a:srgbClr val="38383A"/>
                </a:solidFill>
                <a:latin typeface="Arial"/>
                <a:cs typeface="Arial"/>
              </a:rPr>
              <a:t>federal</a:t>
            </a:r>
            <a:r>
              <a:rPr dirty="0" sz="1900" spc="-114" b="0">
                <a:solidFill>
                  <a:srgbClr val="38383A"/>
                </a:solidFill>
                <a:latin typeface="Arial"/>
                <a:cs typeface="Arial"/>
              </a:rPr>
              <a:t> </a:t>
            </a:r>
            <a:r>
              <a:rPr dirty="0" sz="1900" spc="-114" b="0">
                <a:solidFill>
                  <a:srgbClr val="28282A"/>
                </a:solidFill>
                <a:latin typeface="Arial"/>
                <a:cs typeface="Arial"/>
              </a:rPr>
              <a:t>sales</a:t>
            </a:r>
            <a:r>
              <a:rPr dirty="0" sz="1900" spc="-215" b="0">
                <a:solidFill>
                  <a:srgbClr val="28282A"/>
                </a:solidFill>
                <a:latin typeface="Arial"/>
                <a:cs typeface="Arial"/>
              </a:rPr>
              <a:t> </a:t>
            </a:r>
            <a:r>
              <a:rPr dirty="0" sz="1900" spc="-80" b="0">
                <a:solidFill>
                  <a:srgbClr val="28282A"/>
                </a:solidFill>
                <a:latin typeface="Arial"/>
                <a:cs typeface="Arial"/>
              </a:rPr>
              <a:t>team</a:t>
            </a:r>
            <a:r>
              <a:rPr dirty="0" sz="1900" spc="-250" b="0">
                <a:solidFill>
                  <a:srgbClr val="28282A"/>
                </a:solidFill>
                <a:latin typeface="Arial"/>
                <a:cs typeface="Arial"/>
              </a:rPr>
              <a:t> </a:t>
            </a:r>
            <a:r>
              <a:rPr dirty="0" sz="1900" spc="-114" b="0">
                <a:solidFill>
                  <a:srgbClr val="38383A"/>
                </a:solidFill>
                <a:latin typeface="Arial"/>
                <a:cs typeface="Arial"/>
              </a:rPr>
              <a:t>(15-</a:t>
            </a:r>
            <a:r>
              <a:rPr dirty="0" sz="1900" spc="-130" b="0">
                <a:solidFill>
                  <a:srgbClr val="38383A"/>
                </a:solidFill>
                <a:latin typeface="Arial"/>
                <a:cs typeface="Arial"/>
              </a:rPr>
              <a:t>20</a:t>
            </a:r>
            <a:r>
              <a:rPr dirty="0" sz="1900" spc="-180" b="0">
                <a:solidFill>
                  <a:srgbClr val="38383A"/>
                </a:solidFill>
                <a:latin typeface="Arial"/>
                <a:cs typeface="Arial"/>
              </a:rPr>
              <a:t> </a:t>
            </a:r>
            <a:r>
              <a:rPr dirty="0" sz="1900" spc="-10" b="0">
                <a:solidFill>
                  <a:srgbClr val="28282A"/>
                </a:solidFill>
                <a:latin typeface="Arial"/>
                <a:cs typeface="Arial"/>
              </a:rPr>
              <a:t>reps).</a:t>
            </a:r>
            <a:endParaRPr sz="1900">
              <a:latin typeface="Arial"/>
              <a:cs typeface="Arial"/>
            </a:endParaRPr>
          </a:p>
          <a:p>
            <a:pPr marL="336550" indent="-217170">
              <a:lnSpc>
                <a:spcPts val="2160"/>
              </a:lnSpc>
              <a:buClr>
                <a:srgbClr val="080808"/>
              </a:buClr>
              <a:buChar char="•"/>
              <a:tabLst>
                <a:tab pos="336550" algn="l"/>
              </a:tabLst>
            </a:pPr>
            <a:r>
              <a:rPr dirty="0" sz="1900" spc="-70" b="0">
                <a:solidFill>
                  <a:srgbClr val="28282A"/>
                </a:solidFill>
                <a:latin typeface="Arial"/>
                <a:cs typeface="Arial"/>
              </a:rPr>
              <a:t>Activat</a:t>
            </a:r>
            <a:r>
              <a:rPr dirty="0" sz="1900" spc="-70" b="0">
                <a:latin typeface="Arial"/>
                <a:cs typeface="Arial"/>
              </a:rPr>
              <a:t>i</a:t>
            </a:r>
            <a:r>
              <a:rPr dirty="0" sz="1900" spc="-70" b="0">
                <a:solidFill>
                  <a:srgbClr val="28282A"/>
                </a:solidFill>
                <a:latin typeface="Arial"/>
                <a:cs typeface="Arial"/>
              </a:rPr>
              <a:t>ngchanne</a:t>
            </a:r>
            <a:r>
              <a:rPr dirty="0" sz="1900" spc="-70" b="0">
                <a:latin typeface="Arial"/>
                <a:cs typeface="Arial"/>
              </a:rPr>
              <a:t>l</a:t>
            </a:r>
            <a:r>
              <a:rPr dirty="0" sz="1900" spc="-215" b="0">
                <a:latin typeface="Arial"/>
                <a:cs typeface="Arial"/>
              </a:rPr>
              <a:t> </a:t>
            </a:r>
            <a:r>
              <a:rPr dirty="0" sz="1900" spc="-70" b="0">
                <a:solidFill>
                  <a:srgbClr val="28282A"/>
                </a:solidFill>
                <a:latin typeface="Arial"/>
                <a:cs typeface="Arial"/>
              </a:rPr>
              <a:t>partners</a:t>
            </a:r>
            <a:r>
              <a:rPr dirty="0" sz="1900" spc="-130" b="0">
                <a:solidFill>
                  <a:srgbClr val="28282A"/>
                </a:solidFill>
                <a:latin typeface="Arial"/>
                <a:cs typeface="Arial"/>
              </a:rPr>
              <a:t> </a:t>
            </a:r>
            <a:r>
              <a:rPr dirty="0" sz="1900" spc="-210" b="0">
                <a:solidFill>
                  <a:srgbClr val="28282A"/>
                </a:solidFill>
                <a:latin typeface="Arial"/>
                <a:cs typeface="Arial"/>
              </a:rPr>
              <a:t>(VARs,</a:t>
            </a:r>
            <a:r>
              <a:rPr dirty="0" sz="1900" spc="-260" b="0">
                <a:solidFill>
                  <a:srgbClr val="28282A"/>
                </a:solidFill>
                <a:latin typeface="Arial"/>
                <a:cs typeface="Arial"/>
              </a:rPr>
              <a:t> </a:t>
            </a:r>
            <a:r>
              <a:rPr dirty="0" sz="1900" spc="-10" b="0">
                <a:solidFill>
                  <a:srgbClr val="28282A"/>
                </a:solidFill>
                <a:latin typeface="Arial"/>
                <a:cs typeface="Arial"/>
              </a:rPr>
              <a:t>Sis,MSPs).</a:t>
            </a:r>
            <a:endParaRPr sz="1900">
              <a:latin typeface="Arial"/>
              <a:cs typeface="Arial"/>
            </a:endParaRPr>
          </a:p>
          <a:p>
            <a:pPr marL="330200" indent="-210820">
              <a:lnSpc>
                <a:spcPts val="2195"/>
              </a:lnSpc>
              <a:buClr>
                <a:srgbClr val="080808"/>
              </a:buClr>
              <a:buChar char="•"/>
              <a:tabLst>
                <a:tab pos="330200" algn="l"/>
              </a:tabLst>
            </a:pPr>
            <a:r>
              <a:rPr dirty="0" sz="1900" spc="-70" b="0">
                <a:solidFill>
                  <a:srgbClr val="28282A"/>
                </a:solidFill>
                <a:latin typeface="Arial"/>
                <a:cs typeface="Arial"/>
              </a:rPr>
              <a:t>Driving</a:t>
            </a:r>
            <a:r>
              <a:rPr dirty="0" sz="1900" spc="-250" b="0">
                <a:solidFill>
                  <a:srgbClr val="28282A"/>
                </a:solidFill>
                <a:latin typeface="Arial"/>
                <a:cs typeface="Arial"/>
              </a:rPr>
              <a:t> </a:t>
            </a:r>
            <a:r>
              <a:rPr dirty="0" sz="1900" spc="-105" b="0">
                <a:solidFill>
                  <a:srgbClr val="28282A"/>
                </a:solidFill>
                <a:latin typeface="Arial"/>
                <a:cs typeface="Arial"/>
              </a:rPr>
              <a:t>demand</a:t>
            </a:r>
            <a:r>
              <a:rPr dirty="0" sz="1900" spc="-195" b="0">
                <a:solidFill>
                  <a:srgbClr val="28282A"/>
                </a:solidFill>
                <a:latin typeface="Arial"/>
                <a:cs typeface="Arial"/>
              </a:rPr>
              <a:t> </a:t>
            </a:r>
            <a:r>
              <a:rPr dirty="0" sz="1900" b="0">
                <a:solidFill>
                  <a:srgbClr val="28282A"/>
                </a:solidFill>
                <a:latin typeface="Arial"/>
                <a:cs typeface="Arial"/>
              </a:rPr>
              <a:t>with</a:t>
            </a:r>
            <a:r>
              <a:rPr dirty="0" sz="1900" spc="-250" b="0">
                <a:solidFill>
                  <a:srgbClr val="28282A"/>
                </a:solidFill>
                <a:latin typeface="Arial"/>
                <a:cs typeface="Arial"/>
              </a:rPr>
              <a:t> </a:t>
            </a:r>
            <a:r>
              <a:rPr dirty="0" sz="1900" spc="-240" b="0">
                <a:solidFill>
                  <a:srgbClr val="28282A"/>
                </a:solidFill>
                <a:latin typeface="Arial"/>
                <a:cs typeface="Arial"/>
              </a:rPr>
              <a:t>CMMC/STIG</a:t>
            </a:r>
            <a:r>
              <a:rPr dirty="0" sz="1900" spc="-80" b="0">
                <a:solidFill>
                  <a:srgbClr val="28282A"/>
                </a:solidFill>
                <a:latin typeface="Arial"/>
                <a:cs typeface="Arial"/>
              </a:rPr>
              <a:t> </a:t>
            </a:r>
            <a:r>
              <a:rPr dirty="0" sz="1900" spc="-50" b="0">
                <a:solidFill>
                  <a:srgbClr val="28282A"/>
                </a:solidFill>
                <a:latin typeface="Arial"/>
                <a:cs typeface="Arial"/>
              </a:rPr>
              <a:t>thought</a:t>
            </a:r>
            <a:r>
              <a:rPr dirty="0" sz="1900" spc="-200" b="0">
                <a:solidFill>
                  <a:srgbClr val="28282A"/>
                </a:solidFill>
                <a:latin typeface="Arial"/>
                <a:cs typeface="Arial"/>
              </a:rPr>
              <a:t> </a:t>
            </a:r>
            <a:r>
              <a:rPr dirty="0" sz="1900" spc="-10" b="0">
                <a:solidFill>
                  <a:srgbClr val="38383A"/>
                </a:solidFill>
                <a:latin typeface="Arial"/>
                <a:cs typeface="Arial"/>
              </a:rPr>
              <a:t>leadership.</a:t>
            </a:r>
            <a:endParaRPr sz="1900">
              <a:latin typeface="Arial"/>
              <a:cs typeface="Arial"/>
            </a:endParaRPr>
          </a:p>
          <a:p>
            <a:pPr marL="12700">
              <a:lnSpc>
                <a:spcPts val="2250"/>
              </a:lnSpc>
              <a:spcBef>
                <a:spcPts val="1590"/>
              </a:spcBef>
            </a:pPr>
            <a:r>
              <a:rPr dirty="0" spc="-114"/>
              <a:t>Product</a:t>
            </a:r>
            <a:r>
              <a:rPr dirty="0" spc="-95"/>
              <a:t> </a:t>
            </a:r>
            <a:r>
              <a:rPr dirty="0" spc="-80"/>
              <a:t>&amp;Engineering</a:t>
            </a:r>
            <a:r>
              <a:rPr dirty="0" spc="-80">
                <a:solidFill>
                  <a:srgbClr val="28282A"/>
                </a:solidFill>
              </a:rPr>
              <a:t>:</a:t>
            </a:r>
            <a:r>
              <a:rPr dirty="0" spc="-270">
                <a:solidFill>
                  <a:srgbClr val="28282A"/>
                </a:solidFill>
              </a:rPr>
              <a:t> </a:t>
            </a:r>
            <a:r>
              <a:rPr dirty="0" spc="-75"/>
              <a:t>$40-</a:t>
            </a:r>
            <a:r>
              <a:rPr dirty="0" spc="-25"/>
              <a:t>60M</a:t>
            </a:r>
          </a:p>
          <a:p>
            <a:pPr marL="336550" indent="-217170">
              <a:lnSpc>
                <a:spcPts val="2105"/>
              </a:lnSpc>
              <a:buClr>
                <a:srgbClr val="080808"/>
              </a:buClr>
              <a:buChar char="•"/>
              <a:tabLst>
                <a:tab pos="336550" algn="l"/>
              </a:tabLst>
            </a:pPr>
            <a:r>
              <a:rPr dirty="0" sz="1900" spc="-110" b="0">
                <a:solidFill>
                  <a:srgbClr val="28282A"/>
                </a:solidFill>
                <a:latin typeface="Arial"/>
                <a:cs typeface="Arial"/>
              </a:rPr>
              <a:t>Continued</a:t>
            </a:r>
            <a:r>
              <a:rPr dirty="0" sz="1900" spc="-70" b="0">
                <a:solidFill>
                  <a:srgbClr val="28282A"/>
                </a:solidFill>
                <a:latin typeface="Arial"/>
                <a:cs typeface="Arial"/>
              </a:rPr>
              <a:t> </a:t>
            </a:r>
            <a:r>
              <a:rPr dirty="0" sz="1900" spc="-40" b="0">
                <a:latin typeface="Arial"/>
                <a:cs typeface="Arial"/>
              </a:rPr>
              <a:t>i</a:t>
            </a:r>
            <a:r>
              <a:rPr dirty="0" sz="1900" spc="-40" b="0">
                <a:solidFill>
                  <a:srgbClr val="28282A"/>
                </a:solidFill>
                <a:latin typeface="Arial"/>
                <a:cs typeface="Arial"/>
              </a:rPr>
              <a:t>nnovat</a:t>
            </a:r>
            <a:r>
              <a:rPr dirty="0" sz="1900" spc="-40" b="0">
                <a:latin typeface="Arial"/>
                <a:cs typeface="Arial"/>
              </a:rPr>
              <a:t>i</a:t>
            </a:r>
            <a:r>
              <a:rPr dirty="0" sz="1900" spc="-40" b="0">
                <a:solidFill>
                  <a:srgbClr val="28282A"/>
                </a:solidFill>
                <a:latin typeface="Arial"/>
                <a:cs typeface="Arial"/>
              </a:rPr>
              <a:t>onin</a:t>
            </a:r>
            <a:r>
              <a:rPr dirty="0" sz="1900" spc="-5" b="0">
                <a:solidFill>
                  <a:srgbClr val="28282A"/>
                </a:solidFill>
                <a:latin typeface="Arial"/>
                <a:cs typeface="Arial"/>
              </a:rPr>
              <a:t> </a:t>
            </a:r>
            <a:r>
              <a:rPr dirty="0" sz="1900" spc="-110" b="0">
                <a:solidFill>
                  <a:srgbClr val="28282A"/>
                </a:solidFill>
                <a:latin typeface="Arial"/>
                <a:cs typeface="Arial"/>
              </a:rPr>
              <a:t>compliance</a:t>
            </a:r>
            <a:r>
              <a:rPr dirty="0" sz="1900" spc="-100" b="0">
                <a:solidFill>
                  <a:srgbClr val="28282A"/>
                </a:solidFill>
                <a:latin typeface="Arial"/>
                <a:cs typeface="Arial"/>
              </a:rPr>
              <a:t> </a:t>
            </a:r>
            <a:r>
              <a:rPr dirty="0" sz="1900" spc="-60" b="0">
                <a:solidFill>
                  <a:srgbClr val="28282A"/>
                </a:solidFill>
                <a:latin typeface="Arial"/>
                <a:cs typeface="Arial"/>
              </a:rPr>
              <a:t>automat</a:t>
            </a:r>
            <a:r>
              <a:rPr dirty="0" sz="1900" spc="-60" b="0">
                <a:latin typeface="Arial"/>
                <a:cs typeface="Arial"/>
              </a:rPr>
              <a:t>i</a:t>
            </a:r>
            <a:r>
              <a:rPr dirty="0" sz="1900" spc="-60" b="0">
                <a:solidFill>
                  <a:srgbClr val="28282A"/>
                </a:solidFill>
                <a:latin typeface="Arial"/>
                <a:cs typeface="Arial"/>
              </a:rPr>
              <a:t>on</a:t>
            </a:r>
            <a:r>
              <a:rPr dirty="0" sz="1900" spc="-220" b="0">
                <a:solidFill>
                  <a:srgbClr val="28282A"/>
                </a:solidFill>
                <a:latin typeface="Arial"/>
                <a:cs typeface="Arial"/>
              </a:rPr>
              <a:t> </a:t>
            </a:r>
            <a:r>
              <a:rPr dirty="0" sz="1900" spc="-190" b="0">
                <a:solidFill>
                  <a:srgbClr val="38383A"/>
                </a:solidFill>
                <a:latin typeface="Arial"/>
                <a:cs typeface="Arial"/>
              </a:rPr>
              <a:t>(STIG,</a:t>
            </a:r>
            <a:r>
              <a:rPr dirty="0" sz="1900" spc="-185" b="0">
                <a:solidFill>
                  <a:srgbClr val="38383A"/>
                </a:solidFill>
                <a:latin typeface="Arial"/>
                <a:cs typeface="Arial"/>
              </a:rPr>
              <a:t> </a:t>
            </a:r>
            <a:r>
              <a:rPr dirty="0" sz="1900" spc="-60" b="0">
                <a:solidFill>
                  <a:srgbClr val="28282A"/>
                </a:solidFill>
                <a:latin typeface="Arial"/>
                <a:cs typeface="Arial"/>
              </a:rPr>
              <a:t>CIS,CMMC).</a:t>
            </a:r>
            <a:endParaRPr sz="1900">
              <a:latin typeface="Arial"/>
              <a:cs typeface="Arial"/>
            </a:endParaRPr>
          </a:p>
          <a:p>
            <a:pPr marL="336550" indent="-217170">
              <a:lnSpc>
                <a:spcPts val="2110"/>
              </a:lnSpc>
              <a:buClr>
                <a:srgbClr val="080808"/>
              </a:buClr>
              <a:buChar char="•"/>
              <a:tabLst>
                <a:tab pos="336550" algn="l"/>
              </a:tabLst>
            </a:pPr>
            <a:r>
              <a:rPr dirty="0" sz="1900" spc="-95" b="0">
                <a:solidFill>
                  <a:srgbClr val="28282A"/>
                </a:solidFill>
                <a:latin typeface="Arial"/>
                <a:cs typeface="Arial"/>
              </a:rPr>
              <a:t>Achieving</a:t>
            </a:r>
            <a:r>
              <a:rPr dirty="0" sz="1900" spc="-204" b="0">
                <a:solidFill>
                  <a:srgbClr val="28282A"/>
                </a:solidFill>
                <a:latin typeface="Arial"/>
                <a:cs typeface="Arial"/>
              </a:rPr>
              <a:t> </a:t>
            </a:r>
            <a:r>
              <a:rPr dirty="0" sz="1900" spc="-40" b="0">
                <a:solidFill>
                  <a:srgbClr val="28282A"/>
                </a:solidFill>
                <a:latin typeface="Arial"/>
                <a:cs typeface="Arial"/>
              </a:rPr>
              <a:t>critical</a:t>
            </a:r>
            <a:r>
              <a:rPr dirty="0" sz="1900" spc="-160" b="0">
                <a:solidFill>
                  <a:srgbClr val="28282A"/>
                </a:solidFill>
                <a:latin typeface="Arial"/>
                <a:cs typeface="Arial"/>
              </a:rPr>
              <a:t> </a:t>
            </a:r>
            <a:r>
              <a:rPr dirty="0" sz="1900" spc="-100" b="0">
                <a:solidFill>
                  <a:srgbClr val="28282A"/>
                </a:solidFill>
                <a:latin typeface="Arial"/>
                <a:cs typeface="Arial"/>
              </a:rPr>
              <a:t>certificat</a:t>
            </a:r>
            <a:r>
              <a:rPr dirty="0" sz="1900" spc="-100" b="0">
                <a:latin typeface="Arial"/>
                <a:cs typeface="Arial"/>
              </a:rPr>
              <a:t>i</a:t>
            </a:r>
            <a:r>
              <a:rPr dirty="0" sz="1900" spc="-100" b="0">
                <a:solidFill>
                  <a:srgbClr val="28282A"/>
                </a:solidFill>
                <a:latin typeface="Arial"/>
                <a:cs typeface="Arial"/>
              </a:rPr>
              <a:t>ons(FedRAMP</a:t>
            </a:r>
            <a:r>
              <a:rPr dirty="0" sz="1900" spc="-130" b="0">
                <a:solidFill>
                  <a:srgbClr val="28282A"/>
                </a:solidFill>
                <a:latin typeface="Arial"/>
                <a:cs typeface="Arial"/>
              </a:rPr>
              <a:t> </a:t>
            </a:r>
            <a:r>
              <a:rPr dirty="0" sz="1900" spc="-65" b="0">
                <a:solidFill>
                  <a:srgbClr val="28282A"/>
                </a:solidFill>
                <a:latin typeface="Arial"/>
                <a:cs typeface="Arial"/>
              </a:rPr>
              <a:t>High,</a:t>
            </a:r>
            <a:r>
              <a:rPr dirty="0" sz="1900" spc="-200" b="0">
                <a:solidFill>
                  <a:srgbClr val="28282A"/>
                </a:solidFill>
                <a:latin typeface="Arial"/>
                <a:cs typeface="Arial"/>
              </a:rPr>
              <a:t> </a:t>
            </a:r>
            <a:r>
              <a:rPr dirty="0" sz="1900" spc="-130" b="0">
                <a:solidFill>
                  <a:srgbClr val="28282A"/>
                </a:solidFill>
                <a:latin typeface="Arial"/>
                <a:cs typeface="Arial"/>
              </a:rPr>
              <a:t>Common</a:t>
            </a:r>
            <a:r>
              <a:rPr dirty="0" sz="1900" spc="-114" b="0">
                <a:solidFill>
                  <a:srgbClr val="28282A"/>
                </a:solidFill>
                <a:latin typeface="Arial"/>
                <a:cs typeface="Arial"/>
              </a:rPr>
              <a:t> </a:t>
            </a:r>
            <a:r>
              <a:rPr dirty="0" sz="1900" spc="-10" b="0">
                <a:solidFill>
                  <a:srgbClr val="28282A"/>
                </a:solidFill>
                <a:latin typeface="Arial"/>
                <a:cs typeface="Arial"/>
              </a:rPr>
              <a:t>Criter</a:t>
            </a:r>
            <a:r>
              <a:rPr dirty="0" sz="1900" spc="-10" b="0">
                <a:latin typeface="Arial"/>
                <a:cs typeface="Arial"/>
              </a:rPr>
              <a:t>i</a:t>
            </a:r>
            <a:r>
              <a:rPr dirty="0" sz="1900" spc="-10" b="0">
                <a:solidFill>
                  <a:srgbClr val="28282A"/>
                </a:solidFill>
                <a:latin typeface="Arial"/>
                <a:cs typeface="Arial"/>
              </a:rPr>
              <a:t>a).</a:t>
            </a:r>
            <a:endParaRPr sz="1900">
              <a:latin typeface="Arial"/>
              <a:cs typeface="Arial"/>
            </a:endParaRPr>
          </a:p>
          <a:p>
            <a:pPr marL="329565" indent="-210185">
              <a:lnSpc>
                <a:spcPts val="2195"/>
              </a:lnSpc>
              <a:buClr>
                <a:srgbClr val="080808"/>
              </a:buClr>
              <a:buChar char="•"/>
              <a:tabLst>
                <a:tab pos="329565" algn="l"/>
              </a:tabLst>
            </a:pPr>
            <a:r>
              <a:rPr dirty="0" sz="1900" spc="-110" b="0">
                <a:solidFill>
                  <a:srgbClr val="28282A"/>
                </a:solidFill>
                <a:latin typeface="Arial"/>
                <a:cs typeface="Arial"/>
              </a:rPr>
              <a:t>Expanding</a:t>
            </a:r>
            <a:r>
              <a:rPr dirty="0" sz="1900" spc="-200" b="0">
                <a:solidFill>
                  <a:srgbClr val="28282A"/>
                </a:solidFill>
                <a:latin typeface="Arial"/>
                <a:cs typeface="Arial"/>
              </a:rPr>
              <a:t> </a:t>
            </a:r>
            <a:r>
              <a:rPr dirty="0" sz="1900" spc="-85" b="0">
                <a:solidFill>
                  <a:srgbClr val="28282A"/>
                </a:solidFill>
                <a:latin typeface="Arial"/>
                <a:cs typeface="Arial"/>
              </a:rPr>
              <a:t>integ</a:t>
            </a:r>
            <a:r>
              <a:rPr dirty="0" sz="1900" spc="-85" b="0">
                <a:latin typeface="Arial"/>
                <a:cs typeface="Arial"/>
              </a:rPr>
              <a:t>r</a:t>
            </a:r>
            <a:r>
              <a:rPr dirty="0" sz="1900" spc="-85" b="0">
                <a:solidFill>
                  <a:srgbClr val="28282A"/>
                </a:solidFill>
                <a:latin typeface="Arial"/>
                <a:cs typeface="Arial"/>
              </a:rPr>
              <a:t>ations(SIEMs,</a:t>
            </a:r>
            <a:r>
              <a:rPr dirty="0" sz="1900" spc="-225" b="0">
                <a:solidFill>
                  <a:srgbClr val="28282A"/>
                </a:solidFill>
                <a:latin typeface="Arial"/>
                <a:cs typeface="Arial"/>
              </a:rPr>
              <a:t> </a:t>
            </a:r>
            <a:r>
              <a:rPr dirty="0" sz="1900" spc="-105" b="0">
                <a:solidFill>
                  <a:srgbClr val="28282A"/>
                </a:solidFill>
                <a:latin typeface="Arial"/>
                <a:cs typeface="Arial"/>
              </a:rPr>
              <a:t>Scanners,</a:t>
            </a:r>
            <a:r>
              <a:rPr dirty="0" sz="1900" spc="-265" b="0">
                <a:solidFill>
                  <a:srgbClr val="28282A"/>
                </a:solidFill>
                <a:latin typeface="Arial"/>
                <a:cs typeface="Arial"/>
              </a:rPr>
              <a:t> </a:t>
            </a:r>
            <a:r>
              <a:rPr dirty="0" sz="1900" spc="-10" b="0">
                <a:solidFill>
                  <a:srgbClr val="28282A"/>
                </a:solidFill>
                <a:latin typeface="Arial"/>
                <a:cs typeface="Arial"/>
              </a:rPr>
              <a:t>Cloud).</a:t>
            </a:r>
            <a:endParaRPr sz="1900">
              <a:latin typeface="Arial"/>
              <a:cs typeface="Arial"/>
            </a:endParaRPr>
          </a:p>
          <a:p>
            <a:pPr marL="19050">
              <a:lnSpc>
                <a:spcPts val="2300"/>
              </a:lnSpc>
              <a:spcBef>
                <a:spcPts val="1590"/>
              </a:spcBef>
            </a:pPr>
            <a:r>
              <a:rPr dirty="0" spc="-145"/>
              <a:t>Customer</a:t>
            </a:r>
            <a:r>
              <a:rPr dirty="0" spc="-75"/>
              <a:t> </a:t>
            </a:r>
            <a:r>
              <a:rPr dirty="0" spc="-225"/>
              <a:t>Success</a:t>
            </a:r>
            <a:r>
              <a:rPr dirty="0" spc="-235"/>
              <a:t> </a:t>
            </a:r>
            <a:r>
              <a:rPr dirty="0" spc="70"/>
              <a:t>&amp;</a:t>
            </a:r>
            <a:r>
              <a:rPr dirty="0" spc="-290"/>
              <a:t> </a:t>
            </a:r>
            <a:r>
              <a:rPr dirty="0" spc="-110"/>
              <a:t>Support:</a:t>
            </a:r>
            <a:r>
              <a:rPr dirty="0" spc="-100"/>
              <a:t> </a:t>
            </a:r>
            <a:r>
              <a:rPr dirty="0" spc="-95"/>
              <a:t>$25-</a:t>
            </a:r>
            <a:r>
              <a:rPr dirty="0" spc="-25"/>
              <a:t>40M</a:t>
            </a:r>
          </a:p>
          <a:p>
            <a:pPr marL="337820" indent="-218440">
              <a:lnSpc>
                <a:spcPts val="2155"/>
              </a:lnSpc>
              <a:buClr>
                <a:srgbClr val="080808"/>
              </a:buClr>
              <a:buChar char="•"/>
              <a:tabLst>
                <a:tab pos="337820" algn="l"/>
              </a:tabLst>
            </a:pPr>
            <a:r>
              <a:rPr dirty="0" sz="1900" spc="-120" b="0">
                <a:solidFill>
                  <a:srgbClr val="28282A"/>
                </a:solidFill>
                <a:latin typeface="Arial"/>
                <a:cs typeface="Arial"/>
              </a:rPr>
              <a:t>Scaling</a:t>
            </a:r>
            <a:r>
              <a:rPr dirty="0" sz="1900" spc="-204" b="0">
                <a:solidFill>
                  <a:srgbClr val="28282A"/>
                </a:solidFill>
                <a:latin typeface="Arial"/>
                <a:cs typeface="Arial"/>
              </a:rPr>
              <a:t> </a:t>
            </a:r>
            <a:r>
              <a:rPr dirty="0" sz="1900" spc="-145" b="0">
                <a:solidFill>
                  <a:srgbClr val="28282A"/>
                </a:solidFill>
                <a:latin typeface="Arial"/>
                <a:cs typeface="Arial"/>
              </a:rPr>
              <a:t>24x7</a:t>
            </a:r>
            <a:r>
              <a:rPr dirty="0" sz="1900" spc="-190" b="0">
                <a:solidFill>
                  <a:srgbClr val="28282A"/>
                </a:solidFill>
                <a:latin typeface="Arial"/>
                <a:cs typeface="Arial"/>
              </a:rPr>
              <a:t> </a:t>
            </a:r>
            <a:r>
              <a:rPr dirty="0" sz="1900" spc="-90" b="0">
                <a:solidFill>
                  <a:srgbClr val="28282A"/>
                </a:solidFill>
                <a:latin typeface="Arial"/>
                <a:cs typeface="Arial"/>
              </a:rPr>
              <a:t>premium</a:t>
            </a:r>
            <a:r>
              <a:rPr dirty="0" sz="1900" spc="-85" b="0">
                <a:solidFill>
                  <a:srgbClr val="28282A"/>
                </a:solidFill>
                <a:latin typeface="Arial"/>
                <a:cs typeface="Arial"/>
              </a:rPr>
              <a:t> </a:t>
            </a:r>
            <a:r>
              <a:rPr dirty="0" sz="1900" spc="-10" b="0">
                <a:solidFill>
                  <a:srgbClr val="28282A"/>
                </a:solidFill>
                <a:latin typeface="Arial"/>
                <a:cs typeface="Arial"/>
              </a:rPr>
              <a:t>support.</a:t>
            </a:r>
            <a:endParaRPr sz="1900">
              <a:latin typeface="Arial"/>
              <a:cs typeface="Arial"/>
            </a:endParaRPr>
          </a:p>
          <a:p>
            <a:pPr marL="331470" indent="-212090">
              <a:lnSpc>
                <a:spcPts val="2110"/>
              </a:lnSpc>
              <a:buClr>
                <a:srgbClr val="080808"/>
              </a:buClr>
              <a:buChar char="•"/>
              <a:tabLst>
                <a:tab pos="331470" algn="l"/>
              </a:tabLst>
            </a:pPr>
            <a:r>
              <a:rPr dirty="0" sz="1900" spc="-55" b="0">
                <a:solidFill>
                  <a:srgbClr val="28282A"/>
                </a:solidFill>
                <a:latin typeface="Arial"/>
                <a:cs typeface="Arial"/>
              </a:rPr>
              <a:t>Bu</a:t>
            </a:r>
            <a:r>
              <a:rPr dirty="0" sz="1900" spc="-55" b="0">
                <a:latin typeface="Arial"/>
                <a:cs typeface="Arial"/>
              </a:rPr>
              <a:t>il</a:t>
            </a:r>
            <a:r>
              <a:rPr dirty="0" sz="1900" spc="-55" b="0">
                <a:solidFill>
                  <a:srgbClr val="28282A"/>
                </a:solidFill>
                <a:latin typeface="Arial"/>
                <a:cs typeface="Arial"/>
              </a:rPr>
              <a:t>ding</a:t>
            </a:r>
            <a:r>
              <a:rPr dirty="0" sz="1900" spc="-290" b="0">
                <a:solidFill>
                  <a:srgbClr val="28282A"/>
                </a:solidFill>
                <a:latin typeface="Arial"/>
                <a:cs typeface="Arial"/>
              </a:rPr>
              <a:t> </a:t>
            </a:r>
            <a:r>
              <a:rPr dirty="0" sz="1900" spc="-50" b="0">
                <a:solidFill>
                  <a:srgbClr val="28282A"/>
                </a:solidFill>
                <a:latin typeface="Arial"/>
                <a:cs typeface="Arial"/>
              </a:rPr>
              <a:t>a</a:t>
            </a:r>
            <a:r>
              <a:rPr dirty="0" sz="1900" spc="-270" b="0">
                <a:solidFill>
                  <a:srgbClr val="28282A"/>
                </a:solidFill>
                <a:latin typeface="Arial"/>
                <a:cs typeface="Arial"/>
              </a:rPr>
              <a:t> </a:t>
            </a:r>
            <a:r>
              <a:rPr dirty="0" sz="1900" spc="-100" b="0">
                <a:solidFill>
                  <a:srgbClr val="28282A"/>
                </a:solidFill>
                <a:latin typeface="Arial"/>
                <a:cs typeface="Arial"/>
              </a:rPr>
              <a:t>professional</a:t>
            </a:r>
            <a:r>
              <a:rPr dirty="0" sz="1900" spc="-125" b="0">
                <a:solidFill>
                  <a:srgbClr val="28282A"/>
                </a:solidFill>
                <a:latin typeface="Arial"/>
                <a:cs typeface="Arial"/>
              </a:rPr>
              <a:t> </a:t>
            </a:r>
            <a:r>
              <a:rPr dirty="0" sz="1900" spc="-105" b="0">
                <a:solidFill>
                  <a:srgbClr val="28282A"/>
                </a:solidFill>
                <a:latin typeface="Arial"/>
                <a:cs typeface="Arial"/>
              </a:rPr>
              <a:t>services</a:t>
            </a:r>
            <a:r>
              <a:rPr dirty="0" sz="1900" spc="-265" b="0">
                <a:solidFill>
                  <a:srgbClr val="28282A"/>
                </a:solidFill>
                <a:latin typeface="Arial"/>
                <a:cs typeface="Arial"/>
              </a:rPr>
              <a:t> </a:t>
            </a:r>
            <a:r>
              <a:rPr dirty="0" sz="1900" spc="-80" b="0">
                <a:solidFill>
                  <a:srgbClr val="28282A"/>
                </a:solidFill>
                <a:latin typeface="Arial"/>
                <a:cs typeface="Arial"/>
              </a:rPr>
              <a:t>team</a:t>
            </a:r>
            <a:r>
              <a:rPr dirty="0" sz="1900" spc="-125" b="0">
                <a:solidFill>
                  <a:srgbClr val="28282A"/>
                </a:solidFill>
                <a:latin typeface="Arial"/>
                <a:cs typeface="Arial"/>
              </a:rPr>
              <a:t> </a:t>
            </a:r>
            <a:r>
              <a:rPr dirty="0" sz="1900" spc="-35" b="0">
                <a:solidFill>
                  <a:srgbClr val="28282A"/>
                </a:solidFill>
                <a:latin typeface="Arial"/>
                <a:cs typeface="Arial"/>
              </a:rPr>
              <a:t>for</a:t>
            </a:r>
            <a:r>
              <a:rPr dirty="0" sz="1900" spc="-245" b="0">
                <a:solidFill>
                  <a:srgbClr val="28282A"/>
                </a:solidFill>
                <a:latin typeface="Arial"/>
                <a:cs typeface="Arial"/>
              </a:rPr>
              <a:t> </a:t>
            </a:r>
            <a:r>
              <a:rPr dirty="0" sz="1900" spc="-65" b="0">
                <a:solidFill>
                  <a:srgbClr val="28282A"/>
                </a:solidFill>
                <a:latin typeface="Arial"/>
                <a:cs typeface="Arial"/>
              </a:rPr>
              <a:t>migration</a:t>
            </a:r>
            <a:r>
              <a:rPr dirty="0" sz="1900" spc="-135" b="0">
                <a:solidFill>
                  <a:srgbClr val="28282A"/>
                </a:solidFill>
                <a:latin typeface="Arial"/>
                <a:cs typeface="Arial"/>
              </a:rPr>
              <a:t> </a:t>
            </a:r>
            <a:r>
              <a:rPr dirty="0" sz="1900" spc="-95" b="0">
                <a:solidFill>
                  <a:srgbClr val="28282A"/>
                </a:solidFill>
                <a:latin typeface="Arial"/>
                <a:cs typeface="Arial"/>
              </a:rPr>
              <a:t>and</a:t>
            </a:r>
            <a:r>
              <a:rPr dirty="0" sz="1900" spc="-185" b="0">
                <a:solidFill>
                  <a:srgbClr val="28282A"/>
                </a:solidFill>
                <a:latin typeface="Arial"/>
                <a:cs typeface="Arial"/>
              </a:rPr>
              <a:t> </a:t>
            </a:r>
            <a:r>
              <a:rPr dirty="0" sz="1900" spc="-20" b="0">
                <a:solidFill>
                  <a:srgbClr val="38383A"/>
                </a:solidFill>
                <a:latin typeface="Arial"/>
                <a:cs typeface="Arial"/>
              </a:rPr>
              <a:t>implementation.</a:t>
            </a:r>
            <a:endParaRPr sz="1900">
              <a:latin typeface="Arial"/>
              <a:cs typeface="Arial"/>
            </a:endParaRPr>
          </a:p>
          <a:p>
            <a:pPr marL="329565" indent="-210185">
              <a:lnSpc>
                <a:spcPts val="2195"/>
              </a:lnSpc>
              <a:buClr>
                <a:srgbClr val="080808"/>
              </a:buClr>
              <a:buChar char="•"/>
              <a:tabLst>
                <a:tab pos="329565" algn="l"/>
              </a:tabLst>
            </a:pPr>
            <a:r>
              <a:rPr dirty="0" sz="1900" spc="-105" b="0">
                <a:solidFill>
                  <a:srgbClr val="28282A"/>
                </a:solidFill>
                <a:latin typeface="Arial"/>
                <a:cs typeface="Arial"/>
              </a:rPr>
              <a:t>Ensuring</a:t>
            </a:r>
            <a:r>
              <a:rPr dirty="0" sz="1900" spc="-229" b="0">
                <a:solidFill>
                  <a:srgbClr val="28282A"/>
                </a:solidFill>
                <a:latin typeface="Arial"/>
                <a:cs typeface="Arial"/>
              </a:rPr>
              <a:t> </a:t>
            </a:r>
            <a:r>
              <a:rPr dirty="0" sz="1900" spc="-105" b="0">
                <a:solidFill>
                  <a:srgbClr val="28282A"/>
                </a:solidFill>
                <a:latin typeface="Arial"/>
                <a:cs typeface="Arial"/>
              </a:rPr>
              <a:t>an</a:t>
            </a:r>
            <a:r>
              <a:rPr dirty="0" sz="1900" spc="-250" b="0">
                <a:solidFill>
                  <a:srgbClr val="28282A"/>
                </a:solidFill>
                <a:latin typeface="Arial"/>
                <a:cs typeface="Arial"/>
              </a:rPr>
              <a:t> </a:t>
            </a:r>
            <a:r>
              <a:rPr dirty="0" sz="1900" spc="-100" b="0">
                <a:solidFill>
                  <a:srgbClr val="28282A"/>
                </a:solidFill>
                <a:latin typeface="Arial"/>
                <a:cs typeface="Arial"/>
              </a:rPr>
              <a:t>85%+renewal</a:t>
            </a:r>
            <a:r>
              <a:rPr dirty="0" sz="1900" spc="-204" b="0">
                <a:solidFill>
                  <a:srgbClr val="28282A"/>
                </a:solidFill>
                <a:latin typeface="Arial"/>
                <a:cs typeface="Arial"/>
              </a:rPr>
              <a:t> </a:t>
            </a:r>
            <a:r>
              <a:rPr dirty="0" sz="1900" spc="-50" b="0">
                <a:solidFill>
                  <a:srgbClr val="28282A"/>
                </a:solidFill>
                <a:latin typeface="Arial"/>
                <a:cs typeface="Arial"/>
              </a:rPr>
              <a:t>rate</a:t>
            </a:r>
            <a:r>
              <a:rPr dirty="0" sz="1900" spc="-245" b="0">
                <a:solidFill>
                  <a:srgbClr val="28282A"/>
                </a:solidFill>
                <a:latin typeface="Arial"/>
                <a:cs typeface="Arial"/>
              </a:rPr>
              <a:t> </a:t>
            </a:r>
            <a:r>
              <a:rPr dirty="0" sz="1900" spc="-75" b="0">
                <a:solidFill>
                  <a:srgbClr val="28282A"/>
                </a:solidFill>
                <a:latin typeface="Arial"/>
                <a:cs typeface="Arial"/>
              </a:rPr>
              <a:t>through</a:t>
            </a:r>
            <a:r>
              <a:rPr dirty="0" sz="1900" spc="-175" b="0">
                <a:solidFill>
                  <a:srgbClr val="28282A"/>
                </a:solidFill>
                <a:latin typeface="Arial"/>
                <a:cs typeface="Arial"/>
              </a:rPr>
              <a:t> </a:t>
            </a:r>
            <a:r>
              <a:rPr dirty="0" sz="1900" spc="-90" b="0">
                <a:solidFill>
                  <a:srgbClr val="28282A"/>
                </a:solidFill>
                <a:latin typeface="Arial"/>
                <a:cs typeface="Arial"/>
              </a:rPr>
              <a:t>expert</a:t>
            </a:r>
            <a:r>
              <a:rPr dirty="0" sz="1900" spc="-114" b="0">
                <a:solidFill>
                  <a:srgbClr val="28282A"/>
                </a:solidFill>
                <a:latin typeface="Arial"/>
                <a:cs typeface="Arial"/>
              </a:rPr>
              <a:t> </a:t>
            </a:r>
            <a:r>
              <a:rPr dirty="0" sz="1900" spc="-10" b="0">
                <a:solidFill>
                  <a:srgbClr val="28282A"/>
                </a:solidFill>
                <a:latin typeface="Arial"/>
                <a:cs typeface="Arial"/>
              </a:rPr>
              <a:t>support.</a:t>
            </a:r>
            <a:endParaRPr sz="19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633755" y="8285559"/>
            <a:ext cx="3596640" cy="104584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2540">
              <a:lnSpc>
                <a:spcPts val="2300"/>
              </a:lnSpc>
              <a:spcBef>
                <a:spcPts val="110"/>
              </a:spcBef>
            </a:pPr>
            <a:r>
              <a:rPr dirty="0" sz="2100" spc="-10">
                <a:solidFill>
                  <a:srgbClr val="28282A"/>
                </a:solidFill>
                <a:latin typeface="Arial"/>
                <a:cs typeface="Arial"/>
              </a:rPr>
              <a:t>Target:</a:t>
            </a:r>
            <a:endParaRPr sz="2100">
              <a:latin typeface="Arial"/>
              <a:cs typeface="Arial"/>
            </a:endParaRPr>
          </a:p>
          <a:p>
            <a:pPr>
              <a:lnSpc>
                <a:spcPts val="5720"/>
              </a:lnSpc>
            </a:pPr>
            <a:r>
              <a:rPr dirty="0" sz="4950" spc="270" b="1">
                <a:solidFill>
                  <a:srgbClr val="DDA726"/>
                </a:solidFill>
                <a:latin typeface="Arial"/>
                <a:cs typeface="Arial"/>
              </a:rPr>
              <a:t>$576</a:t>
            </a:r>
            <a:r>
              <a:rPr dirty="0" sz="4950" spc="270" b="1">
                <a:solidFill>
                  <a:srgbClr val="08162B"/>
                </a:solidFill>
                <a:latin typeface="Arial"/>
                <a:cs typeface="Arial"/>
              </a:rPr>
              <a:t>MARR</a:t>
            </a:r>
            <a:endParaRPr sz="495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9796205" y="8291942"/>
            <a:ext cx="1958975" cy="103949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175">
              <a:lnSpc>
                <a:spcPts val="2245"/>
              </a:lnSpc>
              <a:spcBef>
                <a:spcPts val="110"/>
              </a:spcBef>
            </a:pPr>
            <a:r>
              <a:rPr dirty="0" sz="2050" spc="-20">
                <a:solidFill>
                  <a:srgbClr val="28282A"/>
                </a:solidFill>
                <a:latin typeface="Arial"/>
                <a:cs typeface="Arial"/>
              </a:rPr>
              <a:t>ROI</a:t>
            </a:r>
            <a:r>
              <a:rPr dirty="0" sz="2050" spc="-20">
                <a:solidFill>
                  <a:srgbClr val="080808"/>
                </a:solidFill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>
              <a:lnSpc>
                <a:spcPts val="5725"/>
              </a:lnSpc>
            </a:pPr>
            <a:r>
              <a:rPr dirty="0" sz="4950" b="1">
                <a:solidFill>
                  <a:srgbClr val="08162B"/>
                </a:solidFill>
                <a:latin typeface="Arial"/>
                <a:cs typeface="Arial"/>
              </a:rPr>
              <a:t>3-</a:t>
            </a:r>
            <a:r>
              <a:rPr dirty="0" sz="4950" spc="-20" b="1">
                <a:solidFill>
                  <a:srgbClr val="08162B"/>
                </a:solidFill>
                <a:latin typeface="Arial"/>
                <a:cs typeface="Arial"/>
              </a:rPr>
              <a:t>4.Gx</a:t>
            </a:r>
            <a:endParaRPr sz="4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807265" y="396081"/>
            <a:ext cx="13896975" cy="592455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700" spc="-265">
                <a:solidFill>
                  <a:srgbClr val="030303"/>
                </a:solidFill>
              </a:rPr>
              <a:t>Why</a:t>
            </a:r>
            <a:r>
              <a:rPr dirty="0" sz="3700" spc="-330">
                <a:solidFill>
                  <a:srgbClr val="030303"/>
                </a:solidFill>
              </a:rPr>
              <a:t> </a:t>
            </a:r>
            <a:r>
              <a:rPr dirty="0" sz="3700" spc="-254">
                <a:solidFill>
                  <a:srgbClr val="030303"/>
                </a:solidFill>
              </a:rPr>
              <a:t>We</a:t>
            </a:r>
            <a:r>
              <a:rPr dirty="0" sz="3700" spc="-360">
                <a:solidFill>
                  <a:srgbClr val="030303"/>
                </a:solidFill>
              </a:rPr>
              <a:t> </a:t>
            </a:r>
            <a:r>
              <a:rPr dirty="0" sz="3700" spc="-175">
                <a:solidFill>
                  <a:srgbClr val="030303"/>
                </a:solidFill>
              </a:rPr>
              <a:t>Will</a:t>
            </a:r>
            <a:r>
              <a:rPr dirty="0" sz="3700" spc="-310">
                <a:solidFill>
                  <a:srgbClr val="030303"/>
                </a:solidFill>
              </a:rPr>
              <a:t> </a:t>
            </a:r>
            <a:r>
              <a:rPr dirty="0" sz="3700" spc="-250">
                <a:solidFill>
                  <a:srgbClr val="030303"/>
                </a:solidFill>
              </a:rPr>
              <a:t>Win:</a:t>
            </a:r>
            <a:r>
              <a:rPr dirty="0" sz="3700" spc="-345">
                <a:solidFill>
                  <a:srgbClr val="030303"/>
                </a:solidFill>
              </a:rPr>
              <a:t> </a:t>
            </a:r>
            <a:r>
              <a:rPr dirty="0" sz="3700" spc="-325">
                <a:solidFill>
                  <a:srgbClr val="030303"/>
                </a:solidFill>
              </a:rPr>
              <a:t>A</a:t>
            </a:r>
            <a:r>
              <a:rPr dirty="0" sz="3700" spc="-535">
                <a:solidFill>
                  <a:srgbClr val="030303"/>
                </a:solidFill>
              </a:rPr>
              <a:t> </a:t>
            </a:r>
            <a:r>
              <a:rPr dirty="0" sz="3700" spc="-235">
                <a:solidFill>
                  <a:srgbClr val="030303"/>
                </a:solidFill>
              </a:rPr>
              <a:t>Defensible</a:t>
            </a:r>
            <a:r>
              <a:rPr dirty="0" sz="3700" spc="-250">
                <a:solidFill>
                  <a:srgbClr val="030303"/>
                </a:solidFill>
              </a:rPr>
              <a:t> </a:t>
            </a:r>
            <a:r>
              <a:rPr dirty="0" sz="3700" spc="-180">
                <a:solidFill>
                  <a:srgbClr val="030303"/>
                </a:solidFill>
              </a:rPr>
              <a:t>Moat</a:t>
            </a:r>
            <a:r>
              <a:rPr dirty="0" sz="3700" spc="-350">
                <a:solidFill>
                  <a:srgbClr val="030303"/>
                </a:solidFill>
              </a:rPr>
              <a:t> </a:t>
            </a:r>
            <a:r>
              <a:rPr dirty="0" sz="3700" spc="-265">
                <a:solidFill>
                  <a:srgbClr val="030303"/>
                </a:solidFill>
              </a:rPr>
              <a:t>Built</a:t>
            </a:r>
            <a:r>
              <a:rPr dirty="0" sz="3700" spc="-180">
                <a:solidFill>
                  <a:srgbClr val="030303"/>
                </a:solidFill>
              </a:rPr>
              <a:t> </a:t>
            </a:r>
            <a:r>
              <a:rPr dirty="0" sz="3700" spc="-275">
                <a:solidFill>
                  <a:srgbClr val="030303"/>
                </a:solidFill>
              </a:rPr>
              <a:t>on</a:t>
            </a:r>
            <a:r>
              <a:rPr dirty="0" sz="3700" spc="-405">
                <a:solidFill>
                  <a:srgbClr val="030303"/>
                </a:solidFill>
              </a:rPr>
              <a:t> </a:t>
            </a:r>
            <a:r>
              <a:rPr dirty="0" sz="3700" spc="-254">
                <a:solidFill>
                  <a:srgbClr val="030303"/>
                </a:solidFill>
              </a:rPr>
              <a:t>Product,</a:t>
            </a:r>
            <a:r>
              <a:rPr dirty="0" sz="3700" spc="-245">
                <a:solidFill>
                  <a:srgbClr val="030303"/>
                </a:solidFill>
              </a:rPr>
              <a:t> </a:t>
            </a:r>
            <a:r>
              <a:rPr dirty="0" sz="3700" spc="-254">
                <a:solidFill>
                  <a:srgbClr val="030303"/>
                </a:solidFill>
              </a:rPr>
              <a:t>Timing,</a:t>
            </a:r>
            <a:r>
              <a:rPr dirty="0" sz="3700" spc="-385">
                <a:solidFill>
                  <a:srgbClr val="030303"/>
                </a:solidFill>
              </a:rPr>
              <a:t> </a:t>
            </a:r>
            <a:r>
              <a:rPr dirty="0" sz="3700" spc="-229">
                <a:solidFill>
                  <a:srgbClr val="030303"/>
                </a:solidFill>
              </a:rPr>
              <a:t>and</a:t>
            </a:r>
            <a:r>
              <a:rPr dirty="0" sz="3700" spc="-459">
                <a:solidFill>
                  <a:srgbClr val="030303"/>
                </a:solidFill>
              </a:rPr>
              <a:t> </a:t>
            </a:r>
            <a:r>
              <a:rPr dirty="0" sz="3700" spc="-135">
                <a:solidFill>
                  <a:srgbClr val="030303"/>
                </a:solidFill>
              </a:rPr>
              <a:t>Price</a:t>
            </a:r>
            <a:endParaRPr sz="3700"/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00"/>
              </a:lnSpc>
            </a:pPr>
            <a:r>
              <a:rPr dirty="0" sz="1300" spc="-20">
                <a:solidFill>
                  <a:srgbClr val="363838"/>
                </a:solidFill>
              </a:rPr>
              <a:t>Isl\</a:t>
            </a:r>
            <a:r>
              <a:rPr dirty="0" sz="1300" spc="-45">
                <a:solidFill>
                  <a:srgbClr val="363838"/>
                </a:solidFill>
              </a:rPr>
              <a:t> </a:t>
            </a:r>
            <a:r>
              <a:rPr dirty="0" spc="-10">
                <a:solidFill>
                  <a:srgbClr val="070F1F"/>
                </a:solidFill>
              </a:rPr>
              <a:t>N</a:t>
            </a:r>
            <a:r>
              <a:rPr dirty="0" spc="-10"/>
              <a:t>otebookLM</a:t>
            </a:r>
            <a:endParaRPr sz="1300"/>
          </a:p>
        </p:txBody>
      </p:sp>
      <p:sp>
        <p:nvSpPr>
          <p:cNvPr id="3" name="object 3"/>
          <p:cNvSpPr txBox="1"/>
          <p:nvPr/>
        </p:nvSpPr>
        <p:spPr>
          <a:xfrm>
            <a:off x="3519044" y="1589716"/>
            <a:ext cx="4740910" cy="7502525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97790" marR="1268730" indent="-17780">
              <a:lnSpc>
                <a:spcPts val="3620"/>
              </a:lnSpc>
              <a:spcBef>
                <a:spcPts val="470"/>
              </a:spcBef>
            </a:pPr>
            <a:r>
              <a:rPr dirty="0" sz="3250" spc="-265" b="1">
                <a:solidFill>
                  <a:srgbClr val="030303"/>
                </a:solidFill>
                <a:latin typeface="Arial"/>
                <a:cs typeface="Arial"/>
              </a:rPr>
              <a:t>Unmatched</a:t>
            </a:r>
            <a:r>
              <a:rPr dirty="0" sz="3250" spc="-240" b="1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dirty="0" sz="3250" spc="-245" b="1">
                <a:solidFill>
                  <a:srgbClr val="030303"/>
                </a:solidFill>
                <a:latin typeface="Arial"/>
                <a:cs typeface="Arial"/>
              </a:rPr>
              <a:t>Product </a:t>
            </a:r>
            <a:r>
              <a:rPr dirty="0" sz="3250" spc="-145" b="1">
                <a:solidFill>
                  <a:srgbClr val="030303"/>
                </a:solidFill>
                <a:latin typeface="Arial"/>
                <a:cs typeface="Arial"/>
              </a:rPr>
              <a:t>Advantage</a:t>
            </a:r>
            <a:endParaRPr sz="3250">
              <a:latin typeface="Arial"/>
              <a:cs typeface="Arial"/>
            </a:endParaRPr>
          </a:p>
          <a:p>
            <a:pPr marL="97155" marR="104139" indent="-6350">
              <a:lnSpc>
                <a:spcPts val="2810"/>
              </a:lnSpc>
              <a:spcBef>
                <a:spcPts val="1350"/>
              </a:spcBef>
            </a:pPr>
            <a:r>
              <a:rPr dirty="0" sz="2550" spc="-195" b="1">
                <a:solidFill>
                  <a:srgbClr val="A38033"/>
                </a:solidFill>
                <a:latin typeface="Arial"/>
                <a:cs typeface="Arial"/>
              </a:rPr>
              <a:t>Turnkey</a:t>
            </a:r>
            <a:r>
              <a:rPr dirty="0" sz="2550" spc="-285" b="1">
                <a:solidFill>
                  <a:srgbClr val="A38033"/>
                </a:solidFill>
                <a:latin typeface="Arial"/>
                <a:cs typeface="Arial"/>
              </a:rPr>
              <a:t> </a:t>
            </a:r>
            <a:r>
              <a:rPr dirty="0" sz="2550" spc="-210" b="1">
                <a:solidFill>
                  <a:srgbClr val="A38033"/>
                </a:solidFill>
                <a:latin typeface="Arial"/>
                <a:cs typeface="Arial"/>
              </a:rPr>
              <a:t>Compliance:</a:t>
            </a:r>
            <a:r>
              <a:rPr dirty="0" sz="2550" spc="-100" b="1">
                <a:solidFill>
                  <a:srgbClr val="A38033"/>
                </a:solidFill>
                <a:latin typeface="Arial"/>
                <a:cs typeface="Arial"/>
              </a:rPr>
              <a:t> </a:t>
            </a:r>
            <a:r>
              <a:rPr dirty="0" sz="2600" spc="-335">
                <a:solidFill>
                  <a:srgbClr val="161618"/>
                </a:solidFill>
                <a:latin typeface="Arial"/>
                <a:cs typeface="Arial"/>
              </a:rPr>
              <a:t>We</a:t>
            </a:r>
            <a:r>
              <a:rPr dirty="0" sz="2600" spc="-310">
                <a:solidFill>
                  <a:srgbClr val="161618"/>
                </a:solidFill>
                <a:latin typeface="Arial"/>
                <a:cs typeface="Arial"/>
              </a:rPr>
              <a:t> </a:t>
            </a:r>
            <a:r>
              <a:rPr dirty="0" sz="2600" spc="-110">
                <a:solidFill>
                  <a:srgbClr val="161618"/>
                </a:solidFill>
                <a:latin typeface="Arial"/>
                <a:cs typeface="Arial"/>
              </a:rPr>
              <a:t>eliminate </a:t>
            </a:r>
            <a:r>
              <a:rPr dirty="0" sz="2600" spc="-200">
                <a:solidFill>
                  <a:srgbClr val="161618"/>
                </a:solidFill>
                <a:latin typeface="Arial"/>
                <a:cs typeface="Arial"/>
              </a:rPr>
              <a:t>weeks</a:t>
            </a:r>
            <a:r>
              <a:rPr dirty="0" sz="2600" spc="-185">
                <a:solidFill>
                  <a:srgbClr val="161618"/>
                </a:solidFill>
                <a:latin typeface="Arial"/>
                <a:cs typeface="Arial"/>
              </a:rPr>
              <a:t> </a:t>
            </a:r>
            <a:r>
              <a:rPr dirty="0" sz="2600" spc="-30">
                <a:solidFill>
                  <a:srgbClr val="161618"/>
                </a:solidFill>
                <a:latin typeface="Arial"/>
                <a:cs typeface="Arial"/>
              </a:rPr>
              <a:t>of</a:t>
            </a:r>
            <a:r>
              <a:rPr dirty="0" sz="2600" spc="-335">
                <a:solidFill>
                  <a:srgbClr val="161618"/>
                </a:solidFill>
                <a:latin typeface="Arial"/>
                <a:cs typeface="Arial"/>
              </a:rPr>
              <a:t> </a:t>
            </a:r>
            <a:r>
              <a:rPr dirty="0" sz="2600" spc="-155">
                <a:solidFill>
                  <a:srgbClr val="161618"/>
                </a:solidFill>
                <a:latin typeface="Arial"/>
                <a:cs typeface="Arial"/>
              </a:rPr>
              <a:t>manual</a:t>
            </a:r>
            <a:r>
              <a:rPr dirty="0" sz="2600" spc="-200">
                <a:solidFill>
                  <a:srgbClr val="161618"/>
                </a:solidFill>
                <a:latin typeface="Arial"/>
                <a:cs typeface="Arial"/>
              </a:rPr>
              <a:t> </a:t>
            </a:r>
            <a:r>
              <a:rPr dirty="0" sz="2600" spc="-130">
                <a:solidFill>
                  <a:srgbClr val="161618"/>
                </a:solidFill>
                <a:latin typeface="Arial"/>
                <a:cs typeface="Arial"/>
              </a:rPr>
              <a:t>work</a:t>
            </a:r>
            <a:r>
              <a:rPr dirty="0" sz="2600" spc="-150">
                <a:solidFill>
                  <a:srgbClr val="161618"/>
                </a:solidFill>
                <a:latin typeface="Arial"/>
                <a:cs typeface="Arial"/>
              </a:rPr>
              <a:t> </a:t>
            </a:r>
            <a:r>
              <a:rPr dirty="0" sz="2600" spc="-145">
                <a:solidFill>
                  <a:srgbClr val="161618"/>
                </a:solidFill>
                <a:latin typeface="Arial"/>
                <a:cs typeface="Arial"/>
              </a:rPr>
              <a:t>per</a:t>
            </a:r>
            <a:r>
              <a:rPr dirty="0" sz="2600" spc="-140">
                <a:solidFill>
                  <a:srgbClr val="161618"/>
                </a:solidFill>
                <a:latin typeface="Arial"/>
                <a:cs typeface="Arial"/>
              </a:rPr>
              <a:t> </a:t>
            </a:r>
            <a:r>
              <a:rPr dirty="0" sz="2600" spc="-25">
                <a:solidFill>
                  <a:srgbClr val="161618"/>
                </a:solidFill>
                <a:latin typeface="Arial"/>
                <a:cs typeface="Arial"/>
              </a:rPr>
              <a:t>server.</a:t>
            </a:r>
            <a:endParaRPr sz="2600">
              <a:latin typeface="Arial"/>
              <a:cs typeface="Arial"/>
            </a:endParaRPr>
          </a:p>
          <a:p>
            <a:pPr marL="95250" marR="5080" indent="4445">
              <a:lnSpc>
                <a:spcPct val="88600"/>
              </a:lnSpc>
              <a:spcBef>
                <a:spcPts val="2625"/>
              </a:spcBef>
            </a:pPr>
            <a:r>
              <a:rPr dirty="0" sz="2550" spc="-240" b="1">
                <a:solidFill>
                  <a:srgbClr val="A38033"/>
                </a:solidFill>
                <a:latin typeface="Arial"/>
                <a:cs typeface="Arial"/>
              </a:rPr>
              <a:t>FIPS</a:t>
            </a:r>
            <a:r>
              <a:rPr dirty="0" sz="2550" spc="-345" b="1">
                <a:solidFill>
                  <a:srgbClr val="A38033"/>
                </a:solidFill>
                <a:latin typeface="Arial"/>
                <a:cs typeface="Arial"/>
              </a:rPr>
              <a:t> </a:t>
            </a:r>
            <a:r>
              <a:rPr dirty="0" sz="2550" spc="-140" b="1">
                <a:solidFill>
                  <a:srgbClr val="A38033"/>
                </a:solidFill>
                <a:latin typeface="Arial"/>
                <a:cs typeface="Arial"/>
              </a:rPr>
              <a:t>140-</a:t>
            </a:r>
            <a:r>
              <a:rPr dirty="0" sz="2550" spc="-150" b="1">
                <a:solidFill>
                  <a:srgbClr val="A38033"/>
                </a:solidFill>
                <a:latin typeface="Arial"/>
                <a:cs typeface="Arial"/>
              </a:rPr>
              <a:t>3</a:t>
            </a:r>
            <a:r>
              <a:rPr dirty="0" sz="2550" spc="-250" b="1">
                <a:solidFill>
                  <a:srgbClr val="A38033"/>
                </a:solidFill>
                <a:latin typeface="Arial"/>
                <a:cs typeface="Arial"/>
              </a:rPr>
              <a:t> </a:t>
            </a:r>
            <a:r>
              <a:rPr dirty="0" sz="2550" spc="-140" b="1">
                <a:solidFill>
                  <a:srgbClr val="A38033"/>
                </a:solidFill>
                <a:latin typeface="Arial"/>
                <a:cs typeface="Arial"/>
              </a:rPr>
              <a:t>Certified:</a:t>
            </a:r>
            <a:r>
              <a:rPr dirty="0" sz="2550" spc="-185" b="1">
                <a:solidFill>
                  <a:srgbClr val="A38033"/>
                </a:solidFill>
                <a:latin typeface="Arial"/>
                <a:cs typeface="Arial"/>
              </a:rPr>
              <a:t> </a:t>
            </a:r>
            <a:r>
              <a:rPr dirty="0" sz="2600" spc="-150">
                <a:solidFill>
                  <a:srgbClr val="161618"/>
                </a:solidFill>
                <a:latin typeface="Arial"/>
                <a:cs typeface="Arial"/>
              </a:rPr>
              <a:t>A</a:t>
            </a:r>
            <a:r>
              <a:rPr dirty="0" sz="2600" spc="-150">
                <a:solidFill>
                  <a:srgbClr val="030303"/>
                </a:solidFill>
                <a:latin typeface="Arial"/>
                <a:cs typeface="Arial"/>
              </a:rPr>
              <a:t>12-</a:t>
            </a:r>
            <a:r>
              <a:rPr dirty="0" sz="2600" spc="-215">
                <a:solidFill>
                  <a:srgbClr val="030303"/>
                </a:solidFill>
                <a:latin typeface="Arial"/>
                <a:cs typeface="Arial"/>
              </a:rPr>
              <a:t>24</a:t>
            </a:r>
            <a:r>
              <a:rPr dirty="0" sz="2600" spc="-175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dirty="0" sz="2600" spc="-90">
                <a:solidFill>
                  <a:srgbClr val="030303"/>
                </a:solidFill>
                <a:latin typeface="Arial"/>
                <a:cs typeface="Arial"/>
              </a:rPr>
              <a:t>month </a:t>
            </a:r>
            <a:r>
              <a:rPr dirty="0" sz="2600" spc="-145">
                <a:solidFill>
                  <a:srgbClr val="161618"/>
                </a:solidFill>
                <a:latin typeface="Arial"/>
                <a:cs typeface="Arial"/>
              </a:rPr>
              <a:t>competitive</a:t>
            </a:r>
            <a:r>
              <a:rPr dirty="0" sz="2600" spc="-10">
                <a:solidFill>
                  <a:srgbClr val="161618"/>
                </a:solidFill>
                <a:latin typeface="Arial"/>
                <a:cs typeface="Arial"/>
              </a:rPr>
              <a:t> </a:t>
            </a:r>
            <a:r>
              <a:rPr dirty="0" sz="2600" spc="-185">
                <a:solidFill>
                  <a:srgbClr val="030303"/>
                </a:solidFill>
                <a:latin typeface="Arial"/>
                <a:cs typeface="Arial"/>
              </a:rPr>
              <a:t>head</a:t>
            </a:r>
            <a:r>
              <a:rPr dirty="0" sz="2600" spc="-16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dirty="0" sz="2600" spc="-80">
                <a:solidFill>
                  <a:srgbClr val="2D2D2F"/>
                </a:solidFill>
                <a:latin typeface="Arial"/>
                <a:cs typeface="Arial"/>
              </a:rPr>
              <a:t>start,</a:t>
            </a:r>
            <a:r>
              <a:rPr dirty="0" sz="2600" spc="-370">
                <a:solidFill>
                  <a:srgbClr val="2D2D2F"/>
                </a:solidFill>
                <a:latin typeface="Arial"/>
                <a:cs typeface="Arial"/>
              </a:rPr>
              <a:t> </a:t>
            </a:r>
            <a:r>
              <a:rPr dirty="0" sz="2600" spc="-110">
                <a:solidFill>
                  <a:srgbClr val="161618"/>
                </a:solidFill>
                <a:latin typeface="Arial"/>
                <a:cs typeface="Arial"/>
              </a:rPr>
              <a:t>crucial</a:t>
            </a:r>
            <a:r>
              <a:rPr dirty="0" sz="2600" spc="-220">
                <a:solidFill>
                  <a:srgbClr val="161618"/>
                </a:solidFill>
                <a:latin typeface="Arial"/>
                <a:cs typeface="Arial"/>
              </a:rPr>
              <a:t> </a:t>
            </a:r>
            <a:r>
              <a:rPr dirty="0" sz="2600" spc="-25">
                <a:solidFill>
                  <a:srgbClr val="161618"/>
                </a:solidFill>
                <a:latin typeface="Arial"/>
                <a:cs typeface="Arial"/>
              </a:rPr>
              <a:t>for </a:t>
            </a:r>
            <a:r>
              <a:rPr dirty="0" sz="2600" spc="-125">
                <a:solidFill>
                  <a:srgbClr val="161618"/>
                </a:solidFill>
                <a:latin typeface="Arial"/>
                <a:cs typeface="Arial"/>
              </a:rPr>
              <a:t>federal</a:t>
            </a:r>
            <a:r>
              <a:rPr dirty="0" sz="2600" spc="-310">
                <a:solidFill>
                  <a:srgbClr val="161618"/>
                </a:solidFill>
                <a:latin typeface="Arial"/>
                <a:cs typeface="Arial"/>
              </a:rPr>
              <a:t> </a:t>
            </a:r>
            <a:r>
              <a:rPr dirty="0" sz="2600" spc="-40">
                <a:solidFill>
                  <a:srgbClr val="161618"/>
                </a:solidFill>
                <a:latin typeface="Arial"/>
                <a:cs typeface="Arial"/>
              </a:rPr>
              <a:t>contracts.</a:t>
            </a:r>
            <a:endParaRPr sz="2600">
              <a:latin typeface="Arial"/>
              <a:cs typeface="Arial"/>
            </a:endParaRPr>
          </a:p>
          <a:p>
            <a:pPr marL="97155" marR="199390" indent="1905">
              <a:lnSpc>
                <a:spcPct val="88600"/>
              </a:lnSpc>
              <a:spcBef>
                <a:spcPts val="1560"/>
              </a:spcBef>
            </a:pPr>
            <a:r>
              <a:rPr dirty="0" sz="2550" spc="-225" b="1">
                <a:solidFill>
                  <a:srgbClr val="A38033"/>
                </a:solidFill>
                <a:latin typeface="Arial"/>
                <a:cs typeface="Arial"/>
              </a:rPr>
              <a:t>Unique</a:t>
            </a:r>
            <a:r>
              <a:rPr dirty="0" sz="2550" spc="-105" b="1">
                <a:solidFill>
                  <a:srgbClr val="A38033"/>
                </a:solidFill>
                <a:latin typeface="Arial"/>
                <a:cs typeface="Arial"/>
              </a:rPr>
              <a:t> </a:t>
            </a:r>
            <a:r>
              <a:rPr dirty="0" sz="2550" spc="-190" b="1">
                <a:solidFill>
                  <a:srgbClr val="A38033"/>
                </a:solidFill>
                <a:latin typeface="Arial"/>
                <a:cs typeface="Arial"/>
              </a:rPr>
              <a:t>Proactive</a:t>
            </a:r>
            <a:r>
              <a:rPr dirty="0" sz="2550" spc="-30" b="1">
                <a:solidFill>
                  <a:srgbClr val="A38033"/>
                </a:solidFill>
                <a:latin typeface="Arial"/>
                <a:cs typeface="Arial"/>
              </a:rPr>
              <a:t> </a:t>
            </a:r>
            <a:r>
              <a:rPr dirty="0" sz="2550" spc="-175" b="1">
                <a:solidFill>
                  <a:srgbClr val="A38033"/>
                </a:solidFill>
                <a:latin typeface="Arial"/>
                <a:cs typeface="Arial"/>
              </a:rPr>
              <a:t>Security:</a:t>
            </a:r>
            <a:r>
              <a:rPr dirty="0" sz="2550" spc="-260" b="1">
                <a:solidFill>
                  <a:srgbClr val="A38033"/>
                </a:solidFill>
                <a:latin typeface="Arial"/>
                <a:cs typeface="Arial"/>
              </a:rPr>
              <a:t> </a:t>
            </a:r>
            <a:r>
              <a:rPr dirty="0" sz="2600" spc="-434">
                <a:solidFill>
                  <a:srgbClr val="030303"/>
                </a:solidFill>
                <a:latin typeface="Arial"/>
                <a:cs typeface="Arial"/>
              </a:rPr>
              <a:t>LKRG </a:t>
            </a:r>
            <a:r>
              <a:rPr dirty="0" sz="2600" spc="-165">
                <a:solidFill>
                  <a:srgbClr val="030303"/>
                </a:solidFill>
                <a:latin typeface="Arial"/>
                <a:cs typeface="Arial"/>
              </a:rPr>
              <a:t>provides</a:t>
            </a:r>
            <a:r>
              <a:rPr dirty="0" sz="2600" spc="-125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dirty="0" sz="2600" spc="-150">
                <a:solidFill>
                  <a:srgbClr val="161618"/>
                </a:solidFill>
                <a:latin typeface="Arial"/>
                <a:cs typeface="Arial"/>
              </a:rPr>
              <a:t>kernel-</a:t>
            </a:r>
            <a:r>
              <a:rPr dirty="0" sz="2600" spc="-140">
                <a:solidFill>
                  <a:srgbClr val="161618"/>
                </a:solidFill>
                <a:latin typeface="Arial"/>
                <a:cs typeface="Arial"/>
              </a:rPr>
              <a:t>level</a:t>
            </a:r>
            <a:r>
              <a:rPr dirty="0" sz="2600" spc="-280">
                <a:solidFill>
                  <a:srgbClr val="161618"/>
                </a:solidFill>
                <a:latin typeface="Arial"/>
                <a:cs typeface="Arial"/>
              </a:rPr>
              <a:t> </a:t>
            </a:r>
            <a:r>
              <a:rPr dirty="0" sz="2600" spc="-120">
                <a:solidFill>
                  <a:srgbClr val="161618"/>
                </a:solidFill>
                <a:latin typeface="Arial"/>
                <a:cs typeface="Arial"/>
              </a:rPr>
              <a:t>protection</a:t>
            </a:r>
            <a:r>
              <a:rPr dirty="0" sz="2600" spc="-35">
                <a:solidFill>
                  <a:srgbClr val="161618"/>
                </a:solidFill>
                <a:latin typeface="Arial"/>
                <a:cs typeface="Arial"/>
              </a:rPr>
              <a:t> </a:t>
            </a:r>
            <a:r>
              <a:rPr dirty="0" sz="2600" spc="-25">
                <a:solidFill>
                  <a:srgbClr val="161618"/>
                </a:solidFill>
                <a:latin typeface="Arial"/>
                <a:cs typeface="Arial"/>
              </a:rPr>
              <a:t>no </a:t>
            </a:r>
            <a:r>
              <a:rPr dirty="0" sz="2600" spc="-125">
                <a:solidFill>
                  <a:srgbClr val="161618"/>
                </a:solidFill>
                <a:latin typeface="Arial"/>
                <a:cs typeface="Arial"/>
              </a:rPr>
              <a:t>competitor</a:t>
            </a:r>
            <a:r>
              <a:rPr dirty="0" sz="2600" spc="5">
                <a:solidFill>
                  <a:srgbClr val="161618"/>
                </a:solidFill>
                <a:latin typeface="Arial"/>
                <a:cs typeface="Arial"/>
              </a:rPr>
              <a:t> </a:t>
            </a:r>
            <a:r>
              <a:rPr dirty="0" sz="2600" spc="-10">
                <a:solidFill>
                  <a:srgbClr val="161618"/>
                </a:solidFill>
                <a:latin typeface="Arial"/>
                <a:cs typeface="Arial"/>
              </a:rPr>
              <a:t>offers.</a:t>
            </a:r>
            <a:endParaRPr sz="26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05"/>
              </a:spcBef>
            </a:pPr>
            <a:endParaRPr sz="2600">
              <a:latin typeface="Arial"/>
              <a:cs typeface="Arial"/>
            </a:endParaRPr>
          </a:p>
          <a:p>
            <a:pPr marL="19685">
              <a:lnSpc>
                <a:spcPct val="100000"/>
              </a:lnSpc>
            </a:pPr>
            <a:r>
              <a:rPr dirty="0" sz="3250" spc="-315" b="1">
                <a:solidFill>
                  <a:srgbClr val="030303"/>
                </a:solidFill>
                <a:latin typeface="Arial"/>
                <a:cs typeface="Arial"/>
              </a:rPr>
              <a:t>Superior</a:t>
            </a:r>
            <a:r>
              <a:rPr dirty="0" sz="3250" spc="-110" b="1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dirty="0" sz="3250" spc="-345" b="1">
                <a:solidFill>
                  <a:srgbClr val="030303"/>
                </a:solidFill>
                <a:latin typeface="Arial"/>
                <a:cs typeface="Arial"/>
              </a:rPr>
              <a:t>Economics</a:t>
            </a:r>
            <a:endParaRPr sz="3250">
              <a:latin typeface="Arial"/>
              <a:cs typeface="Arial"/>
            </a:endParaRPr>
          </a:p>
          <a:p>
            <a:pPr marL="12700" marR="179705" indent="2540">
              <a:lnSpc>
                <a:spcPct val="88100"/>
              </a:lnSpc>
              <a:spcBef>
                <a:spcPts val="1445"/>
              </a:spcBef>
            </a:pPr>
            <a:r>
              <a:rPr dirty="0" sz="2550" spc="-185" b="1">
                <a:solidFill>
                  <a:srgbClr val="A38033"/>
                </a:solidFill>
                <a:latin typeface="Arial"/>
                <a:cs typeface="Arial"/>
              </a:rPr>
              <a:t>40-</a:t>
            </a:r>
            <a:r>
              <a:rPr dirty="0" sz="2550" spc="-250" b="1">
                <a:solidFill>
                  <a:srgbClr val="A38033"/>
                </a:solidFill>
                <a:latin typeface="Arial"/>
                <a:cs typeface="Arial"/>
              </a:rPr>
              <a:t>60%</a:t>
            </a:r>
            <a:r>
              <a:rPr dirty="0" sz="2550" spc="-195" b="1">
                <a:solidFill>
                  <a:srgbClr val="A38033"/>
                </a:solidFill>
                <a:latin typeface="Arial"/>
                <a:cs typeface="Arial"/>
              </a:rPr>
              <a:t> </a:t>
            </a:r>
            <a:r>
              <a:rPr dirty="0" sz="2550" spc="-275" b="1">
                <a:solidFill>
                  <a:srgbClr val="A38033"/>
                </a:solidFill>
                <a:latin typeface="Arial"/>
                <a:cs typeface="Arial"/>
              </a:rPr>
              <a:t>Lower</a:t>
            </a:r>
            <a:r>
              <a:rPr dirty="0" sz="2550" spc="-100" b="1">
                <a:solidFill>
                  <a:srgbClr val="A38033"/>
                </a:solidFill>
                <a:latin typeface="Arial"/>
                <a:cs typeface="Arial"/>
              </a:rPr>
              <a:t> </a:t>
            </a:r>
            <a:r>
              <a:rPr dirty="0" sz="2550" spc="-455" b="1">
                <a:solidFill>
                  <a:srgbClr val="A38033"/>
                </a:solidFill>
                <a:latin typeface="Arial"/>
                <a:cs typeface="Arial"/>
              </a:rPr>
              <a:t>TCO</a:t>
            </a:r>
            <a:r>
              <a:rPr dirty="0" sz="2550" spc="-210" b="1">
                <a:solidFill>
                  <a:srgbClr val="A38033"/>
                </a:solidFill>
                <a:latin typeface="Arial"/>
                <a:cs typeface="Arial"/>
              </a:rPr>
              <a:t> </a:t>
            </a:r>
            <a:r>
              <a:rPr dirty="0" sz="2550" spc="-185" b="1">
                <a:solidFill>
                  <a:srgbClr val="A38033"/>
                </a:solidFill>
                <a:latin typeface="Arial"/>
                <a:cs typeface="Arial"/>
              </a:rPr>
              <a:t>than</a:t>
            </a:r>
            <a:r>
              <a:rPr dirty="0" sz="2550" spc="-315" b="1">
                <a:solidFill>
                  <a:srgbClr val="A38033"/>
                </a:solidFill>
                <a:latin typeface="Arial"/>
                <a:cs typeface="Arial"/>
              </a:rPr>
              <a:t> </a:t>
            </a:r>
            <a:r>
              <a:rPr dirty="0" sz="2550" spc="-345" b="1">
                <a:solidFill>
                  <a:srgbClr val="A38033"/>
                </a:solidFill>
                <a:latin typeface="Arial"/>
                <a:cs typeface="Arial"/>
              </a:rPr>
              <a:t>RHEL:</a:t>
            </a:r>
            <a:r>
              <a:rPr dirty="0" sz="2550" spc="-204" b="1">
                <a:solidFill>
                  <a:srgbClr val="A38033"/>
                </a:solidFill>
                <a:latin typeface="Arial"/>
                <a:cs typeface="Arial"/>
              </a:rPr>
              <a:t> </a:t>
            </a:r>
            <a:r>
              <a:rPr dirty="0" sz="2600" spc="-25">
                <a:solidFill>
                  <a:srgbClr val="161618"/>
                </a:solidFill>
                <a:latin typeface="Arial"/>
                <a:cs typeface="Arial"/>
              </a:rPr>
              <a:t>Our </a:t>
            </a:r>
            <a:r>
              <a:rPr dirty="0" sz="2600" spc="-125">
                <a:solidFill>
                  <a:srgbClr val="161618"/>
                </a:solidFill>
                <a:latin typeface="Arial"/>
                <a:cs typeface="Arial"/>
              </a:rPr>
              <a:t>price</a:t>
            </a:r>
            <a:r>
              <a:rPr dirty="0" sz="2600" spc="-275">
                <a:solidFill>
                  <a:srgbClr val="161618"/>
                </a:solidFill>
                <a:latin typeface="Arial"/>
                <a:cs typeface="Arial"/>
              </a:rPr>
              <a:t> </a:t>
            </a:r>
            <a:r>
              <a:rPr dirty="0" sz="2600" spc="-220">
                <a:solidFill>
                  <a:srgbClr val="161618"/>
                </a:solidFill>
                <a:latin typeface="Arial"/>
                <a:cs typeface="Arial"/>
              </a:rPr>
              <a:t>advantage,</a:t>
            </a:r>
            <a:r>
              <a:rPr dirty="0" sz="2600" spc="-175">
                <a:solidFill>
                  <a:srgbClr val="161618"/>
                </a:solidFill>
                <a:latin typeface="Arial"/>
                <a:cs typeface="Arial"/>
              </a:rPr>
              <a:t> </a:t>
            </a:r>
            <a:r>
              <a:rPr dirty="0" sz="2600" spc="-190">
                <a:solidFill>
                  <a:srgbClr val="161618"/>
                </a:solidFill>
                <a:latin typeface="Arial"/>
                <a:cs typeface="Arial"/>
              </a:rPr>
              <a:t>combined</a:t>
            </a:r>
            <a:r>
              <a:rPr dirty="0" sz="2600" spc="-75">
                <a:solidFill>
                  <a:srgbClr val="161618"/>
                </a:solidFill>
                <a:latin typeface="Arial"/>
                <a:cs typeface="Arial"/>
              </a:rPr>
              <a:t> </a:t>
            </a:r>
            <a:r>
              <a:rPr dirty="0" sz="2600" spc="-20">
                <a:solidFill>
                  <a:srgbClr val="161618"/>
                </a:solidFill>
                <a:latin typeface="Arial"/>
                <a:cs typeface="Arial"/>
              </a:rPr>
              <a:t>with </a:t>
            </a:r>
            <a:r>
              <a:rPr dirty="0" sz="2600" spc="-125">
                <a:solidFill>
                  <a:srgbClr val="161618"/>
                </a:solidFill>
                <a:latin typeface="Arial"/>
                <a:cs typeface="Arial"/>
              </a:rPr>
              <a:t>labor</a:t>
            </a:r>
            <a:r>
              <a:rPr dirty="0" sz="2600" spc="-185">
                <a:solidFill>
                  <a:srgbClr val="161618"/>
                </a:solidFill>
                <a:latin typeface="Arial"/>
                <a:cs typeface="Arial"/>
              </a:rPr>
              <a:t> </a:t>
            </a:r>
            <a:r>
              <a:rPr dirty="0" sz="2600" spc="-204">
                <a:solidFill>
                  <a:srgbClr val="161618"/>
                </a:solidFill>
                <a:latin typeface="Arial"/>
                <a:cs typeface="Arial"/>
              </a:rPr>
              <a:t>savings,</a:t>
            </a:r>
            <a:r>
              <a:rPr dirty="0" sz="2600" spc="-305">
                <a:solidFill>
                  <a:srgbClr val="161618"/>
                </a:solidFill>
                <a:latin typeface="Arial"/>
                <a:cs typeface="Arial"/>
              </a:rPr>
              <a:t> </a:t>
            </a:r>
            <a:r>
              <a:rPr dirty="0" sz="2600" spc="-190">
                <a:solidFill>
                  <a:srgbClr val="161618"/>
                </a:solidFill>
                <a:latin typeface="Arial"/>
                <a:cs typeface="Arial"/>
              </a:rPr>
              <a:t>creates</a:t>
            </a:r>
            <a:r>
              <a:rPr dirty="0" sz="2600" spc="-204">
                <a:solidFill>
                  <a:srgbClr val="161618"/>
                </a:solidFill>
                <a:latin typeface="Arial"/>
                <a:cs typeface="Arial"/>
              </a:rPr>
              <a:t> </a:t>
            </a:r>
            <a:r>
              <a:rPr dirty="0" sz="2600" spc="-155">
                <a:solidFill>
                  <a:srgbClr val="161618"/>
                </a:solidFill>
                <a:latin typeface="Arial"/>
                <a:cs typeface="Arial"/>
              </a:rPr>
              <a:t>an</a:t>
            </a:r>
            <a:r>
              <a:rPr dirty="0" sz="2600" spc="-365">
                <a:solidFill>
                  <a:srgbClr val="161618"/>
                </a:solidFill>
                <a:latin typeface="Arial"/>
                <a:cs typeface="Arial"/>
              </a:rPr>
              <a:t> </a:t>
            </a:r>
            <a:r>
              <a:rPr dirty="0" sz="2600" spc="-180">
                <a:solidFill>
                  <a:srgbClr val="161618"/>
                </a:solidFill>
                <a:latin typeface="Arial"/>
                <a:cs typeface="Arial"/>
              </a:rPr>
              <a:t>undeniable </a:t>
            </a:r>
            <a:r>
              <a:rPr dirty="0" sz="2600" spc="-200">
                <a:solidFill>
                  <a:srgbClr val="161618"/>
                </a:solidFill>
                <a:latin typeface="Arial"/>
                <a:cs typeface="Arial"/>
              </a:rPr>
              <a:t>value </a:t>
            </a:r>
            <a:r>
              <a:rPr dirty="0" sz="2600" spc="-65">
                <a:solidFill>
                  <a:srgbClr val="161618"/>
                </a:solidFill>
                <a:latin typeface="Arial"/>
                <a:cs typeface="Arial"/>
              </a:rPr>
              <a:t>proposition.</a:t>
            </a:r>
            <a:endParaRPr sz="2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955257" y="1793725"/>
            <a:ext cx="4331335" cy="3532504"/>
          </a:xfrm>
          <a:prstGeom prst="rect">
            <a:avLst/>
          </a:prstGeom>
        </p:spPr>
        <p:txBody>
          <a:bodyPr wrap="square" lIns="0" tIns="1936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25"/>
              </a:spcBef>
            </a:pPr>
            <a:r>
              <a:rPr dirty="0" sz="3250" spc="-190" b="1">
                <a:solidFill>
                  <a:srgbClr val="030303"/>
                </a:solidFill>
                <a:latin typeface="Arial"/>
                <a:cs typeface="Arial"/>
              </a:rPr>
              <a:t>Perfect</a:t>
            </a:r>
            <a:r>
              <a:rPr dirty="0" sz="3250" spc="-170" b="1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dirty="0" sz="3250" spc="-200" b="1">
                <a:solidFill>
                  <a:srgbClr val="030303"/>
                </a:solidFill>
                <a:latin typeface="Arial"/>
                <a:cs typeface="Arial"/>
              </a:rPr>
              <a:t>Market</a:t>
            </a:r>
            <a:r>
              <a:rPr dirty="0" sz="3250" spc="-245" b="1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dirty="0" sz="3250" spc="-75" b="1">
                <a:solidFill>
                  <a:srgbClr val="030303"/>
                </a:solidFill>
                <a:latin typeface="Arial"/>
                <a:cs typeface="Arial"/>
              </a:rPr>
              <a:t>Timing</a:t>
            </a:r>
            <a:endParaRPr sz="3250">
              <a:latin typeface="Arial"/>
              <a:cs typeface="Arial"/>
            </a:endParaRPr>
          </a:p>
          <a:p>
            <a:pPr marL="26034" marR="119380" indent="1270">
              <a:lnSpc>
                <a:spcPct val="88700"/>
              </a:lnSpc>
              <a:spcBef>
                <a:spcPts val="1470"/>
              </a:spcBef>
            </a:pPr>
            <a:r>
              <a:rPr dirty="0" sz="2550" spc="-385" b="1">
                <a:solidFill>
                  <a:srgbClr val="A38033"/>
                </a:solidFill>
                <a:latin typeface="Arial"/>
                <a:cs typeface="Arial"/>
              </a:rPr>
              <a:t>CMMC</a:t>
            </a:r>
            <a:r>
              <a:rPr dirty="0" sz="2550" spc="-300" b="1">
                <a:solidFill>
                  <a:srgbClr val="A38033"/>
                </a:solidFill>
                <a:latin typeface="Arial"/>
                <a:cs typeface="Arial"/>
              </a:rPr>
              <a:t> </a:t>
            </a:r>
            <a:r>
              <a:rPr dirty="0" sz="2550" spc="-210" b="1">
                <a:solidFill>
                  <a:srgbClr val="A38033"/>
                </a:solidFill>
                <a:latin typeface="Arial"/>
                <a:cs typeface="Arial"/>
              </a:rPr>
              <a:t>Enforcement</a:t>
            </a:r>
            <a:r>
              <a:rPr dirty="0" sz="2550" spc="105" b="1">
                <a:solidFill>
                  <a:srgbClr val="A38033"/>
                </a:solidFill>
                <a:latin typeface="Arial"/>
                <a:cs typeface="Arial"/>
              </a:rPr>
              <a:t> </a:t>
            </a:r>
            <a:r>
              <a:rPr dirty="0" sz="2550" spc="-220" b="1">
                <a:solidFill>
                  <a:srgbClr val="A38033"/>
                </a:solidFill>
                <a:latin typeface="Arial"/>
                <a:cs typeface="Arial"/>
              </a:rPr>
              <a:t>(Nov</a:t>
            </a:r>
            <a:r>
              <a:rPr dirty="0" sz="2550" spc="-254" b="1">
                <a:solidFill>
                  <a:srgbClr val="A38033"/>
                </a:solidFill>
                <a:latin typeface="Arial"/>
                <a:cs typeface="Arial"/>
              </a:rPr>
              <a:t> </a:t>
            </a:r>
            <a:r>
              <a:rPr dirty="0" sz="2550" spc="-110" b="1">
                <a:solidFill>
                  <a:srgbClr val="A38033"/>
                </a:solidFill>
                <a:latin typeface="Arial"/>
                <a:cs typeface="Arial"/>
              </a:rPr>
              <a:t>2025): </a:t>
            </a:r>
            <a:r>
              <a:rPr dirty="0" sz="2600" spc="-215">
                <a:solidFill>
                  <a:srgbClr val="161618"/>
                </a:solidFill>
                <a:latin typeface="Arial"/>
                <a:cs typeface="Arial"/>
              </a:rPr>
              <a:t>Creates </a:t>
            </a:r>
            <a:r>
              <a:rPr dirty="0" sz="2600" spc="-80">
                <a:solidFill>
                  <a:srgbClr val="161618"/>
                </a:solidFill>
                <a:latin typeface="Arial"/>
                <a:cs typeface="Arial"/>
              </a:rPr>
              <a:t>a</a:t>
            </a:r>
            <a:r>
              <a:rPr dirty="0" sz="2600" spc="-235">
                <a:solidFill>
                  <a:srgbClr val="161618"/>
                </a:solidFill>
                <a:latin typeface="Arial"/>
                <a:cs typeface="Arial"/>
              </a:rPr>
              <a:t> </a:t>
            </a:r>
            <a:r>
              <a:rPr dirty="0" sz="2600" spc="-150">
                <a:solidFill>
                  <a:srgbClr val="030303"/>
                </a:solidFill>
                <a:latin typeface="Arial"/>
                <a:cs typeface="Arial"/>
              </a:rPr>
              <a:t>market-</a:t>
            </a:r>
            <a:r>
              <a:rPr dirty="0" sz="2600" spc="-145">
                <a:solidFill>
                  <a:srgbClr val="030303"/>
                </a:solidFill>
                <a:latin typeface="Arial"/>
                <a:cs typeface="Arial"/>
              </a:rPr>
              <a:t>wide,</a:t>
            </a:r>
            <a:r>
              <a:rPr dirty="0" sz="2600" spc="-20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dirty="0" sz="2600" spc="-20">
                <a:solidFill>
                  <a:srgbClr val="030303"/>
                </a:solidFill>
                <a:latin typeface="Arial"/>
                <a:cs typeface="Arial"/>
              </a:rPr>
              <a:t>non-</a:t>
            </a:r>
            <a:r>
              <a:rPr dirty="0" sz="2600" spc="-145">
                <a:solidFill>
                  <a:srgbClr val="030303"/>
                </a:solidFill>
                <a:latin typeface="Arial"/>
                <a:cs typeface="Arial"/>
              </a:rPr>
              <a:t>discretionary</a:t>
            </a:r>
            <a:r>
              <a:rPr dirty="0" sz="2600" spc="35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dirty="0" sz="2600" spc="-114">
                <a:solidFill>
                  <a:srgbClr val="161618"/>
                </a:solidFill>
                <a:latin typeface="Arial"/>
                <a:cs typeface="Arial"/>
              </a:rPr>
              <a:t>buying</a:t>
            </a:r>
            <a:r>
              <a:rPr dirty="0" sz="2600" spc="-345">
                <a:solidFill>
                  <a:srgbClr val="161618"/>
                </a:solidFill>
                <a:latin typeface="Arial"/>
                <a:cs typeface="Arial"/>
              </a:rPr>
              <a:t> </a:t>
            </a:r>
            <a:r>
              <a:rPr dirty="0" sz="2600" spc="-10">
                <a:solidFill>
                  <a:srgbClr val="161618"/>
                </a:solidFill>
                <a:latin typeface="Arial"/>
                <a:cs typeface="Arial"/>
              </a:rPr>
              <a:t>event.</a:t>
            </a:r>
            <a:endParaRPr sz="2600">
              <a:latin typeface="Arial"/>
              <a:cs typeface="Arial"/>
            </a:endParaRPr>
          </a:p>
          <a:p>
            <a:pPr marL="19050">
              <a:lnSpc>
                <a:spcPts val="2910"/>
              </a:lnSpc>
              <a:spcBef>
                <a:spcPts val="1250"/>
              </a:spcBef>
            </a:pPr>
            <a:r>
              <a:rPr dirty="0" sz="2550" spc="-240" b="1">
                <a:solidFill>
                  <a:srgbClr val="A38033"/>
                </a:solidFill>
                <a:latin typeface="Arial"/>
                <a:cs typeface="Arial"/>
              </a:rPr>
              <a:t>FIPS</a:t>
            </a:r>
            <a:r>
              <a:rPr dirty="0" sz="2550" spc="-250" b="1">
                <a:solidFill>
                  <a:srgbClr val="A38033"/>
                </a:solidFill>
                <a:latin typeface="Arial"/>
                <a:cs typeface="Arial"/>
              </a:rPr>
              <a:t> </a:t>
            </a:r>
            <a:r>
              <a:rPr dirty="0" sz="2550" spc="-140" b="1">
                <a:solidFill>
                  <a:srgbClr val="A38033"/>
                </a:solidFill>
                <a:latin typeface="Arial"/>
                <a:cs typeface="Arial"/>
              </a:rPr>
              <a:t>140-</a:t>
            </a:r>
            <a:r>
              <a:rPr dirty="0" sz="2550" spc="-150" b="1">
                <a:solidFill>
                  <a:srgbClr val="A38033"/>
                </a:solidFill>
                <a:latin typeface="Arial"/>
                <a:cs typeface="Arial"/>
              </a:rPr>
              <a:t>2</a:t>
            </a:r>
            <a:r>
              <a:rPr dirty="0" sz="2550" spc="-229" b="1">
                <a:solidFill>
                  <a:srgbClr val="A38033"/>
                </a:solidFill>
                <a:latin typeface="Arial"/>
                <a:cs typeface="Arial"/>
              </a:rPr>
              <a:t> </a:t>
            </a:r>
            <a:r>
              <a:rPr dirty="0" sz="2550" spc="-235" b="1">
                <a:solidFill>
                  <a:srgbClr val="A38033"/>
                </a:solidFill>
                <a:latin typeface="Arial"/>
                <a:cs typeface="Arial"/>
              </a:rPr>
              <a:t>Sunset</a:t>
            </a:r>
            <a:r>
              <a:rPr dirty="0" sz="2550" spc="-150" b="1">
                <a:solidFill>
                  <a:srgbClr val="A38033"/>
                </a:solidFill>
                <a:latin typeface="Arial"/>
                <a:cs typeface="Arial"/>
              </a:rPr>
              <a:t> </a:t>
            </a:r>
            <a:r>
              <a:rPr dirty="0" sz="2550" spc="-215" b="1">
                <a:solidFill>
                  <a:srgbClr val="A38033"/>
                </a:solidFill>
                <a:latin typeface="Arial"/>
                <a:cs typeface="Arial"/>
              </a:rPr>
              <a:t>(Sep</a:t>
            </a:r>
            <a:r>
              <a:rPr dirty="0" sz="2550" spc="-200" b="1">
                <a:solidFill>
                  <a:srgbClr val="A38033"/>
                </a:solidFill>
                <a:latin typeface="Arial"/>
                <a:cs typeface="Arial"/>
              </a:rPr>
              <a:t> </a:t>
            </a:r>
            <a:r>
              <a:rPr dirty="0" sz="2550" spc="-10" b="1">
                <a:solidFill>
                  <a:srgbClr val="A38033"/>
                </a:solidFill>
                <a:latin typeface="Arial"/>
                <a:cs typeface="Arial"/>
              </a:rPr>
              <a:t>2026):</a:t>
            </a:r>
            <a:endParaRPr sz="2550">
              <a:latin typeface="Arial"/>
              <a:cs typeface="Arial"/>
            </a:endParaRPr>
          </a:p>
          <a:p>
            <a:pPr marL="17780" marR="5080" indent="-2540">
              <a:lnSpc>
                <a:spcPts val="2710"/>
              </a:lnSpc>
              <a:spcBef>
                <a:spcPts val="285"/>
              </a:spcBef>
            </a:pPr>
            <a:r>
              <a:rPr dirty="0" sz="2600" spc="-220">
                <a:solidFill>
                  <a:srgbClr val="030303"/>
                </a:solidFill>
                <a:latin typeface="Arial"/>
                <a:cs typeface="Arial"/>
              </a:rPr>
              <a:t>Forces</a:t>
            </a:r>
            <a:r>
              <a:rPr dirty="0" sz="2600" spc="-45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dirty="0" sz="2600" spc="-195">
                <a:solidFill>
                  <a:srgbClr val="161618"/>
                </a:solidFill>
                <a:latin typeface="Arial"/>
                <a:cs typeface="Arial"/>
              </a:rPr>
              <a:t>a</a:t>
            </a:r>
            <a:r>
              <a:rPr dirty="0" sz="2600" spc="-200">
                <a:solidFill>
                  <a:srgbClr val="161618"/>
                </a:solidFill>
                <a:latin typeface="Arial"/>
                <a:cs typeface="Arial"/>
              </a:rPr>
              <a:t> </a:t>
            </a:r>
            <a:r>
              <a:rPr dirty="0" sz="2600" spc="-155">
                <a:solidFill>
                  <a:srgbClr val="030303"/>
                </a:solidFill>
                <a:latin typeface="Arial"/>
                <a:cs typeface="Arial"/>
              </a:rPr>
              <a:t>technology</a:t>
            </a:r>
            <a:r>
              <a:rPr dirty="0" sz="2600" spc="25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dirty="0" sz="2600" spc="-150">
                <a:solidFill>
                  <a:srgbClr val="161618"/>
                </a:solidFill>
                <a:latin typeface="Arial"/>
                <a:cs typeface="Arial"/>
              </a:rPr>
              <a:t>refresh</a:t>
            </a:r>
            <a:r>
              <a:rPr dirty="0" sz="2600" spc="-140">
                <a:solidFill>
                  <a:srgbClr val="161618"/>
                </a:solidFill>
                <a:latin typeface="Arial"/>
                <a:cs typeface="Arial"/>
              </a:rPr>
              <a:t> </a:t>
            </a:r>
            <a:r>
              <a:rPr dirty="0" sz="2600" spc="-130">
                <a:solidFill>
                  <a:srgbClr val="161618"/>
                </a:solidFill>
                <a:latin typeface="Arial"/>
                <a:cs typeface="Arial"/>
              </a:rPr>
              <a:t>cycle </a:t>
            </a:r>
            <a:r>
              <a:rPr dirty="0" sz="2600" spc="-160">
                <a:solidFill>
                  <a:srgbClr val="161618"/>
                </a:solidFill>
                <a:latin typeface="Arial"/>
                <a:cs typeface="Arial"/>
              </a:rPr>
              <a:t>across</a:t>
            </a:r>
            <a:r>
              <a:rPr dirty="0" sz="2600" spc="-190">
                <a:solidFill>
                  <a:srgbClr val="161618"/>
                </a:solidFill>
                <a:latin typeface="Arial"/>
                <a:cs typeface="Arial"/>
              </a:rPr>
              <a:t> </a:t>
            </a:r>
            <a:r>
              <a:rPr dirty="0" sz="2600" spc="-100">
                <a:solidFill>
                  <a:srgbClr val="161618"/>
                </a:solidFill>
                <a:latin typeface="Arial"/>
                <a:cs typeface="Arial"/>
              </a:rPr>
              <a:t>the</a:t>
            </a:r>
            <a:r>
              <a:rPr dirty="0" sz="2600" spc="-245">
                <a:solidFill>
                  <a:srgbClr val="161618"/>
                </a:solidFill>
                <a:latin typeface="Arial"/>
                <a:cs typeface="Arial"/>
              </a:rPr>
              <a:t> </a:t>
            </a:r>
            <a:r>
              <a:rPr dirty="0" sz="2600" spc="-10">
                <a:solidFill>
                  <a:srgbClr val="030303"/>
                </a:solidFill>
                <a:latin typeface="Arial"/>
                <a:cs typeface="Arial"/>
              </a:rPr>
              <a:t>federal</a:t>
            </a:r>
            <a:endParaRPr sz="2600">
              <a:latin typeface="Arial"/>
              <a:cs typeface="Arial"/>
            </a:endParaRPr>
          </a:p>
          <a:p>
            <a:pPr marL="30480">
              <a:lnSpc>
                <a:spcPts val="2695"/>
              </a:lnSpc>
            </a:pPr>
            <a:r>
              <a:rPr dirty="0" sz="2600" spc="-85">
                <a:solidFill>
                  <a:srgbClr val="161618"/>
                </a:solidFill>
                <a:latin typeface="Arial"/>
                <a:cs typeface="Arial"/>
              </a:rPr>
              <a:t>ecosystem.</a:t>
            </a:r>
            <a:endParaRPr sz="2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935828" y="6761602"/>
            <a:ext cx="4540250" cy="1998980"/>
          </a:xfrm>
          <a:prstGeom prst="rect">
            <a:avLst/>
          </a:prstGeom>
        </p:spPr>
        <p:txBody>
          <a:bodyPr wrap="square" lIns="0" tIns="229870" rIns="0" bIns="0" rtlCol="0" vert="horz">
            <a:spAutoFit/>
          </a:bodyPr>
          <a:lstStyle/>
          <a:p>
            <a:pPr marL="22225">
              <a:lnSpc>
                <a:spcPct val="100000"/>
              </a:lnSpc>
              <a:spcBef>
                <a:spcPts val="1810"/>
              </a:spcBef>
            </a:pPr>
            <a:r>
              <a:rPr dirty="0" sz="3250" spc="-270" b="1">
                <a:solidFill>
                  <a:srgbClr val="030303"/>
                </a:solidFill>
                <a:latin typeface="Arial"/>
                <a:cs typeface="Arial"/>
              </a:rPr>
              <a:t>Strong</a:t>
            </a:r>
            <a:r>
              <a:rPr dirty="0" sz="3250" spc="-395" b="1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dirty="0" sz="3250" spc="-320" b="1">
                <a:solidFill>
                  <a:srgbClr val="030303"/>
                </a:solidFill>
                <a:latin typeface="Arial"/>
                <a:cs typeface="Arial"/>
              </a:rPr>
              <a:t>Foundation</a:t>
            </a:r>
            <a:endParaRPr sz="3250">
              <a:latin typeface="Arial"/>
              <a:cs typeface="Arial"/>
            </a:endParaRPr>
          </a:p>
          <a:p>
            <a:pPr marL="12700" marR="5080" indent="-635">
              <a:lnSpc>
                <a:spcPts val="2710"/>
              </a:lnSpc>
              <a:spcBef>
                <a:spcPts val="1810"/>
              </a:spcBef>
            </a:pPr>
            <a:r>
              <a:rPr dirty="0" sz="2600" spc="-105">
                <a:solidFill>
                  <a:srgbClr val="161618"/>
                </a:solidFill>
                <a:latin typeface="Arial"/>
                <a:cs typeface="Arial"/>
              </a:rPr>
              <a:t>Built</a:t>
            </a:r>
            <a:r>
              <a:rPr dirty="0" sz="2600" spc="-285">
                <a:solidFill>
                  <a:srgbClr val="161618"/>
                </a:solidFill>
                <a:latin typeface="Arial"/>
                <a:cs typeface="Arial"/>
              </a:rPr>
              <a:t> </a:t>
            </a:r>
            <a:r>
              <a:rPr dirty="0" sz="2600" spc="-170">
                <a:solidFill>
                  <a:srgbClr val="161618"/>
                </a:solidFill>
                <a:latin typeface="Arial"/>
                <a:cs typeface="Arial"/>
              </a:rPr>
              <a:t>on</a:t>
            </a:r>
            <a:r>
              <a:rPr dirty="0" sz="2600" spc="-330">
                <a:solidFill>
                  <a:srgbClr val="161618"/>
                </a:solidFill>
                <a:latin typeface="Arial"/>
                <a:cs typeface="Arial"/>
              </a:rPr>
              <a:t> </a:t>
            </a:r>
            <a:r>
              <a:rPr dirty="0" sz="2600" spc="-145">
                <a:solidFill>
                  <a:srgbClr val="161618"/>
                </a:solidFill>
                <a:latin typeface="Arial"/>
                <a:cs typeface="Arial"/>
              </a:rPr>
              <a:t>the</a:t>
            </a:r>
            <a:r>
              <a:rPr dirty="0" sz="2600" spc="-345">
                <a:solidFill>
                  <a:srgbClr val="161618"/>
                </a:solidFill>
                <a:latin typeface="Arial"/>
                <a:cs typeface="Arial"/>
              </a:rPr>
              <a:t> </a:t>
            </a:r>
            <a:r>
              <a:rPr dirty="0" sz="2600" spc="-160">
                <a:solidFill>
                  <a:srgbClr val="161618"/>
                </a:solidFill>
                <a:latin typeface="Arial"/>
                <a:cs typeface="Arial"/>
              </a:rPr>
              <a:t>trusted</a:t>
            </a:r>
            <a:r>
              <a:rPr dirty="0" sz="2600" spc="-270">
                <a:solidFill>
                  <a:srgbClr val="161618"/>
                </a:solidFill>
                <a:latin typeface="Arial"/>
                <a:cs typeface="Arial"/>
              </a:rPr>
              <a:t> </a:t>
            </a:r>
            <a:r>
              <a:rPr dirty="0" sz="2600" spc="-290">
                <a:solidFill>
                  <a:srgbClr val="161618"/>
                </a:solidFill>
                <a:latin typeface="Arial"/>
                <a:cs typeface="Arial"/>
              </a:rPr>
              <a:t>Rocky</a:t>
            </a:r>
            <a:r>
              <a:rPr dirty="0" sz="2600" spc="-145">
                <a:solidFill>
                  <a:srgbClr val="161618"/>
                </a:solidFill>
                <a:latin typeface="Arial"/>
                <a:cs typeface="Arial"/>
              </a:rPr>
              <a:t> </a:t>
            </a:r>
            <a:r>
              <a:rPr dirty="0" sz="2600" spc="-220">
                <a:solidFill>
                  <a:srgbClr val="030303"/>
                </a:solidFill>
                <a:latin typeface="Arial"/>
                <a:cs typeface="Arial"/>
              </a:rPr>
              <a:t>Linux</a:t>
            </a:r>
            <a:r>
              <a:rPr dirty="0" sz="2600" spc="-225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dirty="0" sz="2600" spc="-280">
                <a:solidFill>
                  <a:srgbClr val="161618"/>
                </a:solidFill>
                <a:latin typeface="Arial"/>
                <a:cs typeface="Arial"/>
              </a:rPr>
              <a:t>base </a:t>
            </a:r>
            <a:r>
              <a:rPr dirty="0" sz="2600" spc="-90">
                <a:solidFill>
                  <a:srgbClr val="161618"/>
                </a:solidFill>
                <a:latin typeface="Arial"/>
                <a:cs typeface="Arial"/>
              </a:rPr>
              <a:t>with</a:t>
            </a:r>
            <a:r>
              <a:rPr dirty="0" sz="2600" spc="-355">
                <a:solidFill>
                  <a:srgbClr val="161618"/>
                </a:solidFill>
                <a:latin typeface="Arial"/>
                <a:cs typeface="Arial"/>
              </a:rPr>
              <a:t> </a:t>
            </a:r>
            <a:r>
              <a:rPr dirty="0" sz="2600" spc="-150">
                <a:solidFill>
                  <a:srgbClr val="161618"/>
                </a:solidFill>
                <a:latin typeface="Arial"/>
                <a:cs typeface="Arial"/>
              </a:rPr>
              <a:t>millions</a:t>
            </a:r>
            <a:r>
              <a:rPr dirty="0" sz="2600" spc="-120">
                <a:solidFill>
                  <a:srgbClr val="161618"/>
                </a:solidFill>
                <a:latin typeface="Arial"/>
                <a:cs typeface="Arial"/>
              </a:rPr>
              <a:t> </a:t>
            </a:r>
            <a:r>
              <a:rPr dirty="0" sz="2600" spc="-130">
                <a:solidFill>
                  <a:srgbClr val="161618"/>
                </a:solidFill>
                <a:latin typeface="Arial"/>
                <a:cs typeface="Arial"/>
              </a:rPr>
              <a:t>of</a:t>
            </a:r>
            <a:r>
              <a:rPr dirty="0" sz="2600" spc="-350">
                <a:solidFill>
                  <a:srgbClr val="161618"/>
                </a:solidFill>
                <a:latin typeface="Arial"/>
                <a:cs typeface="Arial"/>
              </a:rPr>
              <a:t> </a:t>
            </a:r>
            <a:r>
              <a:rPr dirty="0" sz="2600" spc="-155">
                <a:solidFill>
                  <a:srgbClr val="161618"/>
                </a:solidFill>
                <a:latin typeface="Arial"/>
                <a:cs typeface="Arial"/>
              </a:rPr>
              <a:t>existing</a:t>
            </a:r>
            <a:r>
              <a:rPr dirty="0" sz="2600" spc="-365">
                <a:solidFill>
                  <a:srgbClr val="161618"/>
                </a:solidFill>
                <a:latin typeface="Arial"/>
                <a:cs typeface="Arial"/>
              </a:rPr>
              <a:t> </a:t>
            </a:r>
            <a:r>
              <a:rPr dirty="0" sz="2600" spc="-85">
                <a:solidFill>
                  <a:srgbClr val="161618"/>
                </a:solidFill>
                <a:latin typeface="Arial"/>
                <a:cs typeface="Arial"/>
              </a:rPr>
              <a:t>community </a:t>
            </a:r>
            <a:r>
              <a:rPr dirty="0" sz="2600" spc="-140">
                <a:solidFill>
                  <a:srgbClr val="161618"/>
                </a:solidFill>
                <a:latin typeface="Arial"/>
                <a:cs typeface="Arial"/>
              </a:rPr>
              <a:t>deployments.</a:t>
            </a:r>
            <a:endParaRPr sz="2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2025-12-07T23:42:44Z</dcterms:created>
  <dcterms:modified xsi:type="dcterms:W3CDTF">2025-12-07T23:42:44Z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2025-12-07T00:00:00Z</vt:filetime>
  </property>
  <property fmtid="{D5CDD505-2E9C-101B-9397-08002B2CF9AE}" pid="3" name="LastSaved">
    <vt:filetime>2025-12-07T00:00:00Z</vt:filetime>
  </property>
</Properties>
</file>