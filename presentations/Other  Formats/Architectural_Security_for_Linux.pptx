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1" i="0">
                <a:solidFill>
                  <a:srgbClr val="05050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1" i="0">
                <a:solidFill>
                  <a:srgbClr val="05050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1" i="0">
                <a:solidFill>
                  <a:srgbClr val="05050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1" i="0">
                <a:solidFill>
                  <a:srgbClr val="05050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9002" y="81909"/>
            <a:ext cx="13790294" cy="2003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1" i="0">
                <a:solidFill>
                  <a:srgbClr val="05050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9587" y="2093912"/>
            <a:ext cx="16456025" cy="6813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image" Target="../media/image34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jpg"/><Relationship Id="rId8" Type="http://schemas.openxmlformats.org/officeDocument/2006/relationships/image" Target="../media/image43.jpg"/><Relationship Id="rId9" Type="http://schemas.openxmlformats.org/officeDocument/2006/relationships/image" Target="../media/image4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82584" y="2840513"/>
            <a:ext cx="9056370" cy="5407025"/>
            <a:chOff x="3782584" y="2840513"/>
            <a:chExt cx="9056370" cy="54070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6450" y="3396058"/>
              <a:ext cx="7922364" cy="48511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30552" y="7506758"/>
              <a:ext cx="1273691" cy="63830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113417" y="6128012"/>
              <a:ext cx="0" cy="459740"/>
            </a:xfrm>
            <a:custGeom>
              <a:avLst/>
              <a:gdLst/>
              <a:ahLst/>
              <a:cxnLst/>
              <a:rect l="l" t="t" r="r" b="b"/>
              <a:pathLst>
                <a:path w="0" h="459740">
                  <a:moveTo>
                    <a:pt x="0" y="459581"/>
                  </a:moveTo>
                  <a:lnTo>
                    <a:pt x="0" y="0"/>
                  </a:lnTo>
                </a:path>
              </a:pathLst>
            </a:custGeom>
            <a:ln w="764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883849" y="2859880"/>
              <a:ext cx="0" cy="536575"/>
            </a:xfrm>
            <a:custGeom>
              <a:avLst/>
              <a:gdLst/>
              <a:ahLst/>
              <a:cxnLst/>
              <a:rect l="l" t="t" r="r" b="b"/>
              <a:pathLst>
                <a:path w="0" h="536575">
                  <a:moveTo>
                    <a:pt x="0" y="536177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795602" y="7493989"/>
              <a:ext cx="2216785" cy="638810"/>
            </a:xfrm>
            <a:custGeom>
              <a:avLst/>
              <a:gdLst/>
              <a:ahLst/>
              <a:cxnLst/>
              <a:rect l="l" t="t" r="r" b="b"/>
              <a:pathLst>
                <a:path w="2216785" h="638809">
                  <a:moveTo>
                    <a:pt x="25473" y="0"/>
                  </a:moveTo>
                  <a:lnTo>
                    <a:pt x="2216223" y="0"/>
                  </a:lnTo>
                </a:path>
                <a:path w="2216785" h="638809">
                  <a:moveTo>
                    <a:pt x="0" y="638307"/>
                  </a:moveTo>
                  <a:lnTo>
                    <a:pt x="2216223" y="638307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352882" y="3617240"/>
              <a:ext cx="38735" cy="427990"/>
            </a:xfrm>
            <a:custGeom>
              <a:avLst/>
              <a:gdLst/>
              <a:ahLst/>
              <a:cxnLst/>
              <a:rect l="l" t="t" r="r" b="b"/>
              <a:pathLst>
                <a:path w="38734" h="427989">
                  <a:moveTo>
                    <a:pt x="38210" y="427584"/>
                  </a:moveTo>
                  <a:lnTo>
                    <a:pt x="0" y="427584"/>
                  </a:lnTo>
                  <a:lnTo>
                    <a:pt x="0" y="0"/>
                  </a:lnTo>
                  <a:lnTo>
                    <a:pt x="38210" y="0"/>
                  </a:lnTo>
                  <a:lnTo>
                    <a:pt x="38210" y="427584"/>
                  </a:lnTo>
                  <a:close/>
                </a:path>
              </a:pathLst>
            </a:custGeom>
            <a:solidFill>
              <a:srgbClr val="F2F2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3554401" y="357782"/>
            <a:ext cx="10370185" cy="11620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ts val="4460"/>
              </a:lnSpc>
              <a:spcBef>
                <a:spcPts val="120"/>
              </a:spcBef>
            </a:pPr>
            <a:r>
              <a:rPr dirty="0" sz="4000" spc="-240">
                <a:solidFill>
                  <a:srgbClr val="161613"/>
                </a:solidFill>
                <a:latin typeface="Arial"/>
                <a:cs typeface="Arial"/>
              </a:rPr>
              <a:t>Your</a:t>
            </a:r>
            <a:r>
              <a:rPr dirty="0" sz="4000" spc="-21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4000" spc="-105">
                <a:solidFill>
                  <a:srgbClr val="161613"/>
                </a:solidFill>
                <a:latin typeface="Arial"/>
                <a:cs typeface="Arial"/>
              </a:rPr>
              <a:t>Hardened</a:t>
            </a:r>
            <a:r>
              <a:rPr dirty="0" sz="4000" spc="-12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4000" spc="-180">
                <a:solidFill>
                  <a:srgbClr val="161613"/>
                </a:solidFill>
                <a:latin typeface="Arial"/>
                <a:cs typeface="Arial"/>
              </a:rPr>
              <a:t>Linux</a:t>
            </a:r>
            <a:r>
              <a:rPr dirty="0" sz="4000" spc="-185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4000" spc="-25">
                <a:solidFill>
                  <a:srgbClr val="161613"/>
                </a:solidFill>
                <a:latin typeface="Arial"/>
                <a:cs typeface="Arial"/>
              </a:rPr>
              <a:t>Is</a:t>
            </a:r>
            <a:r>
              <a:rPr dirty="0" sz="4000" spc="-43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4000" spc="-125">
                <a:solidFill>
                  <a:srgbClr val="161613"/>
                </a:solidFill>
                <a:latin typeface="Arial"/>
                <a:cs typeface="Arial"/>
              </a:rPr>
              <a:t>Configured</a:t>
            </a:r>
            <a:r>
              <a:rPr dirty="0" sz="4000" spc="-65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4000" spc="-55">
                <a:solidFill>
                  <a:srgbClr val="161613"/>
                </a:solidFill>
                <a:latin typeface="Arial"/>
                <a:cs typeface="Arial"/>
              </a:rPr>
              <a:t>Correctly.</a:t>
            </a:r>
            <a:endParaRPr sz="4000">
              <a:latin typeface="Arial"/>
              <a:cs typeface="Arial"/>
            </a:endParaRPr>
          </a:p>
          <a:p>
            <a:pPr algn="ctr">
              <a:lnSpc>
                <a:spcPts val="4460"/>
              </a:lnSpc>
            </a:pPr>
            <a:r>
              <a:rPr dirty="0" sz="4000" spc="-55">
                <a:solidFill>
                  <a:srgbClr val="161613"/>
                </a:solidFill>
                <a:latin typeface="Arial"/>
                <a:cs typeface="Arial"/>
              </a:rPr>
              <a:t>It's</a:t>
            </a:r>
            <a:r>
              <a:rPr dirty="0" sz="4000" spc="-29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4000" spc="-185">
                <a:solidFill>
                  <a:srgbClr val="161613"/>
                </a:solidFill>
                <a:latin typeface="Arial"/>
                <a:cs typeface="Arial"/>
              </a:rPr>
              <a:t>Also</a:t>
            </a:r>
            <a:r>
              <a:rPr dirty="0" sz="4000" spc="-37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4000" spc="-105">
                <a:solidFill>
                  <a:srgbClr val="161613"/>
                </a:solidFill>
                <a:latin typeface="Arial"/>
                <a:cs typeface="Arial"/>
              </a:rPr>
              <a:t>Fundamentally</a:t>
            </a:r>
            <a:r>
              <a:rPr dirty="0" sz="4000" spc="-65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4000" spc="-10">
                <a:solidFill>
                  <a:srgbClr val="161613"/>
                </a:solidFill>
                <a:latin typeface="Arial"/>
                <a:cs typeface="Arial"/>
              </a:rPr>
              <a:t>Vulnerable.</a:t>
            </a:r>
            <a:endParaRPr sz="4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78012" y="1644610"/>
            <a:ext cx="10104755" cy="93218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ctr" marL="12700" marR="5080" indent="31115">
              <a:lnSpc>
                <a:spcPct val="103600"/>
              </a:lnSpc>
              <a:spcBef>
                <a:spcPts val="145"/>
              </a:spcBef>
            </a:pPr>
            <a:r>
              <a:rPr dirty="0" sz="1900" spc="-65">
                <a:solidFill>
                  <a:srgbClr val="2D2D2A"/>
                </a:solidFill>
                <a:latin typeface="Arial"/>
                <a:cs typeface="Arial"/>
              </a:rPr>
              <a:t>The</a:t>
            </a:r>
            <a:r>
              <a:rPr dirty="0" sz="1900" spc="-15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2D2D2A"/>
                </a:solidFill>
                <a:latin typeface="Arial"/>
                <a:cs typeface="Arial"/>
              </a:rPr>
              <a:t>industry</a:t>
            </a:r>
            <a:r>
              <a:rPr dirty="0" sz="1900" spc="7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65">
                <a:solidFill>
                  <a:srgbClr val="2D2D2A"/>
                </a:solidFill>
                <a:latin typeface="Arial"/>
                <a:cs typeface="Arial"/>
              </a:rPr>
              <a:t>standard</a:t>
            </a:r>
            <a:r>
              <a:rPr dirty="0" sz="1900" spc="-10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D2D2A"/>
                </a:solidFill>
                <a:latin typeface="Arial"/>
                <a:cs typeface="Arial"/>
              </a:rPr>
              <a:t>for</a:t>
            </a:r>
            <a:r>
              <a:rPr dirty="0" sz="1900" spc="-165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60">
                <a:solidFill>
                  <a:srgbClr val="2D2D2A"/>
                </a:solidFill>
                <a:latin typeface="Arial"/>
                <a:cs typeface="Arial"/>
              </a:rPr>
              <a:t>hardening</a:t>
            </a:r>
            <a:r>
              <a:rPr dirty="0" sz="1900" spc="-13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D2D2A"/>
                </a:solidFill>
                <a:latin typeface="Arial"/>
                <a:cs typeface="Arial"/>
              </a:rPr>
              <a:t>is</a:t>
            </a:r>
            <a:r>
              <a:rPr dirty="0" sz="1900" spc="-19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65">
                <a:solidFill>
                  <a:srgbClr val="2D2D2A"/>
                </a:solidFill>
                <a:latin typeface="Arial"/>
                <a:cs typeface="Arial"/>
              </a:rPr>
              <a:t>based</a:t>
            </a:r>
            <a:r>
              <a:rPr dirty="0" sz="1900" spc="-125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D2D2A"/>
                </a:solidFill>
                <a:latin typeface="Arial"/>
                <a:cs typeface="Arial"/>
              </a:rPr>
              <a:t>on</a:t>
            </a:r>
            <a:r>
              <a:rPr dirty="0" sz="1900" spc="-185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50">
                <a:solidFill>
                  <a:srgbClr val="2D2D2A"/>
                </a:solidFill>
                <a:latin typeface="Arial"/>
                <a:cs typeface="Arial"/>
              </a:rPr>
              <a:t>a</a:t>
            </a:r>
            <a:r>
              <a:rPr dirty="0" sz="1900" spc="-9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65">
                <a:solidFill>
                  <a:srgbClr val="2D2D2A"/>
                </a:solidFill>
                <a:latin typeface="Arial"/>
                <a:cs typeface="Arial"/>
              </a:rPr>
              <a:t>flawed</a:t>
            </a:r>
            <a:r>
              <a:rPr dirty="0" sz="1900" spc="-45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75">
                <a:solidFill>
                  <a:srgbClr val="2D2D2A"/>
                </a:solidFill>
                <a:latin typeface="Arial"/>
                <a:cs typeface="Arial"/>
              </a:rPr>
              <a:t>premise:</a:t>
            </a:r>
            <a:r>
              <a:rPr dirty="0" sz="1900" spc="-16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D2D2A"/>
                </a:solidFill>
                <a:latin typeface="Arial"/>
                <a:cs typeface="Arial"/>
              </a:rPr>
              <a:t>that</a:t>
            </a:r>
            <a:r>
              <a:rPr dirty="0" sz="1900" spc="-204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D2D2A"/>
                </a:solidFill>
                <a:latin typeface="Arial"/>
                <a:cs typeface="Arial"/>
              </a:rPr>
              <a:t>perfect</a:t>
            </a:r>
            <a:r>
              <a:rPr dirty="0" sz="1900" spc="-7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40">
                <a:solidFill>
                  <a:srgbClr val="2D2D2A"/>
                </a:solidFill>
                <a:latin typeface="Arial"/>
                <a:cs typeface="Arial"/>
              </a:rPr>
              <a:t>configuration</a:t>
            </a:r>
            <a:r>
              <a:rPr dirty="0" sz="1900" spc="55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2D2D2A"/>
                </a:solidFill>
                <a:latin typeface="Arial"/>
                <a:cs typeface="Arial"/>
              </a:rPr>
              <a:t>and </a:t>
            </a:r>
            <a:r>
              <a:rPr dirty="0" sz="1900" spc="-30">
                <a:solidFill>
                  <a:srgbClr val="2D2D2A"/>
                </a:solidFill>
                <a:latin typeface="Arial"/>
                <a:cs typeface="Arial"/>
              </a:rPr>
              <a:t>rapid</a:t>
            </a:r>
            <a:r>
              <a:rPr dirty="0" sz="1900" spc="-195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40">
                <a:solidFill>
                  <a:srgbClr val="2D2D2A"/>
                </a:solidFill>
                <a:latin typeface="Arial"/>
                <a:cs typeface="Arial"/>
              </a:rPr>
              <a:t>patching</a:t>
            </a:r>
            <a:r>
              <a:rPr dirty="0" sz="1900" spc="-9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60">
                <a:solidFill>
                  <a:srgbClr val="161613"/>
                </a:solidFill>
                <a:latin typeface="Arial"/>
                <a:cs typeface="Arial"/>
              </a:rPr>
              <a:t>can</a:t>
            </a:r>
            <a:r>
              <a:rPr dirty="0" sz="1900" spc="-13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1900" spc="-80">
                <a:solidFill>
                  <a:srgbClr val="2D2D2A"/>
                </a:solidFill>
                <a:latin typeface="Arial"/>
                <a:cs typeface="Arial"/>
              </a:rPr>
              <a:t>achieve</a:t>
            </a:r>
            <a:r>
              <a:rPr dirty="0" sz="1900" spc="3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40">
                <a:solidFill>
                  <a:srgbClr val="2D2D2A"/>
                </a:solidFill>
                <a:latin typeface="Arial"/>
                <a:cs typeface="Arial"/>
              </a:rPr>
              <a:t>security.</a:t>
            </a:r>
            <a:r>
              <a:rPr dirty="0" sz="1900" spc="-65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80">
                <a:solidFill>
                  <a:srgbClr val="2D2D2A"/>
                </a:solidFill>
                <a:latin typeface="Arial"/>
                <a:cs typeface="Arial"/>
              </a:rPr>
              <a:t>This</a:t>
            </a:r>
            <a:r>
              <a:rPr dirty="0" sz="1900" spc="-114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50">
                <a:solidFill>
                  <a:srgbClr val="2D2D2A"/>
                </a:solidFill>
                <a:latin typeface="Arial"/>
                <a:cs typeface="Arial"/>
              </a:rPr>
              <a:t>reactive</a:t>
            </a:r>
            <a:r>
              <a:rPr dirty="0" sz="1900" spc="-85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45">
                <a:solidFill>
                  <a:srgbClr val="2D2D2A"/>
                </a:solidFill>
                <a:latin typeface="Arial"/>
                <a:cs typeface="Arial"/>
              </a:rPr>
              <a:t>model</a:t>
            </a:r>
            <a:r>
              <a:rPr dirty="0" sz="1900" spc="-17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75">
                <a:solidFill>
                  <a:srgbClr val="3F3D3B"/>
                </a:solidFill>
                <a:latin typeface="Arial"/>
                <a:cs typeface="Arial"/>
              </a:rPr>
              <a:t>leav</a:t>
            </a:r>
            <a:r>
              <a:rPr dirty="0" sz="1900" spc="-75">
                <a:solidFill>
                  <a:srgbClr val="161613"/>
                </a:solidFill>
                <a:latin typeface="Arial"/>
                <a:cs typeface="Arial"/>
              </a:rPr>
              <a:t>es</a:t>
            </a:r>
            <a:r>
              <a:rPr dirty="0" sz="1900" spc="-85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1900" spc="-50">
                <a:solidFill>
                  <a:srgbClr val="2D2D2A"/>
                </a:solidFill>
                <a:latin typeface="Arial"/>
                <a:cs typeface="Arial"/>
              </a:rPr>
              <a:t>a</a:t>
            </a:r>
            <a:r>
              <a:rPr dirty="0" sz="1900" spc="-19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70">
                <a:solidFill>
                  <a:srgbClr val="2D2D2A"/>
                </a:solidFill>
                <a:latin typeface="Arial"/>
                <a:cs typeface="Arial"/>
              </a:rPr>
              <a:t>permanent</a:t>
            </a:r>
            <a:r>
              <a:rPr dirty="0" sz="1900" spc="11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65">
                <a:solidFill>
                  <a:srgbClr val="2D2D2A"/>
                </a:solidFill>
                <a:latin typeface="Arial"/>
                <a:cs typeface="Arial"/>
              </a:rPr>
              <a:t>window</a:t>
            </a:r>
            <a:r>
              <a:rPr dirty="0" sz="1900" spc="-35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D2D2A"/>
                </a:solidFill>
                <a:latin typeface="Arial"/>
                <a:cs typeface="Arial"/>
              </a:rPr>
              <a:t>of</a:t>
            </a:r>
            <a:r>
              <a:rPr dirty="0" sz="1900" spc="-10">
                <a:solidFill>
                  <a:srgbClr val="2D2D2A"/>
                </a:solidFill>
                <a:latin typeface="Arial"/>
                <a:cs typeface="Arial"/>
              </a:rPr>
              <a:t> vulnerability </a:t>
            </a:r>
            <a:r>
              <a:rPr dirty="0" sz="1900">
                <a:solidFill>
                  <a:srgbClr val="2D2D2A"/>
                </a:solidFill>
                <a:latin typeface="Arial"/>
                <a:cs typeface="Arial"/>
              </a:rPr>
              <a:t>to</a:t>
            </a:r>
            <a:r>
              <a:rPr dirty="0" sz="1900" spc="-155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D2D2A"/>
                </a:solidFill>
                <a:latin typeface="Arial"/>
                <a:cs typeface="Arial"/>
              </a:rPr>
              <a:t>the</a:t>
            </a:r>
            <a:r>
              <a:rPr dirty="0" sz="1900" spc="-25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2D2D2A"/>
                </a:solidFill>
                <a:latin typeface="Arial"/>
                <a:cs typeface="Arial"/>
              </a:rPr>
              <a:t>most</a:t>
            </a:r>
            <a:r>
              <a:rPr dirty="0" sz="1900" spc="-7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75">
                <a:solidFill>
                  <a:srgbClr val="2D2D2A"/>
                </a:solidFill>
                <a:latin typeface="Arial"/>
                <a:cs typeface="Arial"/>
              </a:rPr>
              <a:t>dangerous</a:t>
            </a:r>
            <a:r>
              <a:rPr dirty="0" sz="1900" spc="165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161613"/>
                </a:solidFill>
                <a:latin typeface="Arial"/>
                <a:cs typeface="Arial"/>
              </a:rPr>
              <a:t>threats-those</a:t>
            </a:r>
            <a:r>
              <a:rPr dirty="0" sz="1900" spc="5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161613"/>
                </a:solidFill>
                <a:latin typeface="Arial"/>
                <a:cs typeface="Arial"/>
              </a:rPr>
              <a:t>that</a:t>
            </a:r>
            <a:r>
              <a:rPr dirty="0" sz="1900" spc="-95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1900" spc="-50">
                <a:solidFill>
                  <a:srgbClr val="2D2D2A"/>
                </a:solidFill>
                <a:latin typeface="Arial"/>
                <a:cs typeface="Arial"/>
              </a:rPr>
              <a:t>operate</a:t>
            </a:r>
            <a:r>
              <a:rPr dirty="0" sz="1900" spc="1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65">
                <a:solidFill>
                  <a:srgbClr val="2D2D2A"/>
                </a:solidFill>
                <a:latin typeface="Arial"/>
                <a:cs typeface="Arial"/>
              </a:rPr>
              <a:t>below</a:t>
            </a:r>
            <a:r>
              <a:rPr dirty="0" sz="1900" spc="4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D2D2A"/>
                </a:solidFill>
                <a:latin typeface="Arial"/>
                <a:cs typeface="Arial"/>
              </a:rPr>
              <a:t>the</a:t>
            </a:r>
            <a:r>
              <a:rPr dirty="0" sz="1900" spc="-20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45">
                <a:solidFill>
                  <a:srgbClr val="2D2D2A"/>
                </a:solidFill>
                <a:latin typeface="Arial"/>
                <a:cs typeface="Arial"/>
              </a:rPr>
              <a:t>configuration</a:t>
            </a:r>
            <a:r>
              <a:rPr dirty="0" sz="1900" spc="80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D2D2A"/>
                </a:solidFill>
                <a:latin typeface="Arial"/>
                <a:cs typeface="Arial"/>
              </a:rPr>
              <a:t>layer.</a:t>
            </a:r>
            <a:endParaRPr sz="1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40182" y="3606766"/>
            <a:ext cx="4121150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62610" algn="l"/>
                <a:tab pos="1161415" algn="l"/>
              </a:tabLst>
            </a:pPr>
            <a:r>
              <a:rPr dirty="0" sz="2550" spc="-325">
                <a:solidFill>
                  <a:srgbClr val="BFBFBC"/>
                </a:solidFill>
                <a:latin typeface="Times New Roman"/>
                <a:cs typeface="Times New Roman"/>
              </a:rPr>
              <a:t>,</a:t>
            </a:r>
            <a:r>
              <a:rPr dirty="0" sz="2550">
                <a:solidFill>
                  <a:srgbClr val="BFBFBC"/>
                </a:solidFill>
                <a:latin typeface="Times New Roman"/>
                <a:cs typeface="Times New Roman"/>
              </a:rPr>
              <a:t>	</a:t>
            </a:r>
            <a:r>
              <a:rPr dirty="0" sz="2550" spc="-365">
                <a:solidFill>
                  <a:srgbClr val="445966"/>
                </a:solidFill>
                <a:latin typeface="Times New Roman"/>
                <a:cs typeface="Times New Roman"/>
              </a:rPr>
              <a:t>/</a:t>
            </a:r>
            <a:r>
              <a:rPr dirty="0" sz="2550">
                <a:solidFill>
                  <a:srgbClr val="445966"/>
                </a:solidFill>
                <a:latin typeface="Times New Roman"/>
                <a:cs typeface="Times New Roman"/>
              </a:rPr>
              <a:t>	</a:t>
            </a:r>
            <a:r>
              <a:rPr dirty="0" sz="2550" spc="-90">
                <a:solidFill>
                  <a:srgbClr val="2D4656"/>
                </a:solidFill>
                <a:latin typeface="Times New Roman"/>
                <a:cs typeface="Times New Roman"/>
              </a:rPr>
              <a:t>CIS</a:t>
            </a:r>
            <a:r>
              <a:rPr dirty="0" sz="2550" spc="-175">
                <a:solidFill>
                  <a:srgbClr val="2D4656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445966"/>
                </a:solidFill>
                <a:latin typeface="Times New Roman"/>
                <a:cs typeface="Times New Roman"/>
              </a:rPr>
              <a:t>/</a:t>
            </a:r>
            <a:r>
              <a:rPr dirty="0" sz="2550" spc="145">
                <a:solidFill>
                  <a:srgbClr val="445966"/>
                </a:solidFill>
                <a:latin typeface="Times New Roman"/>
                <a:cs typeface="Times New Roman"/>
              </a:rPr>
              <a:t> </a:t>
            </a:r>
            <a:r>
              <a:rPr dirty="0" sz="2550" spc="-55">
                <a:solidFill>
                  <a:srgbClr val="2D4656"/>
                </a:solidFill>
                <a:latin typeface="Times New Roman"/>
                <a:cs typeface="Times New Roman"/>
              </a:rPr>
              <a:t>STIG</a:t>
            </a:r>
            <a:r>
              <a:rPr dirty="0" sz="2550" spc="-120">
                <a:solidFill>
                  <a:srgbClr val="2D4656"/>
                </a:solidFill>
                <a:latin typeface="Times New Roman"/>
                <a:cs typeface="Times New Roman"/>
              </a:rPr>
              <a:t> </a:t>
            </a:r>
            <a:r>
              <a:rPr dirty="0" sz="2550" spc="65">
                <a:solidFill>
                  <a:srgbClr val="183346"/>
                </a:solidFill>
                <a:latin typeface="Times New Roman"/>
                <a:cs typeface="Times New Roman"/>
              </a:rPr>
              <a:t>Harde</a:t>
            </a:r>
            <a:r>
              <a:rPr dirty="0" sz="2550" spc="65">
                <a:solidFill>
                  <a:srgbClr val="445966"/>
                </a:solidFill>
                <a:latin typeface="Times New Roman"/>
                <a:cs typeface="Times New Roman"/>
              </a:rPr>
              <a:t>n</a:t>
            </a:r>
            <a:r>
              <a:rPr dirty="0" sz="2550" spc="65">
                <a:solidFill>
                  <a:srgbClr val="183346"/>
                </a:solidFill>
                <a:latin typeface="Times New Roman"/>
                <a:cs typeface="Times New Roman"/>
              </a:rPr>
              <a:t>ing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28979" y="6152572"/>
            <a:ext cx="127635" cy="220979"/>
          </a:xfrm>
          <a:custGeom>
            <a:avLst/>
            <a:gdLst/>
            <a:ahLst/>
            <a:cxnLst/>
            <a:rect l="l" t="t" r="r" b="b"/>
            <a:pathLst>
              <a:path w="127634" h="220979">
                <a:moveTo>
                  <a:pt x="127369" y="220820"/>
                </a:moveTo>
                <a:lnTo>
                  <a:pt x="0" y="220820"/>
                </a:lnTo>
                <a:lnTo>
                  <a:pt x="0" y="0"/>
                </a:lnTo>
                <a:lnTo>
                  <a:pt x="127369" y="0"/>
                </a:lnTo>
                <a:lnTo>
                  <a:pt x="127369" y="220820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716278" y="6140847"/>
            <a:ext cx="17272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85">
                <a:solidFill>
                  <a:srgbClr val="BFBFBC"/>
                </a:solidFill>
                <a:latin typeface="Arial"/>
                <a:cs typeface="Arial"/>
              </a:rPr>
              <a:t>..:r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11501" y="6267318"/>
            <a:ext cx="544195" cy="255270"/>
          </a:xfrm>
          <a:custGeom>
            <a:avLst/>
            <a:gdLst/>
            <a:ahLst/>
            <a:cxnLst/>
            <a:rect l="l" t="t" r="r" b="b"/>
            <a:pathLst>
              <a:path w="544195" h="255270">
                <a:moveTo>
                  <a:pt x="544057" y="254793"/>
                </a:moveTo>
                <a:lnTo>
                  <a:pt x="0" y="254793"/>
                </a:lnTo>
                <a:lnTo>
                  <a:pt x="0" y="0"/>
                </a:lnTo>
                <a:lnTo>
                  <a:pt x="544057" y="0"/>
                </a:lnTo>
                <a:lnTo>
                  <a:pt x="544057" y="254793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298800" y="6255741"/>
            <a:ext cx="51308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6559" algn="l"/>
              </a:tabLst>
            </a:pPr>
            <a:r>
              <a:rPr dirty="0" sz="1500" spc="-10">
                <a:solidFill>
                  <a:srgbClr val="BFBFBC"/>
                </a:solidFill>
                <a:latin typeface="Arial"/>
                <a:cs typeface="Arial"/>
              </a:rPr>
              <a:t>l:j'..</a:t>
            </a:r>
            <a:r>
              <a:rPr dirty="0" sz="1500">
                <a:solidFill>
                  <a:srgbClr val="BFBFBC"/>
                </a:solidFill>
                <a:latin typeface="Arial"/>
                <a:cs typeface="Arial"/>
              </a:rPr>
              <a:t>	</a:t>
            </a:r>
            <a:r>
              <a:rPr dirty="0" sz="1500" spc="-65">
                <a:solidFill>
                  <a:srgbClr val="BFBFBC"/>
                </a:solidFill>
                <a:latin typeface="Arial"/>
                <a:cs typeface="Arial"/>
              </a:rPr>
              <a:t>,,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89321" y="6542501"/>
            <a:ext cx="26034" cy="93980"/>
          </a:xfrm>
          <a:custGeom>
            <a:avLst/>
            <a:gdLst/>
            <a:ahLst/>
            <a:cxnLst/>
            <a:rect l="l" t="t" r="r" b="b"/>
            <a:pathLst>
              <a:path w="26034" h="93979">
                <a:moveTo>
                  <a:pt x="25473" y="93424"/>
                </a:moveTo>
                <a:lnTo>
                  <a:pt x="0" y="93424"/>
                </a:lnTo>
                <a:lnTo>
                  <a:pt x="0" y="0"/>
                </a:lnTo>
                <a:lnTo>
                  <a:pt x="25473" y="0"/>
                </a:lnTo>
                <a:lnTo>
                  <a:pt x="25473" y="93424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876621" y="6530214"/>
            <a:ext cx="4000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50">
                <a:solidFill>
                  <a:srgbClr val="BFBFBC"/>
                </a:solidFill>
                <a:latin typeface="Arial"/>
                <a:cs typeface="Arial"/>
              </a:rPr>
              <a:t>I</a:t>
            </a:r>
            <a:endParaRPr sz="5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68345" y="6542501"/>
            <a:ext cx="280670" cy="93980"/>
          </a:xfrm>
          <a:custGeom>
            <a:avLst/>
            <a:gdLst/>
            <a:ahLst/>
            <a:cxnLst/>
            <a:rect l="l" t="t" r="r" b="b"/>
            <a:pathLst>
              <a:path w="280670" h="93979">
                <a:moveTo>
                  <a:pt x="280212" y="93424"/>
                </a:moveTo>
                <a:lnTo>
                  <a:pt x="0" y="93424"/>
                </a:lnTo>
                <a:lnTo>
                  <a:pt x="0" y="0"/>
                </a:lnTo>
                <a:lnTo>
                  <a:pt x="280212" y="0"/>
                </a:lnTo>
                <a:lnTo>
                  <a:pt x="280212" y="93424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155645" y="6530214"/>
            <a:ext cx="8191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30">
                <a:solidFill>
                  <a:srgbClr val="BFBFBC"/>
                </a:solidFill>
                <a:latin typeface="Arial"/>
                <a:cs typeface="Arial"/>
              </a:rPr>
              <a:t>�-</a:t>
            </a:r>
            <a:endParaRPr sz="5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906684" y="6631864"/>
            <a:ext cx="26034" cy="93980"/>
          </a:xfrm>
          <a:custGeom>
            <a:avLst/>
            <a:gdLst/>
            <a:ahLst/>
            <a:cxnLst/>
            <a:rect l="l" t="t" r="r" b="b"/>
            <a:pathLst>
              <a:path w="26034" h="93979">
                <a:moveTo>
                  <a:pt x="25473" y="93424"/>
                </a:moveTo>
                <a:lnTo>
                  <a:pt x="0" y="93424"/>
                </a:lnTo>
                <a:lnTo>
                  <a:pt x="0" y="0"/>
                </a:lnTo>
                <a:lnTo>
                  <a:pt x="25473" y="0"/>
                </a:lnTo>
                <a:lnTo>
                  <a:pt x="25473" y="93424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893983" y="6619577"/>
            <a:ext cx="546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50">
                <a:solidFill>
                  <a:srgbClr val="ACACA8"/>
                </a:solidFill>
                <a:latin typeface="Arial"/>
                <a:cs typeface="Arial"/>
              </a:rPr>
              <a:t>0</a:t>
            </a:r>
            <a:endParaRPr sz="5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901029" y="6675835"/>
            <a:ext cx="26034" cy="255270"/>
          </a:xfrm>
          <a:custGeom>
            <a:avLst/>
            <a:gdLst/>
            <a:ahLst/>
            <a:cxnLst/>
            <a:rect l="l" t="t" r="r" b="b"/>
            <a:pathLst>
              <a:path w="26034" h="255270">
                <a:moveTo>
                  <a:pt x="25473" y="254793"/>
                </a:moveTo>
                <a:lnTo>
                  <a:pt x="0" y="254793"/>
                </a:lnTo>
                <a:lnTo>
                  <a:pt x="0" y="0"/>
                </a:lnTo>
                <a:lnTo>
                  <a:pt x="25473" y="0"/>
                </a:lnTo>
                <a:lnTo>
                  <a:pt x="25473" y="254793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888329" y="6664259"/>
            <a:ext cx="5270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50">
                <a:solidFill>
                  <a:srgbClr val="ACACA8"/>
                </a:solidFill>
                <a:latin typeface="Arial"/>
                <a:cs typeface="Arial"/>
              </a:rPr>
              <a:t>'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238416" y="6758787"/>
            <a:ext cx="688340" cy="340360"/>
          </a:xfrm>
          <a:custGeom>
            <a:avLst/>
            <a:gdLst/>
            <a:ahLst/>
            <a:cxnLst/>
            <a:rect l="l" t="t" r="r" b="b"/>
            <a:pathLst>
              <a:path w="688340" h="340359">
                <a:moveTo>
                  <a:pt x="38214" y="0"/>
                </a:moveTo>
                <a:lnTo>
                  <a:pt x="0" y="0"/>
                </a:lnTo>
                <a:lnTo>
                  <a:pt x="0" y="76593"/>
                </a:lnTo>
                <a:lnTo>
                  <a:pt x="0" y="263283"/>
                </a:lnTo>
                <a:lnTo>
                  <a:pt x="0" y="339877"/>
                </a:lnTo>
                <a:lnTo>
                  <a:pt x="38214" y="339877"/>
                </a:lnTo>
                <a:lnTo>
                  <a:pt x="38214" y="263283"/>
                </a:lnTo>
                <a:lnTo>
                  <a:pt x="38214" y="76593"/>
                </a:lnTo>
                <a:lnTo>
                  <a:pt x="38214" y="0"/>
                </a:lnTo>
                <a:close/>
              </a:path>
              <a:path w="688340" h="340359">
                <a:moveTo>
                  <a:pt x="688086" y="6413"/>
                </a:moveTo>
                <a:lnTo>
                  <a:pt x="662609" y="6413"/>
                </a:lnTo>
                <a:lnTo>
                  <a:pt x="662609" y="261213"/>
                </a:lnTo>
                <a:lnTo>
                  <a:pt x="688086" y="261213"/>
                </a:lnTo>
                <a:lnTo>
                  <a:pt x="688086" y="6413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225722" y="6823835"/>
            <a:ext cx="53340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-50">
                <a:solidFill>
                  <a:srgbClr val="BFBFBC"/>
                </a:solidFill>
                <a:latin typeface="Arial"/>
                <a:cs typeface="Arial"/>
              </a:rPr>
              <a:t>'</a:t>
            </a:r>
            <a:endParaRPr sz="15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242835" y="6790435"/>
            <a:ext cx="670560" cy="323215"/>
          </a:xfrm>
          <a:custGeom>
            <a:avLst/>
            <a:gdLst/>
            <a:ahLst/>
            <a:cxnLst/>
            <a:rect l="l" t="t" r="r" b="b"/>
            <a:pathLst>
              <a:path w="670559" h="323215">
                <a:moveTo>
                  <a:pt x="127368" y="173202"/>
                </a:moveTo>
                <a:lnTo>
                  <a:pt x="0" y="173202"/>
                </a:lnTo>
                <a:lnTo>
                  <a:pt x="0" y="282194"/>
                </a:lnTo>
                <a:lnTo>
                  <a:pt x="127368" y="282194"/>
                </a:lnTo>
                <a:lnTo>
                  <a:pt x="127368" y="173202"/>
                </a:lnTo>
                <a:close/>
              </a:path>
              <a:path w="670559" h="323215">
                <a:moveTo>
                  <a:pt x="670483" y="0"/>
                </a:moveTo>
                <a:lnTo>
                  <a:pt x="645007" y="0"/>
                </a:lnTo>
                <a:lnTo>
                  <a:pt x="645007" y="322745"/>
                </a:lnTo>
                <a:lnTo>
                  <a:pt x="670483" y="322745"/>
                </a:lnTo>
                <a:lnTo>
                  <a:pt x="670483" y="0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230136" y="6951496"/>
            <a:ext cx="7175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45">
                <a:solidFill>
                  <a:srgbClr val="BFBFBC"/>
                </a:solidFill>
                <a:latin typeface="Times New Roman"/>
                <a:cs typeface="Times New Roman"/>
              </a:rPr>
              <a:t>,_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94271" y="6963628"/>
            <a:ext cx="210820" cy="109220"/>
          </a:xfrm>
          <a:prstGeom prst="rect">
            <a:avLst/>
          </a:prstGeom>
          <a:solidFill>
            <a:srgbClr val="F2F2ED"/>
          </a:solidFill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650" spc="-25">
                <a:solidFill>
                  <a:srgbClr val="BFBFBC"/>
                </a:solidFill>
                <a:latin typeface="Times New Roman"/>
                <a:cs typeface="Times New Roman"/>
              </a:rPr>
              <a:t>..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81160" y="6784461"/>
            <a:ext cx="56515" cy="301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45"/>
              </a:lnSpc>
            </a:pPr>
            <a:r>
              <a:rPr dirty="0" baseline="-59829" sz="975" spc="-315">
                <a:solidFill>
                  <a:srgbClr val="ACACA8"/>
                </a:solidFill>
                <a:latin typeface="Times New Roman"/>
                <a:cs typeface="Times New Roman"/>
              </a:rPr>
              <a:t>I</a:t>
            </a:r>
            <a:r>
              <a:rPr dirty="0" baseline="-17543" sz="2850" spc="-315">
                <a:solidFill>
                  <a:srgbClr val="ACACA8"/>
                </a:solidFill>
                <a:latin typeface="Arial"/>
                <a:cs typeface="Arial"/>
              </a:rPr>
              <a:t>:</a:t>
            </a:r>
            <a:r>
              <a:rPr dirty="0" sz="1500" spc="-210">
                <a:solidFill>
                  <a:srgbClr val="ACACA8"/>
                </a:solidFill>
                <a:latin typeface="Arial"/>
                <a:cs typeface="Arial"/>
              </a:rPr>
              <a:t>'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64496" y="7063403"/>
            <a:ext cx="61594" cy="0"/>
          </a:xfrm>
          <a:custGeom>
            <a:avLst/>
            <a:gdLst/>
            <a:ahLst/>
            <a:cxnLst/>
            <a:rect l="l" t="t" r="r" b="b"/>
            <a:pathLst>
              <a:path w="61595" h="0">
                <a:moveTo>
                  <a:pt x="0" y="0"/>
                </a:moveTo>
                <a:lnTo>
                  <a:pt x="61264" y="0"/>
                </a:lnTo>
              </a:path>
            </a:pathLst>
          </a:custGeom>
          <a:ln w="3311">
            <a:solidFill>
              <a:srgbClr val="ABAB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605966" y="6853681"/>
            <a:ext cx="390525" cy="386080"/>
          </a:xfrm>
          <a:custGeom>
            <a:avLst/>
            <a:gdLst/>
            <a:ahLst/>
            <a:cxnLst/>
            <a:rect l="l" t="t" r="r" b="b"/>
            <a:pathLst>
              <a:path w="390525" h="386079">
                <a:moveTo>
                  <a:pt x="390004" y="0"/>
                </a:moveTo>
                <a:lnTo>
                  <a:pt x="326326" y="0"/>
                </a:lnTo>
                <a:lnTo>
                  <a:pt x="326326" y="32131"/>
                </a:lnTo>
                <a:lnTo>
                  <a:pt x="0" y="32131"/>
                </a:lnTo>
                <a:lnTo>
                  <a:pt x="0" y="376466"/>
                </a:lnTo>
                <a:lnTo>
                  <a:pt x="326326" y="376466"/>
                </a:lnTo>
                <a:lnTo>
                  <a:pt x="326326" y="385660"/>
                </a:lnTo>
                <a:lnTo>
                  <a:pt x="390004" y="385660"/>
                </a:lnTo>
                <a:lnTo>
                  <a:pt x="390004" y="0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7593271" y="6842984"/>
            <a:ext cx="466090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85">
                <a:solidFill>
                  <a:srgbClr val="ACACA8"/>
                </a:solidFill>
                <a:latin typeface="Times New Roman"/>
                <a:cs typeface="Times New Roman"/>
              </a:rPr>
              <a:t>-</a:t>
            </a:r>
            <a:r>
              <a:rPr dirty="0" sz="2050" spc="-210">
                <a:solidFill>
                  <a:srgbClr val="ACACA8"/>
                </a:solidFill>
                <a:latin typeface="Times New Roman"/>
                <a:cs typeface="Times New Roman"/>
              </a:rPr>
              <a:t>-</a:t>
            </a:r>
            <a:r>
              <a:rPr dirty="0" sz="1950" spc="-459">
                <a:solidFill>
                  <a:srgbClr val="BFBFBC"/>
                </a:solidFill>
                <a:latin typeface="Arial"/>
                <a:cs typeface="Arial"/>
              </a:rPr>
              <a:t>......</a:t>
            </a:r>
            <a:r>
              <a:rPr dirty="0" sz="2300" spc="-459">
                <a:solidFill>
                  <a:srgbClr val="BFBFBC"/>
                </a:solidFill>
                <a:latin typeface="Times New Roman"/>
                <a:cs typeface="Times New Roman"/>
              </a:rPr>
              <a:t>�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67298" y="8585563"/>
            <a:ext cx="9970770" cy="75819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424305" marR="5080" indent="-1412240">
              <a:lnSpc>
                <a:spcPts val="2810"/>
              </a:lnSpc>
              <a:spcBef>
                <a:spcPts val="315"/>
              </a:spcBef>
            </a:pPr>
            <a:r>
              <a:rPr dirty="0" sz="2450" spc="40">
                <a:solidFill>
                  <a:srgbClr val="161613"/>
                </a:solidFill>
                <a:latin typeface="Arial"/>
                <a:cs typeface="Arial"/>
              </a:rPr>
              <a:t>Configuration-</a:t>
            </a:r>
            <a:r>
              <a:rPr dirty="0" sz="2450" spc="60">
                <a:solidFill>
                  <a:srgbClr val="161613"/>
                </a:solidFill>
                <a:latin typeface="Arial"/>
                <a:cs typeface="Arial"/>
              </a:rPr>
              <a:t>based</a:t>
            </a:r>
            <a:r>
              <a:rPr dirty="0" sz="2450" spc="-10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161613"/>
                </a:solidFill>
                <a:latin typeface="Arial"/>
                <a:cs typeface="Arial"/>
              </a:rPr>
              <a:t>hardening</a:t>
            </a:r>
            <a:r>
              <a:rPr dirty="0" sz="2450" spc="5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2450" spc="75">
                <a:solidFill>
                  <a:srgbClr val="161613"/>
                </a:solidFill>
                <a:latin typeface="Arial"/>
                <a:cs typeface="Arial"/>
              </a:rPr>
              <a:t>protects</a:t>
            </a:r>
            <a:r>
              <a:rPr dirty="0" sz="2450" spc="15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2450" spc="75">
                <a:solidFill>
                  <a:srgbClr val="161613"/>
                </a:solidFill>
                <a:latin typeface="Arial"/>
                <a:cs typeface="Arial"/>
              </a:rPr>
              <a:t>the</a:t>
            </a:r>
            <a:r>
              <a:rPr dirty="0" sz="2450" spc="65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161613"/>
                </a:solidFill>
                <a:latin typeface="Arial"/>
                <a:cs typeface="Arial"/>
              </a:rPr>
              <a:t>perimeter.</a:t>
            </a:r>
            <a:r>
              <a:rPr dirty="0" sz="2450" spc="25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161613"/>
                </a:solidFill>
                <a:latin typeface="Arial"/>
                <a:cs typeface="Arial"/>
              </a:rPr>
              <a:t>It</a:t>
            </a:r>
            <a:r>
              <a:rPr dirty="0" sz="2450" spc="204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161613"/>
                </a:solidFill>
                <a:latin typeface="Arial"/>
                <a:cs typeface="Arial"/>
              </a:rPr>
              <a:t>does</a:t>
            </a:r>
            <a:r>
              <a:rPr dirty="0" sz="2450" spc="-45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2450" spc="50">
                <a:solidFill>
                  <a:srgbClr val="161613"/>
                </a:solidFill>
                <a:latin typeface="Arial"/>
                <a:cs typeface="Arial"/>
              </a:rPr>
              <a:t>nothing </a:t>
            </a:r>
            <a:r>
              <a:rPr dirty="0" sz="2450" spc="55">
                <a:solidFill>
                  <a:srgbClr val="161613"/>
                </a:solidFill>
                <a:latin typeface="Arial"/>
                <a:cs typeface="Arial"/>
              </a:rPr>
              <a:t>to</a:t>
            </a:r>
            <a:r>
              <a:rPr dirty="0" sz="2450" spc="22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2450" spc="65">
                <a:solidFill>
                  <a:srgbClr val="161613"/>
                </a:solidFill>
                <a:latin typeface="Arial"/>
                <a:cs typeface="Arial"/>
              </a:rPr>
              <a:t>stop</a:t>
            </a:r>
            <a:r>
              <a:rPr dirty="0" sz="2450" spc="-25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161613"/>
                </a:solidFill>
                <a:latin typeface="Arial"/>
                <a:cs typeface="Arial"/>
              </a:rPr>
              <a:t>an</a:t>
            </a:r>
            <a:r>
              <a:rPr dirty="0" sz="2450" spc="-125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2450" spc="50">
                <a:solidFill>
                  <a:srgbClr val="161613"/>
                </a:solidFill>
                <a:latin typeface="Arial"/>
                <a:cs typeface="Arial"/>
              </a:rPr>
              <a:t>attack</a:t>
            </a:r>
            <a:r>
              <a:rPr dirty="0" sz="2450" spc="114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2450" spc="70">
                <a:solidFill>
                  <a:srgbClr val="161613"/>
                </a:solidFill>
                <a:latin typeface="Arial"/>
                <a:cs typeface="Arial"/>
              </a:rPr>
              <a:t>from</a:t>
            </a:r>
            <a:r>
              <a:rPr dirty="0" sz="2450" spc="-8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161613"/>
                </a:solidFill>
                <a:latin typeface="Arial"/>
                <a:cs typeface="Arial"/>
              </a:rPr>
              <a:t>coming</a:t>
            </a:r>
            <a:r>
              <a:rPr dirty="0" sz="2450" spc="-8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2450" spc="50">
                <a:solidFill>
                  <a:srgbClr val="161613"/>
                </a:solidFill>
                <a:latin typeface="Arial"/>
                <a:cs typeface="Arial"/>
              </a:rPr>
              <a:t>up</a:t>
            </a:r>
            <a:r>
              <a:rPr dirty="0" sz="2450" spc="95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161613"/>
                </a:solidFill>
                <a:latin typeface="Arial"/>
                <a:cs typeface="Arial"/>
              </a:rPr>
              <a:t>through</a:t>
            </a:r>
            <a:r>
              <a:rPr dirty="0" sz="2450" spc="65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2450" spc="85">
                <a:solidFill>
                  <a:srgbClr val="161613"/>
                </a:solidFill>
                <a:latin typeface="Arial"/>
                <a:cs typeface="Arial"/>
              </a:rPr>
              <a:t>the</a:t>
            </a:r>
            <a:r>
              <a:rPr dirty="0" sz="2450" spc="-65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161613"/>
                </a:solidFill>
                <a:latin typeface="Arial"/>
                <a:cs typeface="Arial"/>
              </a:rPr>
              <a:t>floor.</a:t>
            </a:r>
            <a:endParaRPr sz="24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147783" y="9402597"/>
            <a:ext cx="125476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20">
                <a:solidFill>
                  <a:srgbClr val="2D2D2A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2D2D2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61613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1543" y="2093912"/>
            <a:ext cx="1299165" cy="89363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3691" y="6562063"/>
            <a:ext cx="11310383" cy="13787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50188" y="6817386"/>
            <a:ext cx="917058" cy="76596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515693" y="5745028"/>
            <a:ext cx="0" cy="817244"/>
          </a:xfrm>
          <a:custGeom>
            <a:avLst/>
            <a:gdLst/>
            <a:ahLst/>
            <a:cxnLst/>
            <a:rect l="l" t="t" r="r" b="b"/>
            <a:pathLst>
              <a:path w="0"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807124" y="5745028"/>
            <a:ext cx="0" cy="817244"/>
          </a:xfrm>
          <a:custGeom>
            <a:avLst/>
            <a:gdLst/>
            <a:ahLst/>
            <a:cxnLst/>
            <a:rect l="l" t="t" r="r" b="b"/>
            <a:pathLst>
              <a:path w="0"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908715" y="7787611"/>
            <a:ext cx="0" cy="1327785"/>
          </a:xfrm>
          <a:custGeom>
            <a:avLst/>
            <a:gdLst/>
            <a:ahLst/>
            <a:cxnLst/>
            <a:rect l="l" t="t" r="r" b="b"/>
            <a:pathLst>
              <a:path w="0" h="1327784">
                <a:moveTo>
                  <a:pt x="0" y="132767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469140" y="7264199"/>
            <a:ext cx="3006090" cy="26034"/>
          </a:xfrm>
          <a:custGeom>
            <a:avLst/>
            <a:gdLst/>
            <a:ahLst/>
            <a:cxnLst/>
            <a:rect l="l" t="t" r="r" b="b"/>
            <a:pathLst>
              <a:path w="3006090" h="26034">
                <a:moveTo>
                  <a:pt x="3006059" y="25532"/>
                </a:moveTo>
                <a:lnTo>
                  <a:pt x="0" y="25532"/>
                </a:lnTo>
                <a:lnTo>
                  <a:pt x="0" y="0"/>
                </a:lnTo>
                <a:lnTo>
                  <a:pt x="3006059" y="0"/>
                </a:lnTo>
                <a:lnTo>
                  <a:pt x="3006059" y="255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584076" y="7276965"/>
            <a:ext cx="764540" cy="0"/>
          </a:xfrm>
          <a:custGeom>
            <a:avLst/>
            <a:gdLst/>
            <a:ahLst/>
            <a:cxnLst/>
            <a:rect l="l" t="t" r="r" b="b"/>
            <a:pathLst>
              <a:path w="764540" h="0">
                <a:moveTo>
                  <a:pt x="0" y="0"/>
                </a:moveTo>
                <a:lnTo>
                  <a:pt x="76421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7276965"/>
            <a:ext cx="1273810" cy="0"/>
          </a:xfrm>
          <a:custGeom>
            <a:avLst/>
            <a:gdLst/>
            <a:ahLst/>
            <a:cxnLst/>
            <a:rect l="l" t="t" r="r" b="b"/>
            <a:pathLst>
              <a:path w="1273810" h="0">
                <a:moveTo>
                  <a:pt x="0" y="0"/>
                </a:moveTo>
                <a:lnTo>
                  <a:pt x="1273691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18571" y="574806"/>
            <a:ext cx="9430385" cy="34994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3335" marR="5080" indent="4445">
              <a:lnSpc>
                <a:spcPts val="5930"/>
              </a:lnSpc>
              <a:spcBef>
                <a:spcPts val="580"/>
              </a:spcBef>
            </a:pPr>
            <a:r>
              <a:rPr dirty="0" sz="5200" spc="210" b="1">
                <a:solidFill>
                  <a:srgbClr val="1A1A16"/>
                </a:solidFill>
                <a:latin typeface="Arial"/>
                <a:cs typeface="Arial"/>
              </a:rPr>
              <a:t>The</a:t>
            </a:r>
            <a:r>
              <a:rPr dirty="0" sz="5200" spc="-285" b="1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5200" spc="100" b="1">
                <a:solidFill>
                  <a:srgbClr val="1A1A16"/>
                </a:solidFill>
                <a:latin typeface="Arial"/>
                <a:cs typeface="Arial"/>
              </a:rPr>
              <a:t>Reactive</a:t>
            </a:r>
            <a:r>
              <a:rPr dirty="0" sz="5200" spc="135" b="1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5200" spc="120" b="1">
                <a:solidFill>
                  <a:srgbClr val="1A1A16"/>
                </a:solidFill>
                <a:latin typeface="Arial"/>
                <a:cs typeface="Arial"/>
              </a:rPr>
              <a:t>Security</a:t>
            </a:r>
            <a:r>
              <a:rPr dirty="0" sz="5200" spc="-50" b="1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5200" spc="195" b="1">
                <a:solidFill>
                  <a:srgbClr val="1A1A16"/>
                </a:solidFill>
                <a:latin typeface="Arial"/>
                <a:cs typeface="Arial"/>
              </a:rPr>
              <a:t>Model </a:t>
            </a:r>
            <a:r>
              <a:rPr dirty="0" sz="5200" spc="105" b="1">
                <a:solidFill>
                  <a:srgbClr val="1A1A16"/>
                </a:solidFill>
                <a:latin typeface="Arial"/>
                <a:cs typeface="Arial"/>
              </a:rPr>
              <a:t>Guarantees</a:t>
            </a:r>
            <a:r>
              <a:rPr dirty="0" sz="5200" spc="225" b="1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5200" spc="40" b="1">
                <a:solidFill>
                  <a:srgbClr val="1A1A16"/>
                </a:solidFill>
                <a:latin typeface="Arial"/>
                <a:cs typeface="Arial"/>
              </a:rPr>
              <a:t>Exposure.</a:t>
            </a:r>
            <a:endParaRPr sz="5200">
              <a:latin typeface="Arial"/>
              <a:cs typeface="Arial"/>
            </a:endParaRPr>
          </a:p>
          <a:p>
            <a:pPr marL="14604" marR="448309" indent="-2540">
              <a:lnSpc>
                <a:spcPct val="103299"/>
              </a:lnSpc>
              <a:spcBef>
                <a:spcPts val="1995"/>
              </a:spcBef>
            </a:pPr>
            <a:r>
              <a:rPr dirty="0" sz="2550" spc="65">
                <a:solidFill>
                  <a:srgbClr val="0A0A08"/>
                </a:solidFill>
                <a:latin typeface="Arial"/>
                <a:cs typeface="Arial"/>
              </a:rPr>
              <a:t>The</a:t>
            </a:r>
            <a:r>
              <a:rPr dirty="0" sz="2550" spc="-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550" spc="90">
                <a:solidFill>
                  <a:srgbClr val="1A1A16"/>
                </a:solidFill>
                <a:latin typeface="Arial"/>
                <a:cs typeface="Arial"/>
              </a:rPr>
              <a:t>most</a:t>
            </a:r>
            <a:r>
              <a:rPr dirty="0" sz="2550" spc="-15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 spc="75">
                <a:solidFill>
                  <a:srgbClr val="1A1A16"/>
                </a:solidFill>
                <a:latin typeface="Arial"/>
                <a:cs typeface="Arial"/>
              </a:rPr>
              <a:t>critical</a:t>
            </a:r>
            <a:r>
              <a:rPr dirty="0" sz="2550" spc="25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 spc="70">
                <a:solidFill>
                  <a:srgbClr val="1A1A16"/>
                </a:solidFill>
                <a:latin typeface="Arial"/>
                <a:cs typeface="Arial"/>
              </a:rPr>
              <a:t>vulnerabilities</a:t>
            </a:r>
            <a:r>
              <a:rPr dirty="0" sz="2550" spc="-145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 spc="60">
                <a:solidFill>
                  <a:srgbClr val="1A1A16"/>
                </a:solidFill>
                <a:latin typeface="Arial"/>
                <a:cs typeface="Arial"/>
              </a:rPr>
              <a:t>lie</a:t>
            </a:r>
            <a:r>
              <a:rPr dirty="0" sz="2550" spc="-5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 spc="60">
                <a:solidFill>
                  <a:srgbClr val="1A1A16"/>
                </a:solidFill>
                <a:latin typeface="Arial"/>
                <a:cs typeface="Arial"/>
              </a:rPr>
              <a:t>dormant</a:t>
            </a:r>
            <a:r>
              <a:rPr dirty="0" sz="2550" spc="195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 spc="85">
                <a:solidFill>
                  <a:srgbClr val="0A0A08"/>
                </a:solidFill>
                <a:latin typeface="Arial"/>
                <a:cs typeface="Arial"/>
              </a:rPr>
              <a:t>for</a:t>
            </a:r>
            <a:r>
              <a:rPr dirty="0" sz="2550" spc="6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A1A16"/>
                </a:solidFill>
                <a:latin typeface="Arial"/>
                <a:cs typeface="Arial"/>
              </a:rPr>
              <a:t>years</a:t>
            </a:r>
            <a:r>
              <a:rPr dirty="0" sz="2550" spc="9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 spc="55">
                <a:solidFill>
                  <a:srgbClr val="1A1A16"/>
                </a:solidFill>
                <a:latin typeface="Arial"/>
                <a:cs typeface="Arial"/>
              </a:rPr>
              <a:t>before </a:t>
            </a:r>
            <a:r>
              <a:rPr dirty="0" sz="2550" spc="80">
                <a:solidFill>
                  <a:srgbClr val="1A1A16"/>
                </a:solidFill>
                <a:latin typeface="Arial"/>
                <a:cs typeface="Arial"/>
              </a:rPr>
              <a:t>they</a:t>
            </a:r>
            <a:r>
              <a:rPr dirty="0" sz="2550" spc="254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2A2A28"/>
                </a:solidFill>
                <a:latin typeface="Arial"/>
                <a:cs typeface="Arial"/>
              </a:rPr>
              <a:t>a</a:t>
            </a:r>
            <a:r>
              <a:rPr dirty="0" sz="2550">
                <a:solidFill>
                  <a:srgbClr val="0A0A08"/>
                </a:solidFill>
                <a:latin typeface="Arial"/>
                <a:cs typeface="Arial"/>
              </a:rPr>
              <a:t>re</a:t>
            </a:r>
            <a:r>
              <a:rPr dirty="0" sz="2550" spc="18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A1A16"/>
                </a:solidFill>
                <a:latin typeface="Arial"/>
                <a:cs typeface="Arial"/>
              </a:rPr>
              <a:t>discovered,</a:t>
            </a:r>
            <a:r>
              <a:rPr dirty="0" sz="2550" spc="24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0A0A08"/>
                </a:solidFill>
                <a:latin typeface="Arial"/>
                <a:cs typeface="Arial"/>
              </a:rPr>
              <a:t>let</a:t>
            </a:r>
            <a:r>
              <a:rPr dirty="0" sz="2550" spc="35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A1A16"/>
                </a:solidFill>
                <a:latin typeface="Arial"/>
                <a:cs typeface="Arial"/>
              </a:rPr>
              <a:t>alone</a:t>
            </a:r>
            <a:r>
              <a:rPr dirty="0" sz="2550" spc="6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 spc="90">
                <a:solidFill>
                  <a:srgbClr val="1A1A16"/>
                </a:solidFill>
                <a:latin typeface="Arial"/>
                <a:cs typeface="Arial"/>
              </a:rPr>
              <a:t>patched.</a:t>
            </a:r>
            <a:r>
              <a:rPr dirty="0" sz="2550" spc="45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0A0A08"/>
                </a:solidFill>
                <a:latin typeface="Arial"/>
                <a:cs typeface="Arial"/>
              </a:rPr>
              <a:t>During</a:t>
            </a:r>
            <a:r>
              <a:rPr dirty="0" sz="2550" spc="7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550" spc="95">
                <a:solidFill>
                  <a:srgbClr val="1A1A16"/>
                </a:solidFill>
                <a:latin typeface="Arial"/>
                <a:cs typeface="Arial"/>
              </a:rPr>
              <a:t>this</a:t>
            </a:r>
            <a:r>
              <a:rPr dirty="0" sz="2550" spc="5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2A2A28"/>
                </a:solidFill>
                <a:latin typeface="Arial"/>
                <a:cs typeface="Arial"/>
              </a:rPr>
              <a:t>"</a:t>
            </a:r>
            <a:r>
              <a:rPr dirty="0" sz="2700" spc="-10" b="1">
                <a:solidFill>
                  <a:srgbClr val="0A0A08"/>
                </a:solidFill>
                <a:latin typeface="Arial"/>
                <a:cs typeface="Arial"/>
              </a:rPr>
              <a:t>silent </a:t>
            </a:r>
            <a:r>
              <a:rPr dirty="0" sz="2700" spc="-65" b="1">
                <a:solidFill>
                  <a:srgbClr val="0A0A08"/>
                </a:solidFill>
                <a:latin typeface="Arial"/>
                <a:cs typeface="Arial"/>
              </a:rPr>
              <a:t>vulnerability</a:t>
            </a:r>
            <a:r>
              <a:rPr dirty="0" sz="2700" spc="30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700" spc="-130" b="1">
                <a:solidFill>
                  <a:srgbClr val="0A0A08"/>
                </a:solidFill>
                <a:latin typeface="Arial"/>
                <a:cs typeface="Arial"/>
              </a:rPr>
              <a:t>window,"</a:t>
            </a:r>
            <a:r>
              <a:rPr dirty="0" sz="2700" spc="160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A1A16"/>
                </a:solidFill>
                <a:latin typeface="Arial"/>
                <a:cs typeface="Arial"/>
              </a:rPr>
              <a:t>your</a:t>
            </a:r>
            <a:r>
              <a:rPr dirty="0" sz="2550" spc="245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 spc="65">
                <a:solidFill>
                  <a:srgbClr val="2A2A28"/>
                </a:solidFill>
                <a:latin typeface="Arial"/>
                <a:cs typeface="Arial"/>
              </a:rPr>
              <a:t>sys</a:t>
            </a:r>
            <a:r>
              <a:rPr dirty="0" sz="2550" spc="65">
                <a:solidFill>
                  <a:srgbClr val="0A0A08"/>
                </a:solidFill>
                <a:latin typeface="Arial"/>
                <a:cs typeface="Arial"/>
              </a:rPr>
              <a:t>tems</a:t>
            </a:r>
            <a:r>
              <a:rPr dirty="0" sz="2550" spc="2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A1A16"/>
                </a:solidFill>
                <a:latin typeface="Arial"/>
                <a:cs typeface="Arial"/>
              </a:rPr>
              <a:t>are</a:t>
            </a:r>
            <a:r>
              <a:rPr dirty="0" sz="2550" spc="35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2A2A28"/>
                </a:solidFill>
                <a:latin typeface="Arial"/>
                <a:cs typeface="Arial"/>
              </a:rPr>
              <a:t>exposed,</a:t>
            </a:r>
            <a:r>
              <a:rPr dirty="0" sz="2550" spc="130">
                <a:solidFill>
                  <a:srgbClr val="2A2A28"/>
                </a:solidFill>
                <a:latin typeface="Arial"/>
                <a:cs typeface="Arial"/>
              </a:rPr>
              <a:t> </a:t>
            </a:r>
            <a:r>
              <a:rPr dirty="0" sz="2550" spc="80">
                <a:solidFill>
                  <a:srgbClr val="1A1A16"/>
                </a:solidFill>
                <a:latin typeface="Arial"/>
                <a:cs typeface="Arial"/>
              </a:rPr>
              <a:t>and</a:t>
            </a:r>
            <a:r>
              <a:rPr dirty="0" sz="2550" spc="5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 spc="40">
                <a:solidFill>
                  <a:srgbClr val="1A1A16"/>
                </a:solidFill>
                <a:latin typeface="Arial"/>
                <a:cs typeface="Arial"/>
              </a:rPr>
              <a:t>your </a:t>
            </a:r>
            <a:r>
              <a:rPr dirty="0" sz="2550" spc="65">
                <a:solidFill>
                  <a:srgbClr val="2A2A28"/>
                </a:solidFill>
                <a:latin typeface="Arial"/>
                <a:cs typeface="Arial"/>
              </a:rPr>
              <a:t>sec</a:t>
            </a:r>
            <a:r>
              <a:rPr dirty="0" sz="2550" spc="65">
                <a:solidFill>
                  <a:srgbClr val="0A0A08"/>
                </a:solidFill>
                <a:latin typeface="Arial"/>
                <a:cs typeface="Arial"/>
              </a:rPr>
              <a:t>urity</a:t>
            </a:r>
            <a:r>
              <a:rPr dirty="0" sz="2550" spc="12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550" spc="70">
                <a:solidFill>
                  <a:srgbClr val="0A0A08"/>
                </a:solidFill>
                <a:latin typeface="Arial"/>
                <a:cs typeface="Arial"/>
              </a:rPr>
              <a:t>po</a:t>
            </a:r>
            <a:r>
              <a:rPr dirty="0" sz="2550" spc="70">
                <a:solidFill>
                  <a:srgbClr val="2A2A28"/>
                </a:solidFill>
                <a:latin typeface="Arial"/>
                <a:cs typeface="Arial"/>
              </a:rPr>
              <a:t>stu</a:t>
            </a:r>
            <a:r>
              <a:rPr dirty="0" sz="2550" spc="70">
                <a:solidFill>
                  <a:srgbClr val="0A0A08"/>
                </a:solidFill>
                <a:latin typeface="Arial"/>
                <a:cs typeface="Arial"/>
              </a:rPr>
              <a:t>re</a:t>
            </a:r>
            <a:r>
              <a:rPr dirty="0" sz="2550" spc="-2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550" spc="55">
                <a:solidFill>
                  <a:srgbClr val="1A1A16"/>
                </a:solidFill>
                <a:latin typeface="Arial"/>
                <a:cs typeface="Arial"/>
              </a:rPr>
              <a:t>is</a:t>
            </a:r>
            <a:r>
              <a:rPr dirty="0" sz="2550" spc="9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0A0A08"/>
                </a:solidFill>
                <a:latin typeface="Arial"/>
                <a:cs typeface="Arial"/>
              </a:rPr>
              <a:t>ba</a:t>
            </a:r>
            <a:r>
              <a:rPr dirty="0" sz="2550">
                <a:solidFill>
                  <a:srgbClr val="2A2A28"/>
                </a:solidFill>
                <a:latin typeface="Arial"/>
                <a:cs typeface="Arial"/>
              </a:rPr>
              <a:t>sed</a:t>
            </a:r>
            <a:r>
              <a:rPr dirty="0" sz="2550" spc="170">
                <a:solidFill>
                  <a:srgbClr val="2A2A28"/>
                </a:solidFill>
                <a:latin typeface="Arial"/>
                <a:cs typeface="Arial"/>
              </a:rPr>
              <a:t> </a:t>
            </a:r>
            <a:r>
              <a:rPr dirty="0" sz="2550" spc="95">
                <a:solidFill>
                  <a:srgbClr val="2A2A28"/>
                </a:solidFill>
                <a:latin typeface="Arial"/>
                <a:cs typeface="Arial"/>
              </a:rPr>
              <a:t>on</a:t>
            </a:r>
            <a:r>
              <a:rPr dirty="0" sz="2550" spc="-95">
                <a:solidFill>
                  <a:srgbClr val="2A2A28"/>
                </a:solidFill>
                <a:latin typeface="Arial"/>
                <a:cs typeface="Arial"/>
              </a:rPr>
              <a:t> </a:t>
            </a:r>
            <a:r>
              <a:rPr dirty="0" sz="2550" spc="80">
                <a:solidFill>
                  <a:srgbClr val="0A0A08"/>
                </a:solidFill>
                <a:latin typeface="Arial"/>
                <a:cs typeface="Arial"/>
              </a:rPr>
              <a:t>hope</a:t>
            </a:r>
            <a:r>
              <a:rPr dirty="0" sz="2550" spc="80">
                <a:solidFill>
                  <a:srgbClr val="2A2A28"/>
                </a:solidFill>
                <a:latin typeface="Arial"/>
                <a:cs typeface="Arial"/>
              </a:rPr>
              <a:t>.</a:t>
            </a:r>
            <a:endParaRPr sz="2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61962" y="2133553"/>
            <a:ext cx="3615690" cy="86804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955" marR="5080" indent="-8890">
              <a:lnSpc>
                <a:spcPct val="108400"/>
              </a:lnSpc>
              <a:spcBef>
                <a:spcPts val="95"/>
              </a:spcBef>
            </a:pPr>
            <a:r>
              <a:rPr dirty="0" sz="2550">
                <a:solidFill>
                  <a:srgbClr val="1A1A16"/>
                </a:solidFill>
                <a:latin typeface="Arial"/>
                <a:cs typeface="Arial"/>
              </a:rPr>
              <a:t>unique</a:t>
            </a:r>
            <a:r>
              <a:rPr dirty="0" sz="2550" spc="285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A1A16"/>
                </a:solidFill>
                <a:latin typeface="Arial"/>
                <a:cs typeface="Arial"/>
              </a:rPr>
              <a:t>zero-</a:t>
            </a:r>
            <a:r>
              <a:rPr dirty="0" sz="2550" spc="50">
                <a:solidFill>
                  <a:srgbClr val="1A1A16"/>
                </a:solidFill>
                <a:latin typeface="Arial"/>
                <a:cs typeface="Arial"/>
              </a:rPr>
              <a:t>days</a:t>
            </a:r>
            <a:r>
              <a:rPr dirty="0" sz="2550" spc="475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 spc="-20">
                <a:solidFill>
                  <a:srgbClr val="0A0A08"/>
                </a:solidFill>
                <a:latin typeface="Arial"/>
                <a:cs typeface="Arial"/>
              </a:rPr>
              <a:t>were </a:t>
            </a:r>
            <a:r>
              <a:rPr dirty="0" sz="2550" spc="50">
                <a:solidFill>
                  <a:srgbClr val="1A1A16"/>
                </a:solidFill>
                <a:latin typeface="Arial"/>
                <a:cs typeface="Arial"/>
              </a:rPr>
              <a:t>exploited</a:t>
            </a:r>
            <a:r>
              <a:rPr dirty="0" sz="2550" spc="1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 spc="75">
                <a:solidFill>
                  <a:srgbClr val="1A1A16"/>
                </a:solidFill>
                <a:latin typeface="Arial"/>
                <a:cs typeface="Arial"/>
              </a:rPr>
              <a:t>in</a:t>
            </a:r>
            <a:r>
              <a:rPr dirty="0" sz="2550" spc="-45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550" spc="95">
                <a:solidFill>
                  <a:srgbClr val="0A0A08"/>
                </a:solidFill>
                <a:latin typeface="Arial"/>
                <a:cs typeface="Arial"/>
              </a:rPr>
              <a:t>2023</a:t>
            </a:r>
            <a:r>
              <a:rPr dirty="0" sz="2550" spc="-9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1A1A16"/>
                </a:solidFill>
                <a:latin typeface="Arial"/>
                <a:cs typeface="Arial"/>
              </a:rPr>
              <a:t>alone.</a:t>
            </a:r>
            <a:endParaRPr sz="2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29701" y="2885480"/>
            <a:ext cx="5430520" cy="10217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0" spc="-1420">
                <a:solidFill>
                  <a:srgbClr val="A1362D"/>
                </a:solidFill>
                <a:latin typeface="Courier New"/>
                <a:cs typeface="Courier New"/>
              </a:rPr>
              <a:t>•••••••••••••••••</a:t>
            </a:r>
            <a:endParaRPr sz="65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08861" y="3459955"/>
            <a:ext cx="5478145" cy="10217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6300" spc="-2685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500" spc="-5005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20282" sz="9450" spc="-1777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500" spc="-5005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20282" sz="9450" spc="-1777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500" spc="-5010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20282" sz="9450" spc="-1777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500" spc="-5010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20282" sz="9450" spc="-1777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500" spc="-5010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20282" sz="9450" spc="-1777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500" spc="-5010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20282" sz="9450" spc="-1762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500" spc="-5020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20282" sz="9450" spc="-1762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500" spc="-5020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20282" sz="9450" spc="-1762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500" spc="-5020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20282" sz="9450" spc="-1762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500" spc="-5020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20282" sz="9450" spc="-1754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500" spc="-5020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20282" sz="9450" spc="-1754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500" spc="-5030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20282" sz="9450" spc="-1754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500" spc="-5030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20282" sz="9450" spc="-1754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500" spc="-5030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20282" sz="9450" spc="-1739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500" spc="-5030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20282" sz="9450" spc="-1739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500" spc="-5035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20282" sz="9450" spc="-1717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endParaRPr baseline="20282" sz="94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08861" y="4047199"/>
            <a:ext cx="5682615" cy="990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6300" spc="-745">
                <a:solidFill>
                  <a:srgbClr val="A1362D"/>
                </a:solidFill>
                <a:latin typeface="Courier New"/>
                <a:cs typeface="Courier New"/>
              </a:rPr>
              <a:t>•••••</a:t>
            </a:r>
            <a:r>
              <a:rPr dirty="0" sz="6300" spc="-1580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19400" sz="9450" spc="-5527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300" spc="-1720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19400" sz="9450" spc="-5317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300" spc="-1864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19400" sz="9450" spc="-5100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300" spc="-2005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19400" sz="9450" spc="-4882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300" spc="-2145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19400" sz="9450" spc="-4665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300" spc="-2285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19400" sz="9450" spc="-4447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300" spc="-2425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19400" sz="9450" spc="-4237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300" spc="-2565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19400" sz="9450" spc="-4004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300" spc="-2705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baseline="19400" sz="9450" spc="-3795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300" spc="-2845">
                <a:solidFill>
                  <a:srgbClr val="8C9199"/>
                </a:solidFill>
                <a:latin typeface="Courier New"/>
                <a:cs typeface="Courier New"/>
              </a:rPr>
              <a:t>•</a:t>
            </a:r>
            <a:r>
              <a:rPr dirty="0" baseline="19400" sz="9450" spc="-3577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300" spc="-2990">
                <a:solidFill>
                  <a:srgbClr val="8C9199"/>
                </a:solidFill>
                <a:latin typeface="Courier New"/>
                <a:cs typeface="Courier New"/>
              </a:rPr>
              <a:t>•</a:t>
            </a:r>
            <a:r>
              <a:rPr dirty="0" baseline="19400" sz="9450" spc="-3359">
                <a:solidFill>
                  <a:srgbClr val="A1362D"/>
                </a:solidFill>
                <a:latin typeface="Courier New"/>
                <a:cs typeface="Courier New"/>
              </a:rPr>
              <a:t>•</a:t>
            </a:r>
            <a:r>
              <a:rPr dirty="0" sz="6300" spc="-760">
                <a:solidFill>
                  <a:srgbClr val="8C9199"/>
                </a:solidFill>
                <a:latin typeface="Courier New"/>
                <a:cs typeface="Courier New"/>
              </a:rPr>
              <a:t>•</a:t>
            </a:r>
            <a:endParaRPr sz="6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1417" y="4685505"/>
            <a:ext cx="8373109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b="1">
                <a:solidFill>
                  <a:srgbClr val="1A1A16"/>
                </a:solidFill>
                <a:latin typeface="Arial"/>
                <a:cs typeface="Arial"/>
              </a:rPr>
              <a:t>Case</a:t>
            </a:r>
            <a:r>
              <a:rPr dirty="0" sz="2900" spc="-140" b="1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1A1A16"/>
                </a:solidFill>
                <a:latin typeface="Arial"/>
                <a:cs typeface="Arial"/>
              </a:rPr>
              <a:t>Study:</a:t>
            </a:r>
            <a:r>
              <a:rPr dirty="0" sz="2900" spc="-80" b="1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900" spc="130" b="1">
                <a:solidFill>
                  <a:srgbClr val="1A1A16"/>
                </a:solidFill>
                <a:latin typeface="Arial"/>
                <a:cs typeface="Arial"/>
              </a:rPr>
              <a:t>CVE-</a:t>
            </a:r>
            <a:r>
              <a:rPr dirty="0" sz="2900" spc="110" b="1">
                <a:solidFill>
                  <a:srgbClr val="1A1A16"/>
                </a:solidFill>
                <a:latin typeface="Arial"/>
                <a:cs typeface="Arial"/>
              </a:rPr>
              <a:t>2023-</a:t>
            </a:r>
            <a:r>
              <a:rPr dirty="0" sz="2900" spc="125" b="1">
                <a:solidFill>
                  <a:srgbClr val="1A1A16"/>
                </a:solidFill>
                <a:latin typeface="Arial"/>
                <a:cs typeface="Arial"/>
              </a:rPr>
              <a:t>4911</a:t>
            </a:r>
            <a:r>
              <a:rPr dirty="0" sz="2900" spc="35" b="1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900" spc="-20" b="1">
                <a:solidFill>
                  <a:srgbClr val="1A1A16"/>
                </a:solidFill>
                <a:latin typeface="Arial"/>
                <a:cs typeface="Arial"/>
              </a:rPr>
              <a:t>'Looney</a:t>
            </a:r>
            <a:r>
              <a:rPr dirty="0" sz="2900" spc="-50" b="1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dirty="0" sz="2900" spc="-10" b="1">
                <a:solidFill>
                  <a:srgbClr val="1A1A16"/>
                </a:solidFill>
                <a:latin typeface="Arial"/>
                <a:cs typeface="Arial"/>
              </a:rPr>
              <a:t>Tunables'</a:t>
            </a:r>
            <a:endParaRPr sz="2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65338" y="5691478"/>
            <a:ext cx="2686685" cy="638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905">
              <a:lnSpc>
                <a:spcPct val="105800"/>
              </a:lnSpc>
              <a:spcBef>
                <a:spcPts val="95"/>
              </a:spcBef>
            </a:pPr>
            <a:r>
              <a:rPr dirty="0" sz="1900">
                <a:solidFill>
                  <a:srgbClr val="2A2A28"/>
                </a:solidFill>
                <a:latin typeface="Arial"/>
                <a:cs typeface="Arial"/>
              </a:rPr>
              <a:t>Vulnerability</a:t>
            </a:r>
            <a:r>
              <a:rPr dirty="0" sz="1900" spc="400">
                <a:solidFill>
                  <a:srgbClr val="2A2A28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A2A28"/>
                </a:solidFill>
                <a:latin typeface="Arial"/>
                <a:cs typeface="Arial"/>
              </a:rPr>
              <a:t>introduced </a:t>
            </a:r>
            <a:r>
              <a:rPr dirty="0" sz="1900">
                <a:solidFill>
                  <a:srgbClr val="2A2A28"/>
                </a:solidFill>
                <a:latin typeface="Arial"/>
                <a:cs typeface="Arial"/>
              </a:rPr>
              <a:t>in</a:t>
            </a:r>
            <a:r>
              <a:rPr dirty="0" sz="1900" spc="-10">
                <a:solidFill>
                  <a:srgbClr val="2A2A28"/>
                </a:solidFill>
                <a:latin typeface="Arial"/>
                <a:cs typeface="Arial"/>
              </a:rPr>
              <a:t> </a:t>
            </a:r>
            <a:r>
              <a:rPr dirty="0" sz="1900" spc="55">
                <a:solidFill>
                  <a:srgbClr val="2A2A28"/>
                </a:solidFill>
                <a:latin typeface="Arial"/>
                <a:cs typeface="Arial"/>
              </a:rPr>
              <a:t>glibc</a:t>
            </a:r>
            <a:r>
              <a:rPr dirty="0" sz="1900" spc="105">
                <a:solidFill>
                  <a:srgbClr val="2A2A28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A2A28"/>
                </a:solidFill>
                <a:latin typeface="Arial"/>
                <a:cs typeface="Arial"/>
              </a:rPr>
              <a:t>2.34.</a:t>
            </a:r>
            <a:endParaRPr sz="1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49597" y="5691478"/>
            <a:ext cx="2840990" cy="638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050" marR="5080" indent="-6985">
              <a:lnSpc>
                <a:spcPct val="105800"/>
              </a:lnSpc>
              <a:spcBef>
                <a:spcPts val="95"/>
              </a:spcBef>
            </a:pPr>
            <a:r>
              <a:rPr dirty="0" sz="1900">
                <a:solidFill>
                  <a:srgbClr val="2A2A28"/>
                </a:solidFill>
                <a:latin typeface="Arial"/>
                <a:cs typeface="Arial"/>
              </a:rPr>
              <a:t>Qualys</a:t>
            </a:r>
            <a:r>
              <a:rPr dirty="0" sz="1900" spc="235">
                <a:solidFill>
                  <a:srgbClr val="2A2A28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A2A28"/>
                </a:solidFill>
                <a:latin typeface="Arial"/>
                <a:cs typeface="Arial"/>
              </a:rPr>
              <a:t>public</a:t>
            </a:r>
            <a:r>
              <a:rPr dirty="0" sz="1900">
                <a:solidFill>
                  <a:srgbClr val="0A0A08"/>
                </a:solidFill>
                <a:latin typeface="Arial"/>
                <a:cs typeface="Arial"/>
              </a:rPr>
              <a:t>l</a:t>
            </a:r>
            <a:r>
              <a:rPr dirty="0" sz="1900">
                <a:solidFill>
                  <a:srgbClr val="2A2A28"/>
                </a:solidFill>
                <a:latin typeface="Arial"/>
                <a:cs typeface="Arial"/>
              </a:rPr>
              <a:t>y</a:t>
            </a:r>
            <a:r>
              <a:rPr dirty="0" sz="1900" spc="220">
                <a:solidFill>
                  <a:srgbClr val="2A2A28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A2A28"/>
                </a:solidFill>
                <a:latin typeface="Arial"/>
                <a:cs typeface="Arial"/>
              </a:rPr>
              <a:t>discloses </a:t>
            </a:r>
            <a:r>
              <a:rPr dirty="0" sz="1900">
                <a:solidFill>
                  <a:srgbClr val="2A2A28"/>
                </a:solidFill>
                <a:latin typeface="Arial"/>
                <a:cs typeface="Arial"/>
              </a:rPr>
              <a:t>the</a:t>
            </a:r>
            <a:r>
              <a:rPr dirty="0" sz="1900" spc="200">
                <a:solidFill>
                  <a:srgbClr val="2A2A28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A2A28"/>
                </a:solidFill>
                <a:latin typeface="Arial"/>
                <a:cs typeface="Arial"/>
              </a:rPr>
              <a:t>vulnerability.</a:t>
            </a:r>
            <a:endParaRPr sz="1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9832" y="7953640"/>
            <a:ext cx="122110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b="1">
                <a:solidFill>
                  <a:srgbClr val="0A0A08"/>
                </a:solidFill>
                <a:latin typeface="Arial"/>
                <a:cs typeface="Arial"/>
              </a:rPr>
              <a:t>April</a:t>
            </a:r>
            <a:r>
              <a:rPr dirty="0" sz="1900" spc="-220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1900" spc="90" b="1">
                <a:solidFill>
                  <a:srgbClr val="1A1A16"/>
                </a:solidFill>
                <a:latin typeface="Arial"/>
                <a:cs typeface="Arial"/>
              </a:rPr>
              <a:t>2021</a:t>
            </a:r>
            <a:endParaRPr sz="1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994328" y="8234495"/>
            <a:ext cx="163195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b="1">
                <a:solidFill>
                  <a:srgbClr val="0A0A08"/>
                </a:solidFill>
                <a:latin typeface="Arial"/>
                <a:cs typeface="Arial"/>
              </a:rPr>
              <a:t>October</a:t>
            </a:r>
            <a:r>
              <a:rPr dirty="0" sz="1900" spc="-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1900" spc="100" b="1">
                <a:solidFill>
                  <a:srgbClr val="0A0A08"/>
                </a:solidFill>
                <a:latin typeface="Arial"/>
                <a:cs typeface="Arial"/>
              </a:rPr>
              <a:t>2023</a:t>
            </a:r>
            <a:endParaRPr sz="1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067955" y="7940873"/>
            <a:ext cx="2464435" cy="122301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5080" indent="1270">
              <a:lnSpc>
                <a:spcPct val="104299"/>
              </a:lnSpc>
              <a:spcBef>
                <a:spcPts val="10"/>
              </a:spcBef>
            </a:pPr>
            <a:r>
              <a:rPr dirty="0" sz="1900" b="1">
                <a:solidFill>
                  <a:srgbClr val="0A0A08"/>
                </a:solidFill>
                <a:latin typeface="Arial"/>
                <a:cs typeface="Arial"/>
              </a:rPr>
              <a:t>November</a:t>
            </a:r>
            <a:r>
              <a:rPr dirty="0" sz="1900" spc="-6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1900" spc="120" b="1">
                <a:solidFill>
                  <a:srgbClr val="1A1A16"/>
                </a:solidFill>
                <a:latin typeface="Arial"/>
                <a:cs typeface="Arial"/>
              </a:rPr>
              <a:t>2023 </a:t>
            </a:r>
            <a:r>
              <a:rPr dirty="0" sz="1900">
                <a:solidFill>
                  <a:srgbClr val="2A2A28"/>
                </a:solidFill>
                <a:latin typeface="Arial"/>
                <a:cs typeface="Arial"/>
              </a:rPr>
              <a:t>Exploit</a:t>
            </a:r>
            <a:r>
              <a:rPr dirty="0" sz="1900" spc="305">
                <a:solidFill>
                  <a:srgbClr val="2A2A28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A2A28"/>
                </a:solidFill>
                <a:latin typeface="Arial"/>
                <a:cs typeface="Arial"/>
              </a:rPr>
              <a:t>weapon</a:t>
            </a:r>
            <a:r>
              <a:rPr dirty="0" sz="1900">
                <a:solidFill>
                  <a:srgbClr val="0A0A08"/>
                </a:solidFill>
                <a:latin typeface="Arial"/>
                <a:cs typeface="Arial"/>
              </a:rPr>
              <a:t>i</a:t>
            </a:r>
            <a:r>
              <a:rPr dirty="0" sz="1900">
                <a:solidFill>
                  <a:srgbClr val="2A2A28"/>
                </a:solidFill>
                <a:latin typeface="Arial"/>
                <a:cs typeface="Arial"/>
              </a:rPr>
              <a:t>zed</a:t>
            </a:r>
            <a:r>
              <a:rPr dirty="0" sz="1900" spc="280">
                <a:solidFill>
                  <a:srgbClr val="2A2A28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2A2A28"/>
                </a:solidFill>
                <a:latin typeface="Arial"/>
                <a:cs typeface="Arial"/>
              </a:rPr>
              <a:t>in </a:t>
            </a:r>
            <a:r>
              <a:rPr dirty="0" sz="1900">
                <a:solidFill>
                  <a:srgbClr val="2A2A28"/>
                </a:solidFill>
                <a:latin typeface="Arial"/>
                <a:cs typeface="Arial"/>
              </a:rPr>
              <a:t>the</a:t>
            </a:r>
            <a:r>
              <a:rPr dirty="0" sz="1900" spc="245">
                <a:solidFill>
                  <a:srgbClr val="2A2A28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A2A28"/>
                </a:solidFill>
                <a:latin typeface="Arial"/>
                <a:cs typeface="Arial"/>
              </a:rPr>
              <a:t>wi</a:t>
            </a:r>
            <a:r>
              <a:rPr dirty="0" sz="1900">
                <a:solidFill>
                  <a:srgbClr val="0A0A08"/>
                </a:solidFill>
                <a:latin typeface="Arial"/>
                <a:cs typeface="Arial"/>
              </a:rPr>
              <a:t>l</a:t>
            </a:r>
            <a:r>
              <a:rPr dirty="0" sz="1900">
                <a:solidFill>
                  <a:srgbClr val="2A2A28"/>
                </a:solidFill>
                <a:latin typeface="Arial"/>
                <a:cs typeface="Arial"/>
              </a:rPr>
              <a:t>d</a:t>
            </a:r>
            <a:r>
              <a:rPr dirty="0" sz="1900" spc="70">
                <a:solidFill>
                  <a:srgbClr val="2A2A28"/>
                </a:solidFill>
                <a:latin typeface="Arial"/>
                <a:cs typeface="Arial"/>
              </a:rPr>
              <a:t> </a:t>
            </a:r>
            <a:r>
              <a:rPr dirty="0" sz="1900" spc="50">
                <a:solidFill>
                  <a:srgbClr val="2A2A28"/>
                </a:solidFill>
                <a:latin typeface="Arial"/>
                <a:cs typeface="Arial"/>
              </a:rPr>
              <a:t>by</a:t>
            </a:r>
            <a:r>
              <a:rPr dirty="0" sz="1900" spc="110">
                <a:solidFill>
                  <a:srgbClr val="2A2A28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1A1A16"/>
                </a:solidFill>
                <a:latin typeface="Arial"/>
                <a:cs typeface="Arial"/>
              </a:rPr>
              <a:t>Kinsing </a:t>
            </a:r>
            <a:r>
              <a:rPr dirty="0" sz="1900" spc="50">
                <a:solidFill>
                  <a:srgbClr val="2A2A28"/>
                </a:solidFill>
                <a:latin typeface="Arial"/>
                <a:cs typeface="Arial"/>
              </a:rPr>
              <a:t>threat</a:t>
            </a:r>
            <a:r>
              <a:rPr dirty="0" sz="1900" spc="10">
                <a:solidFill>
                  <a:srgbClr val="2A2A28"/>
                </a:solidFill>
                <a:latin typeface="Arial"/>
                <a:cs typeface="Arial"/>
              </a:rPr>
              <a:t> </a:t>
            </a:r>
            <a:r>
              <a:rPr dirty="0" sz="1900" spc="35">
                <a:solidFill>
                  <a:srgbClr val="2A2A28"/>
                </a:solidFill>
                <a:latin typeface="Arial"/>
                <a:cs typeface="Arial"/>
              </a:rPr>
              <a:t>actors</a:t>
            </a:r>
            <a:r>
              <a:rPr dirty="0" sz="1900" spc="35">
                <a:solidFill>
                  <a:srgbClr val="0A0A08"/>
                </a:solidFill>
                <a:latin typeface="Arial"/>
                <a:cs typeface="Arial"/>
              </a:rPr>
              <a:t>.</a:t>
            </a:r>
            <a:endParaRPr sz="1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147783" y="9402597"/>
            <a:ext cx="125476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70">
                <a:solidFill>
                  <a:srgbClr val="2A2A28"/>
                </a:solidFill>
                <a:latin typeface="Arial"/>
                <a:cs typeface="Arial"/>
              </a:rPr>
              <a:t>I'S\</a:t>
            </a:r>
            <a:r>
              <a:rPr dirty="0" sz="1300" spc="-20">
                <a:solidFill>
                  <a:srgbClr val="2A2A2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A1A16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50793" y="2061996"/>
            <a:ext cx="7362190" cy="6849109"/>
            <a:chOff x="9450793" y="2061996"/>
            <a:chExt cx="7362190" cy="68491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50793" y="2093912"/>
              <a:ext cx="7361938" cy="681712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144500" y="2068379"/>
              <a:ext cx="459105" cy="0"/>
            </a:xfrm>
            <a:custGeom>
              <a:avLst/>
              <a:gdLst/>
              <a:ahLst/>
              <a:cxnLst/>
              <a:rect l="l" t="t" r="r" b="b"/>
              <a:pathLst>
                <a:path w="459105" h="0">
                  <a:moveTo>
                    <a:pt x="0" y="0"/>
                  </a:moveTo>
                  <a:lnTo>
                    <a:pt x="458529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144500" y="8400386"/>
              <a:ext cx="535305" cy="498475"/>
            </a:xfrm>
            <a:custGeom>
              <a:avLst/>
              <a:gdLst/>
              <a:ahLst/>
              <a:cxnLst/>
              <a:rect l="l" t="t" r="r" b="b"/>
              <a:pathLst>
                <a:path w="535305" h="498475">
                  <a:moveTo>
                    <a:pt x="0" y="0"/>
                  </a:moveTo>
                  <a:lnTo>
                    <a:pt x="534950" y="0"/>
                  </a:lnTo>
                </a:path>
                <a:path w="535305" h="498475">
                  <a:moveTo>
                    <a:pt x="0" y="497879"/>
                  </a:moveTo>
                  <a:lnTo>
                    <a:pt x="534950" y="497879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2918280" y="6891494"/>
              <a:ext cx="178435" cy="336550"/>
            </a:xfrm>
            <a:custGeom>
              <a:avLst/>
              <a:gdLst/>
              <a:ahLst/>
              <a:cxnLst/>
              <a:rect l="l" t="t" r="r" b="b"/>
              <a:pathLst>
                <a:path w="178434" h="336550">
                  <a:moveTo>
                    <a:pt x="178316" y="336357"/>
                  </a:moveTo>
                  <a:lnTo>
                    <a:pt x="0" y="336357"/>
                  </a:lnTo>
                  <a:lnTo>
                    <a:pt x="0" y="0"/>
                  </a:lnTo>
                  <a:lnTo>
                    <a:pt x="178316" y="0"/>
                  </a:lnTo>
                  <a:lnTo>
                    <a:pt x="178316" y="336357"/>
                  </a:lnTo>
                  <a:close/>
                </a:path>
              </a:pathLst>
            </a:custGeom>
            <a:solidFill>
              <a:srgbClr val="F0F0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20086" y="581189"/>
            <a:ext cx="13585190" cy="829944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250" spc="100">
                <a:solidFill>
                  <a:srgbClr val="0C0C0A"/>
                </a:solidFill>
                <a:latin typeface="Arial"/>
                <a:cs typeface="Arial"/>
              </a:rPr>
              <a:t>Configuration</a:t>
            </a:r>
            <a:r>
              <a:rPr dirty="0" sz="5250" spc="229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5250" spc="155">
                <a:solidFill>
                  <a:srgbClr val="0C0C0A"/>
                </a:solidFill>
                <a:latin typeface="Arial"/>
                <a:cs typeface="Arial"/>
              </a:rPr>
              <a:t>Can't</a:t>
            </a:r>
            <a:r>
              <a:rPr dirty="0" sz="5250" spc="-8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5250" spc="110">
                <a:solidFill>
                  <a:srgbClr val="0C0C0A"/>
                </a:solidFill>
                <a:latin typeface="Arial"/>
                <a:cs typeface="Arial"/>
              </a:rPr>
              <a:t>Stop</a:t>
            </a:r>
            <a:r>
              <a:rPr dirty="0" sz="5250" spc="-17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5250" spc="75">
                <a:solidFill>
                  <a:srgbClr val="0C0C0A"/>
                </a:solidFill>
                <a:latin typeface="Arial"/>
                <a:cs typeface="Arial"/>
              </a:rPr>
              <a:t>Kernel</a:t>
            </a:r>
            <a:r>
              <a:rPr dirty="0" sz="5250" spc="-14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5250" spc="55">
                <a:solidFill>
                  <a:srgbClr val="0C0C0A"/>
                </a:solidFill>
                <a:latin typeface="Arial"/>
                <a:cs typeface="Arial"/>
              </a:rPr>
              <a:t>Exploits.</a:t>
            </a:r>
            <a:endParaRPr sz="52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47783" y="9418922"/>
            <a:ext cx="125476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B3B38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3B3B3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61613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9991" y="1908869"/>
            <a:ext cx="8140065" cy="30816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 marR="15240" indent="-635">
              <a:lnSpc>
                <a:spcPts val="3420"/>
              </a:lnSpc>
              <a:spcBef>
                <a:spcPts val="330"/>
              </a:spcBef>
            </a:pPr>
            <a:r>
              <a:rPr dirty="0" sz="2950" spc="-190">
                <a:solidFill>
                  <a:srgbClr val="0C0C0A"/>
                </a:solidFill>
                <a:latin typeface="Arial"/>
                <a:cs typeface="Arial"/>
              </a:rPr>
              <a:t>CIS</a:t>
            </a:r>
            <a:r>
              <a:rPr dirty="0" sz="2950" spc="-16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90">
                <a:solidFill>
                  <a:srgbClr val="0C0C0A"/>
                </a:solidFill>
                <a:latin typeface="Arial"/>
                <a:cs typeface="Arial"/>
              </a:rPr>
              <a:t>Benchmarks</a:t>
            </a:r>
            <a:r>
              <a:rPr dirty="0" sz="2950" spc="1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75">
                <a:solidFill>
                  <a:srgbClr val="0C0C0A"/>
                </a:solidFill>
                <a:latin typeface="Arial"/>
                <a:cs typeface="Arial"/>
              </a:rPr>
              <a:t>and</a:t>
            </a:r>
            <a:r>
              <a:rPr dirty="0" sz="2950" spc="-27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210">
                <a:solidFill>
                  <a:srgbClr val="0C0C0A"/>
                </a:solidFill>
                <a:latin typeface="Arial"/>
                <a:cs typeface="Arial"/>
              </a:rPr>
              <a:t>DISA</a:t>
            </a:r>
            <a:r>
              <a:rPr dirty="0" sz="2950" spc="-7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210">
                <a:solidFill>
                  <a:srgbClr val="0C0C0A"/>
                </a:solidFill>
                <a:latin typeface="Arial"/>
                <a:cs typeface="Arial"/>
              </a:rPr>
              <a:t>STIGs</a:t>
            </a:r>
            <a:r>
              <a:rPr dirty="0" sz="2950" spc="-4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55">
                <a:solidFill>
                  <a:srgbClr val="0C0C0A"/>
                </a:solidFill>
                <a:latin typeface="Arial"/>
                <a:cs typeface="Arial"/>
              </a:rPr>
              <a:t>are</a:t>
            </a:r>
            <a:r>
              <a:rPr dirty="0" sz="2950" spc="-26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0C0C0A"/>
                </a:solidFill>
                <a:latin typeface="Arial"/>
                <a:cs typeface="Arial"/>
              </a:rPr>
              <a:t>essential </a:t>
            </a:r>
            <a:r>
              <a:rPr dirty="0" sz="2950" spc="-35">
                <a:solidFill>
                  <a:srgbClr val="0C0C0A"/>
                </a:solidFill>
                <a:latin typeface="Arial"/>
                <a:cs typeface="Arial"/>
              </a:rPr>
              <a:t>configuration</a:t>
            </a:r>
            <a:r>
              <a:rPr dirty="0" sz="2950" spc="-114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45">
                <a:solidFill>
                  <a:srgbClr val="0C0C0A"/>
                </a:solidFill>
                <a:latin typeface="Arial"/>
                <a:cs typeface="Arial"/>
              </a:rPr>
              <a:t>checklists.</a:t>
            </a:r>
            <a:r>
              <a:rPr dirty="0" sz="2950" spc="-5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75">
                <a:solidFill>
                  <a:srgbClr val="0C0C0A"/>
                </a:solidFill>
                <a:latin typeface="Arial"/>
                <a:cs typeface="Arial"/>
              </a:rPr>
              <a:t>They</a:t>
            </a:r>
            <a:r>
              <a:rPr dirty="0" sz="2950" spc="-7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125">
                <a:solidFill>
                  <a:srgbClr val="0C0C0A"/>
                </a:solidFill>
                <a:latin typeface="Arial"/>
                <a:cs typeface="Arial"/>
              </a:rPr>
              <a:t>assume</a:t>
            </a:r>
            <a:r>
              <a:rPr dirty="0" sz="2950" spc="-8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C0C0A"/>
                </a:solidFill>
                <a:latin typeface="Arial"/>
                <a:cs typeface="Arial"/>
              </a:rPr>
              <a:t>the</a:t>
            </a:r>
            <a:r>
              <a:rPr dirty="0" sz="2950" spc="-204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80">
                <a:solidFill>
                  <a:srgbClr val="0C0C0A"/>
                </a:solidFill>
                <a:latin typeface="Arial"/>
                <a:cs typeface="Arial"/>
              </a:rPr>
              <a:t>kernel</a:t>
            </a:r>
            <a:r>
              <a:rPr dirty="0" sz="2950" spc="-15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25">
                <a:solidFill>
                  <a:srgbClr val="0C0C0A"/>
                </a:solidFill>
                <a:latin typeface="Arial"/>
                <a:cs typeface="Arial"/>
              </a:rPr>
              <a:t>is </a:t>
            </a:r>
            <a:r>
              <a:rPr dirty="0" sz="2950" spc="-10">
                <a:solidFill>
                  <a:srgbClr val="0C0C0A"/>
                </a:solidFill>
                <a:latin typeface="Arial"/>
                <a:cs typeface="Arial"/>
              </a:rPr>
              <a:t>trustworthy.</a:t>
            </a:r>
            <a:r>
              <a:rPr dirty="0" sz="2950" spc="-6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145">
                <a:solidFill>
                  <a:srgbClr val="0C0C0A"/>
                </a:solidFill>
                <a:latin typeface="Arial"/>
                <a:cs typeface="Arial"/>
              </a:rPr>
              <a:t>When</a:t>
            </a:r>
            <a:r>
              <a:rPr dirty="0" sz="2950" spc="-12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C0C0A"/>
                </a:solidFill>
                <a:latin typeface="Arial"/>
                <a:cs typeface="Arial"/>
              </a:rPr>
              <a:t>it's</a:t>
            </a:r>
            <a:r>
              <a:rPr dirty="0" sz="2950" spc="-15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C0C0A"/>
                </a:solidFill>
                <a:latin typeface="Arial"/>
                <a:cs typeface="Arial"/>
              </a:rPr>
              <a:t>not,</a:t>
            </a:r>
            <a:r>
              <a:rPr dirty="0" sz="2950" spc="-18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40">
                <a:solidFill>
                  <a:srgbClr val="0C0C0A"/>
                </a:solidFill>
                <a:latin typeface="Arial"/>
                <a:cs typeface="Arial"/>
              </a:rPr>
              <a:t>all</a:t>
            </a:r>
            <a:r>
              <a:rPr dirty="0" sz="2950" spc="-254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65">
                <a:solidFill>
                  <a:srgbClr val="0C0C0A"/>
                </a:solidFill>
                <a:latin typeface="Arial"/>
                <a:cs typeface="Arial"/>
              </a:rPr>
              <a:t>higher-</a:t>
            </a:r>
            <a:r>
              <a:rPr dirty="0" sz="2950" spc="-10">
                <a:solidFill>
                  <a:srgbClr val="0C0C0A"/>
                </a:solidFill>
                <a:latin typeface="Arial"/>
                <a:cs typeface="Arial"/>
              </a:rPr>
              <a:t>level</a:t>
            </a:r>
            <a:endParaRPr sz="2950">
              <a:latin typeface="Arial"/>
              <a:cs typeface="Arial"/>
            </a:endParaRPr>
          </a:p>
          <a:p>
            <a:pPr marL="15875">
              <a:lnSpc>
                <a:spcPts val="3260"/>
              </a:lnSpc>
            </a:pPr>
            <a:r>
              <a:rPr dirty="0" sz="2950">
                <a:solidFill>
                  <a:srgbClr val="0C0C0A"/>
                </a:solidFill>
                <a:latin typeface="Arial"/>
                <a:cs typeface="Arial"/>
              </a:rPr>
              <a:t>controls-SELinux,</a:t>
            </a:r>
            <a:r>
              <a:rPr dirty="0" sz="2950" spc="-17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50">
                <a:solidFill>
                  <a:srgbClr val="0C0C0A"/>
                </a:solidFill>
                <a:latin typeface="Arial"/>
                <a:cs typeface="Arial"/>
              </a:rPr>
              <a:t>firewalls,</a:t>
            </a:r>
            <a:r>
              <a:rPr dirty="0" sz="2950" spc="16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C0C0A"/>
                </a:solidFill>
                <a:latin typeface="Arial"/>
                <a:cs typeface="Arial"/>
              </a:rPr>
              <a:t>file</a:t>
            </a:r>
            <a:r>
              <a:rPr dirty="0" sz="2950" spc="-17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55">
                <a:solidFill>
                  <a:srgbClr val="0C0C0A"/>
                </a:solidFill>
                <a:latin typeface="Arial"/>
                <a:cs typeface="Arial"/>
              </a:rPr>
              <a:t>permissions-</a:t>
            </a:r>
            <a:endParaRPr sz="2950">
              <a:latin typeface="Arial"/>
              <a:cs typeface="Arial"/>
            </a:endParaRPr>
          </a:p>
          <a:p>
            <a:pPr marL="15240" marR="5080" indent="3810">
              <a:lnSpc>
                <a:spcPts val="3420"/>
              </a:lnSpc>
              <a:spcBef>
                <a:spcPts val="150"/>
              </a:spcBef>
            </a:pPr>
            <a:r>
              <a:rPr dirty="0" sz="2950" spc="-90">
                <a:solidFill>
                  <a:srgbClr val="0C0C0A"/>
                </a:solidFill>
                <a:latin typeface="Arial"/>
                <a:cs typeface="Arial"/>
              </a:rPr>
              <a:t>become</a:t>
            </a:r>
            <a:r>
              <a:rPr dirty="0" sz="2950" spc="-12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45">
                <a:solidFill>
                  <a:srgbClr val="0C0C0A"/>
                </a:solidFill>
                <a:latin typeface="Arial"/>
                <a:cs typeface="Arial"/>
              </a:rPr>
              <a:t>irrelevant.</a:t>
            </a:r>
            <a:r>
              <a:rPr dirty="0" sz="2950" spc="-8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155">
                <a:solidFill>
                  <a:srgbClr val="0C0C0A"/>
                </a:solidFill>
                <a:latin typeface="Arial"/>
                <a:cs typeface="Arial"/>
              </a:rPr>
              <a:t>An</a:t>
            </a:r>
            <a:r>
              <a:rPr dirty="0" sz="2950" spc="-15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20">
                <a:solidFill>
                  <a:srgbClr val="0C0C0A"/>
                </a:solidFill>
                <a:latin typeface="Arial"/>
                <a:cs typeface="Arial"/>
              </a:rPr>
              <a:t>attacker </a:t>
            </a:r>
            <a:r>
              <a:rPr dirty="0" sz="2950">
                <a:solidFill>
                  <a:srgbClr val="0C0C0A"/>
                </a:solidFill>
                <a:latin typeface="Arial"/>
                <a:cs typeface="Arial"/>
              </a:rPr>
              <a:t>with</a:t>
            </a:r>
            <a:r>
              <a:rPr dirty="0" sz="2950" spc="-22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50">
                <a:solidFill>
                  <a:srgbClr val="0C0C0A"/>
                </a:solidFill>
                <a:latin typeface="Arial"/>
                <a:cs typeface="Arial"/>
              </a:rPr>
              <a:t>a</a:t>
            </a:r>
            <a:r>
              <a:rPr dirty="0" sz="2950" spc="-20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65">
                <a:solidFill>
                  <a:srgbClr val="0C0C0A"/>
                </a:solidFill>
                <a:latin typeface="Arial"/>
                <a:cs typeface="Arial"/>
              </a:rPr>
              <a:t>kernel</a:t>
            </a:r>
            <a:r>
              <a:rPr dirty="0" sz="2950" spc="-8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25">
                <a:solidFill>
                  <a:srgbClr val="0C0C0A"/>
                </a:solidFill>
                <a:latin typeface="Arial"/>
                <a:cs typeface="Arial"/>
              </a:rPr>
              <a:t>exploit </a:t>
            </a:r>
            <a:r>
              <a:rPr dirty="0" sz="2950" spc="-85">
                <a:solidFill>
                  <a:srgbClr val="0C0C0A"/>
                </a:solidFill>
                <a:latin typeface="Arial"/>
                <a:cs typeface="Arial"/>
              </a:rPr>
              <a:t>bypasses</a:t>
            </a:r>
            <a:r>
              <a:rPr dirty="0" sz="2950" spc="-2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75">
                <a:solidFill>
                  <a:srgbClr val="0C0C0A"/>
                </a:solidFill>
                <a:latin typeface="Arial"/>
                <a:cs typeface="Arial"/>
              </a:rPr>
              <a:t>your</a:t>
            </a:r>
            <a:r>
              <a:rPr dirty="0" sz="2950" spc="-13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30">
                <a:solidFill>
                  <a:srgbClr val="0C0C0A"/>
                </a:solidFill>
                <a:latin typeface="Arial"/>
                <a:cs typeface="Arial"/>
              </a:rPr>
              <a:t>entire</a:t>
            </a:r>
            <a:r>
              <a:rPr dirty="0" sz="2950" spc="-17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35">
                <a:solidFill>
                  <a:srgbClr val="0C0C0A"/>
                </a:solidFill>
                <a:latin typeface="Arial"/>
                <a:cs typeface="Arial"/>
              </a:rPr>
              <a:t>configuration</a:t>
            </a:r>
            <a:r>
              <a:rPr dirty="0" sz="2950" spc="-8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0C0C0A"/>
                </a:solidFill>
                <a:latin typeface="Arial"/>
                <a:cs typeface="Arial"/>
              </a:rPr>
              <a:t>hardening framework.</a:t>
            </a:r>
            <a:endParaRPr sz="2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7399" y="5540838"/>
            <a:ext cx="7758430" cy="35477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30"/>
              </a:spcBef>
            </a:pPr>
            <a:r>
              <a:rPr dirty="0" sz="2900" spc="-45" b="1">
                <a:solidFill>
                  <a:srgbClr val="0C0C0A"/>
                </a:solidFill>
                <a:latin typeface="Arial"/>
                <a:cs typeface="Arial"/>
              </a:rPr>
              <a:t>The</a:t>
            </a:r>
            <a:r>
              <a:rPr dirty="0" sz="2900" spc="-280" b="1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00" spc="-130" b="1">
                <a:solidFill>
                  <a:srgbClr val="0C0C0A"/>
                </a:solidFill>
                <a:latin typeface="Arial"/>
                <a:cs typeface="Arial"/>
              </a:rPr>
              <a:t>Lesson</a:t>
            </a:r>
            <a:r>
              <a:rPr dirty="0" sz="2900" spc="-180" b="1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00" spc="-35" b="1">
                <a:solidFill>
                  <a:srgbClr val="0C0C0A"/>
                </a:solidFill>
                <a:latin typeface="Arial"/>
                <a:cs typeface="Arial"/>
              </a:rPr>
              <a:t>of</a:t>
            </a:r>
            <a:r>
              <a:rPr dirty="0" sz="2900" spc="-240" b="1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00" spc="-50" b="1">
                <a:solidFill>
                  <a:srgbClr val="0C0C0A"/>
                </a:solidFill>
                <a:latin typeface="Arial"/>
                <a:cs typeface="Arial"/>
              </a:rPr>
              <a:t>Dirty</a:t>
            </a:r>
            <a:r>
              <a:rPr dirty="0" sz="2900" spc="-190" b="1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00" spc="-130" b="1">
                <a:solidFill>
                  <a:srgbClr val="0C0C0A"/>
                </a:solidFill>
                <a:latin typeface="Arial"/>
                <a:cs typeface="Arial"/>
              </a:rPr>
              <a:t>COW</a:t>
            </a:r>
            <a:r>
              <a:rPr dirty="0" sz="2900" spc="-90" b="1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C0C0A"/>
                </a:solidFill>
                <a:latin typeface="Arial"/>
                <a:cs typeface="Arial"/>
              </a:rPr>
              <a:t>(CVE-2016-</a:t>
            </a:r>
            <a:r>
              <a:rPr dirty="0" sz="2900" spc="-10" b="1">
                <a:solidFill>
                  <a:srgbClr val="0C0C0A"/>
                </a:solidFill>
                <a:latin typeface="Arial"/>
                <a:cs typeface="Arial"/>
              </a:rPr>
              <a:t>5195) </a:t>
            </a:r>
            <a:r>
              <a:rPr dirty="0" sz="2950" spc="-65">
                <a:solidFill>
                  <a:srgbClr val="0C0C0A"/>
                </a:solidFill>
                <a:latin typeface="Arial"/>
                <a:cs typeface="Arial"/>
              </a:rPr>
              <a:t>This</a:t>
            </a:r>
            <a:r>
              <a:rPr dirty="0" sz="2950" spc="-22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20">
                <a:solidFill>
                  <a:srgbClr val="0C0C0A"/>
                </a:solidFill>
                <a:latin typeface="Arial"/>
                <a:cs typeface="Arial"/>
              </a:rPr>
              <a:t>critical</a:t>
            </a:r>
            <a:r>
              <a:rPr dirty="0" sz="2950" spc="-19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45">
                <a:solidFill>
                  <a:srgbClr val="0C0C0A"/>
                </a:solidFill>
                <a:latin typeface="Arial"/>
                <a:cs typeface="Arial"/>
              </a:rPr>
              <a:t>privilege</a:t>
            </a:r>
            <a:r>
              <a:rPr dirty="0" sz="2950" spc="-16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60">
                <a:solidFill>
                  <a:srgbClr val="0C0C0A"/>
                </a:solidFill>
                <a:latin typeface="Arial"/>
                <a:cs typeface="Arial"/>
              </a:rPr>
              <a:t>escalation</a:t>
            </a:r>
            <a:r>
              <a:rPr dirty="0" sz="2950" spc="5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0C0C0A"/>
                </a:solidFill>
                <a:latin typeface="Arial"/>
                <a:cs typeface="Arial"/>
              </a:rPr>
              <a:t>bug</a:t>
            </a:r>
            <a:r>
              <a:rPr dirty="0" sz="2950" spc="-24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90">
                <a:solidFill>
                  <a:srgbClr val="0C0C0A"/>
                </a:solidFill>
                <a:latin typeface="Arial"/>
                <a:cs typeface="Arial"/>
              </a:rPr>
              <a:t>bypassed</a:t>
            </a:r>
            <a:r>
              <a:rPr dirty="0" sz="2950" spc="-13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25">
                <a:solidFill>
                  <a:srgbClr val="0C0C0A"/>
                </a:solidFill>
                <a:latin typeface="Arial"/>
                <a:cs typeface="Arial"/>
              </a:rPr>
              <a:t>all </a:t>
            </a:r>
            <a:r>
              <a:rPr dirty="0" sz="2950" spc="-40">
                <a:solidFill>
                  <a:srgbClr val="0C0C0A"/>
                </a:solidFill>
                <a:latin typeface="Arial"/>
                <a:cs typeface="Arial"/>
              </a:rPr>
              <a:t>configuration-based</a:t>
            </a:r>
            <a:r>
              <a:rPr dirty="0" sz="2950" spc="-16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35">
                <a:solidFill>
                  <a:srgbClr val="0C0C0A"/>
                </a:solidFill>
                <a:latin typeface="Arial"/>
                <a:cs typeface="Arial"/>
              </a:rPr>
              <a:t>security</a:t>
            </a:r>
            <a:r>
              <a:rPr dirty="0" sz="2950" spc="2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45">
                <a:solidFill>
                  <a:srgbClr val="0C0C0A"/>
                </a:solidFill>
                <a:latin typeface="Arial"/>
                <a:cs typeface="Arial"/>
              </a:rPr>
              <a:t>controls,</a:t>
            </a:r>
            <a:r>
              <a:rPr dirty="0" sz="2950" spc="-17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0C0C0A"/>
                </a:solidFill>
                <a:latin typeface="Arial"/>
                <a:cs typeface="Arial"/>
              </a:rPr>
              <a:t>including </a:t>
            </a:r>
            <a:r>
              <a:rPr dirty="0" sz="2950" spc="-170">
                <a:solidFill>
                  <a:srgbClr val="0C0C0A"/>
                </a:solidFill>
                <a:latin typeface="Arial"/>
                <a:cs typeface="Arial"/>
              </a:rPr>
              <a:t>SELinux.</a:t>
            </a:r>
            <a:r>
              <a:rPr dirty="0" sz="295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95">
                <a:solidFill>
                  <a:srgbClr val="0C0C0A"/>
                </a:solidFill>
                <a:latin typeface="Arial"/>
                <a:cs typeface="Arial"/>
              </a:rPr>
              <a:t>Systems</a:t>
            </a:r>
            <a:r>
              <a:rPr dirty="0" sz="2950" spc="-5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C0C0A"/>
                </a:solidFill>
                <a:latin typeface="Arial"/>
                <a:cs typeface="Arial"/>
              </a:rPr>
              <a:t>that</a:t>
            </a:r>
            <a:r>
              <a:rPr dirty="0" sz="2950" spc="-2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85">
                <a:solidFill>
                  <a:srgbClr val="0C0C0A"/>
                </a:solidFill>
                <a:latin typeface="Arial"/>
                <a:cs typeface="Arial"/>
              </a:rPr>
              <a:t>were</a:t>
            </a:r>
            <a:r>
              <a:rPr dirty="0" sz="2950" spc="-17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0C0C0A"/>
                </a:solidFill>
                <a:latin typeface="Arial"/>
                <a:cs typeface="Arial"/>
              </a:rPr>
              <a:t>perfectly</a:t>
            </a:r>
            <a:endParaRPr sz="2950">
              <a:latin typeface="Arial"/>
              <a:cs typeface="Arial"/>
            </a:endParaRPr>
          </a:p>
          <a:p>
            <a:pPr marL="17780" marR="814705" indent="-1270">
              <a:lnSpc>
                <a:spcPts val="3420"/>
              </a:lnSpc>
              <a:spcBef>
                <a:spcPts val="95"/>
              </a:spcBef>
            </a:pPr>
            <a:r>
              <a:rPr dirty="0" sz="2950" spc="-70">
                <a:solidFill>
                  <a:srgbClr val="0C0C0A"/>
                </a:solidFill>
                <a:latin typeface="Arial"/>
                <a:cs typeface="Arial"/>
              </a:rPr>
              <a:t>"STIG-</a:t>
            </a:r>
            <a:r>
              <a:rPr dirty="0" sz="2950" spc="-50">
                <a:solidFill>
                  <a:srgbClr val="0C0C0A"/>
                </a:solidFill>
                <a:latin typeface="Arial"/>
                <a:cs typeface="Arial"/>
              </a:rPr>
              <a:t>compliant"</a:t>
            </a:r>
            <a:r>
              <a:rPr dirty="0" sz="2950" spc="-6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90">
                <a:solidFill>
                  <a:srgbClr val="0C0C0A"/>
                </a:solidFill>
                <a:latin typeface="Arial"/>
                <a:cs typeface="Arial"/>
              </a:rPr>
              <a:t>were</a:t>
            </a:r>
            <a:r>
              <a:rPr dirty="0" sz="2950" spc="-204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0C0C0A"/>
                </a:solidFill>
                <a:latin typeface="Arial"/>
                <a:cs typeface="Arial"/>
              </a:rPr>
              <a:t>completely </a:t>
            </a:r>
            <a:r>
              <a:rPr dirty="0" sz="2950" spc="-45">
                <a:solidFill>
                  <a:srgbClr val="0C0C0A"/>
                </a:solidFill>
                <a:latin typeface="Arial"/>
                <a:cs typeface="Arial"/>
              </a:rPr>
              <a:t>completely</a:t>
            </a:r>
            <a:r>
              <a:rPr dirty="0" sz="2950" spc="-11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80">
                <a:solidFill>
                  <a:srgbClr val="0C0C0A"/>
                </a:solidFill>
                <a:latin typeface="Arial"/>
                <a:cs typeface="Arial"/>
              </a:rPr>
              <a:t>vulnerable.</a:t>
            </a:r>
            <a:r>
              <a:rPr dirty="0" sz="2950" spc="-12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75">
                <a:solidFill>
                  <a:srgbClr val="0C0C0A"/>
                </a:solidFill>
                <a:latin typeface="Arial"/>
                <a:cs typeface="Arial"/>
              </a:rPr>
              <a:t>This</a:t>
            </a:r>
            <a:r>
              <a:rPr dirty="0" sz="2950" spc="-13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50">
                <a:solidFill>
                  <a:srgbClr val="0C0C0A"/>
                </a:solidFill>
                <a:latin typeface="Arial"/>
                <a:cs typeface="Arial"/>
              </a:rPr>
              <a:t>demonstrates</a:t>
            </a:r>
            <a:r>
              <a:rPr dirty="0" sz="2950" spc="2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50">
                <a:solidFill>
                  <a:srgbClr val="0C0C0A"/>
                </a:solidFill>
                <a:latin typeface="Arial"/>
                <a:cs typeface="Arial"/>
              </a:rPr>
              <a:t>a </a:t>
            </a:r>
            <a:r>
              <a:rPr dirty="0" sz="2950" spc="-60">
                <a:solidFill>
                  <a:srgbClr val="0C0C0A"/>
                </a:solidFill>
                <a:latin typeface="Arial"/>
                <a:cs typeface="Arial"/>
              </a:rPr>
              <a:t>fundamental</a:t>
            </a:r>
            <a:r>
              <a:rPr dirty="0" sz="2950" spc="-15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35">
                <a:solidFill>
                  <a:srgbClr val="0C0C0A"/>
                </a:solidFill>
                <a:latin typeface="Arial"/>
                <a:cs typeface="Arial"/>
              </a:rPr>
              <a:t>architectural</a:t>
            </a:r>
            <a:r>
              <a:rPr dirty="0" sz="2950" spc="5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100">
                <a:solidFill>
                  <a:srgbClr val="0C0C0A"/>
                </a:solidFill>
                <a:latin typeface="Arial"/>
                <a:cs typeface="Arial"/>
              </a:rPr>
              <a:t>weakness,</a:t>
            </a:r>
            <a:r>
              <a:rPr dirty="0" sz="2950" spc="-10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C0C0A"/>
                </a:solidFill>
                <a:latin typeface="Arial"/>
                <a:cs typeface="Arial"/>
              </a:rPr>
              <a:t>not</a:t>
            </a:r>
            <a:r>
              <a:rPr dirty="0" sz="2950" spc="-21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50">
                <a:solidFill>
                  <a:srgbClr val="0C0C0A"/>
                </a:solidFill>
                <a:latin typeface="Arial"/>
                <a:cs typeface="Arial"/>
              </a:rPr>
              <a:t>a </a:t>
            </a:r>
            <a:r>
              <a:rPr dirty="0" sz="2950" spc="-35">
                <a:solidFill>
                  <a:srgbClr val="0C0C0A"/>
                </a:solidFill>
                <a:latin typeface="Arial"/>
                <a:cs typeface="Arial"/>
              </a:rPr>
              <a:t>configuration</a:t>
            </a:r>
            <a:r>
              <a:rPr dirty="0" sz="2950" spc="-10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0C0C0A"/>
                </a:solidFill>
                <a:latin typeface="Arial"/>
                <a:cs typeface="Arial"/>
              </a:rPr>
              <a:t>oversight.</a:t>
            </a:r>
            <a:endParaRPr sz="2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23115" y="6881283"/>
            <a:ext cx="107251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940" b="1">
                <a:solidFill>
                  <a:srgbClr val="7C3D36"/>
                </a:solidFill>
                <a:latin typeface="Arial"/>
                <a:cs typeface="Arial"/>
              </a:rPr>
              <a:t>"7�</a:t>
            </a:r>
            <a:r>
              <a:rPr dirty="0" sz="1900" spc="940" b="1">
                <a:solidFill>
                  <a:srgbClr val="A0A3A1"/>
                </a:solidFill>
                <a:latin typeface="Arial"/>
                <a:cs typeface="Arial"/>
              </a:rPr>
              <a:t>-</a:t>
            </a:r>
            <a:endParaRPr sz="1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13740" y="6517448"/>
            <a:ext cx="1400810" cy="69215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 marR="5080">
              <a:lnSpc>
                <a:spcPts val="2410"/>
              </a:lnSpc>
              <a:spcBef>
                <a:spcPts val="535"/>
              </a:spcBef>
            </a:pPr>
            <a:r>
              <a:rPr dirty="0" sz="2350" spc="-10" b="1">
                <a:solidFill>
                  <a:srgbClr val="7C3D36"/>
                </a:solidFill>
                <a:latin typeface="Arial"/>
                <a:cs typeface="Arial"/>
              </a:rPr>
              <a:t>Privilege </a:t>
            </a:r>
            <a:r>
              <a:rPr dirty="0" sz="2350" spc="-105" b="1">
                <a:solidFill>
                  <a:srgbClr val="7C3D36"/>
                </a:solidFill>
                <a:latin typeface="Arial"/>
                <a:cs typeface="Arial"/>
              </a:rPr>
              <a:t>Escalation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793" y="5004593"/>
            <a:ext cx="662319" cy="40851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793" y="5974820"/>
            <a:ext cx="636845" cy="1659598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750567" y="2649239"/>
          <a:ext cx="10138410" cy="5296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9614"/>
                <a:gridCol w="8062594"/>
              </a:tblGrid>
              <a:tr h="1416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6540">
                        <a:lnSpc>
                          <a:spcPts val="2550"/>
                        </a:lnSpc>
                        <a:spcBef>
                          <a:spcPts val="2325"/>
                        </a:spcBef>
                        <a:tabLst>
                          <a:tab pos="4218940" algn="l"/>
                        </a:tabLst>
                      </a:pPr>
                      <a:r>
                        <a:rPr dirty="0" sz="2400" spc="-140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Standard </a:t>
                      </a:r>
                      <a:r>
                        <a:rPr dirty="0" sz="2400" spc="-145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Enterprise</a:t>
                      </a:r>
                      <a:r>
                        <a:rPr dirty="0" sz="2400" spc="-170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Linux</a:t>
                      </a:r>
                      <a:r>
                        <a:rPr dirty="0" sz="2400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2314" sz="3600" spc="-232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RLC-</a:t>
                      </a:r>
                      <a:r>
                        <a:rPr dirty="0" baseline="2314" sz="3600" spc="-270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dirty="0" baseline="2314" sz="3600" spc="-292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2314" sz="3600" spc="-104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dirty="0" baseline="2314" sz="3600" spc="-555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2314" sz="3600" spc="-217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Hardened</a:t>
                      </a:r>
                      <a:r>
                        <a:rPr dirty="0" baseline="2314" sz="3600" spc="-157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2314" sz="3600" spc="-15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glibc</a:t>
                      </a:r>
                      <a:endParaRPr baseline="2314" sz="3600">
                        <a:latin typeface="Arial"/>
                        <a:cs typeface="Arial"/>
                      </a:endParaRPr>
                    </a:p>
                    <a:p>
                      <a:pPr marL="254000">
                        <a:lnSpc>
                          <a:spcPts val="4230"/>
                        </a:lnSpc>
                        <a:tabLst>
                          <a:tab pos="738505" algn="l"/>
                          <a:tab pos="4233545" algn="l"/>
                        </a:tabLst>
                      </a:pPr>
                      <a:r>
                        <a:rPr dirty="0" sz="3800" spc="-380" b="1">
                          <a:solidFill>
                            <a:srgbClr val="C10A0C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dirty="0" sz="3800" b="1">
                          <a:solidFill>
                            <a:srgbClr val="C10A0C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400" spc="-295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VULNERABLE</a:t>
                      </a:r>
                      <a:r>
                        <a:rPr dirty="0" sz="2400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900" spc="-270">
                          <a:solidFill>
                            <a:srgbClr val="0F3D64"/>
                          </a:solidFill>
                          <a:latin typeface="Arial"/>
                          <a:cs typeface="Arial"/>
                        </a:rPr>
                        <a:t>@</a:t>
                      </a:r>
                      <a:r>
                        <a:rPr dirty="0" sz="2900" spc="204">
                          <a:solidFill>
                            <a:srgbClr val="0F3D6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90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MITIGATED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95275">
                    <a:lnL w="28575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39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58445">
                        <a:lnSpc>
                          <a:spcPct val="100000"/>
                        </a:lnSpc>
                      </a:pPr>
                      <a:r>
                        <a:rPr dirty="0" sz="2400" spc="-50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Mechanism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2625"/>
                        </a:lnSpc>
                        <a:spcBef>
                          <a:spcPts val="2320"/>
                        </a:spcBef>
                        <a:tabLst>
                          <a:tab pos="4225925" algn="l"/>
                        </a:tabLst>
                      </a:pPr>
                      <a:r>
                        <a:rPr dirty="0" sz="2200" spc="-1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GLIBC_TU</a:t>
                      </a:r>
                      <a:r>
                        <a:rPr dirty="0" sz="2200" spc="-1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200" spc="-1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ABL</a:t>
                      </a:r>
                      <a:r>
                        <a:rPr dirty="0" sz="2200" spc="-1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2200" spc="-1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dirty="0" sz="220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200" spc="-14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dirty="0" sz="2200" spc="-14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200" spc="-140">
                          <a:solidFill>
                            <a:srgbClr val="343434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2200" spc="-14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dirty="0" sz="2200" spc="-14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2200" spc="-14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_</a:t>
                      </a:r>
                      <a:r>
                        <a:rPr dirty="0" sz="2200" spc="-14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200" spc="-14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dirty="0" sz="2200" spc="-14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NABLESis</a:t>
                      </a:r>
                      <a:r>
                        <a:rPr dirty="0" sz="2200" spc="-1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distrusted</a:t>
                      </a:r>
                      <a:endParaRPr sz="2200">
                        <a:latin typeface="Arial"/>
                        <a:cs typeface="Arial"/>
                      </a:endParaRPr>
                    </a:p>
                    <a:p>
                      <a:pPr marL="256540">
                        <a:lnSpc>
                          <a:spcPts val="2625"/>
                        </a:lnSpc>
                        <a:tabLst>
                          <a:tab pos="4218305" algn="l"/>
                        </a:tabLst>
                      </a:pPr>
                      <a:r>
                        <a:rPr dirty="0" baseline="-2525" sz="3300" spc="-7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environment </a:t>
                      </a:r>
                      <a:r>
                        <a:rPr dirty="0" baseline="-2525" sz="3300" spc="-1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variable</a:t>
                      </a:r>
                      <a:r>
                        <a:rPr dirty="0" baseline="-2525" sz="330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200" spc="-2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an</a:t>
                      </a:r>
                      <a:r>
                        <a:rPr dirty="0" sz="2200" spc="-2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dirty="0" sz="2200" spc="-45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stripped</a:t>
                      </a:r>
                      <a:r>
                        <a:rPr dirty="0" sz="2200" spc="-6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dirty="0" sz="2200" spc="-11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2200" spc="-28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privilege</a:t>
                      </a:r>
                      <a:endParaRPr sz="2200">
                        <a:latin typeface="Arial"/>
                        <a:cs typeface="Arial"/>
                      </a:endParaRPr>
                    </a:p>
                    <a:p>
                      <a:pPr marL="248920" marR="159385" indent="-635">
                        <a:lnSpc>
                          <a:spcPts val="2610"/>
                        </a:lnSpc>
                        <a:spcBef>
                          <a:spcPts val="190"/>
                        </a:spcBef>
                        <a:tabLst>
                          <a:tab pos="4222750" algn="l"/>
                        </a:tabLst>
                      </a:pPr>
                      <a:r>
                        <a:rPr dirty="0" sz="2200" spc="-4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proc</a:t>
                      </a:r>
                      <a:r>
                        <a:rPr dirty="0" sz="2200" spc="-45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2200" spc="-4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ssed</a:t>
                      </a:r>
                      <a:r>
                        <a:rPr dirty="0" sz="2200" spc="-12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2200" spc="-7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7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SUID</a:t>
                      </a:r>
                      <a:r>
                        <a:rPr dirty="0" sz="2200" spc="-10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bi</a:t>
                      </a:r>
                      <a:r>
                        <a:rPr dirty="0" sz="2200" spc="-1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200" spc="-1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ari</a:t>
                      </a:r>
                      <a:r>
                        <a:rPr dirty="0" sz="2200" spc="-1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es,</a:t>
                      </a:r>
                      <a:r>
                        <a:rPr dirty="0" sz="220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200" spc="-5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boundary.</a:t>
                      </a:r>
                      <a:r>
                        <a:rPr dirty="0" sz="2200" spc="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2200" spc="-16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vu</a:t>
                      </a:r>
                      <a:r>
                        <a:rPr dirty="0" sz="2200" spc="-55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200" spc="-5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ne</a:t>
                      </a:r>
                      <a:r>
                        <a:rPr dirty="0" sz="2200" spc="-55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2200" spc="-5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able</a:t>
                      </a:r>
                      <a:r>
                        <a:rPr dirty="0" sz="2200" spc="-18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code </a:t>
                      </a:r>
                      <a:r>
                        <a:rPr dirty="0" sz="2200" spc="-4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leadi</a:t>
                      </a:r>
                      <a:r>
                        <a:rPr dirty="0" sz="2200" spc="-45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200" spc="-4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dirty="0" sz="2200" spc="-8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8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2200" spc="-17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dirty="0" sz="220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uffer</a:t>
                      </a:r>
                      <a:r>
                        <a:rPr dirty="0" sz="2200" spc="-15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ove</a:t>
                      </a:r>
                      <a:r>
                        <a:rPr dirty="0" sz="2200" spc="-1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2200" spc="-1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200" spc="-1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200" spc="-1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ow</a:t>
                      </a:r>
                      <a:r>
                        <a:rPr dirty="0" sz="2200" spc="-1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220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20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path</a:t>
                      </a:r>
                      <a:r>
                        <a:rPr dirty="0" sz="2200" spc="-23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6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2200" spc="-229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7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never</a:t>
                      </a:r>
                      <a:r>
                        <a:rPr dirty="0" sz="2200" spc="-3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reached.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94640">
                    <a:lnL w="2857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39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58445" marR="649605" indent="-1905">
                        <a:lnSpc>
                          <a:spcPts val="2710"/>
                        </a:lnSpc>
                        <a:spcBef>
                          <a:spcPts val="5"/>
                        </a:spcBef>
                      </a:pPr>
                      <a:r>
                        <a:rPr dirty="0" sz="2400" spc="-130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Security </a:t>
                      </a:r>
                      <a:r>
                        <a:rPr dirty="0" sz="2400" spc="-10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80035"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6540" marR="76835" indent="-10795">
                        <a:lnSpc>
                          <a:spcPts val="2610"/>
                        </a:lnSpc>
                        <a:spcBef>
                          <a:spcPts val="2435"/>
                        </a:spcBef>
                        <a:tabLst>
                          <a:tab pos="4220210" algn="l"/>
                        </a:tabLst>
                      </a:pPr>
                      <a:r>
                        <a:rPr dirty="0" baseline="-27160" sz="3375" spc="-112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Reactive</a:t>
                      </a:r>
                      <a:r>
                        <a:rPr dirty="0" baseline="-27160" sz="3375" spc="-112" b="1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dirty="0" baseline="-27777" sz="3300" spc="-112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27777" sz="3300" spc="-112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equired</a:t>
                      </a:r>
                      <a:r>
                        <a:rPr dirty="0" baseline="-27777" sz="3300" spc="-6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27777" sz="3300" spc="-37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baseline="-27777" sz="3300" spc="-37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baseline="-27777" sz="330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250" spc="-60" b="1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Proactive</a:t>
                      </a:r>
                      <a:r>
                        <a:rPr dirty="0" sz="2250" spc="-60" b="1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dirty="0" sz="2200" spc="-6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Protected</a:t>
                      </a:r>
                      <a:r>
                        <a:rPr dirty="0" sz="2200" spc="-6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2200" spc="-1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dirty="0" baseline="-27777" sz="3300" spc="-97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emergency</a:t>
                      </a:r>
                      <a:r>
                        <a:rPr dirty="0" baseline="-27777" sz="3300" spc="-7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27777" sz="330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dirty="0" baseline="-27777" sz="330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atch</a:t>
                      </a:r>
                      <a:r>
                        <a:rPr dirty="0" baseline="-27777" sz="3300" spc="-284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27777" sz="330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after</a:t>
                      </a:r>
                      <a:r>
                        <a:rPr dirty="0" baseline="-27777" sz="3300" spc="-67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27777" sz="3300" spc="-37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baseline="-27777" sz="330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27777" sz="3300" spc="-787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3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security</a:t>
                      </a:r>
                      <a:r>
                        <a:rPr dirty="0" sz="220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princ</a:t>
                      </a:r>
                      <a:r>
                        <a:rPr dirty="0" sz="2200" spc="-25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2200" spc="-2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ple</a:t>
                      </a:r>
                      <a:r>
                        <a:rPr dirty="0" sz="2200" spc="-15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3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inherite</a:t>
                      </a:r>
                      <a:r>
                        <a:rPr dirty="0" sz="2200" spc="-3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dirty="0" sz="2200" spc="-125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from</a:t>
                      </a:r>
                      <a:endParaRPr sz="2200">
                        <a:latin typeface="Arial"/>
                        <a:cs typeface="Arial"/>
                      </a:endParaRPr>
                    </a:p>
                    <a:p>
                      <a:pPr marL="259079">
                        <a:lnSpc>
                          <a:spcPts val="2075"/>
                        </a:lnSpc>
                        <a:spcBef>
                          <a:spcPts val="1000"/>
                        </a:spcBef>
                        <a:tabLst>
                          <a:tab pos="4232910" algn="l"/>
                        </a:tabLst>
                      </a:pPr>
                      <a:r>
                        <a:rPr dirty="0" sz="2200" spc="-3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2.5-</a:t>
                      </a:r>
                      <a:r>
                        <a:rPr dirty="0" sz="2200" spc="-2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yea</a:t>
                      </a:r>
                      <a:r>
                        <a:rPr dirty="0" sz="2200" spc="-25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2200" spc="-9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7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exposure</a:t>
                      </a:r>
                      <a:r>
                        <a:rPr dirty="0" sz="2200" spc="-2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w</a:t>
                      </a:r>
                      <a:r>
                        <a:rPr dirty="0" sz="2200" spc="-10">
                          <a:solidFill>
                            <a:srgbClr val="343434"/>
                          </a:solidFill>
                          <a:latin typeface="Arial"/>
                          <a:cs typeface="Arial"/>
                        </a:rPr>
                        <a:t>indow.</a:t>
                      </a:r>
                      <a:r>
                        <a:rPr dirty="0" sz="2200">
                          <a:solidFill>
                            <a:srgbClr val="34343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27777" sz="330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20+</a:t>
                      </a:r>
                      <a:r>
                        <a:rPr dirty="0" baseline="27777" sz="3300" spc="-13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27777" sz="3300" spc="-112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years</a:t>
                      </a:r>
                      <a:r>
                        <a:rPr dirty="0" baseline="27777" sz="3300" spc="-97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27777" sz="330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baseline="27777" sz="3300" spc="-165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27777" sz="3300" spc="-3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Openwall/ALT</a:t>
                      </a:r>
                      <a:endParaRPr baseline="27777" sz="3300">
                        <a:latin typeface="Arial"/>
                        <a:cs typeface="Arial"/>
                      </a:endParaRPr>
                    </a:p>
                    <a:p>
                      <a:pPr marL="4220845">
                        <a:lnSpc>
                          <a:spcPts val="2075"/>
                        </a:lnSpc>
                      </a:pPr>
                      <a:r>
                        <a:rPr dirty="0" sz="2200" spc="-6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Linux</a:t>
                      </a:r>
                      <a:r>
                        <a:rPr dirty="0" sz="2200" spc="-16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dirty="0" sz="2200" spc="-10">
                          <a:solidFill>
                            <a:srgbClr val="1F2123"/>
                          </a:solidFill>
                          <a:latin typeface="Arial"/>
                          <a:cs typeface="Arial"/>
                        </a:rPr>
                        <a:t>ardening.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309245">
                    <a:lnL w="2857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6147783" y="9418922"/>
            <a:ext cx="125476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B3B38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3B3B3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61613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6451" rIns="0" bIns="0" rtlCol="0" vert="horz">
            <a:spAutoFit/>
          </a:bodyPr>
          <a:lstStyle/>
          <a:p>
            <a:pPr marL="33655" marR="5080">
              <a:lnSpc>
                <a:spcPct val="107300"/>
              </a:lnSpc>
              <a:spcBef>
                <a:spcPts val="95"/>
              </a:spcBef>
            </a:pPr>
            <a:r>
              <a:rPr dirty="0" sz="4450" b="0">
                <a:solidFill>
                  <a:srgbClr val="0C0C0A"/>
                </a:solidFill>
                <a:latin typeface="Arial"/>
                <a:cs typeface="Arial"/>
              </a:rPr>
              <a:t>Case</a:t>
            </a:r>
            <a:r>
              <a:rPr dirty="0" sz="4450" spc="20" b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4450" spc="120" b="0">
                <a:solidFill>
                  <a:srgbClr val="0C0C0A"/>
                </a:solidFill>
                <a:latin typeface="Arial"/>
                <a:cs typeface="Arial"/>
              </a:rPr>
              <a:t>Study:</a:t>
            </a:r>
            <a:r>
              <a:rPr dirty="0" sz="4450" spc="-80" b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4450" spc="145" b="0">
                <a:solidFill>
                  <a:srgbClr val="0C0C0A"/>
                </a:solidFill>
                <a:latin typeface="Arial"/>
                <a:cs typeface="Arial"/>
              </a:rPr>
              <a:t>Mitigating</a:t>
            </a:r>
            <a:r>
              <a:rPr dirty="0" sz="4450" spc="120" b="0">
                <a:solidFill>
                  <a:srgbClr val="0C0C0A"/>
                </a:solidFill>
                <a:latin typeface="Arial"/>
                <a:cs typeface="Arial"/>
              </a:rPr>
              <a:t> an</a:t>
            </a:r>
            <a:r>
              <a:rPr dirty="0" sz="4450" spc="-25" b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4450" spc="95" b="0">
                <a:solidFill>
                  <a:srgbClr val="0C0C0A"/>
                </a:solidFill>
                <a:latin typeface="Arial"/>
                <a:cs typeface="Arial"/>
              </a:rPr>
              <a:t>Actively</a:t>
            </a:r>
            <a:r>
              <a:rPr dirty="0" sz="4450" spc="260" b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4450" spc="75" b="0">
                <a:solidFill>
                  <a:srgbClr val="0C0C0A"/>
                </a:solidFill>
                <a:latin typeface="Arial"/>
                <a:cs typeface="Arial"/>
              </a:rPr>
              <a:t>Exploited</a:t>
            </a:r>
            <a:r>
              <a:rPr dirty="0" sz="4450" spc="229" b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4450" spc="70" b="0">
                <a:solidFill>
                  <a:srgbClr val="0C0C0A"/>
                </a:solidFill>
                <a:latin typeface="Arial"/>
                <a:cs typeface="Arial"/>
              </a:rPr>
              <a:t>Threat </a:t>
            </a:r>
            <a:r>
              <a:rPr dirty="0" sz="4450" spc="80" b="0">
                <a:solidFill>
                  <a:srgbClr val="0C0C0A"/>
                </a:solidFill>
                <a:latin typeface="Arial"/>
                <a:cs typeface="Arial"/>
              </a:rPr>
              <a:t>Before</a:t>
            </a:r>
            <a:r>
              <a:rPr dirty="0" sz="4450" spc="-20" b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4450" b="0">
                <a:solidFill>
                  <a:srgbClr val="0C0C0A"/>
                </a:solidFill>
                <a:latin typeface="Arial"/>
                <a:cs typeface="Arial"/>
              </a:rPr>
              <a:t>It</a:t>
            </a:r>
            <a:r>
              <a:rPr dirty="0" sz="4450" spc="195" b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4450" spc="130" b="0">
                <a:solidFill>
                  <a:srgbClr val="0C0C0A"/>
                </a:solidFill>
                <a:latin typeface="Arial"/>
                <a:cs typeface="Arial"/>
              </a:rPr>
              <a:t>Had</a:t>
            </a:r>
            <a:r>
              <a:rPr dirty="0" sz="4450" spc="-75" b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4450" b="0">
                <a:solidFill>
                  <a:srgbClr val="0C0C0A"/>
                </a:solidFill>
                <a:latin typeface="Arial"/>
                <a:cs typeface="Arial"/>
              </a:rPr>
              <a:t>a</a:t>
            </a:r>
            <a:r>
              <a:rPr dirty="0" sz="4450" spc="-80" b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4450" spc="90" b="0">
                <a:solidFill>
                  <a:srgbClr val="0C0C0A"/>
                </a:solidFill>
                <a:latin typeface="Arial"/>
                <a:cs typeface="Arial"/>
              </a:rPr>
              <a:t>Name</a:t>
            </a:r>
            <a:endParaRPr sz="4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0379" y="2502495"/>
            <a:ext cx="16146780" cy="68097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7465" marR="10586085" indent="-5715">
              <a:lnSpc>
                <a:spcPct val="99400"/>
              </a:lnSpc>
              <a:spcBef>
                <a:spcPts val="135"/>
              </a:spcBef>
            </a:pPr>
            <a:r>
              <a:rPr dirty="0" sz="2800" spc="-190" b="1">
                <a:solidFill>
                  <a:srgbClr val="0C0C0A"/>
                </a:solidFill>
                <a:latin typeface="Arial"/>
                <a:cs typeface="Arial"/>
              </a:rPr>
              <a:t>Focus: </a:t>
            </a:r>
            <a:r>
              <a:rPr dirty="0" sz="2750" spc="-110">
                <a:solidFill>
                  <a:srgbClr val="0C0C0A"/>
                </a:solidFill>
                <a:latin typeface="Arial"/>
                <a:cs typeface="Arial"/>
              </a:rPr>
              <a:t>CVE-</a:t>
            </a:r>
            <a:r>
              <a:rPr dirty="0" sz="2750" spc="-95">
                <a:solidFill>
                  <a:srgbClr val="0C0C0A"/>
                </a:solidFill>
                <a:latin typeface="Arial"/>
                <a:cs typeface="Arial"/>
              </a:rPr>
              <a:t>2023-</a:t>
            </a:r>
            <a:r>
              <a:rPr dirty="0" sz="2750" spc="-75">
                <a:solidFill>
                  <a:srgbClr val="0C0C0A"/>
                </a:solidFill>
                <a:latin typeface="Arial"/>
                <a:cs typeface="Arial"/>
              </a:rPr>
              <a:t>4911</a:t>
            </a:r>
            <a:r>
              <a:rPr dirty="0" sz="2750" spc="-2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0C0C0A"/>
                </a:solidFill>
                <a:latin typeface="Arial"/>
                <a:cs typeface="Arial"/>
              </a:rPr>
              <a:t>('Looney </a:t>
            </a:r>
            <a:r>
              <a:rPr dirty="0" sz="2750" spc="-70">
                <a:solidFill>
                  <a:srgbClr val="0C0C0A"/>
                </a:solidFill>
                <a:latin typeface="Arial"/>
                <a:cs typeface="Arial"/>
              </a:rPr>
              <a:t>Tunable</a:t>
            </a:r>
            <a:r>
              <a:rPr dirty="0" sz="2750" spc="-70">
                <a:solidFill>
                  <a:srgbClr val="1F2123"/>
                </a:solidFill>
                <a:latin typeface="Arial"/>
                <a:cs typeface="Arial"/>
              </a:rPr>
              <a:t>"</a:t>
            </a:r>
            <a:r>
              <a:rPr dirty="0" sz="2750" spc="-70">
                <a:solidFill>
                  <a:srgbClr val="0C0C0A"/>
                </a:solidFill>
                <a:latin typeface="Arial"/>
                <a:cs typeface="Arial"/>
              </a:rPr>
              <a:t>)</a:t>
            </a:r>
            <a:r>
              <a:rPr dirty="0" sz="2750" spc="-14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0C0C0A"/>
                </a:solidFill>
                <a:latin typeface="Arial"/>
                <a:cs typeface="Arial"/>
              </a:rPr>
              <a:t>-</a:t>
            </a:r>
            <a:r>
              <a:rPr dirty="0" sz="2750" spc="-60">
                <a:solidFill>
                  <a:srgbClr val="0C0C0A"/>
                </a:solidFill>
                <a:latin typeface="Arial"/>
                <a:cs typeface="Arial"/>
              </a:rPr>
              <a:t> The</a:t>
            </a:r>
            <a:r>
              <a:rPr dirty="0" sz="2750" spc="-19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1F2123"/>
                </a:solidFill>
                <a:latin typeface="Arial"/>
                <a:cs typeface="Arial"/>
              </a:rPr>
              <a:t>o</a:t>
            </a:r>
            <a:r>
              <a:rPr dirty="0" sz="2750" spc="-10">
                <a:solidFill>
                  <a:srgbClr val="0C0C0A"/>
                </a:solidFill>
                <a:latin typeface="Arial"/>
                <a:cs typeface="Arial"/>
              </a:rPr>
              <a:t>nly</a:t>
            </a:r>
            <a:r>
              <a:rPr dirty="0" sz="2750" spc="-12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0C0C0A"/>
                </a:solidFill>
                <a:latin typeface="Arial"/>
                <a:cs typeface="Arial"/>
              </a:rPr>
              <a:t>glibc</a:t>
            </a:r>
            <a:r>
              <a:rPr dirty="0" sz="2750" spc="-3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750" spc="-254">
                <a:solidFill>
                  <a:srgbClr val="0C0C0A"/>
                </a:solidFill>
                <a:latin typeface="Arial"/>
                <a:cs typeface="Arial"/>
              </a:rPr>
              <a:t>CVE</a:t>
            </a:r>
            <a:r>
              <a:rPr dirty="0" sz="2750" spc="-12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750" spc="50">
                <a:solidFill>
                  <a:srgbClr val="0C0C0A"/>
                </a:solidFill>
                <a:latin typeface="Arial"/>
                <a:cs typeface="Arial"/>
              </a:rPr>
              <a:t>in</a:t>
            </a:r>
            <a:r>
              <a:rPr dirty="0" sz="2750" spc="-27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750" spc="-20">
                <a:solidFill>
                  <a:srgbClr val="0C0C0A"/>
                </a:solidFill>
                <a:latin typeface="Arial"/>
                <a:cs typeface="Arial"/>
              </a:rPr>
              <a:t>th</a:t>
            </a:r>
            <a:r>
              <a:rPr dirty="0" sz="2750" spc="-20">
                <a:solidFill>
                  <a:srgbClr val="1F2123"/>
                </a:solidFill>
                <a:latin typeface="Arial"/>
                <a:cs typeface="Arial"/>
              </a:rPr>
              <a:t>i</a:t>
            </a:r>
            <a:r>
              <a:rPr dirty="0" sz="2750" spc="-20">
                <a:solidFill>
                  <a:srgbClr val="0C0C0A"/>
                </a:solidFill>
                <a:latin typeface="Arial"/>
                <a:cs typeface="Arial"/>
              </a:rPr>
              <a:t>s </a:t>
            </a:r>
            <a:r>
              <a:rPr dirty="0" sz="2750" spc="-70">
                <a:solidFill>
                  <a:srgbClr val="0C0C0A"/>
                </a:solidFill>
                <a:latin typeface="Arial"/>
                <a:cs typeface="Arial"/>
              </a:rPr>
              <a:t>analy</a:t>
            </a:r>
            <a:r>
              <a:rPr dirty="0" sz="2750" spc="-70">
                <a:solidFill>
                  <a:srgbClr val="1F2123"/>
                </a:solidFill>
                <a:latin typeface="Arial"/>
                <a:cs typeface="Arial"/>
              </a:rPr>
              <a:t>s</a:t>
            </a:r>
            <a:r>
              <a:rPr dirty="0" sz="2750" spc="-70">
                <a:solidFill>
                  <a:srgbClr val="0C0C0A"/>
                </a:solidFill>
                <a:latin typeface="Arial"/>
                <a:cs typeface="Arial"/>
              </a:rPr>
              <a:t>is</a:t>
            </a:r>
            <a:r>
              <a:rPr dirty="0" sz="2750" spc="-25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0C0C0A"/>
                </a:solidFill>
                <a:latin typeface="Arial"/>
                <a:cs typeface="Arial"/>
              </a:rPr>
              <a:t>that</a:t>
            </a:r>
            <a:r>
              <a:rPr dirty="0" sz="2750" spc="-6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0C0C0A"/>
                </a:solidFill>
                <a:latin typeface="Arial"/>
                <a:cs typeface="Arial"/>
              </a:rPr>
              <a:t>is</a:t>
            </a:r>
            <a:r>
              <a:rPr dirty="0" sz="2750" spc="-24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750" spc="-25">
                <a:solidFill>
                  <a:srgbClr val="0C0C0A"/>
                </a:solidFill>
                <a:latin typeface="Arial"/>
                <a:cs typeface="Arial"/>
              </a:rPr>
              <a:t>actively</a:t>
            </a:r>
            <a:r>
              <a:rPr dirty="0" sz="2750" spc="5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750" spc="-25">
                <a:solidFill>
                  <a:srgbClr val="0C0C0A"/>
                </a:solidFill>
                <a:latin typeface="Arial"/>
                <a:cs typeface="Arial"/>
              </a:rPr>
              <a:t>e</a:t>
            </a:r>
            <a:r>
              <a:rPr dirty="0" sz="2750" spc="-25">
                <a:solidFill>
                  <a:srgbClr val="1F2123"/>
                </a:solidFill>
                <a:latin typeface="Arial"/>
                <a:cs typeface="Arial"/>
              </a:rPr>
              <a:t>x</a:t>
            </a:r>
            <a:r>
              <a:rPr dirty="0" sz="2750" spc="-25">
                <a:solidFill>
                  <a:srgbClr val="0C0C0A"/>
                </a:solidFill>
                <a:latin typeface="Arial"/>
                <a:cs typeface="Arial"/>
              </a:rPr>
              <a:t>ploited</a:t>
            </a:r>
            <a:r>
              <a:rPr dirty="0" sz="2750" spc="-14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750" spc="-25">
                <a:solidFill>
                  <a:srgbClr val="0C0C0A"/>
                </a:solidFill>
                <a:latin typeface="Arial"/>
                <a:cs typeface="Arial"/>
              </a:rPr>
              <a:t>in </a:t>
            </a:r>
            <a:r>
              <a:rPr dirty="0" sz="2750">
                <a:solidFill>
                  <a:srgbClr val="0C0C0A"/>
                </a:solidFill>
                <a:latin typeface="Arial"/>
                <a:cs typeface="Arial"/>
              </a:rPr>
              <a:t>the</a:t>
            </a:r>
            <a:r>
              <a:rPr dirty="0" sz="2750" spc="-6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0C0C0A"/>
                </a:solidFill>
                <a:latin typeface="Arial"/>
                <a:cs typeface="Arial"/>
              </a:rPr>
              <a:t>wild.</a:t>
            </a:r>
            <a:endParaRPr sz="2750">
              <a:latin typeface="Arial"/>
              <a:cs typeface="Arial"/>
            </a:endParaRPr>
          </a:p>
          <a:p>
            <a:pPr marL="31750">
              <a:lnSpc>
                <a:spcPct val="100000"/>
              </a:lnSpc>
              <a:spcBef>
                <a:spcPts val="165"/>
              </a:spcBef>
            </a:pPr>
            <a:r>
              <a:rPr dirty="0" sz="2800" spc="-190" b="1">
                <a:solidFill>
                  <a:srgbClr val="0C0C0A"/>
                </a:solidFill>
                <a:latin typeface="Arial"/>
                <a:cs typeface="Arial"/>
              </a:rPr>
              <a:t>Risk</a:t>
            </a:r>
            <a:r>
              <a:rPr dirty="0" sz="2800" spc="-245" b="1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0C0C0A"/>
                </a:solidFill>
                <a:latin typeface="Arial"/>
                <a:cs typeface="Arial"/>
              </a:rPr>
              <a:t>Metrics</a:t>
            </a:r>
            <a:endParaRPr sz="2800">
              <a:latin typeface="Arial"/>
              <a:cs typeface="Arial"/>
            </a:endParaRPr>
          </a:p>
          <a:p>
            <a:pPr marL="887094" marR="11973560" indent="-3175">
              <a:lnSpc>
                <a:spcPct val="100499"/>
              </a:lnSpc>
              <a:spcBef>
                <a:spcPts val="1955"/>
              </a:spcBef>
            </a:pPr>
            <a:r>
              <a:rPr dirty="0" sz="2400" spc="-75" b="1">
                <a:solidFill>
                  <a:srgbClr val="0C0C0A"/>
                </a:solidFill>
                <a:latin typeface="Arial"/>
                <a:cs typeface="Arial"/>
              </a:rPr>
              <a:t>CVSS:</a:t>
            </a:r>
            <a:r>
              <a:rPr dirty="0" sz="2400" spc="-140" b="1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500" spc="-110">
                <a:solidFill>
                  <a:srgbClr val="0C0C0A"/>
                </a:solidFill>
                <a:latin typeface="Arial"/>
                <a:cs typeface="Arial"/>
              </a:rPr>
              <a:t>7.</a:t>
            </a:r>
            <a:r>
              <a:rPr dirty="0" sz="2500" spc="-110">
                <a:solidFill>
                  <a:srgbClr val="1F2123"/>
                </a:solidFill>
                <a:latin typeface="Arial"/>
                <a:cs typeface="Arial"/>
              </a:rPr>
              <a:t>8</a:t>
            </a:r>
            <a:r>
              <a:rPr dirty="0" sz="2500" spc="-9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500" spc="-50">
                <a:solidFill>
                  <a:srgbClr val="0C0C0A"/>
                </a:solidFill>
                <a:latin typeface="Arial"/>
                <a:cs typeface="Arial"/>
              </a:rPr>
              <a:t>(Hig</a:t>
            </a:r>
            <a:r>
              <a:rPr dirty="0" sz="2500" spc="-50">
                <a:solidFill>
                  <a:srgbClr val="1F2123"/>
                </a:solidFill>
                <a:latin typeface="Arial"/>
                <a:cs typeface="Arial"/>
              </a:rPr>
              <a:t>h)</a:t>
            </a:r>
            <a:r>
              <a:rPr dirty="0" sz="2500" spc="-18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0C0C0A"/>
                </a:solidFill>
                <a:latin typeface="Arial"/>
                <a:cs typeface="Arial"/>
              </a:rPr>
              <a:t>-</a:t>
            </a:r>
            <a:r>
              <a:rPr dirty="0" sz="2500" spc="10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500" spc="-20">
                <a:solidFill>
                  <a:srgbClr val="0C0C0A"/>
                </a:solidFill>
                <a:latin typeface="Arial"/>
                <a:cs typeface="Arial"/>
              </a:rPr>
              <a:t>L</a:t>
            </a:r>
            <a:r>
              <a:rPr dirty="0" sz="2500" spc="-20">
                <a:solidFill>
                  <a:srgbClr val="1F2123"/>
                </a:solidFill>
                <a:latin typeface="Arial"/>
                <a:cs typeface="Arial"/>
              </a:rPr>
              <a:t>oc</a:t>
            </a:r>
            <a:r>
              <a:rPr dirty="0" sz="2500" spc="-20">
                <a:solidFill>
                  <a:srgbClr val="0C0C0A"/>
                </a:solidFill>
                <a:latin typeface="Arial"/>
                <a:cs typeface="Arial"/>
              </a:rPr>
              <a:t>al </a:t>
            </a:r>
            <a:r>
              <a:rPr dirty="0" sz="2500" spc="-45">
                <a:solidFill>
                  <a:srgbClr val="0C0C0A"/>
                </a:solidFill>
                <a:latin typeface="Arial"/>
                <a:cs typeface="Arial"/>
              </a:rPr>
              <a:t>Pr</a:t>
            </a:r>
            <a:r>
              <a:rPr dirty="0" sz="2500" spc="-45">
                <a:solidFill>
                  <a:srgbClr val="1F2123"/>
                </a:solidFill>
                <a:latin typeface="Arial"/>
                <a:cs typeface="Arial"/>
              </a:rPr>
              <a:t>iv</a:t>
            </a:r>
            <a:r>
              <a:rPr dirty="0" sz="2500" spc="-45">
                <a:solidFill>
                  <a:srgbClr val="0C0C0A"/>
                </a:solidFill>
                <a:latin typeface="Arial"/>
                <a:cs typeface="Arial"/>
              </a:rPr>
              <a:t>ilege</a:t>
            </a:r>
            <a:r>
              <a:rPr dirty="0" sz="2500" spc="-9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0C0C0A"/>
                </a:solidFill>
                <a:latin typeface="Arial"/>
                <a:cs typeface="Arial"/>
              </a:rPr>
              <a:t>E</a:t>
            </a:r>
            <a:r>
              <a:rPr dirty="0" sz="2500" spc="-10">
                <a:solidFill>
                  <a:srgbClr val="1F2123"/>
                </a:solidFill>
                <a:latin typeface="Arial"/>
                <a:cs typeface="Arial"/>
              </a:rPr>
              <a:t>s</a:t>
            </a:r>
            <a:r>
              <a:rPr dirty="0" sz="2500" spc="-10">
                <a:solidFill>
                  <a:srgbClr val="0C0C0A"/>
                </a:solidFill>
                <a:latin typeface="Arial"/>
                <a:cs typeface="Arial"/>
              </a:rPr>
              <a:t>c</a:t>
            </a:r>
            <a:r>
              <a:rPr dirty="0" sz="2500" spc="-10">
                <a:solidFill>
                  <a:srgbClr val="1F2123"/>
                </a:solidFill>
                <a:latin typeface="Arial"/>
                <a:cs typeface="Arial"/>
              </a:rPr>
              <a:t>a</a:t>
            </a:r>
            <a:r>
              <a:rPr dirty="0" sz="2500" spc="-10">
                <a:solidFill>
                  <a:srgbClr val="0C0C0A"/>
                </a:solidFill>
                <a:latin typeface="Arial"/>
                <a:cs typeface="Arial"/>
              </a:rPr>
              <a:t>la</a:t>
            </a:r>
            <a:r>
              <a:rPr dirty="0" sz="2500" spc="-10">
                <a:solidFill>
                  <a:srgbClr val="1F2123"/>
                </a:solidFill>
                <a:latin typeface="Arial"/>
                <a:cs typeface="Arial"/>
              </a:rPr>
              <a:t>t</a:t>
            </a:r>
            <a:r>
              <a:rPr dirty="0" sz="2500" spc="-10">
                <a:solidFill>
                  <a:srgbClr val="0C0C0A"/>
                </a:solidFill>
                <a:latin typeface="Arial"/>
                <a:cs typeface="Arial"/>
              </a:rPr>
              <a:t>ion</a:t>
            </a:r>
            <a:endParaRPr sz="2500">
              <a:latin typeface="Arial"/>
              <a:cs typeface="Arial"/>
            </a:endParaRPr>
          </a:p>
          <a:p>
            <a:pPr marL="889000">
              <a:lnSpc>
                <a:spcPts val="2960"/>
              </a:lnSpc>
              <a:spcBef>
                <a:spcPts val="2025"/>
              </a:spcBef>
            </a:pPr>
            <a:r>
              <a:rPr dirty="0" sz="2400" spc="-100" b="1">
                <a:solidFill>
                  <a:srgbClr val="0C0C0A"/>
                </a:solidFill>
                <a:latin typeface="Arial"/>
                <a:cs typeface="Arial"/>
              </a:rPr>
              <a:t>EPSS</a:t>
            </a:r>
            <a:r>
              <a:rPr dirty="0" sz="2400" spc="-100" b="1">
                <a:solidFill>
                  <a:srgbClr val="1F2123"/>
                </a:solidFill>
                <a:latin typeface="Arial"/>
                <a:cs typeface="Arial"/>
              </a:rPr>
              <a:t>:</a:t>
            </a:r>
            <a:r>
              <a:rPr dirty="0" sz="2400" spc="-310" b="1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500" spc="-20">
                <a:solidFill>
                  <a:srgbClr val="0C0C0A"/>
                </a:solidFill>
                <a:latin typeface="Arial"/>
                <a:cs typeface="Arial"/>
              </a:rPr>
              <a:t>88.8</a:t>
            </a:r>
            <a:r>
              <a:rPr dirty="0" sz="2500" spc="-20">
                <a:solidFill>
                  <a:srgbClr val="1F2123"/>
                </a:solidFill>
                <a:latin typeface="Arial"/>
                <a:cs typeface="Arial"/>
              </a:rPr>
              <a:t>%</a:t>
            </a:r>
            <a:endParaRPr sz="2500">
              <a:latin typeface="Arial"/>
              <a:cs typeface="Arial"/>
            </a:endParaRPr>
          </a:p>
          <a:p>
            <a:pPr marL="892175">
              <a:lnSpc>
                <a:spcPts val="2960"/>
              </a:lnSpc>
            </a:pPr>
            <a:r>
              <a:rPr dirty="0" sz="2500" spc="-70">
                <a:solidFill>
                  <a:srgbClr val="1F2123"/>
                </a:solidFill>
                <a:latin typeface="Arial"/>
                <a:cs typeface="Arial"/>
              </a:rPr>
              <a:t>(</a:t>
            </a:r>
            <a:r>
              <a:rPr dirty="0" sz="2500" spc="-70">
                <a:solidFill>
                  <a:srgbClr val="0C0C0A"/>
                </a:solidFill>
                <a:latin typeface="Arial"/>
                <a:cs typeface="Arial"/>
              </a:rPr>
              <a:t>V</a:t>
            </a:r>
            <a:r>
              <a:rPr dirty="0" sz="2500" spc="-70">
                <a:solidFill>
                  <a:srgbClr val="1F2123"/>
                </a:solidFill>
                <a:latin typeface="Arial"/>
                <a:cs typeface="Arial"/>
              </a:rPr>
              <a:t>e</a:t>
            </a:r>
            <a:r>
              <a:rPr dirty="0" sz="2500" spc="-70">
                <a:solidFill>
                  <a:srgbClr val="0C0C0A"/>
                </a:solidFill>
                <a:latin typeface="Arial"/>
                <a:cs typeface="Arial"/>
              </a:rPr>
              <a:t>r</a:t>
            </a:r>
            <a:r>
              <a:rPr dirty="0" sz="2500" spc="-70">
                <a:solidFill>
                  <a:srgbClr val="1F2123"/>
                </a:solidFill>
                <a:latin typeface="Arial"/>
                <a:cs typeface="Arial"/>
              </a:rPr>
              <a:t>y</a:t>
            </a:r>
            <a:r>
              <a:rPr dirty="0" sz="2500" spc="-21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500" spc="-20">
                <a:solidFill>
                  <a:srgbClr val="0C0C0A"/>
                </a:solidFill>
                <a:latin typeface="Arial"/>
                <a:cs typeface="Arial"/>
              </a:rPr>
              <a:t>High</a:t>
            </a:r>
            <a:r>
              <a:rPr dirty="0" sz="2500" spc="-15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0C0C0A"/>
                </a:solidFill>
                <a:latin typeface="Arial"/>
                <a:cs typeface="Arial"/>
              </a:rPr>
              <a:t>-</a:t>
            </a:r>
            <a:r>
              <a:rPr dirty="0" sz="2500" spc="16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500" spc="-65">
                <a:solidFill>
                  <a:srgbClr val="0C0C0A"/>
                </a:solidFill>
                <a:latin typeface="Arial"/>
                <a:cs typeface="Arial"/>
              </a:rPr>
              <a:t>99.Sth</a:t>
            </a:r>
            <a:r>
              <a:rPr dirty="0" sz="2500" spc="-11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0C0C0A"/>
                </a:solidFill>
                <a:latin typeface="Arial"/>
                <a:cs typeface="Arial"/>
              </a:rPr>
              <a:t>p</a:t>
            </a:r>
            <a:r>
              <a:rPr dirty="0" sz="2500" spc="-10">
                <a:solidFill>
                  <a:srgbClr val="1F2123"/>
                </a:solidFill>
                <a:latin typeface="Arial"/>
                <a:cs typeface="Arial"/>
              </a:rPr>
              <a:t>e</a:t>
            </a:r>
            <a:r>
              <a:rPr dirty="0" sz="2500" spc="-10">
                <a:solidFill>
                  <a:srgbClr val="0C0C0A"/>
                </a:solidFill>
                <a:latin typeface="Arial"/>
                <a:cs typeface="Arial"/>
              </a:rPr>
              <a:t>r</a:t>
            </a:r>
            <a:r>
              <a:rPr dirty="0" sz="2500" spc="-10">
                <a:solidFill>
                  <a:srgbClr val="1F2123"/>
                </a:solidFill>
                <a:latin typeface="Arial"/>
                <a:cs typeface="Arial"/>
              </a:rPr>
              <a:t>c</a:t>
            </a:r>
            <a:r>
              <a:rPr dirty="0" sz="2500" spc="-10">
                <a:solidFill>
                  <a:srgbClr val="0C0C0A"/>
                </a:solidFill>
                <a:latin typeface="Arial"/>
                <a:cs typeface="Arial"/>
              </a:rPr>
              <a:t>ent</a:t>
            </a:r>
            <a:r>
              <a:rPr dirty="0" sz="2500" spc="-10">
                <a:solidFill>
                  <a:srgbClr val="1F2123"/>
                </a:solidFill>
                <a:latin typeface="Arial"/>
                <a:cs typeface="Arial"/>
              </a:rPr>
              <a:t>il</a:t>
            </a:r>
            <a:r>
              <a:rPr dirty="0" sz="2500" spc="-10">
                <a:solidFill>
                  <a:srgbClr val="0C0C0A"/>
                </a:solidFill>
                <a:latin typeface="Arial"/>
                <a:cs typeface="Arial"/>
              </a:rPr>
              <a:t>e)</a:t>
            </a:r>
            <a:endParaRPr sz="2500">
              <a:latin typeface="Arial"/>
              <a:cs typeface="Arial"/>
            </a:endParaRPr>
          </a:p>
          <a:p>
            <a:pPr marL="884555">
              <a:lnSpc>
                <a:spcPts val="4445"/>
              </a:lnSpc>
              <a:spcBef>
                <a:spcPts val="775"/>
              </a:spcBef>
            </a:pPr>
            <a:r>
              <a:rPr dirty="0" sz="2400" spc="-70" b="1">
                <a:solidFill>
                  <a:srgbClr val="0C0C0A"/>
                </a:solidFill>
                <a:latin typeface="Arial"/>
                <a:cs typeface="Arial"/>
              </a:rPr>
              <a:t>CISA</a:t>
            </a:r>
            <a:r>
              <a:rPr dirty="0" sz="2400" spc="-200" b="1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400" spc="-65" b="1">
                <a:solidFill>
                  <a:srgbClr val="0C0C0A"/>
                </a:solidFill>
                <a:latin typeface="Arial"/>
                <a:cs typeface="Arial"/>
              </a:rPr>
              <a:t>KEV:</a:t>
            </a:r>
            <a:r>
              <a:rPr dirty="0" sz="2400" spc="-345" b="1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3850" spc="-135" b="1">
                <a:solidFill>
                  <a:srgbClr val="1AA31C"/>
                </a:solidFill>
                <a:latin typeface="Times New Roman"/>
                <a:cs typeface="Times New Roman"/>
              </a:rPr>
              <a:t>LI</a:t>
            </a:r>
            <a:r>
              <a:rPr dirty="0" sz="2400" spc="-135" b="1">
                <a:solidFill>
                  <a:srgbClr val="0C0C0A"/>
                </a:solidFill>
                <a:latin typeface="Arial"/>
                <a:cs typeface="Arial"/>
              </a:rPr>
              <a:t>Actively</a:t>
            </a:r>
            <a:r>
              <a:rPr dirty="0" sz="2400" spc="-125" b="1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C0C0A"/>
                </a:solidFill>
                <a:latin typeface="Arial"/>
                <a:cs typeface="Arial"/>
              </a:rPr>
              <a:t>Exploited</a:t>
            </a:r>
            <a:endParaRPr sz="2400">
              <a:latin typeface="Arial"/>
              <a:cs typeface="Arial"/>
            </a:endParaRPr>
          </a:p>
          <a:p>
            <a:pPr marL="892175">
              <a:lnSpc>
                <a:spcPts val="2825"/>
              </a:lnSpc>
            </a:pPr>
            <a:r>
              <a:rPr dirty="0" sz="2500" spc="-55">
                <a:solidFill>
                  <a:srgbClr val="1F2123"/>
                </a:solidFill>
                <a:latin typeface="Arial"/>
                <a:cs typeface="Arial"/>
              </a:rPr>
              <a:t>(</a:t>
            </a:r>
            <a:r>
              <a:rPr dirty="0" sz="2500" spc="-55">
                <a:solidFill>
                  <a:srgbClr val="0C0C0A"/>
                </a:solidFill>
                <a:latin typeface="Arial"/>
                <a:cs typeface="Arial"/>
              </a:rPr>
              <a:t>Ki</a:t>
            </a:r>
            <a:r>
              <a:rPr dirty="0" sz="2500" spc="-55">
                <a:solidFill>
                  <a:srgbClr val="1F2123"/>
                </a:solidFill>
                <a:latin typeface="Arial"/>
                <a:cs typeface="Arial"/>
              </a:rPr>
              <a:t>nsi</a:t>
            </a:r>
            <a:r>
              <a:rPr dirty="0" sz="2500" spc="-55">
                <a:solidFill>
                  <a:srgbClr val="0C0C0A"/>
                </a:solidFill>
                <a:latin typeface="Arial"/>
                <a:cs typeface="Arial"/>
              </a:rPr>
              <a:t>ng</a:t>
            </a:r>
            <a:r>
              <a:rPr dirty="0" sz="2500" spc="-12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500" spc="-25">
                <a:solidFill>
                  <a:srgbClr val="0C0C0A"/>
                </a:solidFill>
                <a:latin typeface="Arial"/>
                <a:cs typeface="Arial"/>
              </a:rPr>
              <a:t>Threat</a:t>
            </a:r>
            <a:r>
              <a:rPr dirty="0" sz="2500" spc="-6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500" spc="-40">
                <a:solidFill>
                  <a:srgbClr val="0C0C0A"/>
                </a:solidFill>
                <a:latin typeface="Arial"/>
                <a:cs typeface="Arial"/>
              </a:rPr>
              <a:t>A</a:t>
            </a:r>
            <a:r>
              <a:rPr dirty="0" sz="2500" spc="-40">
                <a:solidFill>
                  <a:srgbClr val="1F2123"/>
                </a:solidFill>
                <a:latin typeface="Arial"/>
                <a:cs typeface="Arial"/>
              </a:rPr>
              <a:t>c</a:t>
            </a:r>
            <a:r>
              <a:rPr dirty="0" sz="2500" spc="-40">
                <a:solidFill>
                  <a:srgbClr val="0C0C0A"/>
                </a:solidFill>
                <a:latin typeface="Arial"/>
                <a:cs typeface="Arial"/>
              </a:rPr>
              <a:t>tor</a:t>
            </a:r>
            <a:r>
              <a:rPr dirty="0" sz="2500" spc="-40">
                <a:solidFill>
                  <a:srgbClr val="1F2123"/>
                </a:solidFill>
                <a:latin typeface="Arial"/>
                <a:cs typeface="Arial"/>
              </a:rPr>
              <a:t>,</a:t>
            </a:r>
            <a:r>
              <a:rPr dirty="0" sz="2500" spc="-36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0C0C0A"/>
                </a:solidFill>
                <a:latin typeface="Arial"/>
                <a:cs typeface="Arial"/>
              </a:rPr>
              <a:t>N</a:t>
            </a:r>
            <a:r>
              <a:rPr dirty="0" sz="2500">
                <a:solidFill>
                  <a:srgbClr val="1F2123"/>
                </a:solidFill>
                <a:latin typeface="Arial"/>
                <a:cs typeface="Arial"/>
              </a:rPr>
              <a:t>ov</a:t>
            </a:r>
            <a:r>
              <a:rPr dirty="0" sz="2500" spc="-12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0C0C0A"/>
                </a:solidFill>
                <a:latin typeface="Arial"/>
                <a:cs typeface="Arial"/>
              </a:rPr>
              <a:t>2023</a:t>
            </a:r>
            <a:r>
              <a:rPr dirty="0" sz="2500" spc="-10">
                <a:solidFill>
                  <a:srgbClr val="1F2123"/>
                </a:solidFill>
                <a:latin typeface="Arial"/>
                <a:cs typeface="Arial"/>
              </a:rPr>
              <a:t>)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70"/>
              </a:spcBef>
            </a:pPr>
            <a:endParaRPr sz="2500">
              <a:latin typeface="Arial"/>
              <a:cs typeface="Arial"/>
            </a:endParaRPr>
          </a:p>
          <a:p>
            <a:pPr marL="12700">
              <a:lnSpc>
                <a:spcPts val="4160"/>
              </a:lnSpc>
            </a:pPr>
            <a:r>
              <a:rPr dirty="0" sz="3500" spc="-125" i="1">
                <a:solidFill>
                  <a:srgbClr val="0C0C0A"/>
                </a:solidFill>
                <a:latin typeface="Times New Roman"/>
                <a:cs typeface="Times New Roman"/>
              </a:rPr>
              <a:t>''Our</a:t>
            </a:r>
            <a:r>
              <a:rPr dirty="0" sz="3500" spc="-110" i="1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500" spc="-130" i="1">
                <a:solidFill>
                  <a:srgbClr val="0C0C0A"/>
                </a:solidFill>
                <a:latin typeface="Times New Roman"/>
                <a:cs typeface="Times New Roman"/>
              </a:rPr>
              <a:t>security</a:t>
            </a:r>
            <a:r>
              <a:rPr dirty="0" sz="3500" spc="-130" i="1">
                <a:solidFill>
                  <a:srgbClr val="1F2123"/>
                </a:solidFill>
                <a:latin typeface="Times New Roman"/>
                <a:cs typeface="Times New Roman"/>
              </a:rPr>
              <a:t>-</a:t>
            </a:r>
            <a:r>
              <a:rPr dirty="0" sz="3500" spc="-155" i="1">
                <a:solidFill>
                  <a:srgbClr val="0C0C0A"/>
                </a:solidFill>
                <a:latin typeface="Times New Roman"/>
                <a:cs typeface="Times New Roman"/>
              </a:rPr>
              <a:t>hard</a:t>
            </a:r>
            <a:r>
              <a:rPr dirty="0" sz="3500" spc="-155" i="1">
                <a:solidFill>
                  <a:srgbClr val="1F2123"/>
                </a:solidFill>
                <a:latin typeface="Times New Roman"/>
                <a:cs typeface="Times New Roman"/>
              </a:rPr>
              <a:t>e</a:t>
            </a:r>
            <a:r>
              <a:rPr dirty="0" sz="3500" spc="-155" i="1">
                <a:solidFill>
                  <a:srgbClr val="0C0C0A"/>
                </a:solidFill>
                <a:latin typeface="Times New Roman"/>
                <a:cs typeface="Times New Roman"/>
              </a:rPr>
              <a:t>ned</a:t>
            </a:r>
            <a:r>
              <a:rPr dirty="0" sz="3500" spc="-365" i="1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500" spc="-180" i="1">
                <a:solidFill>
                  <a:srgbClr val="0C0C0A"/>
                </a:solidFill>
                <a:latin typeface="Times New Roman"/>
                <a:cs typeface="Times New Roman"/>
              </a:rPr>
              <a:t>glibc </a:t>
            </a:r>
            <a:r>
              <a:rPr dirty="0" sz="3500" spc="-105" i="1">
                <a:solidFill>
                  <a:srgbClr val="0C0C0A"/>
                </a:solidFill>
                <a:latin typeface="Times New Roman"/>
                <a:cs typeface="Times New Roman"/>
              </a:rPr>
              <a:t>for</a:t>
            </a:r>
            <a:r>
              <a:rPr dirty="0" sz="3500" spc="-275" i="1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200" spc="-95" i="1">
                <a:solidFill>
                  <a:srgbClr val="0C0C0A"/>
                </a:solidFill>
                <a:latin typeface="Times New Roman"/>
                <a:cs typeface="Times New Roman"/>
              </a:rPr>
              <a:t>EL9</a:t>
            </a:r>
            <a:r>
              <a:rPr dirty="0" sz="3200" spc="-70" i="1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500" spc="-105" i="1">
                <a:solidFill>
                  <a:srgbClr val="0C0C0A"/>
                </a:solidFill>
                <a:latin typeface="Times New Roman"/>
                <a:cs typeface="Times New Roman"/>
              </a:rPr>
              <a:t>distros..</a:t>
            </a:r>
            <a:r>
              <a:rPr dirty="0" sz="3500" spc="-105" i="1">
                <a:solidFill>
                  <a:srgbClr val="1F2123"/>
                </a:solidFill>
                <a:latin typeface="Times New Roman"/>
                <a:cs typeface="Times New Roman"/>
              </a:rPr>
              <a:t>.</a:t>
            </a:r>
            <a:r>
              <a:rPr dirty="0" sz="3500" spc="-320" i="1">
                <a:solidFill>
                  <a:srgbClr val="1F2123"/>
                </a:solidFill>
                <a:latin typeface="Times New Roman"/>
                <a:cs typeface="Times New Roman"/>
              </a:rPr>
              <a:t> </a:t>
            </a:r>
            <a:r>
              <a:rPr dirty="0" sz="3500" spc="-240" i="1">
                <a:solidFill>
                  <a:srgbClr val="0C0C0A"/>
                </a:solidFill>
                <a:latin typeface="Times New Roman"/>
                <a:cs typeface="Times New Roman"/>
              </a:rPr>
              <a:t>[has]</a:t>
            </a:r>
            <a:r>
              <a:rPr dirty="0" sz="3500" spc="-30" i="1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500" i="1">
                <a:solidFill>
                  <a:srgbClr val="0C0C0A"/>
                </a:solidFill>
                <a:latin typeface="Times New Roman"/>
                <a:cs typeface="Times New Roman"/>
              </a:rPr>
              <a:t>a</a:t>
            </a:r>
            <a:r>
              <a:rPr dirty="0" sz="3500" spc="-70" i="1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500" spc="-90" i="1">
                <a:solidFill>
                  <a:srgbClr val="0C0C0A"/>
                </a:solidFill>
                <a:latin typeface="Times New Roman"/>
                <a:cs typeface="Times New Roman"/>
              </a:rPr>
              <a:t>miti</a:t>
            </a:r>
            <a:r>
              <a:rPr dirty="0" sz="3500" spc="-90" i="1">
                <a:solidFill>
                  <a:srgbClr val="1F2123"/>
                </a:solidFill>
                <a:latin typeface="Times New Roman"/>
                <a:cs typeface="Times New Roman"/>
              </a:rPr>
              <a:t>g</a:t>
            </a:r>
            <a:r>
              <a:rPr dirty="0" sz="3500" spc="-90" i="1">
                <a:solidFill>
                  <a:srgbClr val="0C0C0A"/>
                </a:solidFill>
                <a:latin typeface="Times New Roman"/>
                <a:cs typeface="Times New Roman"/>
              </a:rPr>
              <a:t>ation</a:t>
            </a:r>
            <a:r>
              <a:rPr dirty="0" sz="3500" spc="-254" i="1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500" spc="-150" i="1">
                <a:solidFill>
                  <a:srgbClr val="0C0C0A"/>
                </a:solidFill>
                <a:latin typeface="Times New Roman"/>
                <a:cs typeface="Times New Roman"/>
              </a:rPr>
              <a:t>effective</a:t>
            </a:r>
            <a:r>
              <a:rPr dirty="0" sz="3500" spc="-165" i="1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500" spc="-140" i="1">
                <a:solidFill>
                  <a:srgbClr val="0C0C0A"/>
                </a:solidFill>
                <a:latin typeface="Times New Roman"/>
                <a:cs typeface="Times New Roman"/>
              </a:rPr>
              <a:t>against</a:t>
            </a:r>
            <a:r>
              <a:rPr dirty="0" sz="3500" spc="-130" i="1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200" spc="-95" i="1">
                <a:solidFill>
                  <a:srgbClr val="0C0C0A"/>
                </a:solidFill>
                <a:latin typeface="Times New Roman"/>
                <a:cs typeface="Times New Roman"/>
              </a:rPr>
              <a:t>CVE</a:t>
            </a:r>
            <a:r>
              <a:rPr dirty="0" sz="3200" spc="-95" i="1">
                <a:solidFill>
                  <a:srgbClr val="1F2123"/>
                </a:solidFill>
                <a:latin typeface="Times New Roman"/>
                <a:cs typeface="Times New Roman"/>
              </a:rPr>
              <a:t>-</a:t>
            </a:r>
            <a:r>
              <a:rPr dirty="0" sz="3200" spc="-80" i="1">
                <a:solidFill>
                  <a:srgbClr val="0C0C0A"/>
                </a:solidFill>
                <a:latin typeface="Times New Roman"/>
                <a:cs typeface="Times New Roman"/>
              </a:rPr>
              <a:t>2023-</a:t>
            </a:r>
            <a:r>
              <a:rPr dirty="0" sz="3200" spc="-10" i="1">
                <a:solidFill>
                  <a:srgbClr val="0C0C0A"/>
                </a:solidFill>
                <a:latin typeface="Times New Roman"/>
                <a:cs typeface="Times New Roman"/>
              </a:rPr>
              <a:t>4911."</a:t>
            </a:r>
            <a:endParaRPr sz="3200">
              <a:latin typeface="Times New Roman"/>
              <a:cs typeface="Times New Roman"/>
            </a:endParaRPr>
          </a:p>
          <a:p>
            <a:pPr marL="28575">
              <a:lnSpc>
                <a:spcPts val="3800"/>
              </a:lnSpc>
              <a:tabLst>
                <a:tab pos="427355" algn="l"/>
              </a:tabLst>
            </a:pPr>
            <a:r>
              <a:rPr dirty="0" sz="3200" spc="-50">
                <a:solidFill>
                  <a:srgbClr val="0C0C0A"/>
                </a:solidFill>
                <a:latin typeface="Times New Roman"/>
                <a:cs typeface="Times New Roman"/>
              </a:rPr>
              <a:t>-</a:t>
            </a:r>
            <a:r>
              <a:rPr dirty="0" sz="3200">
                <a:solidFill>
                  <a:srgbClr val="0C0C0A"/>
                </a:solidFill>
                <a:latin typeface="Times New Roman"/>
                <a:cs typeface="Times New Roman"/>
              </a:rPr>
              <a:t>	Solar</a:t>
            </a:r>
            <a:r>
              <a:rPr dirty="0" sz="3200" spc="2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0C0C0A"/>
                </a:solidFill>
                <a:latin typeface="Times New Roman"/>
                <a:cs typeface="Times New Roman"/>
              </a:rPr>
              <a:t>Designer</a:t>
            </a:r>
            <a:r>
              <a:rPr dirty="0" sz="3200">
                <a:solidFill>
                  <a:srgbClr val="1F2123"/>
                </a:solidFill>
                <a:latin typeface="Times New Roman"/>
                <a:cs typeface="Times New Roman"/>
              </a:rPr>
              <a:t>,</a:t>
            </a:r>
            <a:r>
              <a:rPr dirty="0" sz="3200" spc="50">
                <a:solidFill>
                  <a:srgbClr val="1F2123"/>
                </a:solidFill>
                <a:latin typeface="Times New Roman"/>
                <a:cs typeface="Times New Roman"/>
              </a:rPr>
              <a:t> </a:t>
            </a:r>
            <a:r>
              <a:rPr dirty="0" sz="3200" spc="70">
                <a:solidFill>
                  <a:srgbClr val="0C0C0A"/>
                </a:solidFill>
                <a:latin typeface="Times New Roman"/>
                <a:cs typeface="Times New Roman"/>
              </a:rPr>
              <a:t>confirming</a:t>
            </a:r>
            <a:r>
              <a:rPr dirty="0" sz="3200" spc="-15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200" spc="60">
                <a:solidFill>
                  <a:srgbClr val="0C0C0A"/>
                </a:solidFill>
                <a:latin typeface="Times New Roman"/>
                <a:cs typeface="Times New Roman"/>
              </a:rPr>
              <a:t>the</a:t>
            </a:r>
            <a:r>
              <a:rPr dirty="0" sz="3200" spc="195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200" spc="60">
                <a:solidFill>
                  <a:srgbClr val="0C0C0A"/>
                </a:solidFill>
                <a:latin typeface="Times New Roman"/>
                <a:cs typeface="Times New Roman"/>
              </a:rPr>
              <a:t>protection</a:t>
            </a:r>
            <a:r>
              <a:rPr dirty="0" sz="3200" spc="225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200" spc="95">
                <a:solidFill>
                  <a:srgbClr val="0C0C0A"/>
                </a:solidFill>
                <a:latin typeface="Times New Roman"/>
                <a:cs typeface="Times New Roman"/>
              </a:rPr>
              <a:t>predated</a:t>
            </a:r>
            <a:r>
              <a:rPr dirty="0" sz="3200" spc="1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200" spc="85">
                <a:solidFill>
                  <a:srgbClr val="0C0C0A"/>
                </a:solidFill>
                <a:latin typeface="Times New Roman"/>
                <a:cs typeface="Times New Roman"/>
              </a:rPr>
              <a:t>the</a:t>
            </a:r>
            <a:r>
              <a:rPr dirty="0" sz="3200" spc="75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200" spc="-155">
                <a:solidFill>
                  <a:srgbClr val="0C0C0A"/>
                </a:solidFill>
                <a:latin typeface="Times New Roman"/>
                <a:cs typeface="Times New Roman"/>
              </a:rPr>
              <a:t>CVE's</a:t>
            </a:r>
            <a:r>
              <a:rPr dirty="0" sz="3200" spc="16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0C0C0A"/>
                </a:solidFill>
                <a:latin typeface="Times New Roman"/>
                <a:cs typeface="Times New Roman"/>
              </a:rPr>
              <a:t>public</a:t>
            </a:r>
            <a:r>
              <a:rPr dirty="0" sz="3200" spc="-1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200" spc="40">
                <a:solidFill>
                  <a:srgbClr val="0C0C0A"/>
                </a:solidFill>
                <a:latin typeface="Times New Roman"/>
                <a:cs typeface="Times New Roman"/>
              </a:rPr>
              <a:t>disclosure.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4329" y="3804575"/>
            <a:ext cx="2827596" cy="29106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88700" y="4647141"/>
            <a:ext cx="1757695" cy="17617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27668" y="4851400"/>
            <a:ext cx="534950" cy="63830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579378" y="4927995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79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70582" y="4927995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79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928277" y="4927995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79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806820" y="4927995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79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418192" y="4749269"/>
            <a:ext cx="0" cy="1149350"/>
          </a:xfrm>
          <a:custGeom>
            <a:avLst/>
            <a:gdLst/>
            <a:ahLst/>
            <a:cxnLst/>
            <a:rect l="l" t="t" r="r" b="b"/>
            <a:pathLst>
              <a:path w="0" h="1149350">
                <a:moveTo>
                  <a:pt x="0" y="114895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14418192" y="4749269"/>
            <a:ext cx="1554480" cy="1149350"/>
            <a:chOff x="14418192" y="4749269"/>
            <a:chExt cx="1554480" cy="1149350"/>
          </a:xfrm>
        </p:grpSpPr>
        <p:sp>
          <p:nvSpPr>
            <p:cNvPr id="11" name="object 11"/>
            <p:cNvSpPr/>
            <p:nvPr/>
          </p:nvSpPr>
          <p:spPr>
            <a:xfrm>
              <a:off x="15946623" y="4749269"/>
              <a:ext cx="0" cy="1149350"/>
            </a:xfrm>
            <a:custGeom>
              <a:avLst/>
              <a:gdLst/>
              <a:ahLst/>
              <a:cxnLst/>
              <a:rect l="l" t="t" r="r" b="b"/>
              <a:pathLst>
                <a:path w="0" h="1149350">
                  <a:moveTo>
                    <a:pt x="0" y="1148952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4418192" y="4762035"/>
              <a:ext cx="1554480" cy="0"/>
            </a:xfrm>
            <a:custGeom>
              <a:avLst/>
              <a:gdLst/>
              <a:ahLst/>
              <a:cxnLst/>
              <a:rect l="l" t="t" r="r" b="b"/>
              <a:pathLst>
                <a:path w="1554480" h="0">
                  <a:moveTo>
                    <a:pt x="0" y="0"/>
                  </a:moveTo>
                  <a:lnTo>
                    <a:pt x="1553904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13068079" y="4940761"/>
            <a:ext cx="764540" cy="0"/>
          </a:xfrm>
          <a:custGeom>
            <a:avLst/>
            <a:gdLst/>
            <a:ahLst/>
            <a:cxnLst/>
            <a:rect l="l" t="t" r="r" b="b"/>
            <a:pathLst>
              <a:path w="764540" h="0">
                <a:moveTo>
                  <a:pt x="0" y="0"/>
                </a:moveTo>
                <a:lnTo>
                  <a:pt x="76421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53904" y="4940761"/>
            <a:ext cx="688340" cy="0"/>
          </a:xfrm>
          <a:custGeom>
            <a:avLst/>
            <a:gdLst/>
            <a:ahLst/>
            <a:cxnLst/>
            <a:rect l="l" t="t" r="r" b="b"/>
            <a:pathLst>
              <a:path w="688339" h="0">
                <a:moveTo>
                  <a:pt x="0" y="0"/>
                </a:moveTo>
                <a:lnTo>
                  <a:pt x="68779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170582" y="4953527"/>
            <a:ext cx="1783714" cy="0"/>
          </a:xfrm>
          <a:custGeom>
            <a:avLst/>
            <a:gdLst/>
            <a:ahLst/>
            <a:cxnLst/>
            <a:rect l="l" t="t" r="r" b="b"/>
            <a:pathLst>
              <a:path w="1783715" h="0">
                <a:moveTo>
                  <a:pt x="0" y="0"/>
                </a:moveTo>
                <a:lnTo>
                  <a:pt x="178316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3781346" y="5362044"/>
            <a:ext cx="662940" cy="0"/>
          </a:xfrm>
          <a:custGeom>
            <a:avLst/>
            <a:gdLst/>
            <a:ahLst/>
            <a:cxnLst/>
            <a:rect l="l" t="t" r="r" b="b"/>
            <a:pathLst>
              <a:path w="662940" h="0">
                <a:moveTo>
                  <a:pt x="0" y="0"/>
                </a:moveTo>
                <a:lnTo>
                  <a:pt x="66231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928277" y="5362044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4" h="0">
                <a:moveTo>
                  <a:pt x="0" y="0"/>
                </a:moveTo>
                <a:lnTo>
                  <a:pt x="56042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170582" y="5770560"/>
            <a:ext cx="1783714" cy="0"/>
          </a:xfrm>
          <a:custGeom>
            <a:avLst/>
            <a:gdLst/>
            <a:ahLst/>
            <a:cxnLst/>
            <a:rect l="l" t="t" r="r" b="b"/>
            <a:pathLst>
              <a:path w="1783715" h="0">
                <a:moveTo>
                  <a:pt x="0" y="0"/>
                </a:moveTo>
                <a:lnTo>
                  <a:pt x="178316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246396" y="5770560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 h="0">
                <a:moveTo>
                  <a:pt x="0" y="0"/>
                </a:moveTo>
                <a:lnTo>
                  <a:pt x="58589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53904" y="5770560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5" h="0">
                <a:moveTo>
                  <a:pt x="0" y="0"/>
                </a:moveTo>
                <a:lnTo>
                  <a:pt x="56042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418192" y="5872689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390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510317" y="734383"/>
            <a:ext cx="14487525" cy="233362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>
              <a:lnSpc>
                <a:spcPts val="3420"/>
              </a:lnSpc>
              <a:spcBef>
                <a:spcPts val="115"/>
              </a:spcBef>
            </a:pPr>
            <a:r>
              <a:rPr dirty="0" sz="2850">
                <a:solidFill>
                  <a:srgbClr val="0C0C0A"/>
                </a:solidFill>
                <a:latin typeface="Arial"/>
                <a:cs typeface="Arial"/>
              </a:rPr>
              <a:t>Case</a:t>
            </a:r>
            <a:r>
              <a:rPr dirty="0" sz="2850" spc="-9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50" spc="75">
                <a:solidFill>
                  <a:srgbClr val="0C0C0A"/>
                </a:solidFill>
                <a:latin typeface="Arial"/>
                <a:cs typeface="Arial"/>
              </a:rPr>
              <a:t>Study:</a:t>
            </a:r>
            <a:r>
              <a:rPr dirty="0" sz="2850" spc="-3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50" spc="110">
                <a:solidFill>
                  <a:srgbClr val="0C0C0A"/>
                </a:solidFill>
                <a:latin typeface="Arial"/>
                <a:cs typeface="Arial"/>
              </a:rPr>
              <a:t>How</a:t>
            </a:r>
            <a:r>
              <a:rPr dirty="0" sz="2850" spc="2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50" spc="80">
                <a:solidFill>
                  <a:srgbClr val="0C0C0A"/>
                </a:solidFill>
                <a:latin typeface="Arial"/>
                <a:cs typeface="Arial"/>
              </a:rPr>
              <a:t>Architectural</a:t>
            </a:r>
            <a:r>
              <a:rPr dirty="0" sz="2850" spc="15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50" spc="65">
                <a:solidFill>
                  <a:srgbClr val="0C0C0A"/>
                </a:solidFill>
                <a:latin typeface="Arial"/>
                <a:cs typeface="Arial"/>
              </a:rPr>
              <a:t>Hardening</a:t>
            </a:r>
            <a:r>
              <a:rPr dirty="0" sz="2850" spc="13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50" spc="55">
                <a:solidFill>
                  <a:srgbClr val="0C0C0A"/>
                </a:solidFill>
                <a:latin typeface="Arial"/>
                <a:cs typeface="Arial"/>
              </a:rPr>
              <a:t>Defanged</a:t>
            </a:r>
            <a:r>
              <a:rPr dirty="0" sz="2850" spc="9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0C0C0A"/>
                </a:solidFill>
                <a:latin typeface="Arial"/>
                <a:cs typeface="Arial"/>
              </a:rPr>
              <a:t>a</a:t>
            </a:r>
            <a:r>
              <a:rPr dirty="0" sz="2850" spc="-2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50" spc="-50">
                <a:solidFill>
                  <a:srgbClr val="0C0C0A"/>
                </a:solidFill>
                <a:latin typeface="Arial"/>
                <a:cs typeface="Arial"/>
              </a:rPr>
              <a:t>CVSS</a:t>
            </a:r>
            <a:r>
              <a:rPr dirty="0" sz="2850" spc="-24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0C0C0A"/>
                </a:solidFill>
                <a:latin typeface="Arial"/>
                <a:cs typeface="Arial"/>
              </a:rPr>
              <a:t>10.0</a:t>
            </a:r>
            <a:r>
              <a:rPr dirty="0" sz="2850" spc="-14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50" spc="85">
                <a:solidFill>
                  <a:srgbClr val="0C0C0A"/>
                </a:solidFill>
                <a:latin typeface="Arial"/>
                <a:cs typeface="Arial"/>
              </a:rPr>
              <a:t>Supply</a:t>
            </a:r>
            <a:r>
              <a:rPr dirty="0" sz="2850" spc="-2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50" spc="70">
                <a:solidFill>
                  <a:srgbClr val="0C0C0A"/>
                </a:solidFill>
                <a:latin typeface="Arial"/>
                <a:cs typeface="Arial"/>
              </a:rPr>
              <a:t>Chain</a:t>
            </a:r>
            <a:r>
              <a:rPr dirty="0" sz="2850" spc="5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50" spc="65">
                <a:solidFill>
                  <a:srgbClr val="0C0C0A"/>
                </a:solidFill>
                <a:latin typeface="Arial"/>
                <a:cs typeface="Arial"/>
              </a:rPr>
              <a:t>Attack</a:t>
            </a:r>
            <a:endParaRPr sz="2850">
              <a:latin typeface="Arial"/>
              <a:cs typeface="Arial"/>
            </a:endParaRPr>
          </a:p>
          <a:p>
            <a:pPr algn="ctr" marR="1905">
              <a:lnSpc>
                <a:spcPct val="100000"/>
              </a:lnSpc>
            </a:pPr>
            <a:r>
              <a:rPr dirty="0" sz="3050" spc="-175" b="1">
                <a:solidFill>
                  <a:srgbClr val="0C0C0A"/>
                </a:solidFill>
                <a:latin typeface="Arial"/>
                <a:cs typeface="Arial"/>
              </a:rPr>
              <a:t>Focus:</a:t>
            </a:r>
            <a:r>
              <a:rPr dirty="0" sz="3050" spc="35" b="1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0C0C0A"/>
                </a:solidFill>
                <a:latin typeface="Arial"/>
                <a:cs typeface="Arial"/>
              </a:rPr>
              <a:t>CVE-2024-3094</a:t>
            </a:r>
            <a:r>
              <a:rPr dirty="0" sz="2850" spc="365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50" spc="85">
                <a:solidFill>
                  <a:srgbClr val="0C0C0A"/>
                </a:solidFill>
                <a:latin typeface="Arial"/>
                <a:cs typeface="Arial"/>
              </a:rPr>
              <a:t>(The</a:t>
            </a:r>
            <a:r>
              <a:rPr dirty="0" sz="2850" spc="-6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0C0C0A"/>
                </a:solidFill>
                <a:latin typeface="Arial"/>
                <a:cs typeface="Arial"/>
              </a:rPr>
              <a:t>XZ</a:t>
            </a:r>
            <a:r>
              <a:rPr dirty="0" sz="2850" spc="-3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50" spc="95">
                <a:solidFill>
                  <a:srgbClr val="0C0C0A"/>
                </a:solidFill>
                <a:latin typeface="Arial"/>
                <a:cs typeface="Arial"/>
              </a:rPr>
              <a:t>Utils</a:t>
            </a:r>
            <a:r>
              <a:rPr dirty="0" sz="2850" spc="8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850" spc="45">
                <a:solidFill>
                  <a:srgbClr val="0C0C0A"/>
                </a:solidFill>
                <a:latin typeface="Arial"/>
                <a:cs typeface="Arial"/>
              </a:rPr>
              <a:t>Backdoor)</a:t>
            </a:r>
            <a:endParaRPr sz="2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2850">
              <a:latin typeface="Arial"/>
              <a:cs typeface="Arial"/>
            </a:endParaRPr>
          </a:p>
          <a:p>
            <a:pPr marL="1853564" marR="1400810" indent="-593090">
              <a:lnSpc>
                <a:spcPts val="3620"/>
              </a:lnSpc>
              <a:spcBef>
                <a:spcPts val="5"/>
              </a:spcBef>
            </a:pPr>
            <a:r>
              <a:rPr dirty="0" sz="3150" spc="-90">
                <a:solidFill>
                  <a:srgbClr val="0C0C0A"/>
                </a:solidFill>
                <a:latin typeface="Times New Roman"/>
                <a:cs typeface="Times New Roman"/>
              </a:rPr>
              <a:t>W</a:t>
            </a:r>
            <a:r>
              <a:rPr dirty="0" sz="3150" spc="-90">
                <a:solidFill>
                  <a:srgbClr val="282624"/>
                </a:solidFill>
                <a:latin typeface="Times New Roman"/>
                <a:cs typeface="Times New Roman"/>
              </a:rPr>
              <a:t>e</a:t>
            </a:r>
            <a:r>
              <a:rPr dirty="0" sz="3150" spc="-75">
                <a:solidFill>
                  <a:srgbClr val="282624"/>
                </a:solidFill>
                <a:latin typeface="Times New Roman"/>
                <a:cs typeface="Times New Roman"/>
              </a:rPr>
              <a:t> </a:t>
            </a:r>
            <a:r>
              <a:rPr dirty="0" sz="3150" spc="50">
                <a:solidFill>
                  <a:srgbClr val="0C0C0A"/>
                </a:solidFill>
                <a:latin typeface="Times New Roman"/>
                <a:cs typeface="Times New Roman"/>
              </a:rPr>
              <a:t>didn</a:t>
            </a:r>
            <a:r>
              <a:rPr dirty="0" sz="3150" spc="50">
                <a:solidFill>
                  <a:srgbClr val="282624"/>
                </a:solidFill>
                <a:latin typeface="Times New Roman"/>
                <a:cs typeface="Times New Roman"/>
              </a:rPr>
              <a:t>'</a:t>
            </a:r>
            <a:r>
              <a:rPr dirty="0" sz="3150" spc="50">
                <a:solidFill>
                  <a:srgbClr val="0C0C0A"/>
                </a:solidFill>
                <a:latin typeface="Times New Roman"/>
                <a:cs typeface="Times New Roman"/>
              </a:rPr>
              <a:t>t</a:t>
            </a:r>
            <a:r>
              <a:rPr dirty="0" sz="3150" spc="7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150" spc="55">
                <a:solidFill>
                  <a:srgbClr val="0C0C0A"/>
                </a:solidFill>
                <a:latin typeface="Times New Roman"/>
                <a:cs typeface="Times New Roman"/>
              </a:rPr>
              <a:t>p</a:t>
            </a:r>
            <a:r>
              <a:rPr dirty="0" sz="3150" spc="55">
                <a:solidFill>
                  <a:srgbClr val="282624"/>
                </a:solidFill>
                <a:latin typeface="Times New Roman"/>
                <a:cs typeface="Times New Roman"/>
              </a:rPr>
              <a:t>a</a:t>
            </a:r>
            <a:r>
              <a:rPr dirty="0" sz="3150" spc="55">
                <a:solidFill>
                  <a:srgbClr val="0C0C0A"/>
                </a:solidFill>
                <a:latin typeface="Times New Roman"/>
                <a:cs typeface="Times New Roman"/>
              </a:rPr>
              <a:t>tch</a:t>
            </a:r>
            <a:r>
              <a:rPr dirty="0" sz="3150" spc="45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150" spc="95">
                <a:solidFill>
                  <a:srgbClr val="0C0C0A"/>
                </a:solidFill>
                <a:latin typeface="Times New Roman"/>
                <a:cs typeface="Times New Roman"/>
              </a:rPr>
              <a:t>this</a:t>
            </a:r>
            <a:r>
              <a:rPr dirty="0" sz="3150" spc="-175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150">
                <a:solidFill>
                  <a:srgbClr val="0C0C0A"/>
                </a:solidFill>
                <a:latin typeface="Times New Roman"/>
                <a:cs typeface="Times New Roman"/>
              </a:rPr>
              <a:t>vuln</a:t>
            </a:r>
            <a:r>
              <a:rPr dirty="0" sz="3150">
                <a:solidFill>
                  <a:srgbClr val="282624"/>
                </a:solidFill>
                <a:latin typeface="Times New Roman"/>
                <a:cs typeface="Times New Roman"/>
              </a:rPr>
              <a:t>e</a:t>
            </a:r>
            <a:r>
              <a:rPr dirty="0" sz="3150">
                <a:solidFill>
                  <a:srgbClr val="0C0C0A"/>
                </a:solidFill>
                <a:latin typeface="Times New Roman"/>
                <a:cs typeface="Times New Roman"/>
              </a:rPr>
              <a:t>rability</a:t>
            </a:r>
            <a:r>
              <a:rPr dirty="0" sz="3150" spc="-15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150" spc="55">
                <a:solidFill>
                  <a:srgbClr val="0C0C0A"/>
                </a:solidFill>
                <a:latin typeface="Times New Roman"/>
                <a:cs typeface="Times New Roman"/>
              </a:rPr>
              <a:t>fast</a:t>
            </a:r>
            <a:r>
              <a:rPr dirty="0" sz="3150" spc="55">
                <a:solidFill>
                  <a:srgbClr val="282624"/>
                </a:solidFill>
                <a:latin typeface="Times New Roman"/>
                <a:cs typeface="Times New Roman"/>
              </a:rPr>
              <a:t>e</a:t>
            </a:r>
            <a:r>
              <a:rPr dirty="0" sz="3150" spc="55">
                <a:solidFill>
                  <a:srgbClr val="0C0C0A"/>
                </a:solidFill>
                <a:latin typeface="Times New Roman"/>
                <a:cs typeface="Times New Roman"/>
              </a:rPr>
              <a:t>r.</a:t>
            </a:r>
            <a:r>
              <a:rPr dirty="0" sz="3150" spc="-20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150">
                <a:solidFill>
                  <a:srgbClr val="0C0C0A"/>
                </a:solidFill>
                <a:latin typeface="Times New Roman"/>
                <a:cs typeface="Times New Roman"/>
              </a:rPr>
              <a:t>Our</a:t>
            </a:r>
            <a:r>
              <a:rPr dirty="0" sz="3150" spc="5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150" spc="75">
                <a:solidFill>
                  <a:srgbClr val="0C0C0A"/>
                </a:solidFill>
                <a:latin typeface="Times New Roman"/>
                <a:cs typeface="Times New Roman"/>
              </a:rPr>
              <a:t>archit</a:t>
            </a:r>
            <a:r>
              <a:rPr dirty="0" sz="3150" spc="75">
                <a:solidFill>
                  <a:srgbClr val="282624"/>
                </a:solidFill>
                <a:latin typeface="Times New Roman"/>
                <a:cs typeface="Times New Roman"/>
              </a:rPr>
              <a:t>e</a:t>
            </a:r>
            <a:r>
              <a:rPr dirty="0" sz="3150" spc="75">
                <a:solidFill>
                  <a:srgbClr val="0C0C0A"/>
                </a:solidFill>
                <a:latin typeface="Times New Roman"/>
                <a:cs typeface="Times New Roman"/>
              </a:rPr>
              <a:t>cture,</a:t>
            </a:r>
            <a:r>
              <a:rPr dirty="0" sz="3150" spc="-7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150" spc="75">
                <a:solidFill>
                  <a:srgbClr val="0C0C0A"/>
                </a:solidFill>
                <a:latin typeface="Times New Roman"/>
                <a:cs typeface="Times New Roman"/>
              </a:rPr>
              <a:t>implem</a:t>
            </a:r>
            <a:r>
              <a:rPr dirty="0" sz="3150" spc="75">
                <a:solidFill>
                  <a:srgbClr val="282624"/>
                </a:solidFill>
                <a:latin typeface="Times New Roman"/>
                <a:cs typeface="Times New Roman"/>
              </a:rPr>
              <a:t>e</a:t>
            </a:r>
            <a:r>
              <a:rPr dirty="0" sz="3150" spc="75">
                <a:solidFill>
                  <a:srgbClr val="0C0C0A"/>
                </a:solidFill>
                <a:latin typeface="Times New Roman"/>
                <a:cs typeface="Times New Roman"/>
              </a:rPr>
              <a:t>nt</a:t>
            </a:r>
            <a:r>
              <a:rPr dirty="0" sz="3150" spc="75">
                <a:solidFill>
                  <a:srgbClr val="282624"/>
                </a:solidFill>
                <a:latin typeface="Times New Roman"/>
                <a:cs typeface="Times New Roman"/>
              </a:rPr>
              <a:t>e</a:t>
            </a:r>
            <a:r>
              <a:rPr dirty="0" sz="3150" spc="75">
                <a:solidFill>
                  <a:srgbClr val="0C0C0A"/>
                </a:solidFill>
                <a:latin typeface="Times New Roman"/>
                <a:cs typeface="Times New Roman"/>
              </a:rPr>
              <a:t>d </a:t>
            </a:r>
            <a:r>
              <a:rPr dirty="0" sz="3150" spc="90">
                <a:solidFill>
                  <a:srgbClr val="0C0C0A"/>
                </a:solidFill>
                <a:latin typeface="Times New Roman"/>
                <a:cs typeface="Times New Roman"/>
              </a:rPr>
              <a:t>8</a:t>
            </a:r>
            <a:r>
              <a:rPr dirty="0" sz="3150" spc="-15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150" spc="114">
                <a:solidFill>
                  <a:srgbClr val="0C0C0A"/>
                </a:solidFill>
                <a:latin typeface="Times New Roman"/>
                <a:cs typeface="Times New Roman"/>
              </a:rPr>
              <a:t>months</a:t>
            </a:r>
            <a:r>
              <a:rPr dirty="0" sz="3150" spc="-145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150">
                <a:solidFill>
                  <a:srgbClr val="0C0C0A"/>
                </a:solidFill>
                <a:latin typeface="Times New Roman"/>
                <a:cs typeface="Times New Roman"/>
              </a:rPr>
              <a:t>earlier</a:t>
            </a:r>
            <a:r>
              <a:rPr dirty="0" sz="3150">
                <a:solidFill>
                  <a:srgbClr val="282624"/>
                </a:solidFill>
                <a:latin typeface="Times New Roman"/>
                <a:cs typeface="Times New Roman"/>
              </a:rPr>
              <a:t>,</a:t>
            </a:r>
            <a:r>
              <a:rPr dirty="0" sz="3150" spc="80">
                <a:solidFill>
                  <a:srgbClr val="282624"/>
                </a:solidFill>
                <a:latin typeface="Times New Roman"/>
                <a:cs typeface="Times New Roman"/>
              </a:rPr>
              <a:t> </a:t>
            </a:r>
            <a:r>
              <a:rPr dirty="0" sz="3150" spc="95">
                <a:solidFill>
                  <a:srgbClr val="0C0C0A"/>
                </a:solidFill>
                <a:latin typeface="Times New Roman"/>
                <a:cs typeface="Times New Roman"/>
              </a:rPr>
              <a:t>made</a:t>
            </a:r>
            <a:r>
              <a:rPr dirty="0" sz="3150" spc="-6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150" spc="70">
                <a:solidFill>
                  <a:srgbClr val="0C0C0A"/>
                </a:solidFill>
                <a:latin typeface="Times New Roman"/>
                <a:cs typeface="Times New Roman"/>
              </a:rPr>
              <a:t>the</a:t>
            </a:r>
            <a:r>
              <a:rPr dirty="0" sz="3150" spc="125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150" spc="60">
                <a:solidFill>
                  <a:srgbClr val="0C0C0A"/>
                </a:solidFill>
                <a:latin typeface="Times New Roman"/>
                <a:cs typeface="Times New Roman"/>
              </a:rPr>
              <a:t>attack</a:t>
            </a:r>
            <a:r>
              <a:rPr dirty="0" sz="3150" spc="-15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150" spc="55">
                <a:solidFill>
                  <a:srgbClr val="0C0C0A"/>
                </a:solidFill>
                <a:latin typeface="Times New Roman"/>
                <a:cs typeface="Times New Roman"/>
              </a:rPr>
              <a:t>fundamentally</a:t>
            </a:r>
            <a:r>
              <a:rPr dirty="0" sz="3150" spc="19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150" spc="75">
                <a:solidFill>
                  <a:srgbClr val="0C0C0A"/>
                </a:solidFill>
                <a:latin typeface="Times New Roman"/>
                <a:cs typeface="Times New Roman"/>
              </a:rPr>
              <a:t>less</a:t>
            </a:r>
            <a:r>
              <a:rPr dirty="0" sz="3150" spc="-10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150" spc="55">
                <a:solidFill>
                  <a:srgbClr val="0C0C0A"/>
                </a:solidFill>
                <a:latin typeface="Times New Roman"/>
                <a:cs typeface="Times New Roman"/>
              </a:rPr>
              <a:t>dangerous.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39705" y="3549319"/>
            <a:ext cx="311721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-229" b="1">
                <a:solidFill>
                  <a:srgbClr val="0C0C0A"/>
                </a:solidFill>
                <a:latin typeface="Arial"/>
                <a:cs typeface="Arial"/>
              </a:rPr>
              <a:t>Standard</a:t>
            </a:r>
            <a:r>
              <a:rPr dirty="0" sz="2700" spc="65" b="1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0C0C0A"/>
                </a:solidFill>
                <a:latin typeface="Arial"/>
                <a:cs typeface="Arial"/>
              </a:rPr>
              <a:t>Ar</a:t>
            </a:r>
            <a:r>
              <a:rPr dirty="0" sz="2550" spc="-10">
                <a:solidFill>
                  <a:srgbClr val="282624"/>
                </a:solidFill>
                <a:latin typeface="Arial"/>
                <a:cs typeface="Arial"/>
              </a:rPr>
              <a:t>c</a:t>
            </a:r>
            <a:r>
              <a:rPr dirty="0" sz="2550" spc="-10">
                <a:solidFill>
                  <a:srgbClr val="0C0C0A"/>
                </a:solidFill>
                <a:latin typeface="Arial"/>
                <a:cs typeface="Arial"/>
              </a:rPr>
              <a:t>hitecture</a:t>
            </a:r>
            <a:endParaRPr sz="25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297498" y="3555702"/>
            <a:ext cx="2743200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100">
                <a:solidFill>
                  <a:srgbClr val="1D3449"/>
                </a:solidFill>
                <a:latin typeface="Arial"/>
                <a:cs typeface="Arial"/>
              </a:rPr>
              <a:t>RLC-</a:t>
            </a:r>
            <a:r>
              <a:rPr dirty="0" sz="2550">
                <a:solidFill>
                  <a:srgbClr val="1D3449"/>
                </a:solidFill>
                <a:latin typeface="Arial"/>
                <a:cs typeface="Arial"/>
              </a:rPr>
              <a:t>H</a:t>
            </a:r>
            <a:r>
              <a:rPr dirty="0" sz="2550" spc="-114">
                <a:solidFill>
                  <a:srgbClr val="1D3449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344957"/>
                </a:solidFill>
                <a:latin typeface="Arial"/>
                <a:cs typeface="Arial"/>
              </a:rPr>
              <a:t>Architecture</a:t>
            </a:r>
            <a:endParaRPr sz="25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31010" y="5049341"/>
            <a:ext cx="1440815" cy="601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26034">
              <a:lnSpc>
                <a:spcPts val="2470"/>
              </a:lnSpc>
              <a:spcBef>
                <a:spcPts val="110"/>
              </a:spcBef>
            </a:pPr>
            <a:r>
              <a:rPr dirty="0" sz="2150" spc="-20">
                <a:solidFill>
                  <a:srgbClr val="282624"/>
                </a:solidFill>
                <a:latin typeface="Arial"/>
                <a:cs typeface="Arial"/>
              </a:rPr>
              <a:t>ss</a:t>
            </a:r>
            <a:r>
              <a:rPr dirty="0" sz="2150" spc="-20">
                <a:solidFill>
                  <a:srgbClr val="0C0C0A"/>
                </a:solidFill>
                <a:latin typeface="Arial"/>
                <a:cs typeface="Arial"/>
              </a:rPr>
              <a:t>h</a:t>
            </a:r>
            <a:r>
              <a:rPr dirty="0" sz="2150" spc="-20">
                <a:solidFill>
                  <a:srgbClr val="282624"/>
                </a:solidFill>
                <a:latin typeface="Arial"/>
                <a:cs typeface="Arial"/>
              </a:rPr>
              <a:t>d</a:t>
            </a:r>
            <a:endParaRPr sz="2150">
              <a:latin typeface="Arial"/>
              <a:cs typeface="Arial"/>
            </a:endParaRPr>
          </a:p>
          <a:p>
            <a:pPr algn="ctr">
              <a:lnSpc>
                <a:spcPts val="2050"/>
              </a:lnSpc>
            </a:pPr>
            <a:r>
              <a:rPr dirty="0" sz="1800" spc="-45">
                <a:solidFill>
                  <a:srgbClr val="3D3D38"/>
                </a:solidFill>
                <a:latin typeface="Arial"/>
                <a:cs typeface="Arial"/>
              </a:rPr>
              <a:t>(main</a:t>
            </a:r>
            <a:r>
              <a:rPr dirty="0" sz="1800" spc="-100">
                <a:solidFill>
                  <a:srgbClr val="3D3D38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282624"/>
                </a:solidFill>
                <a:latin typeface="Arial"/>
                <a:cs typeface="Arial"/>
              </a:rPr>
              <a:t>process)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76747" y="5177002"/>
            <a:ext cx="553720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25">
                <a:solidFill>
                  <a:srgbClr val="3D3D38"/>
                </a:solidFill>
                <a:latin typeface="Arial"/>
                <a:cs typeface="Arial"/>
              </a:rPr>
              <a:t>li</a:t>
            </a:r>
            <a:r>
              <a:rPr dirty="0" sz="2150" spc="-25">
                <a:solidFill>
                  <a:srgbClr val="0C0C0A"/>
                </a:solidFill>
                <a:latin typeface="Arial"/>
                <a:cs typeface="Arial"/>
              </a:rPr>
              <a:t>b</a:t>
            </a:r>
            <a:r>
              <a:rPr dirty="0" sz="2150" spc="-25">
                <a:solidFill>
                  <a:srgbClr val="282624"/>
                </a:solidFill>
                <a:latin typeface="Arial"/>
                <a:cs typeface="Arial"/>
              </a:rPr>
              <a:t>sy</a:t>
            </a:r>
            <a:endParaRPr sz="2150">
              <a:latin typeface="Arial"/>
              <a:cs typeface="Arial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4903713" y="4755652"/>
          <a:ext cx="3578860" cy="1109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7740"/>
                <a:gridCol w="763904"/>
                <a:gridCol w="1744345"/>
              </a:tblGrid>
              <a:tr h="17843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4">
                  <a:txBody>
                    <a:bodyPr/>
                    <a:lstStyle/>
                    <a:p>
                      <a:pPr marL="591820">
                        <a:lnSpc>
                          <a:spcPts val="2455"/>
                        </a:lnSpc>
                        <a:spcBef>
                          <a:spcPts val="1220"/>
                        </a:spcBef>
                      </a:pPr>
                      <a:r>
                        <a:rPr dirty="0" sz="2500" spc="-50">
                          <a:solidFill>
                            <a:srgbClr val="834841"/>
                          </a:solidFill>
                          <a:latin typeface="Arial"/>
                          <a:cs typeface="Arial"/>
                        </a:rPr>
                        <a:t>�</a:t>
                      </a:r>
                      <a:endParaRPr sz="2500">
                        <a:latin typeface="Arial"/>
                        <a:cs typeface="Arial"/>
                      </a:endParaRPr>
                    </a:p>
                    <a:p>
                      <a:pPr marL="584200">
                        <a:lnSpc>
                          <a:spcPts val="2235"/>
                        </a:lnSpc>
                      </a:pPr>
                      <a:r>
                        <a:rPr dirty="0" sz="2500" spc="-50">
                          <a:solidFill>
                            <a:srgbClr val="834841"/>
                          </a:solidFill>
                          <a:latin typeface="Arial"/>
                          <a:cs typeface="Arial"/>
                        </a:rPr>
                        <a:t>�</a:t>
                      </a:r>
                      <a:endParaRPr sz="2500">
                        <a:latin typeface="Arial"/>
                        <a:cs typeface="Arial"/>
                      </a:endParaRPr>
                    </a:p>
                    <a:p>
                      <a:pPr marL="466090">
                        <a:lnSpc>
                          <a:spcPts val="2360"/>
                        </a:lnSpc>
                      </a:pPr>
                      <a:r>
                        <a:rPr dirty="0" sz="2150" spc="-1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150" spc="-10">
                          <a:solidFill>
                            <a:srgbClr val="282624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2150" spc="-10">
                          <a:solidFill>
                            <a:srgbClr val="0C0C0A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dirty="0" sz="2150" spc="-10">
                          <a:solidFill>
                            <a:srgbClr val="282624"/>
                          </a:solidFill>
                          <a:latin typeface="Arial"/>
                          <a:cs typeface="Arial"/>
                        </a:rPr>
                        <a:t>lzma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1005">
                <a:tc rowSpan="2"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dirty="0" sz="2150" spc="-20">
                          <a:solidFill>
                            <a:srgbClr val="282624"/>
                          </a:solidFill>
                          <a:latin typeface="Arial"/>
                          <a:cs typeface="Arial"/>
                        </a:rPr>
                        <a:t>stemd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B="0" marT="25019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10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019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8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9176950" y="5049341"/>
            <a:ext cx="1738630" cy="601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29209">
              <a:lnSpc>
                <a:spcPts val="2470"/>
              </a:lnSpc>
              <a:spcBef>
                <a:spcPts val="110"/>
              </a:spcBef>
            </a:pPr>
            <a:r>
              <a:rPr dirty="0" sz="2150" spc="-20">
                <a:solidFill>
                  <a:srgbClr val="282624"/>
                </a:solidFill>
                <a:latin typeface="Arial"/>
                <a:cs typeface="Arial"/>
              </a:rPr>
              <a:t>sshd</a:t>
            </a:r>
            <a:endParaRPr sz="2150">
              <a:latin typeface="Arial"/>
              <a:cs typeface="Arial"/>
            </a:endParaRPr>
          </a:p>
          <a:p>
            <a:pPr algn="ctr" marL="5080">
              <a:lnSpc>
                <a:spcPts val="2050"/>
              </a:lnSpc>
            </a:pPr>
            <a:r>
              <a:rPr dirty="0" sz="1800" spc="-20">
                <a:solidFill>
                  <a:srgbClr val="282624"/>
                </a:solidFill>
                <a:latin typeface="Arial"/>
                <a:cs typeface="Arial"/>
              </a:rPr>
              <a:t>(main</a:t>
            </a:r>
            <a:r>
              <a:rPr dirty="0" sz="1800" spc="-125">
                <a:solidFill>
                  <a:srgbClr val="28262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82624"/>
                </a:solidFill>
                <a:latin typeface="Arial"/>
                <a:cs typeface="Arial"/>
              </a:rPr>
              <a:t>process)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255390" y="3874856"/>
            <a:ext cx="4903470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70">
                <a:solidFill>
                  <a:srgbClr val="282624"/>
                </a:solidFill>
                <a:latin typeface="Arial"/>
                <a:cs typeface="Arial"/>
              </a:rPr>
              <a:t>...</a:t>
            </a:r>
            <a:r>
              <a:rPr dirty="0" sz="1000" spc="-70">
                <a:solidFill>
                  <a:srgbClr val="0C0C0A"/>
                </a:solidFill>
                <a:latin typeface="Arial"/>
                <a:cs typeface="Arial"/>
              </a:rPr>
              <a:t>'</a:t>
            </a:r>
            <a:r>
              <a:rPr dirty="0" sz="1000" spc="40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500" spc="-120">
                <a:solidFill>
                  <a:srgbClr val="3D3D38"/>
                </a:solidFill>
                <a:latin typeface="Arial"/>
                <a:cs typeface="Arial"/>
              </a:rPr>
              <a:t>..................</a:t>
            </a:r>
            <a:r>
              <a:rPr dirty="0" sz="2500" spc="-120">
                <a:solidFill>
                  <a:srgbClr val="0C0C0A"/>
                </a:solidFill>
                <a:latin typeface="Arial"/>
                <a:cs typeface="Arial"/>
              </a:rPr>
              <a:t>.</a:t>
            </a:r>
            <a:r>
              <a:rPr dirty="0" sz="2500" spc="-120">
                <a:solidFill>
                  <a:srgbClr val="3D3D38"/>
                </a:solidFill>
                <a:latin typeface="Arial"/>
                <a:cs typeface="Arial"/>
              </a:rPr>
              <a:t>.......</a:t>
            </a:r>
            <a:r>
              <a:rPr dirty="0" sz="2500" spc="-120">
                <a:solidFill>
                  <a:srgbClr val="0C0C0A"/>
                </a:solidFill>
                <a:latin typeface="Arial"/>
                <a:cs typeface="Arial"/>
              </a:rPr>
              <a:t>.</a:t>
            </a:r>
            <a:r>
              <a:rPr dirty="0" sz="2500" spc="-120">
                <a:solidFill>
                  <a:srgbClr val="3D3D38"/>
                </a:solidFill>
                <a:latin typeface="Arial"/>
                <a:cs typeface="Arial"/>
              </a:rPr>
              <a:t>...........................</a:t>
            </a:r>
            <a:r>
              <a:rPr dirty="0" sz="2500" spc="-120">
                <a:solidFill>
                  <a:srgbClr val="0C0C0A"/>
                </a:solidFill>
                <a:latin typeface="Arial"/>
                <a:cs typeface="Arial"/>
              </a:rPr>
              <a:t>..</a:t>
            </a:r>
            <a:r>
              <a:rPr dirty="0" sz="2500" spc="-120">
                <a:solidFill>
                  <a:srgbClr val="3D3D38"/>
                </a:solidFill>
                <a:latin typeface="Arial"/>
                <a:cs typeface="Arial"/>
              </a:rPr>
              <a:t>...</a:t>
            </a:r>
            <a:r>
              <a:rPr dirty="0" sz="2500" spc="-280">
                <a:solidFill>
                  <a:srgbClr val="3D3D38"/>
                </a:solidFill>
                <a:latin typeface="Arial"/>
                <a:cs typeface="Arial"/>
              </a:rPr>
              <a:t> </a:t>
            </a:r>
            <a:r>
              <a:rPr dirty="0" sz="2500" spc="-50" b="1">
                <a:solidFill>
                  <a:srgbClr val="3D3D38"/>
                </a:solidFill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264108" y="4174860"/>
            <a:ext cx="7112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solidFill>
                  <a:srgbClr val="3D3D38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608999" y="4264223"/>
            <a:ext cx="4249420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60">
                <a:solidFill>
                  <a:srgbClr val="282624"/>
                </a:solidFill>
                <a:latin typeface="Arial"/>
                <a:cs typeface="Arial"/>
              </a:rPr>
              <a:t>spawns</a:t>
            </a:r>
            <a:r>
              <a:rPr dirty="0" sz="1800" spc="-125">
                <a:solidFill>
                  <a:srgbClr val="282624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282624"/>
                </a:solidFill>
                <a:latin typeface="Arial"/>
                <a:cs typeface="Arial"/>
              </a:rPr>
              <a:t>temporary,</a:t>
            </a:r>
            <a:r>
              <a:rPr dirty="0" sz="1800" spc="-35">
                <a:solidFill>
                  <a:srgbClr val="282624"/>
                </a:solidFill>
                <a:latin typeface="Arial"/>
                <a:cs typeface="Arial"/>
              </a:rPr>
              <a:t> </a:t>
            </a:r>
            <a:r>
              <a:rPr dirty="0" sz="1800" spc="-75">
                <a:solidFill>
                  <a:srgbClr val="282624"/>
                </a:solidFill>
                <a:latin typeface="Arial"/>
                <a:cs typeface="Arial"/>
              </a:rPr>
              <a:t>sa</a:t>
            </a:r>
            <a:r>
              <a:rPr dirty="0" sz="1800" spc="-75">
                <a:solidFill>
                  <a:srgbClr val="0C0C0A"/>
                </a:solidFill>
                <a:latin typeface="Arial"/>
                <a:cs typeface="Arial"/>
              </a:rPr>
              <a:t>n</a:t>
            </a:r>
            <a:r>
              <a:rPr dirty="0" sz="1800" spc="-75">
                <a:solidFill>
                  <a:srgbClr val="282624"/>
                </a:solidFill>
                <a:latin typeface="Arial"/>
                <a:cs typeface="Arial"/>
              </a:rPr>
              <a:t>dboxed</a:t>
            </a:r>
            <a:r>
              <a:rPr dirty="0" sz="1800" spc="-95">
                <a:solidFill>
                  <a:srgbClr val="2826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82624"/>
                </a:solidFill>
                <a:latin typeface="Arial"/>
                <a:cs typeface="Arial"/>
              </a:rPr>
              <a:t>ch</a:t>
            </a:r>
            <a:r>
              <a:rPr dirty="0" sz="1800">
                <a:solidFill>
                  <a:srgbClr val="0C0C0A"/>
                </a:solidFill>
                <a:latin typeface="Arial"/>
                <a:cs typeface="Arial"/>
              </a:rPr>
              <a:t>il</a:t>
            </a:r>
            <a:r>
              <a:rPr dirty="0" sz="1800">
                <a:solidFill>
                  <a:srgbClr val="282624"/>
                </a:solidFill>
                <a:latin typeface="Arial"/>
                <a:cs typeface="Arial"/>
              </a:rPr>
              <a:t>d</a:t>
            </a:r>
            <a:r>
              <a:rPr dirty="0" sz="1800" spc="-145">
                <a:solidFill>
                  <a:srgbClr val="282624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282624"/>
                </a:solidFill>
                <a:latin typeface="Arial"/>
                <a:cs typeface="Arial"/>
              </a:rPr>
              <a:t>process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217254" y="4168477"/>
            <a:ext cx="164465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30501" sz="3825" spc="-967">
                <a:solidFill>
                  <a:srgbClr val="3D3D38"/>
                </a:solidFill>
                <a:latin typeface="Arial"/>
                <a:cs typeface="Arial"/>
              </a:rPr>
              <a:t>.</a:t>
            </a:r>
            <a:r>
              <a:rPr dirty="0" sz="1800" spc="-65">
                <a:solidFill>
                  <a:srgbClr val="282624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242654" y="4500397"/>
            <a:ext cx="110489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50">
                <a:solidFill>
                  <a:srgbClr val="282624"/>
                </a:solidFill>
                <a:latin typeface="Arial"/>
                <a:cs typeface="Arial"/>
              </a:rPr>
              <a:t>.</a:t>
            </a:r>
            <a:endParaRPr sz="25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242654" y="4730187"/>
            <a:ext cx="110489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50">
                <a:solidFill>
                  <a:srgbClr val="282624"/>
                </a:solidFill>
                <a:latin typeface="Arial"/>
                <a:cs typeface="Arial"/>
              </a:rPr>
              <a:t>.</a:t>
            </a:r>
            <a:endParaRPr sz="25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242654" y="4959978"/>
            <a:ext cx="110489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50">
                <a:solidFill>
                  <a:srgbClr val="282624"/>
                </a:solidFill>
                <a:latin typeface="Arial"/>
                <a:cs typeface="Arial"/>
              </a:rPr>
              <a:t>.</a:t>
            </a:r>
            <a:endParaRPr sz="25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299112" y="5177002"/>
            <a:ext cx="127444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35">
                <a:solidFill>
                  <a:srgbClr val="0C0C0A"/>
                </a:solidFill>
                <a:latin typeface="Arial"/>
                <a:cs typeface="Arial"/>
              </a:rPr>
              <a:t>l</a:t>
            </a:r>
            <a:r>
              <a:rPr dirty="0" sz="2150" spc="-35">
                <a:solidFill>
                  <a:srgbClr val="282624"/>
                </a:solidFill>
                <a:latin typeface="Arial"/>
                <a:cs typeface="Arial"/>
              </a:rPr>
              <a:t>ibsystemd</a:t>
            </a:r>
            <a:endParaRPr sz="21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424561" y="5470624"/>
            <a:ext cx="151574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8140">
              <a:lnSpc>
                <a:spcPct val="100000"/>
              </a:lnSpc>
              <a:spcBef>
                <a:spcPts val="110"/>
              </a:spcBef>
            </a:pPr>
            <a:r>
              <a:rPr dirty="0" sz="2150" spc="-10">
                <a:solidFill>
                  <a:srgbClr val="0C0C0A"/>
                </a:solidFill>
                <a:latin typeface="Arial"/>
                <a:cs typeface="Arial"/>
              </a:rPr>
              <a:t>l</a:t>
            </a:r>
            <a:r>
              <a:rPr dirty="0" sz="2150" spc="-10">
                <a:solidFill>
                  <a:srgbClr val="3D3D38"/>
                </a:solidFill>
                <a:latin typeface="Arial"/>
                <a:cs typeface="Arial"/>
              </a:rPr>
              <a:t>ib</a:t>
            </a:r>
            <a:r>
              <a:rPr dirty="0" sz="2150" spc="-10">
                <a:solidFill>
                  <a:srgbClr val="0C0C0A"/>
                </a:solidFill>
                <a:latin typeface="Arial"/>
                <a:cs typeface="Arial"/>
              </a:rPr>
              <a:t>l</a:t>
            </a:r>
            <a:r>
              <a:rPr dirty="0" sz="2150" spc="-10">
                <a:solidFill>
                  <a:srgbClr val="282624"/>
                </a:solidFill>
                <a:latin typeface="Arial"/>
                <a:cs typeface="Arial"/>
              </a:rPr>
              <a:t>zma</a:t>
            </a:r>
            <a:endParaRPr sz="21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991356" y="5898289"/>
            <a:ext cx="1066800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45">
                <a:solidFill>
                  <a:srgbClr val="282624"/>
                </a:solidFill>
                <a:latin typeface="Arial"/>
                <a:cs typeface="Arial"/>
              </a:rPr>
              <a:t>(backdoor)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016893" y="5881167"/>
            <a:ext cx="7331075" cy="154051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algn="r" marR="639445">
              <a:lnSpc>
                <a:spcPct val="100000"/>
              </a:lnSpc>
              <a:spcBef>
                <a:spcPts val="244"/>
              </a:spcBef>
            </a:pPr>
            <a:r>
              <a:rPr dirty="0" sz="1800" spc="-10">
                <a:solidFill>
                  <a:srgbClr val="282624"/>
                </a:solidFill>
                <a:latin typeface="Arial"/>
                <a:cs typeface="Arial"/>
              </a:rPr>
              <a:t>(backdoor)</a:t>
            </a:r>
            <a:endParaRPr sz="1800">
              <a:latin typeface="Arial"/>
              <a:cs typeface="Arial"/>
            </a:endParaRPr>
          </a:p>
          <a:p>
            <a:pPr marL="2238375">
              <a:lnSpc>
                <a:spcPct val="100000"/>
              </a:lnSpc>
              <a:spcBef>
                <a:spcPts val="204"/>
              </a:spcBef>
            </a:pPr>
            <a:r>
              <a:rPr dirty="0" baseline="8714" sz="3825" spc="-839">
                <a:solidFill>
                  <a:srgbClr val="3D3D38"/>
                </a:solidFill>
                <a:latin typeface="Arial"/>
                <a:cs typeface="Arial"/>
              </a:rPr>
              <a:t>.</a:t>
            </a:r>
            <a:r>
              <a:rPr dirty="0" sz="2000">
                <a:solidFill>
                  <a:srgbClr val="3D3D38"/>
                </a:solidFill>
                <a:latin typeface="Arial"/>
                <a:cs typeface="Arial"/>
              </a:rPr>
              <a:t>............</a:t>
            </a:r>
            <a:r>
              <a:rPr dirty="0" sz="2000">
                <a:solidFill>
                  <a:srgbClr val="0C0C0A"/>
                </a:solidFill>
                <a:latin typeface="Arial"/>
                <a:cs typeface="Arial"/>
              </a:rPr>
              <a:t>.</a:t>
            </a:r>
            <a:r>
              <a:rPr dirty="0" sz="2000">
                <a:solidFill>
                  <a:srgbClr val="282624"/>
                </a:solidFill>
                <a:latin typeface="Arial"/>
                <a:cs typeface="Arial"/>
              </a:rPr>
              <a:t>....</a:t>
            </a:r>
            <a:r>
              <a:rPr dirty="0" sz="2000">
                <a:solidFill>
                  <a:srgbClr val="504F4D"/>
                </a:solidFill>
                <a:latin typeface="Arial"/>
                <a:cs typeface="Arial"/>
              </a:rPr>
              <a:t>.......</a:t>
            </a:r>
            <a:r>
              <a:rPr dirty="0" sz="2000">
                <a:solidFill>
                  <a:srgbClr val="282624"/>
                </a:solidFill>
                <a:latin typeface="Arial"/>
                <a:cs typeface="Arial"/>
              </a:rPr>
              <a:t>...............</a:t>
            </a:r>
            <a:r>
              <a:rPr dirty="0" sz="2000">
                <a:solidFill>
                  <a:srgbClr val="504F4D"/>
                </a:solidFill>
                <a:latin typeface="Arial"/>
                <a:cs typeface="Arial"/>
              </a:rPr>
              <a:t>.....</a:t>
            </a:r>
            <a:r>
              <a:rPr dirty="0" sz="2000">
                <a:solidFill>
                  <a:srgbClr val="282624"/>
                </a:solidFill>
                <a:latin typeface="Arial"/>
                <a:cs typeface="Arial"/>
              </a:rPr>
              <a:t>..............</a:t>
            </a:r>
            <a:r>
              <a:rPr dirty="0" sz="2000">
                <a:solidFill>
                  <a:srgbClr val="504F4D"/>
                </a:solidFill>
                <a:latin typeface="Arial"/>
                <a:cs typeface="Arial"/>
              </a:rPr>
              <a:t>.....</a:t>
            </a:r>
            <a:r>
              <a:rPr dirty="0" sz="2000" spc="-130">
                <a:solidFill>
                  <a:srgbClr val="504F4D"/>
                </a:solidFill>
                <a:latin typeface="Arial"/>
                <a:cs typeface="Arial"/>
              </a:rPr>
              <a:t>.</a:t>
            </a:r>
            <a:r>
              <a:rPr dirty="0" baseline="22222" sz="1500" spc="-75">
                <a:solidFill>
                  <a:srgbClr val="0C0C0A"/>
                </a:solidFill>
                <a:latin typeface="Arial"/>
                <a:cs typeface="Arial"/>
              </a:rPr>
              <a:t>'</a:t>
            </a:r>
            <a:r>
              <a:rPr dirty="0" sz="2000">
                <a:solidFill>
                  <a:srgbClr val="504F4D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2545"/>
              </a:lnSpc>
              <a:spcBef>
                <a:spcPts val="1260"/>
              </a:spcBef>
            </a:pPr>
            <a:r>
              <a:rPr dirty="0" sz="2150" spc="-80">
                <a:solidFill>
                  <a:srgbClr val="344957"/>
                </a:solidFill>
                <a:latin typeface="Arial"/>
                <a:cs typeface="Arial"/>
              </a:rPr>
              <a:t>Backdoor</a:t>
            </a:r>
            <a:r>
              <a:rPr dirty="0" sz="2150" spc="-30">
                <a:solidFill>
                  <a:srgbClr val="344957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344957"/>
                </a:solidFill>
                <a:latin typeface="Arial"/>
                <a:cs typeface="Arial"/>
              </a:rPr>
              <a:t>is</a:t>
            </a:r>
            <a:r>
              <a:rPr dirty="0" sz="2150" spc="25">
                <a:solidFill>
                  <a:srgbClr val="344957"/>
                </a:solidFill>
                <a:latin typeface="Arial"/>
                <a:cs typeface="Arial"/>
              </a:rPr>
              <a:t> </a:t>
            </a:r>
            <a:r>
              <a:rPr dirty="0" sz="2150" spc="-45">
                <a:solidFill>
                  <a:srgbClr val="344957"/>
                </a:solidFill>
                <a:latin typeface="Arial"/>
                <a:cs typeface="Arial"/>
              </a:rPr>
              <a:t>contained</a:t>
            </a:r>
            <a:r>
              <a:rPr dirty="0" sz="2150">
                <a:solidFill>
                  <a:srgbClr val="344957"/>
                </a:solidFill>
                <a:latin typeface="Arial"/>
                <a:cs typeface="Arial"/>
              </a:rPr>
              <a:t> to</a:t>
            </a:r>
            <a:r>
              <a:rPr dirty="0" sz="2150" spc="-225">
                <a:solidFill>
                  <a:srgbClr val="344957"/>
                </a:solidFill>
                <a:latin typeface="Arial"/>
                <a:cs typeface="Arial"/>
              </a:rPr>
              <a:t> </a:t>
            </a:r>
            <a:r>
              <a:rPr dirty="0" sz="2150" spc="-80">
                <a:solidFill>
                  <a:srgbClr val="344957"/>
                </a:solidFill>
                <a:latin typeface="Arial"/>
                <a:cs typeface="Arial"/>
              </a:rPr>
              <a:t>a</a:t>
            </a:r>
            <a:r>
              <a:rPr dirty="0" sz="2150" spc="-90">
                <a:solidFill>
                  <a:srgbClr val="344957"/>
                </a:solidFill>
                <a:latin typeface="Arial"/>
                <a:cs typeface="Arial"/>
              </a:rPr>
              <a:t> </a:t>
            </a:r>
            <a:r>
              <a:rPr dirty="0" sz="2150" spc="-30">
                <a:solidFill>
                  <a:srgbClr val="344957"/>
                </a:solidFill>
                <a:latin typeface="Arial"/>
                <a:cs typeface="Arial"/>
              </a:rPr>
              <a:t>limited-privilege</a:t>
            </a:r>
            <a:r>
              <a:rPr dirty="0" sz="2150" spc="-275">
                <a:solidFill>
                  <a:srgbClr val="344957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344957"/>
                </a:solidFill>
                <a:latin typeface="Arial"/>
                <a:cs typeface="Arial"/>
              </a:rPr>
              <a:t>child</a:t>
            </a:r>
            <a:r>
              <a:rPr dirty="0" sz="2150" spc="-220">
                <a:solidFill>
                  <a:srgbClr val="344957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344957"/>
                </a:solidFill>
                <a:latin typeface="Arial"/>
                <a:cs typeface="Arial"/>
              </a:rPr>
              <a:t>process.</a:t>
            </a:r>
            <a:endParaRPr sz="2150">
              <a:latin typeface="Arial"/>
              <a:cs typeface="Arial"/>
            </a:endParaRPr>
          </a:p>
          <a:p>
            <a:pPr algn="ctr">
              <a:lnSpc>
                <a:spcPts val="2545"/>
              </a:lnSpc>
            </a:pPr>
            <a:r>
              <a:rPr dirty="0" sz="2150" spc="-75">
                <a:solidFill>
                  <a:srgbClr val="344957"/>
                </a:solidFill>
                <a:latin typeface="Arial"/>
                <a:cs typeface="Arial"/>
              </a:rPr>
              <a:t>Cannot</a:t>
            </a:r>
            <a:r>
              <a:rPr dirty="0" sz="2150" spc="5">
                <a:solidFill>
                  <a:srgbClr val="344957"/>
                </a:solidFill>
                <a:latin typeface="Arial"/>
                <a:cs typeface="Arial"/>
              </a:rPr>
              <a:t> </a:t>
            </a:r>
            <a:r>
              <a:rPr dirty="0" sz="2150" spc="-35">
                <a:solidFill>
                  <a:srgbClr val="344957"/>
                </a:solidFill>
                <a:latin typeface="Arial"/>
                <a:cs typeface="Arial"/>
              </a:rPr>
              <a:t>intercept</a:t>
            </a:r>
            <a:r>
              <a:rPr dirty="0" sz="2150" spc="-80">
                <a:solidFill>
                  <a:srgbClr val="344957"/>
                </a:solidFill>
                <a:latin typeface="Arial"/>
                <a:cs typeface="Arial"/>
              </a:rPr>
              <a:t> </a:t>
            </a:r>
            <a:r>
              <a:rPr dirty="0" sz="2150" spc="-30">
                <a:solidFill>
                  <a:srgbClr val="344957"/>
                </a:solidFill>
                <a:latin typeface="Arial"/>
                <a:cs typeface="Arial"/>
              </a:rPr>
              <a:t>authentication.</a:t>
            </a:r>
            <a:r>
              <a:rPr dirty="0" sz="2150" spc="-345">
                <a:solidFill>
                  <a:srgbClr val="344957"/>
                </a:solidFill>
                <a:latin typeface="Arial"/>
                <a:cs typeface="Arial"/>
              </a:rPr>
              <a:t> </a:t>
            </a:r>
            <a:r>
              <a:rPr dirty="0" sz="2150" spc="-60">
                <a:solidFill>
                  <a:srgbClr val="344957"/>
                </a:solidFill>
                <a:latin typeface="Arial"/>
                <a:cs typeface="Arial"/>
              </a:rPr>
              <a:t>Blast</a:t>
            </a:r>
            <a:r>
              <a:rPr dirty="0" sz="2150" spc="-15">
                <a:solidFill>
                  <a:srgbClr val="344957"/>
                </a:solidFill>
                <a:latin typeface="Arial"/>
                <a:cs typeface="Arial"/>
              </a:rPr>
              <a:t> </a:t>
            </a:r>
            <a:r>
              <a:rPr dirty="0" sz="2150" spc="-45">
                <a:solidFill>
                  <a:srgbClr val="344957"/>
                </a:solidFill>
                <a:latin typeface="Arial"/>
                <a:cs typeface="Arial"/>
              </a:rPr>
              <a:t>radius</a:t>
            </a:r>
            <a:r>
              <a:rPr dirty="0" sz="2150" spc="-195">
                <a:solidFill>
                  <a:srgbClr val="344957"/>
                </a:solidFill>
                <a:latin typeface="Arial"/>
                <a:cs typeface="Arial"/>
              </a:rPr>
              <a:t> </a:t>
            </a:r>
            <a:r>
              <a:rPr dirty="0" sz="2150" spc="-55">
                <a:solidFill>
                  <a:srgbClr val="344957"/>
                </a:solidFill>
                <a:latin typeface="Arial"/>
                <a:cs typeface="Arial"/>
              </a:rPr>
              <a:t>reduced</a:t>
            </a:r>
            <a:r>
              <a:rPr dirty="0" sz="2150" spc="-114">
                <a:solidFill>
                  <a:srgbClr val="344957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344957"/>
                </a:solidFill>
                <a:latin typeface="Arial"/>
                <a:cs typeface="Arial"/>
              </a:rPr>
              <a:t>by</a:t>
            </a:r>
            <a:r>
              <a:rPr dirty="0" sz="2150" spc="-130">
                <a:solidFill>
                  <a:srgbClr val="344957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344957"/>
                </a:solidFill>
                <a:latin typeface="Arial"/>
                <a:cs typeface="Arial"/>
              </a:rPr>
              <a:t>~80%.</a:t>
            </a:r>
            <a:endParaRPr sz="21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814161" y="6747238"/>
            <a:ext cx="6381115" cy="67437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313815" marR="5080" indent="-1301750">
              <a:lnSpc>
                <a:spcPts val="2510"/>
              </a:lnSpc>
              <a:spcBef>
                <a:spcPts val="250"/>
              </a:spcBef>
            </a:pPr>
            <a:r>
              <a:rPr dirty="0" sz="2150" spc="-75">
                <a:solidFill>
                  <a:srgbClr val="834841"/>
                </a:solidFill>
                <a:latin typeface="Arial"/>
                <a:cs typeface="Arial"/>
              </a:rPr>
              <a:t>Backdoor</a:t>
            </a:r>
            <a:r>
              <a:rPr dirty="0" sz="2150" spc="50">
                <a:solidFill>
                  <a:srgbClr val="834841"/>
                </a:solidFill>
                <a:latin typeface="Arial"/>
                <a:cs typeface="Arial"/>
              </a:rPr>
              <a:t> </a:t>
            </a:r>
            <a:r>
              <a:rPr dirty="0" sz="2150" spc="-80">
                <a:solidFill>
                  <a:srgbClr val="834841"/>
                </a:solidFill>
                <a:latin typeface="Arial"/>
                <a:cs typeface="Arial"/>
              </a:rPr>
              <a:t>executes</a:t>
            </a:r>
            <a:r>
              <a:rPr dirty="0" sz="2150" spc="-50">
                <a:solidFill>
                  <a:srgbClr val="834841"/>
                </a:solidFill>
                <a:latin typeface="Arial"/>
                <a:cs typeface="Arial"/>
              </a:rPr>
              <a:t> </a:t>
            </a:r>
            <a:r>
              <a:rPr dirty="0" sz="2150" spc="55">
                <a:solidFill>
                  <a:srgbClr val="834841"/>
                </a:solidFill>
                <a:latin typeface="Arial"/>
                <a:cs typeface="Arial"/>
              </a:rPr>
              <a:t>in</a:t>
            </a:r>
            <a:r>
              <a:rPr dirty="0" sz="2150" spc="-280">
                <a:solidFill>
                  <a:srgbClr val="834841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834841"/>
                </a:solidFill>
                <a:latin typeface="Arial"/>
                <a:cs typeface="Arial"/>
              </a:rPr>
              <a:t>main</a:t>
            </a:r>
            <a:r>
              <a:rPr dirty="0" sz="2150" spc="-125">
                <a:solidFill>
                  <a:srgbClr val="834841"/>
                </a:solidFill>
                <a:latin typeface="Arial"/>
                <a:cs typeface="Arial"/>
              </a:rPr>
              <a:t> </a:t>
            </a:r>
            <a:r>
              <a:rPr dirty="0" sz="2150" spc="-95">
                <a:solidFill>
                  <a:srgbClr val="834841"/>
                </a:solidFill>
                <a:latin typeface="Arial"/>
                <a:cs typeface="Arial"/>
              </a:rPr>
              <a:t>daemon.</a:t>
            </a:r>
            <a:r>
              <a:rPr dirty="0" sz="2150" spc="-165">
                <a:solidFill>
                  <a:srgbClr val="834841"/>
                </a:solidFill>
                <a:latin typeface="Arial"/>
                <a:cs typeface="Arial"/>
              </a:rPr>
              <a:t> </a:t>
            </a:r>
            <a:r>
              <a:rPr dirty="0" sz="2150" spc="-35">
                <a:solidFill>
                  <a:srgbClr val="834841"/>
                </a:solidFill>
                <a:latin typeface="Arial"/>
                <a:cs typeface="Arial"/>
              </a:rPr>
              <a:t>Full</a:t>
            </a:r>
            <a:r>
              <a:rPr dirty="0" sz="2150" spc="-145">
                <a:solidFill>
                  <a:srgbClr val="834841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834841"/>
                </a:solidFill>
                <a:latin typeface="Arial"/>
                <a:cs typeface="Arial"/>
              </a:rPr>
              <a:t>authentication </a:t>
            </a:r>
            <a:r>
              <a:rPr dirty="0" sz="2150" spc="-75">
                <a:solidFill>
                  <a:srgbClr val="834841"/>
                </a:solidFill>
                <a:latin typeface="Arial"/>
                <a:cs typeface="Arial"/>
              </a:rPr>
              <a:t>bypass</a:t>
            </a:r>
            <a:r>
              <a:rPr dirty="0" sz="2150" spc="-120">
                <a:solidFill>
                  <a:srgbClr val="834841"/>
                </a:solidFill>
                <a:latin typeface="Arial"/>
                <a:cs typeface="Arial"/>
              </a:rPr>
              <a:t> </a:t>
            </a:r>
            <a:r>
              <a:rPr dirty="0" sz="2150" spc="-35">
                <a:solidFill>
                  <a:srgbClr val="834841"/>
                </a:solidFill>
                <a:latin typeface="Arial"/>
                <a:cs typeface="Arial"/>
              </a:rPr>
              <a:t>and</a:t>
            </a:r>
            <a:r>
              <a:rPr dirty="0" sz="2150" spc="-225">
                <a:solidFill>
                  <a:srgbClr val="834841"/>
                </a:solidFill>
                <a:latin typeface="Arial"/>
                <a:cs typeface="Arial"/>
              </a:rPr>
              <a:t> </a:t>
            </a:r>
            <a:r>
              <a:rPr dirty="0" sz="2150" spc="-80">
                <a:solidFill>
                  <a:srgbClr val="834841"/>
                </a:solidFill>
                <a:latin typeface="Arial"/>
                <a:cs typeface="Arial"/>
              </a:rPr>
              <a:t>system</a:t>
            </a:r>
            <a:r>
              <a:rPr dirty="0" sz="2150" spc="-20">
                <a:solidFill>
                  <a:srgbClr val="834841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834841"/>
                </a:solidFill>
                <a:latin typeface="Arial"/>
                <a:cs typeface="Arial"/>
              </a:rPr>
              <a:t>compromise.</a:t>
            </a:r>
            <a:endParaRPr sz="21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730587" y="8387619"/>
            <a:ext cx="471805" cy="0"/>
          </a:xfrm>
          <a:custGeom>
            <a:avLst/>
            <a:gdLst/>
            <a:ahLst/>
            <a:cxnLst/>
            <a:rect l="l" t="t" r="r" b="b"/>
            <a:pathLst>
              <a:path w="471804" h="0">
                <a:moveTo>
                  <a:pt x="0" y="0"/>
                </a:moveTo>
                <a:lnTo>
                  <a:pt x="471266" y="0"/>
                </a:lnTo>
              </a:path>
            </a:pathLst>
          </a:custGeom>
          <a:ln w="12766">
            <a:solidFill>
              <a:srgbClr val="34495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717887" y="7832361"/>
            <a:ext cx="1995805" cy="676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250" spc="3800">
                <a:solidFill>
                  <a:srgbClr val="344957"/>
                </a:solidFill>
                <a:latin typeface="Arial"/>
                <a:cs typeface="Arial"/>
              </a:rPr>
              <a:t>(])</a:t>
            </a:r>
            <a:endParaRPr sz="42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702352" y="8387619"/>
            <a:ext cx="4763770" cy="0"/>
          </a:xfrm>
          <a:custGeom>
            <a:avLst/>
            <a:gdLst/>
            <a:ahLst/>
            <a:cxnLst/>
            <a:rect l="l" t="t" r="r" b="b"/>
            <a:pathLst>
              <a:path w="4763770" h="0">
                <a:moveTo>
                  <a:pt x="0" y="0"/>
                </a:moveTo>
                <a:lnTo>
                  <a:pt x="1082638" y="0"/>
                </a:lnTo>
              </a:path>
              <a:path w="4763770" h="0">
                <a:moveTo>
                  <a:pt x="696286" y="0"/>
                </a:moveTo>
                <a:lnTo>
                  <a:pt x="1791661" y="0"/>
                </a:lnTo>
              </a:path>
              <a:path w="4763770" h="0">
                <a:moveTo>
                  <a:pt x="1392571" y="0"/>
                </a:moveTo>
                <a:lnTo>
                  <a:pt x="2487947" y="0"/>
                </a:lnTo>
              </a:path>
              <a:path w="4763770" h="0">
                <a:moveTo>
                  <a:pt x="2088858" y="0"/>
                </a:moveTo>
                <a:lnTo>
                  <a:pt x="3184233" y="0"/>
                </a:lnTo>
              </a:path>
              <a:path w="4763770" h="0">
                <a:moveTo>
                  <a:pt x="2785145" y="0"/>
                </a:moveTo>
                <a:lnTo>
                  <a:pt x="3880520" y="0"/>
                </a:lnTo>
              </a:path>
              <a:path w="4763770" h="0">
                <a:moveTo>
                  <a:pt x="3481430" y="0"/>
                </a:moveTo>
                <a:lnTo>
                  <a:pt x="4576805" y="0"/>
                </a:lnTo>
              </a:path>
              <a:path w="4763770" h="0">
                <a:moveTo>
                  <a:pt x="4177717" y="0"/>
                </a:moveTo>
                <a:lnTo>
                  <a:pt x="4763615" y="0"/>
                </a:lnTo>
              </a:path>
            </a:pathLst>
          </a:custGeom>
          <a:ln w="12751">
            <a:solidFill>
              <a:srgbClr val="85898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702352" y="8247420"/>
            <a:ext cx="4873625" cy="0"/>
          </a:xfrm>
          <a:custGeom>
            <a:avLst/>
            <a:gdLst/>
            <a:ahLst/>
            <a:cxnLst/>
            <a:rect l="l" t="t" r="r" b="b"/>
            <a:pathLst>
              <a:path w="4873625" h="0">
                <a:moveTo>
                  <a:pt x="0" y="0"/>
                </a:moveTo>
                <a:lnTo>
                  <a:pt x="4873534" y="0"/>
                </a:lnTo>
              </a:path>
            </a:pathLst>
          </a:custGeom>
          <a:ln w="47636">
            <a:solidFill>
              <a:srgbClr val="84888D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1576356" y="8387619"/>
            <a:ext cx="509905" cy="0"/>
          </a:xfrm>
          <a:custGeom>
            <a:avLst/>
            <a:gdLst/>
            <a:ahLst/>
            <a:cxnLst/>
            <a:rect l="l" t="t" r="r" b="b"/>
            <a:pathLst>
              <a:path w="509904" h="0">
                <a:moveTo>
                  <a:pt x="0" y="0"/>
                </a:moveTo>
                <a:lnTo>
                  <a:pt x="509476" y="0"/>
                </a:lnTo>
              </a:path>
            </a:pathLst>
          </a:custGeom>
          <a:ln w="12766">
            <a:solidFill>
              <a:srgbClr val="85898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1563654" y="7832361"/>
            <a:ext cx="1188085" cy="676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250" spc="6730">
                <a:solidFill>
                  <a:srgbClr val="85898E"/>
                </a:solidFill>
                <a:latin typeface="Arial"/>
                <a:cs typeface="Arial"/>
              </a:rPr>
              <a:t>0</a:t>
            </a:r>
            <a:endParaRPr sz="42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6147783" y="9418922"/>
            <a:ext cx="125476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B3B38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3B3B3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61613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258311" y="8572797"/>
            <a:ext cx="5450205" cy="6997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8415">
              <a:lnSpc>
                <a:spcPct val="100000"/>
              </a:lnSpc>
              <a:spcBef>
                <a:spcPts val="110"/>
              </a:spcBef>
            </a:pPr>
            <a:r>
              <a:rPr dirty="0" sz="2150" spc="-110">
                <a:solidFill>
                  <a:srgbClr val="282624"/>
                </a:solidFill>
                <a:latin typeface="Arial"/>
                <a:cs typeface="Arial"/>
              </a:rPr>
              <a:t>August</a:t>
            </a:r>
            <a:r>
              <a:rPr dirty="0" sz="2150" spc="-114">
                <a:solidFill>
                  <a:srgbClr val="282624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282624"/>
                </a:solidFill>
                <a:latin typeface="Arial"/>
                <a:cs typeface="Arial"/>
              </a:rPr>
              <a:t>2023</a:t>
            </a:r>
            <a:endParaRPr sz="21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2150" spc="-165">
                <a:solidFill>
                  <a:srgbClr val="282624"/>
                </a:solidFill>
                <a:latin typeface="Arial"/>
                <a:cs typeface="Arial"/>
              </a:rPr>
              <a:t>RLC-</a:t>
            </a:r>
            <a:r>
              <a:rPr dirty="0" sz="2150" spc="-195">
                <a:solidFill>
                  <a:srgbClr val="282624"/>
                </a:solidFill>
                <a:latin typeface="Arial"/>
                <a:cs typeface="Arial"/>
              </a:rPr>
              <a:t>H</a:t>
            </a:r>
            <a:r>
              <a:rPr dirty="0" sz="2150" spc="-210">
                <a:solidFill>
                  <a:srgbClr val="282624"/>
                </a:solidFill>
                <a:latin typeface="Arial"/>
                <a:cs typeface="Arial"/>
              </a:rPr>
              <a:t> </a:t>
            </a:r>
            <a:r>
              <a:rPr dirty="0" sz="2150" spc="-105">
                <a:solidFill>
                  <a:srgbClr val="282624"/>
                </a:solidFill>
                <a:latin typeface="Arial"/>
                <a:cs typeface="Arial"/>
              </a:rPr>
              <a:t>implements</a:t>
            </a:r>
            <a:r>
              <a:rPr dirty="0" sz="2150" spc="-65">
                <a:solidFill>
                  <a:srgbClr val="282624"/>
                </a:solidFill>
                <a:latin typeface="Arial"/>
                <a:cs typeface="Arial"/>
              </a:rPr>
              <a:t> </a:t>
            </a:r>
            <a:r>
              <a:rPr dirty="0" sz="2150" spc="-140">
                <a:solidFill>
                  <a:srgbClr val="282624"/>
                </a:solidFill>
                <a:latin typeface="Arial"/>
                <a:cs typeface="Arial"/>
              </a:rPr>
              <a:t>systemd</a:t>
            </a:r>
            <a:r>
              <a:rPr dirty="0" sz="2150" spc="-35">
                <a:solidFill>
                  <a:srgbClr val="282624"/>
                </a:solidFill>
                <a:latin typeface="Arial"/>
                <a:cs typeface="Arial"/>
              </a:rPr>
              <a:t> </a:t>
            </a:r>
            <a:r>
              <a:rPr dirty="0" sz="2150" spc="-90">
                <a:solidFill>
                  <a:srgbClr val="282624"/>
                </a:solidFill>
                <a:latin typeface="Arial"/>
                <a:cs typeface="Arial"/>
              </a:rPr>
              <a:t>isolation</a:t>
            </a:r>
            <a:r>
              <a:rPr dirty="0" sz="2150" spc="-130">
                <a:solidFill>
                  <a:srgbClr val="282624"/>
                </a:solidFill>
                <a:latin typeface="Arial"/>
                <a:cs typeface="Arial"/>
              </a:rPr>
              <a:t> </a:t>
            </a:r>
            <a:r>
              <a:rPr dirty="0" sz="2150" spc="55">
                <a:solidFill>
                  <a:srgbClr val="282624"/>
                </a:solidFill>
                <a:latin typeface="Arial"/>
                <a:cs typeface="Arial"/>
              </a:rPr>
              <a:t>in</a:t>
            </a:r>
            <a:r>
              <a:rPr dirty="0" sz="2150" spc="-320">
                <a:solidFill>
                  <a:srgbClr val="282624"/>
                </a:solidFill>
                <a:latin typeface="Arial"/>
                <a:cs typeface="Arial"/>
              </a:rPr>
              <a:t> </a:t>
            </a:r>
            <a:r>
              <a:rPr dirty="0" sz="2150" spc="-165">
                <a:solidFill>
                  <a:srgbClr val="282624"/>
                </a:solidFill>
                <a:latin typeface="Arial"/>
                <a:cs typeface="Arial"/>
              </a:rPr>
              <a:t>OpenSSH.</a:t>
            </a:r>
            <a:endParaRPr sz="21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576997" y="8572797"/>
            <a:ext cx="6265545" cy="6997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R="10160">
              <a:lnSpc>
                <a:spcPct val="100000"/>
              </a:lnSpc>
              <a:spcBef>
                <a:spcPts val="110"/>
              </a:spcBef>
            </a:pPr>
            <a:r>
              <a:rPr dirty="0" sz="2150" spc="-85">
                <a:solidFill>
                  <a:srgbClr val="0C0C0A"/>
                </a:solidFill>
                <a:latin typeface="Arial"/>
                <a:cs typeface="Arial"/>
              </a:rPr>
              <a:t>M</a:t>
            </a:r>
            <a:r>
              <a:rPr dirty="0" sz="2150" spc="-85">
                <a:solidFill>
                  <a:srgbClr val="282624"/>
                </a:solidFill>
                <a:latin typeface="Arial"/>
                <a:cs typeface="Arial"/>
              </a:rPr>
              <a:t>arch</a:t>
            </a:r>
            <a:r>
              <a:rPr dirty="0" sz="2150" spc="-300">
                <a:solidFill>
                  <a:srgbClr val="282624"/>
                </a:solidFill>
                <a:latin typeface="Arial"/>
                <a:cs typeface="Arial"/>
              </a:rPr>
              <a:t> </a:t>
            </a:r>
            <a:r>
              <a:rPr dirty="0" sz="2150" spc="-135">
                <a:solidFill>
                  <a:srgbClr val="0C0C0A"/>
                </a:solidFill>
                <a:latin typeface="Arial"/>
                <a:cs typeface="Arial"/>
              </a:rPr>
              <a:t>2</a:t>
            </a:r>
            <a:r>
              <a:rPr dirty="0" sz="2150" spc="-135">
                <a:solidFill>
                  <a:srgbClr val="282624"/>
                </a:solidFill>
                <a:latin typeface="Arial"/>
                <a:cs typeface="Arial"/>
              </a:rPr>
              <a:t>9,</a:t>
            </a:r>
            <a:r>
              <a:rPr dirty="0" sz="2150" spc="-200">
                <a:solidFill>
                  <a:srgbClr val="282624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282624"/>
                </a:solidFill>
                <a:latin typeface="Arial"/>
                <a:cs typeface="Arial"/>
              </a:rPr>
              <a:t>2024</a:t>
            </a:r>
            <a:endParaRPr sz="21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2150" spc="-140">
                <a:solidFill>
                  <a:srgbClr val="282624"/>
                </a:solidFill>
                <a:latin typeface="Arial"/>
                <a:cs typeface="Arial"/>
              </a:rPr>
              <a:t>X</a:t>
            </a:r>
            <a:r>
              <a:rPr dirty="0" sz="2150" spc="-140">
                <a:solidFill>
                  <a:srgbClr val="0C0C0A"/>
                </a:solidFill>
                <a:latin typeface="Arial"/>
                <a:cs typeface="Arial"/>
              </a:rPr>
              <a:t>Z</a:t>
            </a:r>
            <a:r>
              <a:rPr dirty="0" sz="2150" spc="-28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150" spc="-120">
                <a:solidFill>
                  <a:srgbClr val="282624"/>
                </a:solidFill>
                <a:latin typeface="Arial"/>
                <a:cs typeface="Arial"/>
              </a:rPr>
              <a:t>Backdoo</a:t>
            </a:r>
            <a:r>
              <a:rPr dirty="0" sz="2150" spc="-120">
                <a:solidFill>
                  <a:srgbClr val="0C0C0A"/>
                </a:solidFill>
                <a:latin typeface="Arial"/>
                <a:cs typeface="Arial"/>
              </a:rPr>
              <a:t>r</a:t>
            </a:r>
            <a:r>
              <a:rPr dirty="0" sz="2150" spc="-16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150" spc="-40">
                <a:solidFill>
                  <a:srgbClr val="282624"/>
                </a:solidFill>
                <a:latin typeface="Arial"/>
                <a:cs typeface="Arial"/>
              </a:rPr>
              <a:t>is</a:t>
            </a:r>
            <a:r>
              <a:rPr dirty="0" sz="2150" spc="-140">
                <a:solidFill>
                  <a:srgbClr val="282624"/>
                </a:solidFill>
                <a:latin typeface="Arial"/>
                <a:cs typeface="Arial"/>
              </a:rPr>
              <a:t> </a:t>
            </a:r>
            <a:r>
              <a:rPr dirty="0" sz="2150" spc="-105">
                <a:solidFill>
                  <a:srgbClr val="282624"/>
                </a:solidFill>
                <a:latin typeface="Arial"/>
                <a:cs typeface="Arial"/>
              </a:rPr>
              <a:t>disco</a:t>
            </a:r>
            <a:r>
              <a:rPr dirty="0" sz="2150" spc="-105">
                <a:solidFill>
                  <a:srgbClr val="0C0C0A"/>
                </a:solidFill>
                <a:latin typeface="Arial"/>
                <a:cs typeface="Arial"/>
              </a:rPr>
              <a:t>v</a:t>
            </a:r>
            <a:r>
              <a:rPr dirty="0" sz="2150" spc="-105">
                <a:solidFill>
                  <a:srgbClr val="282624"/>
                </a:solidFill>
                <a:latin typeface="Arial"/>
                <a:cs typeface="Arial"/>
              </a:rPr>
              <a:t>e</a:t>
            </a:r>
            <a:r>
              <a:rPr dirty="0" sz="2150" spc="-105">
                <a:solidFill>
                  <a:srgbClr val="0C0C0A"/>
                </a:solidFill>
                <a:latin typeface="Arial"/>
                <a:cs typeface="Arial"/>
              </a:rPr>
              <a:t>r</a:t>
            </a:r>
            <a:r>
              <a:rPr dirty="0" sz="2150" spc="-105">
                <a:solidFill>
                  <a:srgbClr val="282624"/>
                </a:solidFill>
                <a:latin typeface="Arial"/>
                <a:cs typeface="Arial"/>
              </a:rPr>
              <a:t>ed.RLC</a:t>
            </a:r>
            <a:r>
              <a:rPr dirty="0" sz="2150" spc="-105">
                <a:solidFill>
                  <a:srgbClr val="0C0C0A"/>
                </a:solidFill>
                <a:latin typeface="Arial"/>
                <a:cs typeface="Arial"/>
              </a:rPr>
              <a:t>-</a:t>
            </a:r>
            <a:r>
              <a:rPr dirty="0" sz="2150" spc="-65">
                <a:solidFill>
                  <a:srgbClr val="0C0C0A"/>
                </a:solidFill>
                <a:latin typeface="Arial"/>
                <a:cs typeface="Arial"/>
              </a:rPr>
              <a:t>Hw</a:t>
            </a:r>
            <a:r>
              <a:rPr dirty="0" sz="2150" spc="-65">
                <a:solidFill>
                  <a:srgbClr val="282624"/>
                </a:solidFill>
                <a:latin typeface="Arial"/>
                <a:cs typeface="Arial"/>
              </a:rPr>
              <a:t>asalready</a:t>
            </a:r>
            <a:r>
              <a:rPr dirty="0" sz="2150" spc="-50">
                <a:solidFill>
                  <a:srgbClr val="282624"/>
                </a:solidFill>
                <a:latin typeface="Arial"/>
                <a:cs typeface="Arial"/>
              </a:rPr>
              <a:t> </a:t>
            </a:r>
            <a:r>
              <a:rPr dirty="0" sz="2150" spc="-40">
                <a:solidFill>
                  <a:srgbClr val="282624"/>
                </a:solidFill>
                <a:latin typeface="Arial"/>
                <a:cs typeface="Arial"/>
              </a:rPr>
              <a:t>protecte</a:t>
            </a:r>
            <a:r>
              <a:rPr dirty="0" sz="2150" spc="-40">
                <a:solidFill>
                  <a:srgbClr val="0C0C0A"/>
                </a:solidFill>
                <a:latin typeface="Arial"/>
                <a:cs typeface="Arial"/>
              </a:rPr>
              <a:t>d</a:t>
            </a:r>
            <a:r>
              <a:rPr dirty="0" sz="2150" spc="-40">
                <a:solidFill>
                  <a:srgbClr val="282624"/>
                </a:solidFill>
                <a:latin typeface="Arial"/>
                <a:cs typeface="Arial"/>
              </a:rPr>
              <a:t>.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688" y="6638660"/>
            <a:ext cx="764215" cy="10723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5799" y="6638660"/>
            <a:ext cx="840636" cy="10723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3804" y="6613128"/>
            <a:ext cx="1018953" cy="112342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71266" y="6868448"/>
            <a:ext cx="0" cy="664210"/>
          </a:xfrm>
          <a:custGeom>
            <a:avLst/>
            <a:gdLst/>
            <a:ahLst/>
            <a:cxnLst/>
            <a:rect l="l" t="t" r="r" b="b"/>
            <a:pathLst>
              <a:path w="0" h="664209">
                <a:moveTo>
                  <a:pt x="0" y="66383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1266" y="4187559"/>
            <a:ext cx="0" cy="1455420"/>
          </a:xfrm>
          <a:custGeom>
            <a:avLst/>
            <a:gdLst/>
            <a:ahLst/>
            <a:cxnLst/>
            <a:rect l="l" t="t" r="r" b="b"/>
            <a:pathLst>
              <a:path w="0" h="1455420">
                <a:moveTo>
                  <a:pt x="0" y="145534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1266" y="3191800"/>
            <a:ext cx="0" cy="842644"/>
          </a:xfrm>
          <a:custGeom>
            <a:avLst/>
            <a:gdLst/>
            <a:ahLst/>
            <a:cxnLst/>
            <a:rect l="l" t="t" r="r" b="b"/>
            <a:pathLst>
              <a:path w="0" h="842645">
                <a:moveTo>
                  <a:pt x="0" y="84256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1266" y="2732219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33509" y="6179077"/>
            <a:ext cx="0" cy="2425700"/>
          </a:xfrm>
          <a:custGeom>
            <a:avLst/>
            <a:gdLst/>
            <a:ahLst/>
            <a:cxnLst/>
            <a:rect l="l" t="t" r="r" b="b"/>
            <a:pathLst>
              <a:path w="0" h="2425700">
                <a:moveTo>
                  <a:pt x="0" y="242556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539649" y="6179077"/>
            <a:ext cx="0" cy="2425700"/>
          </a:xfrm>
          <a:custGeom>
            <a:avLst/>
            <a:gdLst/>
            <a:ahLst/>
            <a:cxnLst/>
            <a:rect l="l" t="t" r="r" b="b"/>
            <a:pathLst>
              <a:path w="0" h="2425700">
                <a:moveTo>
                  <a:pt x="0" y="242556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85500" y="314379"/>
            <a:ext cx="11129645" cy="136588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760"/>
              </a:spcBef>
            </a:pPr>
            <a:r>
              <a:rPr dirty="0" sz="3200">
                <a:solidFill>
                  <a:srgbClr val="050505"/>
                </a:solidFill>
                <a:latin typeface="Arial"/>
                <a:cs typeface="Arial"/>
              </a:rPr>
              <a:t>From</a:t>
            </a:r>
            <a:r>
              <a:rPr dirty="0" sz="3200" spc="6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200" spc="70">
                <a:solidFill>
                  <a:srgbClr val="050505"/>
                </a:solidFill>
                <a:latin typeface="Arial"/>
                <a:cs typeface="Arial"/>
              </a:rPr>
              <a:t>Patching</a:t>
            </a:r>
            <a:r>
              <a:rPr dirty="0" sz="3200" spc="8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050505"/>
                </a:solidFill>
                <a:latin typeface="Arial"/>
                <a:cs typeface="Arial"/>
              </a:rPr>
              <a:t>CVEs</a:t>
            </a:r>
            <a:r>
              <a:rPr dirty="0" sz="3200" spc="6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050505"/>
                </a:solidFill>
                <a:latin typeface="Arial"/>
                <a:cs typeface="Arial"/>
              </a:rPr>
              <a:t>to</a:t>
            </a:r>
            <a:r>
              <a:rPr dirty="0" sz="3200" spc="48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050505"/>
                </a:solidFill>
                <a:latin typeface="Arial"/>
                <a:cs typeface="Arial"/>
              </a:rPr>
              <a:t>Eliminating</a:t>
            </a:r>
            <a:r>
              <a:rPr dirty="0" sz="3200" spc="31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200" spc="50">
                <a:solidFill>
                  <a:srgbClr val="050505"/>
                </a:solidFill>
                <a:latin typeface="Arial"/>
                <a:cs typeface="Arial"/>
              </a:rPr>
              <a:t>Vulnerability</a:t>
            </a:r>
            <a:r>
              <a:rPr dirty="0" sz="3200" spc="42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050505"/>
                </a:solidFill>
                <a:latin typeface="Arial"/>
                <a:cs typeface="Arial"/>
              </a:rPr>
              <a:t>Classes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2300" spc="-55">
                <a:solidFill>
                  <a:srgbClr val="282824"/>
                </a:solidFill>
                <a:latin typeface="Times New Roman"/>
                <a:cs typeface="Times New Roman"/>
              </a:rPr>
              <a:t>A</a:t>
            </a:r>
            <a:r>
              <a:rPr dirty="0" sz="2300" spc="-10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161613"/>
                </a:solidFill>
                <a:latin typeface="Times New Roman"/>
                <a:cs typeface="Times New Roman"/>
              </a:rPr>
              <a:t>reactive</a:t>
            </a:r>
            <a:r>
              <a:rPr dirty="0" sz="2300" spc="-25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dirty="0" sz="2300" spc="50">
                <a:solidFill>
                  <a:srgbClr val="161613"/>
                </a:solidFill>
                <a:latin typeface="Times New Roman"/>
                <a:cs typeface="Times New Roman"/>
              </a:rPr>
              <a:t>strategy</a:t>
            </a:r>
            <a:r>
              <a:rPr dirty="0" sz="230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dirty="0" sz="2300" spc="100">
                <a:solidFill>
                  <a:srgbClr val="282824"/>
                </a:solidFill>
                <a:latin typeface="Times New Roman"/>
                <a:cs typeface="Times New Roman"/>
              </a:rPr>
              <a:t>means</a:t>
            </a:r>
            <a:r>
              <a:rPr dirty="0" sz="2300" spc="-4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95">
                <a:solidFill>
                  <a:srgbClr val="161613"/>
                </a:solidFill>
                <a:latin typeface="Times New Roman"/>
                <a:cs typeface="Times New Roman"/>
              </a:rPr>
              <a:t>an</a:t>
            </a:r>
            <a:r>
              <a:rPr dirty="0" sz="2300" spc="-5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dirty="0" sz="2300" spc="60">
                <a:solidFill>
                  <a:srgbClr val="282824"/>
                </a:solidFill>
                <a:latin typeface="Times New Roman"/>
                <a:cs typeface="Times New Roman"/>
              </a:rPr>
              <a:t>endless</a:t>
            </a:r>
            <a:r>
              <a:rPr dirty="0" sz="2300" spc="-2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cycle</a:t>
            </a:r>
            <a:r>
              <a:rPr dirty="0" sz="2300" spc="-1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161613"/>
                </a:solidFill>
                <a:latin typeface="Times New Roman"/>
                <a:cs typeface="Times New Roman"/>
              </a:rPr>
              <a:t>of</a:t>
            </a:r>
            <a:r>
              <a:rPr dirty="0" sz="2300" spc="3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161613"/>
                </a:solidFill>
                <a:latin typeface="Times New Roman"/>
                <a:cs typeface="Times New Roman"/>
              </a:rPr>
              <a:t>patching</a:t>
            </a:r>
            <a:r>
              <a:rPr dirty="0" sz="2300" spc="35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individual</a:t>
            </a:r>
            <a:r>
              <a:rPr dirty="0" sz="2300" spc="254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282824"/>
                </a:solidFill>
                <a:latin typeface="Times New Roman"/>
                <a:cs typeface="Times New Roman"/>
              </a:rPr>
              <a:t>bugs</a:t>
            </a:r>
            <a:r>
              <a:rPr dirty="0" sz="2300" spc="-10">
                <a:solidFill>
                  <a:srgbClr val="050505"/>
                </a:solidFill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2300" spc="-55">
                <a:solidFill>
                  <a:srgbClr val="282824"/>
                </a:solidFill>
                <a:latin typeface="Times New Roman"/>
                <a:cs typeface="Times New Roman"/>
              </a:rPr>
              <a:t>A</a:t>
            </a:r>
            <a:r>
              <a:rPr dirty="0" sz="2300" spc="-10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proact</a:t>
            </a:r>
            <a:r>
              <a:rPr dirty="0" sz="2300">
                <a:solidFill>
                  <a:srgbClr val="050505"/>
                </a:solidFill>
                <a:latin typeface="Times New Roman"/>
                <a:cs typeface="Times New Roman"/>
              </a:rPr>
              <a:t>i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ve</a:t>
            </a:r>
            <a:r>
              <a:rPr dirty="0" sz="2300" spc="-13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50">
                <a:solidFill>
                  <a:srgbClr val="282824"/>
                </a:solidFill>
                <a:latin typeface="Times New Roman"/>
                <a:cs typeface="Times New Roman"/>
              </a:rPr>
              <a:t>strategy</a:t>
            </a:r>
            <a:r>
              <a:rPr dirty="0" sz="2300" spc="1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50">
                <a:solidFill>
                  <a:srgbClr val="282824"/>
                </a:solidFill>
                <a:latin typeface="Times New Roman"/>
                <a:cs typeface="Times New Roman"/>
              </a:rPr>
              <a:t>eliminates</a:t>
            </a:r>
            <a:r>
              <a:rPr dirty="0" sz="2300" spc="-6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50">
                <a:solidFill>
                  <a:srgbClr val="161613"/>
                </a:solidFill>
                <a:latin typeface="Times New Roman"/>
                <a:cs typeface="Times New Roman"/>
              </a:rPr>
              <a:t>the</a:t>
            </a:r>
            <a:r>
              <a:rPr dirty="0" sz="2300" spc="75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dirty="0" sz="2300" spc="80">
                <a:solidFill>
                  <a:srgbClr val="282824"/>
                </a:solidFill>
                <a:latin typeface="Times New Roman"/>
                <a:cs typeface="Times New Roman"/>
              </a:rPr>
              <a:t>entire</a:t>
            </a:r>
            <a:r>
              <a:rPr dirty="0" sz="2300" spc="-5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attack </a:t>
            </a:r>
            <a:r>
              <a:rPr dirty="0" sz="2300" spc="45">
                <a:solidFill>
                  <a:srgbClr val="282824"/>
                </a:solidFill>
                <a:latin typeface="Times New Roman"/>
                <a:cs typeface="Times New Roman"/>
              </a:rPr>
              <a:t>s</a:t>
            </a:r>
            <a:r>
              <a:rPr dirty="0" sz="2300" spc="45">
                <a:solidFill>
                  <a:srgbClr val="050505"/>
                </a:solidFill>
                <a:latin typeface="Times New Roman"/>
                <a:cs typeface="Times New Roman"/>
              </a:rPr>
              <a:t>u</a:t>
            </a:r>
            <a:r>
              <a:rPr dirty="0" sz="2300" spc="45">
                <a:solidFill>
                  <a:srgbClr val="282824"/>
                </a:solidFill>
                <a:latin typeface="Times New Roman"/>
                <a:cs typeface="Times New Roman"/>
              </a:rPr>
              <a:t>rface</a:t>
            </a:r>
            <a:r>
              <a:rPr dirty="0" sz="2300" spc="2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80">
                <a:solidFill>
                  <a:srgbClr val="282824"/>
                </a:solidFill>
                <a:latin typeface="Times New Roman"/>
                <a:cs typeface="Times New Roman"/>
              </a:rPr>
              <a:t>for</a:t>
            </a:r>
            <a:r>
              <a:rPr dirty="0" sz="2300" spc="-13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65">
                <a:solidFill>
                  <a:srgbClr val="282824"/>
                </a:solidFill>
                <a:latin typeface="Times New Roman"/>
                <a:cs typeface="Times New Roman"/>
              </a:rPr>
              <a:t>enti</a:t>
            </a:r>
            <a:r>
              <a:rPr dirty="0" sz="2300" spc="65">
                <a:solidFill>
                  <a:srgbClr val="050505"/>
                </a:solidFill>
                <a:latin typeface="Times New Roman"/>
                <a:cs typeface="Times New Roman"/>
              </a:rPr>
              <a:t>r</a:t>
            </a:r>
            <a:r>
              <a:rPr dirty="0" sz="2300" spc="65">
                <a:solidFill>
                  <a:srgbClr val="282824"/>
                </a:solidFill>
                <a:latin typeface="Times New Roman"/>
                <a:cs typeface="Times New Roman"/>
              </a:rPr>
              <a:t>e</a:t>
            </a:r>
            <a:r>
              <a:rPr dirty="0" sz="2300" spc="3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c</a:t>
            </a:r>
            <a:r>
              <a:rPr dirty="0" sz="2300">
                <a:solidFill>
                  <a:srgbClr val="050505"/>
                </a:solidFill>
                <a:latin typeface="Times New Roman"/>
                <a:cs typeface="Times New Roman"/>
              </a:rPr>
              <a:t>l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asses</a:t>
            </a:r>
            <a:r>
              <a:rPr dirty="0" sz="2300" spc="5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161613"/>
                </a:solidFill>
                <a:latin typeface="Times New Roman"/>
                <a:cs typeface="Times New Roman"/>
              </a:rPr>
              <a:t>of</a:t>
            </a:r>
            <a:r>
              <a:rPr dirty="0" sz="2300" spc="-4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dirty="0" sz="2300" spc="35">
                <a:solidFill>
                  <a:srgbClr val="282824"/>
                </a:solidFill>
                <a:latin typeface="Times New Roman"/>
                <a:cs typeface="Times New Roman"/>
              </a:rPr>
              <a:t>vu</a:t>
            </a:r>
            <a:r>
              <a:rPr dirty="0" sz="2300" spc="35">
                <a:solidFill>
                  <a:srgbClr val="050505"/>
                </a:solidFill>
                <a:latin typeface="Times New Roman"/>
                <a:cs typeface="Times New Roman"/>
              </a:rPr>
              <a:t>ln</a:t>
            </a:r>
            <a:r>
              <a:rPr dirty="0" sz="2300" spc="35">
                <a:solidFill>
                  <a:srgbClr val="282824"/>
                </a:solidFill>
                <a:latin typeface="Times New Roman"/>
                <a:cs typeface="Times New Roman"/>
              </a:rPr>
              <a:t>erabilit</a:t>
            </a:r>
            <a:r>
              <a:rPr dirty="0" sz="2300" spc="35">
                <a:solidFill>
                  <a:srgbClr val="050505"/>
                </a:solidFill>
                <a:latin typeface="Times New Roman"/>
                <a:cs typeface="Times New Roman"/>
              </a:rPr>
              <a:t>i</a:t>
            </a:r>
            <a:r>
              <a:rPr dirty="0" sz="2300" spc="35">
                <a:solidFill>
                  <a:srgbClr val="282824"/>
                </a:solidFill>
                <a:latin typeface="Times New Roman"/>
                <a:cs typeface="Times New Roman"/>
              </a:rPr>
              <a:t>es.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147783" y="9418922"/>
            <a:ext cx="125476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B3B38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3B3B3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61613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7272" y="1815166"/>
            <a:ext cx="7252970" cy="3879215"/>
          </a:xfrm>
          <a:prstGeom prst="rect">
            <a:avLst/>
          </a:prstGeom>
        </p:spPr>
        <p:txBody>
          <a:bodyPr wrap="square" lIns="0" tIns="216535" rIns="0" bIns="0" rtlCol="0" vert="horz">
            <a:spAutoFit/>
          </a:bodyPr>
          <a:lstStyle/>
          <a:p>
            <a:pPr algn="ctr" marR="80010">
              <a:lnSpc>
                <a:spcPct val="100000"/>
              </a:lnSpc>
              <a:spcBef>
                <a:spcPts val="1705"/>
              </a:spcBef>
            </a:pPr>
            <a:r>
              <a:rPr dirty="0" sz="2700" spc="-95" b="1">
                <a:solidFill>
                  <a:srgbClr val="050505"/>
                </a:solidFill>
                <a:latin typeface="Arial"/>
                <a:cs typeface="Arial"/>
              </a:rPr>
              <a:t>Standard</a:t>
            </a:r>
            <a:r>
              <a:rPr dirty="0" sz="2700" spc="-3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050505"/>
                </a:solidFill>
                <a:latin typeface="Arial"/>
                <a:cs typeface="Arial"/>
              </a:rPr>
              <a:t>OpenSSH</a:t>
            </a:r>
            <a:endParaRPr sz="2700">
              <a:latin typeface="Arial"/>
              <a:cs typeface="Arial"/>
            </a:endParaRPr>
          </a:p>
          <a:p>
            <a:pPr marL="88900" marR="228600" indent="381635">
              <a:lnSpc>
                <a:spcPct val="83800"/>
              </a:lnSpc>
              <a:spcBef>
                <a:spcPts val="2370"/>
              </a:spcBef>
              <a:tabLst>
                <a:tab pos="1540510" algn="l"/>
                <a:tab pos="1617345" algn="l"/>
                <a:tab pos="2470785" algn="l"/>
                <a:tab pos="2980055" algn="l"/>
                <a:tab pos="4291965" algn="l"/>
                <a:tab pos="4406265" algn="l"/>
                <a:tab pos="5438140" algn="l"/>
              </a:tabLst>
            </a:pPr>
            <a:r>
              <a:rPr dirty="0" sz="3000" spc="130">
                <a:solidFill>
                  <a:srgbClr val="793A2F"/>
                </a:solidFill>
                <a:latin typeface="Arial"/>
                <a:cs typeface="Arial"/>
              </a:rPr>
              <a:t>libkrb5</a:t>
            </a:r>
            <a:r>
              <a:rPr dirty="0" sz="3000" spc="409">
                <a:solidFill>
                  <a:srgbClr val="793A2F"/>
                </a:solidFill>
                <a:latin typeface="Arial"/>
                <a:cs typeface="Arial"/>
              </a:rPr>
              <a:t> </a:t>
            </a:r>
            <a:r>
              <a:rPr dirty="0" sz="3000" spc="100">
                <a:solidFill>
                  <a:srgbClr val="793A2F"/>
                </a:solidFill>
                <a:latin typeface="Arial"/>
                <a:cs typeface="Arial"/>
              </a:rPr>
              <a:t>libgssapi_krb5 </a:t>
            </a:r>
            <a:r>
              <a:rPr dirty="0" sz="3000" spc="110">
                <a:solidFill>
                  <a:srgbClr val="793A2F"/>
                </a:solidFill>
                <a:latin typeface="Arial"/>
                <a:cs typeface="Arial"/>
              </a:rPr>
              <a:t>libsystemd </a:t>
            </a:r>
            <a:r>
              <a:rPr dirty="0" sz="3000" spc="75">
                <a:solidFill>
                  <a:srgbClr val="793A2F"/>
                </a:solidFill>
                <a:latin typeface="Arial"/>
                <a:cs typeface="Arial"/>
              </a:rPr>
              <a:t>liblzma</a:t>
            </a:r>
            <a:r>
              <a:rPr dirty="0" sz="3000">
                <a:solidFill>
                  <a:srgbClr val="793A2F"/>
                </a:solidFill>
                <a:latin typeface="Arial"/>
                <a:cs typeface="Arial"/>
              </a:rPr>
              <a:t>	</a:t>
            </a:r>
            <a:r>
              <a:rPr dirty="0" sz="3000" spc="65">
                <a:solidFill>
                  <a:srgbClr val="793A2F"/>
                </a:solidFill>
                <a:latin typeface="Arial"/>
                <a:cs typeface="Arial"/>
              </a:rPr>
              <a:t>liblzma</a:t>
            </a:r>
            <a:r>
              <a:rPr dirty="0" sz="3000">
                <a:solidFill>
                  <a:srgbClr val="793A2F"/>
                </a:solidFill>
                <a:latin typeface="Arial"/>
                <a:cs typeface="Arial"/>
              </a:rPr>
              <a:t>	</a:t>
            </a:r>
            <a:r>
              <a:rPr dirty="0" sz="3000" spc="114">
                <a:solidFill>
                  <a:srgbClr val="793A2F"/>
                </a:solidFill>
                <a:latin typeface="Arial"/>
                <a:cs typeface="Arial"/>
              </a:rPr>
              <a:t>libzstd</a:t>
            </a:r>
            <a:r>
              <a:rPr dirty="0" sz="3000">
                <a:solidFill>
                  <a:srgbClr val="793A2F"/>
                </a:solidFill>
                <a:latin typeface="Arial"/>
                <a:cs typeface="Arial"/>
              </a:rPr>
              <a:t>		</a:t>
            </a:r>
            <a:r>
              <a:rPr dirty="0" sz="3000" spc="85">
                <a:solidFill>
                  <a:srgbClr val="7B8083"/>
                </a:solidFill>
                <a:latin typeface="Arial"/>
                <a:cs typeface="Arial"/>
              </a:rPr>
              <a:t>libncma </a:t>
            </a:r>
            <a:r>
              <a:rPr dirty="0" sz="3000" spc="80">
                <a:solidFill>
                  <a:srgbClr val="7B8083"/>
                </a:solidFill>
                <a:latin typeface="Arial"/>
                <a:cs typeface="Arial"/>
              </a:rPr>
              <a:t>libnarel</a:t>
            </a:r>
            <a:r>
              <a:rPr dirty="0" sz="3000">
                <a:solidFill>
                  <a:srgbClr val="7B8083"/>
                </a:solidFill>
                <a:latin typeface="Arial"/>
                <a:cs typeface="Arial"/>
              </a:rPr>
              <a:t>		</a:t>
            </a:r>
            <a:r>
              <a:rPr dirty="0" sz="3000" spc="90">
                <a:solidFill>
                  <a:srgbClr val="7B8083"/>
                </a:solidFill>
                <a:latin typeface="Arial"/>
                <a:cs typeface="Arial"/>
              </a:rPr>
              <a:t>libc</a:t>
            </a:r>
            <a:r>
              <a:rPr dirty="0" sz="3000">
                <a:solidFill>
                  <a:srgbClr val="7B8083"/>
                </a:solidFill>
                <a:latin typeface="Arial"/>
                <a:cs typeface="Arial"/>
              </a:rPr>
              <a:t>	</a:t>
            </a:r>
            <a:r>
              <a:rPr dirty="0" sz="3000" spc="130">
                <a:solidFill>
                  <a:srgbClr val="7B8083"/>
                </a:solidFill>
                <a:latin typeface="Arial"/>
                <a:cs typeface="Arial"/>
              </a:rPr>
              <a:t>libcrypto</a:t>
            </a:r>
            <a:r>
              <a:rPr dirty="0" sz="3000">
                <a:solidFill>
                  <a:srgbClr val="7B8083"/>
                </a:solidFill>
                <a:latin typeface="Arial"/>
                <a:cs typeface="Arial"/>
              </a:rPr>
              <a:t>	</a:t>
            </a:r>
            <a:r>
              <a:rPr dirty="0" sz="3000" spc="95">
                <a:solidFill>
                  <a:srgbClr val="7B8083"/>
                </a:solidFill>
                <a:latin typeface="Arial"/>
                <a:cs typeface="Arial"/>
              </a:rPr>
              <a:t>libssl</a:t>
            </a:r>
            <a:r>
              <a:rPr dirty="0" sz="3000">
                <a:solidFill>
                  <a:srgbClr val="7B8083"/>
                </a:solidFill>
                <a:latin typeface="Arial"/>
                <a:cs typeface="Arial"/>
              </a:rPr>
              <a:t>	</a:t>
            </a:r>
            <a:r>
              <a:rPr dirty="0" sz="3000" spc="85">
                <a:solidFill>
                  <a:srgbClr val="7B8083"/>
                </a:solidFill>
                <a:latin typeface="Arial"/>
                <a:cs typeface="Arial"/>
              </a:rPr>
              <a:t>libresolv</a:t>
            </a:r>
            <a:endParaRPr sz="3000">
              <a:latin typeface="Arial"/>
              <a:cs typeface="Arial"/>
            </a:endParaRPr>
          </a:p>
          <a:p>
            <a:pPr algn="ctr" marL="48260">
              <a:lnSpc>
                <a:spcPts val="2470"/>
              </a:lnSpc>
              <a:tabLst>
                <a:tab pos="1207135" algn="l"/>
                <a:tab pos="2760980" algn="l"/>
                <a:tab pos="3703320" algn="l"/>
                <a:tab pos="5805170" algn="l"/>
              </a:tabLst>
            </a:pPr>
            <a:r>
              <a:rPr dirty="0" sz="3000" spc="75">
                <a:solidFill>
                  <a:srgbClr val="7B8083"/>
                </a:solidFill>
                <a:latin typeface="Arial"/>
                <a:cs typeface="Arial"/>
              </a:rPr>
              <a:t>libnsl</a:t>
            </a:r>
            <a:r>
              <a:rPr dirty="0" sz="3000">
                <a:solidFill>
                  <a:srgbClr val="7B8083"/>
                </a:solidFill>
                <a:latin typeface="Arial"/>
                <a:cs typeface="Arial"/>
              </a:rPr>
              <a:t>	</a:t>
            </a:r>
            <a:r>
              <a:rPr dirty="0" sz="3000" spc="125">
                <a:solidFill>
                  <a:srgbClr val="7B8083"/>
                </a:solidFill>
                <a:latin typeface="Arial"/>
                <a:cs typeface="Arial"/>
              </a:rPr>
              <a:t>libcrypt</a:t>
            </a:r>
            <a:r>
              <a:rPr dirty="0" sz="3000">
                <a:solidFill>
                  <a:srgbClr val="7B8083"/>
                </a:solidFill>
                <a:latin typeface="Arial"/>
                <a:cs typeface="Arial"/>
              </a:rPr>
              <a:t>	</a:t>
            </a:r>
            <a:r>
              <a:rPr dirty="0" sz="3000" spc="110">
                <a:solidFill>
                  <a:srgbClr val="7B8083"/>
                </a:solidFill>
                <a:latin typeface="Arial"/>
                <a:cs typeface="Arial"/>
              </a:rPr>
              <a:t>libdl</a:t>
            </a:r>
            <a:r>
              <a:rPr dirty="0" sz="3000">
                <a:solidFill>
                  <a:srgbClr val="7B8083"/>
                </a:solidFill>
                <a:latin typeface="Arial"/>
                <a:cs typeface="Arial"/>
              </a:rPr>
              <a:t>	</a:t>
            </a:r>
            <a:r>
              <a:rPr dirty="0" sz="3000" spc="100">
                <a:solidFill>
                  <a:srgbClr val="7B8083"/>
                </a:solidFill>
                <a:latin typeface="Arial"/>
                <a:cs typeface="Arial"/>
              </a:rPr>
              <a:t>libpthread</a:t>
            </a:r>
            <a:r>
              <a:rPr dirty="0" sz="3000">
                <a:solidFill>
                  <a:srgbClr val="7B8083"/>
                </a:solidFill>
                <a:latin typeface="Arial"/>
                <a:cs typeface="Arial"/>
              </a:rPr>
              <a:t>	</a:t>
            </a:r>
            <a:r>
              <a:rPr dirty="0" sz="3000" spc="110">
                <a:solidFill>
                  <a:srgbClr val="7B8083"/>
                </a:solidFill>
                <a:latin typeface="Arial"/>
                <a:cs typeface="Arial"/>
              </a:rPr>
              <a:t>libutil</a:t>
            </a:r>
            <a:endParaRPr sz="3000">
              <a:latin typeface="Arial"/>
              <a:cs typeface="Arial"/>
            </a:endParaRPr>
          </a:p>
          <a:p>
            <a:pPr algn="ctr" marL="12065" marR="5080">
              <a:lnSpc>
                <a:spcPts val="2920"/>
              </a:lnSpc>
              <a:spcBef>
                <a:spcPts val="320"/>
              </a:spcBef>
              <a:tabLst>
                <a:tab pos="2254250" algn="l"/>
                <a:tab pos="4024629" algn="l"/>
                <a:tab pos="5735955" algn="l"/>
              </a:tabLst>
            </a:pPr>
            <a:r>
              <a:rPr dirty="0" sz="3000" spc="120">
                <a:solidFill>
                  <a:srgbClr val="7B8083"/>
                </a:solidFill>
                <a:latin typeface="Arial"/>
                <a:cs typeface="Arial"/>
              </a:rPr>
              <a:t>librt</a:t>
            </a:r>
            <a:r>
              <a:rPr dirty="0" sz="3000" spc="335">
                <a:solidFill>
                  <a:srgbClr val="7B8083"/>
                </a:solidFill>
                <a:latin typeface="Arial"/>
                <a:cs typeface="Arial"/>
              </a:rPr>
              <a:t> </a:t>
            </a:r>
            <a:r>
              <a:rPr dirty="0" sz="3000" spc="114">
                <a:solidFill>
                  <a:srgbClr val="7B8083"/>
                </a:solidFill>
                <a:latin typeface="Arial"/>
                <a:cs typeface="Arial"/>
              </a:rPr>
              <a:t>libpam</a:t>
            </a:r>
            <a:r>
              <a:rPr dirty="0" sz="3000" spc="170">
                <a:solidFill>
                  <a:srgbClr val="7B8083"/>
                </a:solidFill>
                <a:latin typeface="Arial"/>
                <a:cs typeface="Arial"/>
              </a:rPr>
              <a:t> </a:t>
            </a:r>
            <a:r>
              <a:rPr dirty="0" sz="3000" spc="-35">
                <a:solidFill>
                  <a:srgbClr val="7B8083"/>
                </a:solidFill>
                <a:latin typeface="Arial"/>
                <a:cs typeface="Arial"/>
              </a:rPr>
              <a:t>liqselinl:JX.</a:t>
            </a:r>
            <a:r>
              <a:rPr dirty="0" sz="3000" spc="40">
                <a:solidFill>
                  <a:srgbClr val="7B8083"/>
                </a:solidFill>
                <a:latin typeface="Arial"/>
                <a:cs typeface="Arial"/>
              </a:rPr>
              <a:t> </a:t>
            </a:r>
            <a:r>
              <a:rPr dirty="0" sz="3000" spc="95">
                <a:solidFill>
                  <a:srgbClr val="7B8083"/>
                </a:solidFill>
                <a:latin typeface="Arial"/>
                <a:cs typeface="Arial"/>
              </a:rPr>
              <a:t>libsepol</a:t>
            </a:r>
            <a:r>
              <a:rPr dirty="0" sz="3000">
                <a:solidFill>
                  <a:srgbClr val="7B8083"/>
                </a:solidFill>
                <a:latin typeface="Arial"/>
                <a:cs typeface="Arial"/>
              </a:rPr>
              <a:t>	</a:t>
            </a:r>
            <a:r>
              <a:rPr dirty="0" sz="3000" spc="-45">
                <a:solidFill>
                  <a:srgbClr val="7B8083"/>
                </a:solidFill>
                <a:latin typeface="Arial"/>
                <a:cs typeface="Arial"/>
              </a:rPr>
              <a:t>_libpcre2 </a:t>
            </a:r>
            <a:r>
              <a:rPr dirty="0" sz="3000" spc="145">
                <a:solidFill>
                  <a:srgbClr val="7B8083"/>
                </a:solidFill>
                <a:latin typeface="Arial"/>
                <a:cs typeface="Arial"/>
              </a:rPr>
              <a:t>libattr</a:t>
            </a:r>
            <a:r>
              <a:rPr dirty="0" sz="3000" spc="-170">
                <a:solidFill>
                  <a:srgbClr val="7B8083"/>
                </a:solidFill>
                <a:latin typeface="Arial"/>
                <a:cs typeface="Arial"/>
              </a:rPr>
              <a:t> </a:t>
            </a:r>
            <a:r>
              <a:rPr dirty="0" sz="3000" spc="100">
                <a:solidFill>
                  <a:srgbClr val="7B8083"/>
                </a:solidFill>
                <a:latin typeface="Arial"/>
                <a:cs typeface="Arial"/>
              </a:rPr>
              <a:t>libcap</a:t>
            </a:r>
            <a:r>
              <a:rPr dirty="0" sz="3000" spc="-65">
                <a:solidFill>
                  <a:srgbClr val="7B8083"/>
                </a:solidFill>
                <a:latin typeface="Arial"/>
                <a:cs typeface="Arial"/>
              </a:rPr>
              <a:t> </a:t>
            </a:r>
            <a:r>
              <a:rPr dirty="0" sz="3000" spc="-250">
                <a:solidFill>
                  <a:srgbClr val="7B8083"/>
                </a:solidFill>
                <a:latin typeface="Arial"/>
                <a:cs typeface="Arial"/>
              </a:rPr>
              <a:t>l1bau�1t</a:t>
            </a:r>
            <a:r>
              <a:rPr dirty="0" sz="3000" spc="-170">
                <a:solidFill>
                  <a:srgbClr val="7B8083"/>
                </a:solidFill>
                <a:latin typeface="Arial"/>
                <a:cs typeface="Arial"/>
              </a:rPr>
              <a:t> </a:t>
            </a:r>
            <a:r>
              <a:rPr dirty="0" sz="3000" spc="-110">
                <a:solidFill>
                  <a:srgbClr val="7B8083"/>
                </a:solidFill>
                <a:latin typeface="Arial"/>
                <a:cs typeface="Arial"/>
              </a:rPr>
              <a:t>l1bdbu�-</a:t>
            </a:r>
            <a:r>
              <a:rPr dirty="0" sz="3000" spc="-100">
                <a:solidFill>
                  <a:srgbClr val="7B8083"/>
                </a:solidFill>
                <a:latin typeface="Arial"/>
                <a:cs typeface="Arial"/>
              </a:rPr>
              <a:t>1</a:t>
            </a:r>
            <a:r>
              <a:rPr dirty="0" sz="3000" spc="-90">
                <a:solidFill>
                  <a:srgbClr val="7B8083"/>
                </a:solidFill>
                <a:latin typeface="Arial"/>
                <a:cs typeface="Arial"/>
              </a:rPr>
              <a:t> </a:t>
            </a:r>
            <a:r>
              <a:rPr dirty="0" sz="3000" spc="-10">
                <a:solidFill>
                  <a:srgbClr val="7B8083"/>
                </a:solidFill>
                <a:latin typeface="Arial"/>
                <a:cs typeface="Arial"/>
              </a:rPr>
              <a:t>ll�gcrypt </a:t>
            </a:r>
            <a:r>
              <a:rPr dirty="0" sz="3000" spc="75">
                <a:solidFill>
                  <a:srgbClr val="7B8083"/>
                </a:solidFill>
                <a:latin typeface="Arial"/>
                <a:cs typeface="Arial"/>
              </a:rPr>
              <a:t>libgpg-</a:t>
            </a:r>
            <a:r>
              <a:rPr dirty="0" sz="3000" spc="65">
                <a:solidFill>
                  <a:srgbClr val="7B8083"/>
                </a:solidFill>
                <a:latin typeface="Arial"/>
                <a:cs typeface="Arial"/>
              </a:rPr>
              <a:t>error</a:t>
            </a:r>
            <a:r>
              <a:rPr dirty="0" sz="3000">
                <a:solidFill>
                  <a:srgbClr val="7B8083"/>
                </a:solidFill>
                <a:latin typeface="Arial"/>
                <a:cs typeface="Arial"/>
              </a:rPr>
              <a:t>	</a:t>
            </a:r>
            <a:r>
              <a:rPr dirty="0" sz="3000" spc="-10">
                <a:solidFill>
                  <a:srgbClr val="7B8083"/>
                </a:solidFill>
                <a:latin typeface="Arial"/>
                <a:cs typeface="Arial"/>
              </a:rPr>
              <a:t>l1bmount</a:t>
            </a:r>
            <a:r>
              <a:rPr dirty="0" sz="3000">
                <a:solidFill>
                  <a:srgbClr val="7B8083"/>
                </a:solidFill>
                <a:latin typeface="Arial"/>
                <a:cs typeface="Arial"/>
              </a:rPr>
              <a:t>	</a:t>
            </a:r>
            <a:r>
              <a:rPr dirty="0" sz="3000" spc="-40">
                <a:solidFill>
                  <a:srgbClr val="7B8083"/>
                </a:solidFill>
                <a:latin typeface="Arial"/>
                <a:cs typeface="Arial"/>
              </a:rPr>
              <a:t>l1bblk1d</a:t>
            </a:r>
            <a:endParaRPr sz="3000">
              <a:latin typeface="Arial"/>
              <a:cs typeface="Arial"/>
            </a:endParaRPr>
          </a:p>
          <a:p>
            <a:pPr algn="ctr" marL="2142490">
              <a:lnSpc>
                <a:spcPts val="2520"/>
              </a:lnSpc>
            </a:pPr>
            <a:r>
              <a:rPr dirty="0" sz="3000" spc="80">
                <a:solidFill>
                  <a:srgbClr val="7B8083"/>
                </a:solidFill>
                <a:latin typeface="Arial"/>
                <a:cs typeface="Arial"/>
              </a:rPr>
              <a:t>libuuid</a:t>
            </a:r>
            <a:endParaRPr sz="3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8516" y="5911055"/>
            <a:ext cx="277685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-70" b="1">
                <a:solidFill>
                  <a:srgbClr val="050505"/>
                </a:solidFill>
                <a:latin typeface="Arial"/>
                <a:cs typeface="Arial"/>
              </a:rPr>
              <a:t>Quantified</a:t>
            </a:r>
            <a:r>
              <a:rPr dirty="0" sz="2700" spc="-9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700" spc="-55" b="1">
                <a:solidFill>
                  <a:srgbClr val="050505"/>
                </a:solidFill>
                <a:latin typeface="Arial"/>
                <a:cs typeface="Arial"/>
              </a:rPr>
              <a:t>Impact</a:t>
            </a:r>
            <a:endParaRPr sz="2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3673" y="7813212"/>
            <a:ext cx="3677285" cy="77152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2925"/>
              </a:lnSpc>
              <a:spcBef>
                <a:spcPts val="115"/>
              </a:spcBef>
            </a:pPr>
            <a:r>
              <a:rPr dirty="0" sz="2700" spc="-10" b="1">
                <a:solidFill>
                  <a:srgbClr val="050505"/>
                </a:solidFill>
                <a:latin typeface="Arial"/>
                <a:cs typeface="Arial"/>
              </a:rPr>
              <a:t>Reduction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ts val="2925"/>
              </a:lnSpc>
            </a:pPr>
            <a:r>
              <a:rPr dirty="0" sz="2700" b="1">
                <a:solidFill>
                  <a:srgbClr val="050505"/>
                </a:solidFill>
                <a:latin typeface="Arial"/>
                <a:cs typeface="Arial"/>
              </a:rPr>
              <a:t>in</a:t>
            </a:r>
            <a:r>
              <a:rPr dirty="0" sz="2700" spc="-29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700" spc="-70" b="1">
                <a:solidFill>
                  <a:srgbClr val="050505"/>
                </a:solidFill>
                <a:latin typeface="Arial"/>
                <a:cs typeface="Arial"/>
              </a:rPr>
              <a:t>library</a:t>
            </a:r>
            <a:r>
              <a:rPr dirty="0" sz="2700" spc="-2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700" spc="-55" b="1">
                <a:solidFill>
                  <a:srgbClr val="050505"/>
                </a:solidFill>
                <a:latin typeface="Arial"/>
                <a:cs typeface="Arial"/>
              </a:rPr>
              <a:t>dependencies</a:t>
            </a:r>
            <a:endParaRPr sz="2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3015" y="6460000"/>
            <a:ext cx="4937760" cy="226250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 marL="81915">
              <a:lnSpc>
                <a:spcPts val="3160"/>
              </a:lnSpc>
              <a:spcBef>
                <a:spcPts val="115"/>
              </a:spcBef>
            </a:pPr>
            <a:r>
              <a:rPr dirty="0" sz="2700" spc="-114" b="1">
                <a:solidFill>
                  <a:srgbClr val="050505"/>
                </a:solidFill>
                <a:latin typeface="Arial"/>
                <a:cs typeface="Arial"/>
              </a:rPr>
              <a:t>Kerberos</a:t>
            </a:r>
            <a:r>
              <a:rPr dirty="0" sz="2700" spc="-4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700" spc="-20" b="1">
                <a:solidFill>
                  <a:srgbClr val="050505"/>
                </a:solidFill>
                <a:latin typeface="Arial"/>
                <a:cs typeface="Arial"/>
              </a:rPr>
              <a:t>CVEs</a:t>
            </a:r>
            <a:endParaRPr sz="2700">
              <a:latin typeface="Arial"/>
              <a:cs typeface="Arial"/>
            </a:endParaRPr>
          </a:p>
          <a:p>
            <a:pPr algn="ctr">
              <a:lnSpc>
                <a:spcPts val="7420"/>
              </a:lnSpc>
            </a:pPr>
            <a:r>
              <a:rPr dirty="0" sz="6250" spc="-10" b="1">
                <a:solidFill>
                  <a:srgbClr val="053D60"/>
                </a:solidFill>
                <a:latin typeface="Arial"/>
                <a:cs typeface="Arial"/>
              </a:rPr>
              <a:t>ELIMINATED</a:t>
            </a:r>
            <a:endParaRPr sz="6250">
              <a:latin typeface="Arial"/>
              <a:cs typeface="Arial"/>
            </a:endParaRPr>
          </a:p>
          <a:p>
            <a:pPr algn="ctr" marL="180340" marR="70485">
              <a:lnSpc>
                <a:spcPts val="2210"/>
              </a:lnSpc>
              <a:spcBef>
                <a:spcPts val="395"/>
              </a:spcBef>
            </a:pPr>
            <a:r>
              <a:rPr dirty="0" sz="2100" spc="-155">
                <a:solidFill>
                  <a:srgbClr val="282824"/>
                </a:solidFill>
                <a:latin typeface="Times New Roman"/>
                <a:cs typeface="Times New Roman"/>
              </a:rPr>
              <a:t>RLC-</a:t>
            </a:r>
            <a:r>
              <a:rPr dirty="0" sz="2100" spc="-190">
                <a:solidFill>
                  <a:srgbClr val="282824"/>
                </a:solidFill>
                <a:latin typeface="Times New Roman"/>
                <a:cs typeface="Times New Roman"/>
              </a:rPr>
              <a:t>H</a:t>
            </a:r>
            <a:r>
              <a:rPr dirty="0" sz="2100" spc="-6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100" spc="60">
                <a:solidFill>
                  <a:srgbClr val="282824"/>
                </a:solidFill>
                <a:latin typeface="Times New Roman"/>
                <a:cs typeface="Times New Roman"/>
              </a:rPr>
              <a:t>is</a:t>
            </a:r>
            <a:r>
              <a:rPr dirty="0" sz="2100" spc="-32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100" spc="-55">
                <a:solidFill>
                  <a:srgbClr val="282824"/>
                </a:solidFill>
                <a:latin typeface="Times New Roman"/>
                <a:cs typeface="Times New Roman"/>
              </a:rPr>
              <a:t>100%</a:t>
            </a:r>
            <a:r>
              <a:rPr dirty="0" sz="2100" spc="-12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100" spc="50">
                <a:solidFill>
                  <a:srgbClr val="282824"/>
                </a:solidFill>
                <a:latin typeface="Times New Roman"/>
                <a:cs typeface="Times New Roman"/>
              </a:rPr>
              <a:t>immune</a:t>
            </a:r>
            <a:r>
              <a:rPr dirty="0" sz="2100" spc="-6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100" spc="65">
                <a:solidFill>
                  <a:srgbClr val="282824"/>
                </a:solidFill>
                <a:latin typeface="Times New Roman"/>
                <a:cs typeface="Times New Roman"/>
              </a:rPr>
              <a:t>to</a:t>
            </a:r>
            <a:r>
              <a:rPr dirty="0" sz="2100" spc="-114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100" spc="-120">
                <a:solidFill>
                  <a:srgbClr val="282824"/>
                </a:solidFill>
                <a:latin typeface="Times New Roman"/>
                <a:cs typeface="Times New Roman"/>
              </a:rPr>
              <a:t>CVE-</a:t>
            </a:r>
            <a:r>
              <a:rPr dirty="0" sz="2100" spc="-95">
                <a:solidFill>
                  <a:srgbClr val="282824"/>
                </a:solidFill>
                <a:latin typeface="Times New Roman"/>
                <a:cs typeface="Times New Roman"/>
              </a:rPr>
              <a:t>2024-</a:t>
            </a:r>
            <a:r>
              <a:rPr dirty="0" sz="2100" spc="-80">
                <a:solidFill>
                  <a:srgbClr val="282824"/>
                </a:solidFill>
                <a:latin typeface="Times New Roman"/>
                <a:cs typeface="Times New Roman"/>
              </a:rPr>
              <a:t>37370, </a:t>
            </a:r>
            <a:r>
              <a:rPr dirty="0" sz="2100" spc="-120">
                <a:solidFill>
                  <a:srgbClr val="282824"/>
                </a:solidFill>
                <a:latin typeface="Times New Roman"/>
                <a:cs typeface="Times New Roman"/>
              </a:rPr>
              <a:t>CVE-</a:t>
            </a:r>
            <a:r>
              <a:rPr dirty="0" sz="2100" spc="-95">
                <a:solidFill>
                  <a:srgbClr val="282824"/>
                </a:solidFill>
                <a:latin typeface="Times New Roman"/>
                <a:cs typeface="Times New Roman"/>
              </a:rPr>
              <a:t>2022-42898,</a:t>
            </a:r>
            <a:r>
              <a:rPr dirty="0" sz="2100" spc="-12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100" spc="-105">
                <a:solidFill>
                  <a:srgbClr val="282824"/>
                </a:solidFill>
                <a:latin typeface="Times New Roman"/>
                <a:cs typeface="Times New Roman"/>
              </a:rPr>
              <a:t>CVE-</a:t>
            </a:r>
            <a:r>
              <a:rPr dirty="0" sz="2100" spc="-85">
                <a:solidFill>
                  <a:srgbClr val="282824"/>
                </a:solidFill>
                <a:latin typeface="Times New Roman"/>
                <a:cs typeface="Times New Roman"/>
              </a:rPr>
              <a:t>2020-28196,</a:t>
            </a:r>
            <a:r>
              <a:rPr dirty="0" sz="2100" spc="-18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100" spc="60">
                <a:solidFill>
                  <a:srgbClr val="282824"/>
                </a:solidFill>
                <a:latin typeface="Times New Roman"/>
                <a:cs typeface="Times New Roman"/>
              </a:rPr>
              <a:t>and</a:t>
            </a:r>
            <a:r>
              <a:rPr dirty="0" sz="2100" spc="-5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282824"/>
                </a:solidFill>
                <a:latin typeface="Times New Roman"/>
                <a:cs typeface="Times New Roman"/>
              </a:rPr>
              <a:t>all</a:t>
            </a:r>
            <a:endParaRPr sz="2100">
              <a:latin typeface="Times New Roman"/>
              <a:cs typeface="Times New Roman"/>
            </a:endParaRPr>
          </a:p>
          <a:p>
            <a:pPr algn="ctr" marL="189230">
              <a:lnSpc>
                <a:spcPts val="2190"/>
              </a:lnSpc>
            </a:pPr>
            <a:r>
              <a:rPr dirty="0" sz="2100">
                <a:solidFill>
                  <a:srgbClr val="282824"/>
                </a:solidFill>
                <a:latin typeface="Times New Roman"/>
                <a:cs typeface="Times New Roman"/>
              </a:rPr>
              <a:t>future</a:t>
            </a:r>
            <a:r>
              <a:rPr dirty="0" sz="2100" spc="11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282824"/>
                </a:solidFill>
                <a:latin typeface="Times New Roman"/>
                <a:cs typeface="Times New Roman"/>
              </a:rPr>
              <a:t>Kerberos</a:t>
            </a:r>
            <a:r>
              <a:rPr dirty="0" sz="2100" spc="2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282824"/>
                </a:solidFill>
                <a:latin typeface="Times New Roman"/>
                <a:cs typeface="Times New Roman"/>
              </a:rPr>
              <a:t>vulnerabilities.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26787" y="2017382"/>
            <a:ext cx="419798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-110" b="1">
                <a:solidFill>
                  <a:srgbClr val="050505"/>
                </a:solidFill>
                <a:latin typeface="Arial"/>
                <a:cs typeface="Arial"/>
              </a:rPr>
              <a:t>RLC-</a:t>
            </a:r>
            <a:r>
              <a:rPr dirty="0" sz="2700" b="1">
                <a:solidFill>
                  <a:srgbClr val="050505"/>
                </a:solidFill>
                <a:latin typeface="Arial"/>
                <a:cs typeface="Arial"/>
              </a:rPr>
              <a:t>H</a:t>
            </a:r>
            <a:r>
              <a:rPr dirty="0" sz="2700" spc="-15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700" spc="-65" b="1">
                <a:solidFill>
                  <a:srgbClr val="050505"/>
                </a:solidFill>
                <a:latin typeface="Arial"/>
                <a:cs typeface="Arial"/>
              </a:rPr>
              <a:t>Hardened</a:t>
            </a:r>
            <a:r>
              <a:rPr dirty="0" sz="2700" spc="-10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700" spc="-105" b="1">
                <a:solidFill>
                  <a:srgbClr val="050505"/>
                </a:solidFill>
                <a:latin typeface="Arial"/>
                <a:cs typeface="Arial"/>
              </a:rPr>
              <a:t>OpenSSH</a:t>
            </a:r>
            <a:endParaRPr sz="2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24746" y="2854839"/>
            <a:ext cx="1052195" cy="1225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7800" marR="5080" indent="-165735">
              <a:lnSpc>
                <a:spcPct val="140600"/>
              </a:lnSpc>
              <a:spcBef>
                <a:spcPts val="95"/>
              </a:spcBef>
            </a:pPr>
            <a:r>
              <a:rPr dirty="0" sz="2800" spc="60">
                <a:solidFill>
                  <a:srgbClr val="1C3849"/>
                </a:solidFill>
                <a:latin typeface="Arial"/>
                <a:cs typeface="Arial"/>
              </a:rPr>
              <a:t>libc </a:t>
            </a:r>
            <a:r>
              <a:rPr dirty="0" sz="2800" spc="-10">
                <a:solidFill>
                  <a:srgbClr val="1C3849"/>
                </a:solidFill>
                <a:latin typeface="Arial"/>
                <a:cs typeface="Arial"/>
              </a:rPr>
              <a:t>libnsl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60226" y="2854839"/>
            <a:ext cx="1743710" cy="1812925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2800" spc="75">
                <a:solidFill>
                  <a:srgbClr val="1C3849"/>
                </a:solidFill>
                <a:latin typeface="Arial"/>
                <a:cs typeface="Arial"/>
              </a:rPr>
              <a:t>libcrypto</a:t>
            </a:r>
            <a:endParaRPr sz="2800">
              <a:latin typeface="Arial"/>
              <a:cs typeface="Arial"/>
            </a:endParaRPr>
          </a:p>
          <a:p>
            <a:pPr algn="r" marR="60960">
              <a:lnSpc>
                <a:spcPct val="100000"/>
              </a:lnSpc>
              <a:spcBef>
                <a:spcPts val="1365"/>
              </a:spcBef>
            </a:pPr>
            <a:r>
              <a:rPr dirty="0" sz="2800" spc="85">
                <a:solidFill>
                  <a:srgbClr val="1C3849"/>
                </a:solidFill>
                <a:latin typeface="Arial"/>
                <a:cs typeface="Arial"/>
              </a:rPr>
              <a:t>libcrypt</a:t>
            </a:r>
            <a:endParaRPr sz="28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1265"/>
              </a:spcBef>
            </a:pPr>
            <a:r>
              <a:rPr dirty="0" sz="2800" spc="45">
                <a:solidFill>
                  <a:srgbClr val="1C3849"/>
                </a:solidFill>
                <a:latin typeface="Arial"/>
                <a:cs typeface="Arial"/>
              </a:rPr>
              <a:t>libutil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249084" y="2854839"/>
            <a:ext cx="946785" cy="181292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just" marL="241935" marR="5080" indent="-229870">
              <a:lnSpc>
                <a:spcPct val="139100"/>
              </a:lnSpc>
              <a:spcBef>
                <a:spcPts val="145"/>
              </a:spcBef>
            </a:pPr>
            <a:r>
              <a:rPr dirty="0" sz="2800" spc="45">
                <a:solidFill>
                  <a:srgbClr val="1C3849"/>
                </a:solidFill>
                <a:latin typeface="Arial"/>
                <a:cs typeface="Arial"/>
              </a:rPr>
              <a:t>libssl </a:t>
            </a:r>
            <a:r>
              <a:rPr dirty="0" sz="2800" spc="65">
                <a:solidFill>
                  <a:srgbClr val="1C3849"/>
                </a:solidFill>
                <a:latin typeface="Arial"/>
                <a:cs typeface="Arial"/>
              </a:rPr>
              <a:t>libdl </a:t>
            </a:r>
            <a:r>
              <a:rPr dirty="0" sz="2800" spc="100">
                <a:solidFill>
                  <a:srgbClr val="1C3849"/>
                </a:solidFill>
                <a:latin typeface="Arial"/>
                <a:cs typeface="Arial"/>
              </a:rPr>
              <a:t>librt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459695" y="4813167"/>
            <a:ext cx="5205730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757045" algn="l"/>
                <a:tab pos="3935095" algn="l"/>
              </a:tabLst>
            </a:pPr>
            <a:r>
              <a:rPr dirty="0" sz="2800" spc="-10">
                <a:solidFill>
                  <a:srgbClr val="1C3849"/>
                </a:solidFill>
                <a:latin typeface="Arial"/>
                <a:cs typeface="Arial"/>
              </a:rPr>
              <a:t>libpam</a:t>
            </a:r>
            <a:r>
              <a:rPr dirty="0" sz="2800">
                <a:solidFill>
                  <a:srgbClr val="1C3849"/>
                </a:solidFill>
                <a:latin typeface="Arial"/>
                <a:cs typeface="Arial"/>
              </a:rPr>
              <a:t>	</a:t>
            </a:r>
            <a:r>
              <a:rPr dirty="0" sz="2800" spc="-10">
                <a:solidFill>
                  <a:srgbClr val="1C3849"/>
                </a:solidFill>
                <a:latin typeface="Arial"/>
                <a:cs typeface="Arial"/>
              </a:rPr>
              <a:t>libselinux</a:t>
            </a:r>
            <a:r>
              <a:rPr dirty="0" sz="2800">
                <a:solidFill>
                  <a:srgbClr val="1C3849"/>
                </a:solidFill>
                <a:latin typeface="Arial"/>
                <a:cs typeface="Arial"/>
              </a:rPr>
              <a:t>	</a:t>
            </a:r>
            <a:r>
              <a:rPr dirty="0" sz="2800" spc="-10">
                <a:solidFill>
                  <a:srgbClr val="1C3849"/>
                </a:solidFill>
                <a:latin typeface="Arial"/>
                <a:cs typeface="Arial"/>
              </a:rPr>
              <a:t>libsepol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726564" y="2854839"/>
            <a:ext cx="1758950" cy="1225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1600" marR="5080" indent="-89535">
              <a:lnSpc>
                <a:spcPct val="140600"/>
              </a:lnSpc>
              <a:spcBef>
                <a:spcPts val="95"/>
              </a:spcBef>
            </a:pPr>
            <a:r>
              <a:rPr dirty="0" sz="2800" spc="-10">
                <a:solidFill>
                  <a:srgbClr val="1C3849"/>
                </a:solidFill>
                <a:latin typeface="Arial"/>
                <a:cs typeface="Arial"/>
              </a:rPr>
              <a:t>libresolv libpthread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884377" y="6453618"/>
            <a:ext cx="4803775" cy="19894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R="77470">
              <a:lnSpc>
                <a:spcPts val="3155"/>
              </a:lnSpc>
              <a:spcBef>
                <a:spcPts val="110"/>
              </a:spcBef>
            </a:pPr>
            <a:r>
              <a:rPr dirty="0" sz="2650" spc="85">
                <a:solidFill>
                  <a:srgbClr val="050505"/>
                </a:solidFill>
                <a:latin typeface="Arial"/>
                <a:cs typeface="Arial"/>
              </a:rPr>
              <a:t>systemd-</a:t>
            </a:r>
            <a:r>
              <a:rPr dirty="0" sz="2650" spc="75">
                <a:solidFill>
                  <a:srgbClr val="050505"/>
                </a:solidFill>
                <a:latin typeface="Arial"/>
                <a:cs typeface="Arial"/>
              </a:rPr>
              <a:t>related</a:t>
            </a:r>
            <a:r>
              <a:rPr dirty="0" sz="2650" spc="-21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650" spc="-20">
                <a:solidFill>
                  <a:srgbClr val="050505"/>
                </a:solidFill>
                <a:latin typeface="Arial"/>
                <a:cs typeface="Arial"/>
              </a:rPr>
              <a:t>CVEs</a:t>
            </a:r>
            <a:endParaRPr sz="2650">
              <a:latin typeface="Arial"/>
              <a:cs typeface="Arial"/>
            </a:endParaRPr>
          </a:p>
          <a:p>
            <a:pPr algn="ctr">
              <a:lnSpc>
                <a:spcPts val="7475"/>
              </a:lnSpc>
            </a:pPr>
            <a:r>
              <a:rPr dirty="0" sz="6250" spc="-10" b="1">
                <a:solidFill>
                  <a:srgbClr val="053D60"/>
                </a:solidFill>
                <a:latin typeface="Arial"/>
                <a:cs typeface="Arial"/>
              </a:rPr>
              <a:t>CONTAINED</a:t>
            </a:r>
            <a:endParaRPr sz="6250">
              <a:latin typeface="Arial"/>
              <a:cs typeface="Arial"/>
            </a:endParaRPr>
          </a:p>
          <a:p>
            <a:pPr algn="ctr" marL="363855" marR="330200">
              <a:lnSpc>
                <a:spcPts val="2110"/>
              </a:lnSpc>
              <a:spcBef>
                <a:spcPts val="585"/>
              </a:spcBef>
            </a:pPr>
            <a:r>
              <a:rPr dirty="0" sz="2100" spc="-30">
                <a:solidFill>
                  <a:srgbClr val="282824"/>
                </a:solidFill>
                <a:latin typeface="Times New Roman"/>
                <a:cs typeface="Times New Roman"/>
              </a:rPr>
              <a:t>Blast</a:t>
            </a:r>
            <a:r>
              <a:rPr dirty="0" sz="2100" spc="4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61613"/>
                </a:solidFill>
                <a:latin typeface="Times New Roman"/>
                <a:cs typeface="Times New Roman"/>
              </a:rPr>
              <a:t>radius</a:t>
            </a:r>
            <a:r>
              <a:rPr dirty="0" sz="2100" spc="-11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dirty="0" sz="2100" spc="55">
                <a:solidFill>
                  <a:srgbClr val="282824"/>
                </a:solidFill>
                <a:latin typeface="Times New Roman"/>
                <a:cs typeface="Times New Roman"/>
              </a:rPr>
              <a:t>for</a:t>
            </a:r>
            <a:r>
              <a:rPr dirty="0" sz="2100" spc="-8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100" spc="70">
                <a:solidFill>
                  <a:srgbClr val="282824"/>
                </a:solidFill>
                <a:latin typeface="Times New Roman"/>
                <a:cs typeface="Times New Roman"/>
              </a:rPr>
              <a:t>6</a:t>
            </a:r>
            <a:r>
              <a:rPr dirty="0" sz="2100" spc="-17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282824"/>
                </a:solidFill>
                <a:latin typeface="Times New Roman"/>
                <a:cs typeface="Times New Roman"/>
              </a:rPr>
              <a:t>documented</a:t>
            </a:r>
            <a:r>
              <a:rPr dirty="0" sz="2100" spc="9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100" spc="-125">
                <a:solidFill>
                  <a:srgbClr val="282824"/>
                </a:solidFill>
                <a:latin typeface="Times New Roman"/>
                <a:cs typeface="Times New Roman"/>
              </a:rPr>
              <a:t>CVEs</a:t>
            </a:r>
            <a:r>
              <a:rPr dirty="0" sz="2100" spc="-11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100" spc="30">
                <a:solidFill>
                  <a:srgbClr val="282824"/>
                </a:solidFill>
                <a:latin typeface="Times New Roman"/>
                <a:cs typeface="Times New Roman"/>
              </a:rPr>
              <a:t>is </a:t>
            </a:r>
            <a:r>
              <a:rPr dirty="0" sz="2100">
                <a:solidFill>
                  <a:srgbClr val="161613"/>
                </a:solidFill>
                <a:latin typeface="Times New Roman"/>
                <a:cs typeface="Times New Roman"/>
              </a:rPr>
              <a:t>reduced</a:t>
            </a:r>
            <a:r>
              <a:rPr dirty="0" sz="2100" spc="65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282824"/>
                </a:solidFill>
                <a:latin typeface="Times New Roman"/>
                <a:cs typeface="Times New Roman"/>
              </a:rPr>
              <a:t>by</a:t>
            </a:r>
            <a:r>
              <a:rPr dirty="0" sz="2100" spc="-4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282824"/>
                </a:solidFill>
                <a:latin typeface="Arial"/>
                <a:cs typeface="Arial"/>
              </a:rPr>
              <a:t>~</a:t>
            </a:r>
            <a:r>
              <a:rPr dirty="0" sz="2100" spc="-10">
                <a:solidFill>
                  <a:srgbClr val="161613"/>
                </a:solidFill>
                <a:latin typeface="Times New Roman"/>
                <a:cs typeface="Times New Roman"/>
              </a:rPr>
              <a:t>70</a:t>
            </a:r>
            <a:r>
              <a:rPr dirty="0" sz="2100" spc="-10">
                <a:solidFill>
                  <a:srgbClr val="3B3B38"/>
                </a:solidFill>
                <a:latin typeface="Times New Roman"/>
                <a:cs typeface="Times New Roman"/>
              </a:rPr>
              <a:t>%.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41638" y="8917483"/>
            <a:ext cx="9885045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50" spc="-95" i="1">
                <a:solidFill>
                  <a:srgbClr val="282824"/>
                </a:solidFill>
                <a:latin typeface="Times New Roman"/>
                <a:cs typeface="Times New Roman"/>
              </a:rPr>
              <a:t>''E</a:t>
            </a:r>
            <a:r>
              <a:rPr dirty="0" sz="3350" spc="-95" i="1">
                <a:solidFill>
                  <a:srgbClr val="050505"/>
                </a:solidFill>
                <a:latin typeface="Times New Roman"/>
                <a:cs typeface="Times New Roman"/>
              </a:rPr>
              <a:t>very</a:t>
            </a:r>
            <a:r>
              <a:rPr dirty="0" sz="3350" spc="-210" i="1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3350" spc="-145" i="1">
                <a:solidFill>
                  <a:srgbClr val="050505"/>
                </a:solidFill>
                <a:latin typeface="Times New Roman"/>
                <a:cs typeface="Times New Roman"/>
              </a:rPr>
              <a:t>removed</a:t>
            </a:r>
            <a:r>
              <a:rPr dirty="0" sz="3350" spc="155" i="1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3350" spc="-130" i="1">
                <a:solidFill>
                  <a:srgbClr val="050505"/>
                </a:solidFill>
                <a:latin typeface="Times New Roman"/>
                <a:cs typeface="Times New Roman"/>
              </a:rPr>
              <a:t>library</a:t>
            </a:r>
            <a:r>
              <a:rPr dirty="0" sz="3350" spc="-140" i="1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3350" spc="-20" i="1">
                <a:solidFill>
                  <a:srgbClr val="161613"/>
                </a:solidFill>
                <a:latin typeface="Times New Roman"/>
                <a:cs typeface="Times New Roman"/>
              </a:rPr>
              <a:t>is</a:t>
            </a:r>
            <a:r>
              <a:rPr dirty="0" sz="3350" spc="-355" i="1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dirty="0" sz="3350" spc="-25" i="1">
                <a:solidFill>
                  <a:srgbClr val="161613"/>
                </a:solidFill>
                <a:latin typeface="Times New Roman"/>
                <a:cs typeface="Times New Roman"/>
              </a:rPr>
              <a:t>a</a:t>
            </a:r>
            <a:r>
              <a:rPr dirty="0" sz="3350" spc="-345" i="1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dirty="0" sz="3350" spc="-300" i="1">
                <a:solidFill>
                  <a:srgbClr val="161613"/>
                </a:solidFill>
                <a:latin typeface="Times New Roman"/>
                <a:cs typeface="Times New Roman"/>
              </a:rPr>
              <a:t>CVE</a:t>
            </a:r>
            <a:r>
              <a:rPr dirty="0" sz="3350" spc="-180" i="1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dirty="0" sz="3350" spc="-55" i="1">
                <a:solidFill>
                  <a:srgbClr val="161613"/>
                </a:solidFill>
                <a:latin typeface="Times New Roman"/>
                <a:cs typeface="Times New Roman"/>
              </a:rPr>
              <a:t>you</a:t>
            </a:r>
            <a:r>
              <a:rPr dirty="0" sz="3350" spc="-254" i="1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dirty="0" sz="3350" spc="-100" i="1">
                <a:solidFill>
                  <a:srgbClr val="161613"/>
                </a:solidFill>
                <a:latin typeface="Times New Roman"/>
                <a:cs typeface="Times New Roman"/>
              </a:rPr>
              <a:t>will</a:t>
            </a:r>
            <a:r>
              <a:rPr dirty="0" sz="3350" spc="-114" i="1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dirty="0" sz="3350" spc="-125" i="1">
                <a:solidFill>
                  <a:srgbClr val="050505"/>
                </a:solidFill>
                <a:latin typeface="Times New Roman"/>
                <a:cs typeface="Times New Roman"/>
              </a:rPr>
              <a:t>never</a:t>
            </a:r>
            <a:r>
              <a:rPr dirty="0" sz="3350" spc="-180" i="1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3350" spc="-90" i="1">
                <a:solidFill>
                  <a:srgbClr val="050505"/>
                </a:solidFill>
                <a:latin typeface="Times New Roman"/>
                <a:cs typeface="Times New Roman"/>
              </a:rPr>
              <a:t>have</a:t>
            </a:r>
            <a:r>
              <a:rPr dirty="0" sz="3350" spc="-204" i="1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3350" spc="-30" i="1">
                <a:solidFill>
                  <a:srgbClr val="161613"/>
                </a:solidFill>
                <a:latin typeface="Times New Roman"/>
                <a:cs typeface="Times New Roman"/>
              </a:rPr>
              <a:t>to</a:t>
            </a:r>
            <a:r>
              <a:rPr dirty="0" sz="3350" spc="-140" i="1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dirty="0" sz="3350" spc="-90" i="1">
                <a:solidFill>
                  <a:srgbClr val="050505"/>
                </a:solidFill>
                <a:latin typeface="Times New Roman"/>
                <a:cs typeface="Times New Roman"/>
              </a:rPr>
              <a:t>patch."</a:t>
            </a:r>
            <a:endParaRPr sz="3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84455" y="2425832"/>
            <a:ext cx="5757545" cy="6664325"/>
            <a:chOff x="5884455" y="2425832"/>
            <a:chExt cx="5757545" cy="66643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4455" y="2425832"/>
              <a:ext cx="5655191" cy="66639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06592" y="3753511"/>
              <a:ext cx="534950" cy="1685131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510013" y="530125"/>
            <a:ext cx="8491220" cy="66167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50" spc="-110">
                <a:solidFill>
                  <a:srgbClr val="070705"/>
                </a:solidFill>
                <a:latin typeface="Arial"/>
                <a:cs typeface="Arial"/>
              </a:rPr>
              <a:t>The</a:t>
            </a:r>
            <a:r>
              <a:rPr dirty="0" sz="4150" spc="-254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4150" spc="-185">
                <a:solidFill>
                  <a:srgbClr val="070705"/>
                </a:solidFill>
                <a:latin typeface="Arial"/>
                <a:cs typeface="Arial"/>
              </a:rPr>
              <a:t>RLC-</a:t>
            </a:r>
            <a:r>
              <a:rPr dirty="0" sz="4150" spc="-210">
                <a:solidFill>
                  <a:srgbClr val="070705"/>
                </a:solidFill>
                <a:latin typeface="Arial"/>
                <a:cs typeface="Arial"/>
              </a:rPr>
              <a:t>H</a:t>
            </a:r>
            <a:r>
              <a:rPr dirty="0" sz="4150" spc="-155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4150" spc="-135">
                <a:solidFill>
                  <a:srgbClr val="070705"/>
                </a:solidFill>
                <a:latin typeface="Arial"/>
                <a:cs typeface="Arial"/>
              </a:rPr>
              <a:t>Proactive</a:t>
            </a:r>
            <a:r>
              <a:rPr dirty="0" sz="4150" spc="-130">
                <a:solidFill>
                  <a:srgbClr val="070705"/>
                </a:solidFill>
                <a:latin typeface="Arial"/>
                <a:cs typeface="Arial"/>
              </a:rPr>
              <a:t> Security</a:t>
            </a:r>
            <a:r>
              <a:rPr dirty="0" sz="4150" spc="-40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4150" spc="-60">
                <a:solidFill>
                  <a:srgbClr val="070705"/>
                </a:solidFill>
                <a:latin typeface="Arial"/>
                <a:cs typeface="Arial"/>
              </a:rPr>
              <a:t>Stack</a:t>
            </a:r>
            <a:endParaRPr sz="4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47783" y="9418922"/>
            <a:ext cx="125476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B3B38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3B3B3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61613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07249" y="1328010"/>
            <a:ext cx="9500235" cy="65405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 marR="5080" indent="72390">
              <a:lnSpc>
                <a:spcPts val="2410"/>
              </a:lnSpc>
              <a:spcBef>
                <a:spcPts val="280"/>
              </a:spcBef>
            </a:pPr>
            <a:r>
              <a:rPr dirty="0" sz="2100" spc="-160">
                <a:solidFill>
                  <a:srgbClr val="262623"/>
                </a:solidFill>
                <a:latin typeface="Arial"/>
                <a:cs typeface="Arial"/>
              </a:rPr>
              <a:t>RLC-</a:t>
            </a:r>
            <a:r>
              <a:rPr dirty="0" sz="2100" spc="-190">
                <a:solidFill>
                  <a:srgbClr val="262623"/>
                </a:solidFill>
                <a:latin typeface="Arial"/>
                <a:cs typeface="Arial"/>
              </a:rPr>
              <a:t>H</a:t>
            </a:r>
            <a:r>
              <a:rPr dirty="0" sz="2100" spc="-8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-40">
                <a:solidFill>
                  <a:srgbClr val="262623"/>
                </a:solidFill>
                <a:latin typeface="Arial"/>
                <a:cs typeface="Arial"/>
              </a:rPr>
              <a:t>integrates</a:t>
            </a:r>
            <a:r>
              <a:rPr dirty="0" sz="2100" spc="-9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-25">
                <a:solidFill>
                  <a:srgbClr val="262623"/>
                </a:solidFill>
                <a:latin typeface="Arial"/>
                <a:cs typeface="Arial"/>
              </a:rPr>
              <a:t>four</a:t>
            </a:r>
            <a:r>
              <a:rPr dirty="0" sz="2100" spc="-9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-65">
                <a:solidFill>
                  <a:srgbClr val="070705"/>
                </a:solidFill>
                <a:latin typeface="Arial"/>
                <a:cs typeface="Arial"/>
              </a:rPr>
              <a:t>l</a:t>
            </a:r>
            <a:r>
              <a:rPr dirty="0" sz="2100" spc="-65">
                <a:solidFill>
                  <a:srgbClr val="262623"/>
                </a:solidFill>
                <a:latin typeface="Arial"/>
                <a:cs typeface="Arial"/>
              </a:rPr>
              <a:t>aye</a:t>
            </a:r>
            <a:r>
              <a:rPr dirty="0" sz="2100" spc="-65">
                <a:solidFill>
                  <a:srgbClr val="070705"/>
                </a:solidFill>
                <a:latin typeface="Arial"/>
                <a:cs typeface="Arial"/>
              </a:rPr>
              <a:t>r</a:t>
            </a:r>
            <a:r>
              <a:rPr dirty="0" sz="2100" spc="-65">
                <a:solidFill>
                  <a:srgbClr val="262623"/>
                </a:solidFill>
                <a:latin typeface="Arial"/>
                <a:cs typeface="Arial"/>
              </a:rPr>
              <a:t>s</a:t>
            </a:r>
            <a:r>
              <a:rPr dirty="0" sz="2100" spc="-15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62623"/>
                </a:solidFill>
                <a:latin typeface="Arial"/>
                <a:cs typeface="Arial"/>
              </a:rPr>
              <a:t>of</a:t>
            </a:r>
            <a:r>
              <a:rPr dirty="0" sz="2100" spc="-12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-50">
                <a:solidFill>
                  <a:srgbClr val="262623"/>
                </a:solidFill>
                <a:latin typeface="Arial"/>
                <a:cs typeface="Arial"/>
              </a:rPr>
              <a:t>defense</a:t>
            </a:r>
            <a:r>
              <a:rPr dirty="0" sz="2100" spc="-50">
                <a:solidFill>
                  <a:srgbClr val="070705"/>
                </a:solidFill>
                <a:latin typeface="Arial"/>
                <a:cs typeface="Arial"/>
              </a:rPr>
              <a:t>.</a:t>
            </a:r>
            <a:r>
              <a:rPr dirty="0" sz="2100" spc="-165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2100" spc="-100">
                <a:solidFill>
                  <a:srgbClr val="262623"/>
                </a:solidFill>
                <a:latin typeface="Arial"/>
                <a:cs typeface="Arial"/>
              </a:rPr>
              <a:t>While</a:t>
            </a:r>
            <a:r>
              <a:rPr dirty="0" sz="2100" spc="-9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-30">
                <a:solidFill>
                  <a:srgbClr val="262623"/>
                </a:solidFill>
                <a:latin typeface="Arial"/>
                <a:cs typeface="Arial"/>
              </a:rPr>
              <a:t>competitors</a:t>
            </a:r>
            <a:r>
              <a:rPr dirty="0" sz="2100" spc="4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-30">
                <a:solidFill>
                  <a:srgbClr val="262623"/>
                </a:solidFill>
                <a:latin typeface="Arial"/>
                <a:cs typeface="Arial"/>
              </a:rPr>
              <a:t>stop</a:t>
            </a:r>
            <a:r>
              <a:rPr dirty="0" sz="2100" spc="-16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62623"/>
                </a:solidFill>
                <a:latin typeface="Arial"/>
                <a:cs typeface="Arial"/>
              </a:rPr>
              <a:t>at</a:t>
            </a:r>
            <a:r>
              <a:rPr dirty="0" sz="2100" spc="-14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-40">
                <a:solidFill>
                  <a:srgbClr val="262623"/>
                </a:solidFill>
                <a:latin typeface="Arial"/>
                <a:cs typeface="Arial"/>
              </a:rPr>
              <a:t>configuration,</a:t>
            </a:r>
            <a:r>
              <a:rPr dirty="0" sz="2100" spc="-20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-25">
                <a:solidFill>
                  <a:srgbClr val="262623"/>
                </a:solidFill>
                <a:latin typeface="Arial"/>
                <a:cs typeface="Arial"/>
              </a:rPr>
              <a:t>we </a:t>
            </a:r>
            <a:r>
              <a:rPr dirty="0" sz="2100" spc="-65">
                <a:solidFill>
                  <a:srgbClr val="262623"/>
                </a:solidFill>
                <a:latin typeface="Arial"/>
                <a:cs typeface="Arial"/>
              </a:rPr>
              <a:t>provide</a:t>
            </a:r>
            <a:r>
              <a:rPr dirty="0" sz="2100" spc="-40">
                <a:solidFill>
                  <a:srgbClr val="262623"/>
                </a:solidFill>
                <a:latin typeface="Arial"/>
                <a:cs typeface="Arial"/>
              </a:rPr>
              <a:t> three</a:t>
            </a:r>
            <a:r>
              <a:rPr dirty="0" sz="2100" spc="-16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-45">
                <a:solidFill>
                  <a:srgbClr val="262623"/>
                </a:solidFill>
                <a:latin typeface="Arial"/>
                <a:cs typeface="Arial"/>
              </a:rPr>
              <a:t>additiona</a:t>
            </a:r>
            <a:r>
              <a:rPr dirty="0" sz="2100" spc="-45">
                <a:solidFill>
                  <a:srgbClr val="070705"/>
                </a:solidFill>
                <a:latin typeface="Arial"/>
                <a:cs typeface="Arial"/>
              </a:rPr>
              <a:t>l</a:t>
            </a:r>
            <a:r>
              <a:rPr dirty="0" sz="2100" spc="-265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2100" spc="-70">
                <a:solidFill>
                  <a:srgbClr val="262623"/>
                </a:solidFill>
                <a:latin typeface="Arial"/>
                <a:cs typeface="Arial"/>
              </a:rPr>
              <a:t>layers</a:t>
            </a:r>
            <a:r>
              <a:rPr dirty="0" sz="2100" spc="-12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62623"/>
                </a:solidFill>
                <a:latin typeface="Arial"/>
                <a:cs typeface="Arial"/>
              </a:rPr>
              <a:t>of</a:t>
            </a:r>
            <a:r>
              <a:rPr dirty="0" sz="2100" spc="-11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-45">
                <a:solidFill>
                  <a:srgbClr val="262623"/>
                </a:solidFill>
                <a:latin typeface="Arial"/>
                <a:cs typeface="Arial"/>
              </a:rPr>
              <a:t>runtime</a:t>
            </a:r>
            <a:r>
              <a:rPr dirty="0" sz="2100" spc="-2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-35">
                <a:solidFill>
                  <a:srgbClr val="262623"/>
                </a:solidFill>
                <a:latin typeface="Arial"/>
                <a:cs typeface="Arial"/>
              </a:rPr>
              <a:t>protection</a:t>
            </a:r>
            <a:r>
              <a:rPr dirty="0" sz="2100" spc="-11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62623"/>
                </a:solidFill>
                <a:latin typeface="Arial"/>
                <a:cs typeface="Arial"/>
              </a:rPr>
              <a:t>that</a:t>
            </a:r>
            <a:r>
              <a:rPr dirty="0" sz="2100" spc="-11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-45">
                <a:solidFill>
                  <a:srgbClr val="262623"/>
                </a:solidFill>
                <a:latin typeface="Arial"/>
                <a:cs typeface="Arial"/>
              </a:rPr>
              <a:t>actively</a:t>
            </a:r>
            <a:r>
              <a:rPr dirty="0" sz="2100" spc="-9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-60">
                <a:solidFill>
                  <a:srgbClr val="262623"/>
                </a:solidFill>
                <a:latin typeface="Arial"/>
                <a:cs typeface="Arial"/>
              </a:rPr>
              <a:t>prevent</a:t>
            </a:r>
            <a:r>
              <a:rPr dirty="0" sz="2100" spc="1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62623"/>
                </a:solidFill>
                <a:latin typeface="Arial"/>
                <a:cs typeface="Arial"/>
              </a:rPr>
              <a:t>exploitation.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60080" y="4570611"/>
            <a:ext cx="828040" cy="286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81025" algn="l"/>
              </a:tabLst>
            </a:pPr>
            <a:r>
              <a:rPr dirty="0" sz="1700" spc="-10">
                <a:solidFill>
                  <a:srgbClr val="214259"/>
                </a:solidFill>
                <a:latin typeface="Arial"/>
                <a:cs typeface="Arial"/>
              </a:rPr>
              <a:t>/,...</a:t>
            </a:r>
            <a:r>
              <a:rPr dirty="0" u="heavy" sz="1700">
                <a:solidFill>
                  <a:srgbClr val="214259"/>
                </a:solidFill>
                <a:uFill>
                  <a:solidFill>
                    <a:srgbClr val="204158"/>
                  </a:solidFill>
                </a:uFill>
                <a:latin typeface="Arial"/>
                <a:cs typeface="Arial"/>
              </a:rPr>
              <a:t>	</a:t>
            </a:r>
            <a:r>
              <a:rPr dirty="0" sz="1700" spc="-140">
                <a:solidFill>
                  <a:srgbClr val="214259"/>
                </a:solidFill>
                <a:latin typeface="Arial"/>
                <a:cs typeface="Arial"/>
              </a:rPr>
              <a:t>.�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27364" y="4142945"/>
            <a:ext cx="5442585" cy="14033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3450"/>
              </a:lnSpc>
              <a:spcBef>
                <a:spcPts val="114"/>
              </a:spcBef>
            </a:pPr>
            <a:r>
              <a:rPr dirty="0" sz="2100" spc="-85" b="1">
                <a:solidFill>
                  <a:srgbClr val="070705"/>
                </a:solidFill>
                <a:latin typeface="Arial"/>
                <a:cs typeface="Arial"/>
              </a:rPr>
              <a:t>Hard</a:t>
            </a:r>
            <a:r>
              <a:rPr dirty="0" sz="2100" spc="-85" b="1">
                <a:solidFill>
                  <a:srgbClr val="262623"/>
                </a:solidFill>
                <a:latin typeface="Arial"/>
                <a:cs typeface="Arial"/>
              </a:rPr>
              <a:t>e</a:t>
            </a:r>
            <a:r>
              <a:rPr dirty="0" sz="2100" spc="-85" b="1">
                <a:solidFill>
                  <a:srgbClr val="070705"/>
                </a:solidFill>
                <a:latin typeface="Arial"/>
                <a:cs typeface="Arial"/>
              </a:rPr>
              <a:t>ned</a:t>
            </a:r>
            <a:r>
              <a:rPr dirty="0" sz="2100" spc="-340" b="1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2100" spc="-85" b="1">
                <a:solidFill>
                  <a:srgbClr val="070705"/>
                </a:solidFill>
                <a:latin typeface="Arial"/>
                <a:cs typeface="Arial"/>
              </a:rPr>
              <a:t>Core</a:t>
            </a:r>
            <a:r>
              <a:rPr dirty="0" sz="2100" spc="-240" b="1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2100" spc="-70" b="1">
                <a:solidFill>
                  <a:srgbClr val="070705"/>
                </a:solidFill>
                <a:latin typeface="Arial"/>
                <a:cs typeface="Arial"/>
              </a:rPr>
              <a:t>Librari</a:t>
            </a:r>
            <a:r>
              <a:rPr dirty="0" sz="2100" spc="-70" b="1">
                <a:solidFill>
                  <a:srgbClr val="262623"/>
                </a:solidFill>
                <a:latin typeface="Arial"/>
                <a:cs typeface="Arial"/>
              </a:rPr>
              <a:t>es</a:t>
            </a:r>
            <a:r>
              <a:rPr dirty="0" sz="2100" spc="40" b="1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950" spc="-225">
                <a:solidFill>
                  <a:srgbClr val="363633"/>
                </a:solidFill>
                <a:latin typeface="Times New Roman"/>
                <a:cs typeface="Times New Roman"/>
              </a:rPr>
              <a:t>[[JJ</a:t>
            </a:r>
            <a:r>
              <a:rPr dirty="0" sz="2950" spc="65">
                <a:solidFill>
                  <a:srgbClr val="363633"/>
                </a:solidFill>
                <a:latin typeface="Times New Roman"/>
                <a:cs typeface="Times New Roman"/>
              </a:rPr>
              <a:t> </a:t>
            </a:r>
            <a:r>
              <a:rPr dirty="0" sz="1350" spc="60">
                <a:solidFill>
                  <a:srgbClr val="444D54"/>
                </a:solidFill>
                <a:latin typeface="Arial"/>
                <a:cs typeface="Arial"/>
              </a:rPr>
              <a:t>----</a:t>
            </a:r>
            <a:r>
              <a:rPr dirty="0" sz="1350" spc="95">
                <a:solidFill>
                  <a:srgbClr val="444D54"/>
                </a:solidFill>
                <a:latin typeface="Arial"/>
                <a:cs typeface="Arial"/>
              </a:rPr>
              <a:t>11+-++-</a:t>
            </a:r>
            <a:r>
              <a:rPr dirty="0" sz="1350" spc="60">
                <a:solidFill>
                  <a:srgbClr val="444D54"/>
                </a:solidFill>
                <a:latin typeface="Arial"/>
                <a:cs typeface="Arial"/>
              </a:rPr>
              <a:t>---</a:t>
            </a:r>
            <a:r>
              <a:rPr dirty="0" sz="1350" spc="95">
                <a:solidFill>
                  <a:srgbClr val="444D54"/>
                </a:solidFill>
                <a:latin typeface="Arial"/>
                <a:cs typeface="Arial"/>
              </a:rPr>
              <a:t>++-</a:t>
            </a:r>
            <a:r>
              <a:rPr dirty="0" sz="1350" spc="100">
                <a:solidFill>
                  <a:srgbClr val="444D54"/>
                </a:solidFill>
                <a:latin typeface="Arial"/>
                <a:cs typeface="Arial"/>
              </a:rPr>
              <a:t>H-</a:t>
            </a:r>
            <a:r>
              <a:rPr dirty="0" sz="1350" spc="60">
                <a:solidFill>
                  <a:srgbClr val="444D54"/>
                </a:solidFill>
                <a:latin typeface="Arial"/>
                <a:cs typeface="Arial"/>
              </a:rPr>
              <a:t>-</a:t>
            </a:r>
            <a:r>
              <a:rPr dirty="0" sz="1350" spc="45">
                <a:solidFill>
                  <a:srgbClr val="444D54"/>
                </a:solidFill>
                <a:latin typeface="Arial"/>
                <a:cs typeface="Arial"/>
              </a:rPr>
              <a:t>,,&lt;</a:t>
            </a:r>
            <a:endParaRPr sz="1350">
              <a:latin typeface="Arial"/>
              <a:cs typeface="Arial"/>
            </a:endParaRPr>
          </a:p>
          <a:p>
            <a:pPr marL="1426210">
              <a:lnSpc>
                <a:spcPts val="1950"/>
              </a:lnSpc>
            </a:pPr>
            <a:r>
              <a:rPr dirty="0" sz="1700" spc="-20">
                <a:solidFill>
                  <a:srgbClr val="363633"/>
                </a:solidFill>
                <a:latin typeface="Arial"/>
                <a:cs typeface="Arial"/>
              </a:rPr>
              <a:t>g</a:t>
            </a:r>
            <a:r>
              <a:rPr dirty="0" sz="1700" spc="-20">
                <a:solidFill>
                  <a:srgbClr val="444D54"/>
                </a:solidFill>
                <a:latin typeface="Arial"/>
                <a:cs typeface="Arial"/>
              </a:rPr>
              <a:t>l</a:t>
            </a:r>
            <a:r>
              <a:rPr dirty="0" sz="1700" spc="-20">
                <a:solidFill>
                  <a:srgbClr val="070705"/>
                </a:solidFill>
                <a:latin typeface="Arial"/>
                <a:cs typeface="Arial"/>
              </a:rPr>
              <a:t>i</a:t>
            </a:r>
            <a:r>
              <a:rPr dirty="0" sz="1700" spc="-20">
                <a:solidFill>
                  <a:srgbClr val="363633"/>
                </a:solidFill>
                <a:latin typeface="Arial"/>
                <a:cs typeface="Arial"/>
              </a:rPr>
              <a:t>bc</a:t>
            </a:r>
            <a:r>
              <a:rPr dirty="0" sz="1700" spc="-20">
                <a:solidFill>
                  <a:srgbClr val="444D54"/>
                </a:solidFill>
                <a:latin typeface="Arial"/>
                <a:cs typeface="Arial"/>
              </a:rPr>
              <a:t>,</a:t>
            </a:r>
            <a:r>
              <a:rPr dirty="0" sz="1700" spc="-185">
                <a:solidFill>
                  <a:srgbClr val="444D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63633"/>
                </a:solidFill>
                <a:latin typeface="Arial"/>
                <a:cs typeface="Arial"/>
              </a:rPr>
              <a:t>OpenSSH</a:t>
            </a:r>
            <a:endParaRPr sz="1700">
              <a:latin typeface="Arial"/>
              <a:cs typeface="Arial"/>
            </a:endParaRPr>
          </a:p>
          <a:p>
            <a:pPr algn="r" marR="2589530">
              <a:lnSpc>
                <a:spcPts val="2025"/>
              </a:lnSpc>
              <a:spcBef>
                <a:spcPts val="1375"/>
              </a:spcBef>
            </a:pPr>
            <a:r>
              <a:rPr dirty="0" sz="1700" spc="-75">
                <a:solidFill>
                  <a:srgbClr val="262623"/>
                </a:solidFill>
                <a:latin typeface="Arial"/>
                <a:cs typeface="Arial"/>
              </a:rPr>
              <a:t>Reduces</a:t>
            </a:r>
            <a:r>
              <a:rPr dirty="0" sz="1700" spc="-13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63633"/>
                </a:solidFill>
                <a:latin typeface="Arial"/>
                <a:cs typeface="Arial"/>
              </a:rPr>
              <a:t>attack</a:t>
            </a:r>
            <a:r>
              <a:rPr dirty="0" sz="1700" spc="-45">
                <a:solidFill>
                  <a:srgbClr val="363633"/>
                </a:solidFill>
                <a:latin typeface="Arial"/>
                <a:cs typeface="Arial"/>
              </a:rPr>
              <a:t> surface</a:t>
            </a:r>
            <a:r>
              <a:rPr dirty="0" sz="1700" spc="-65">
                <a:solidFill>
                  <a:srgbClr val="363633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262623"/>
                </a:solidFill>
                <a:latin typeface="Arial"/>
                <a:cs typeface="Arial"/>
              </a:rPr>
              <a:t>at</a:t>
            </a:r>
            <a:endParaRPr sz="1700">
              <a:latin typeface="Arial"/>
              <a:cs typeface="Arial"/>
            </a:endParaRPr>
          </a:p>
          <a:p>
            <a:pPr algn="r" marR="2583180">
              <a:lnSpc>
                <a:spcPts val="2025"/>
              </a:lnSpc>
            </a:pPr>
            <a:r>
              <a:rPr dirty="0" sz="1700">
                <a:solidFill>
                  <a:srgbClr val="262623"/>
                </a:solidFill>
                <a:latin typeface="Arial"/>
                <a:cs typeface="Arial"/>
              </a:rPr>
              <a:t>the</a:t>
            </a:r>
            <a:r>
              <a:rPr dirty="0" sz="1700" spc="-9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62623"/>
                </a:solidFill>
                <a:latin typeface="Arial"/>
                <a:cs typeface="Arial"/>
              </a:rPr>
              <a:t>source.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1712" y="6166379"/>
            <a:ext cx="6226175" cy="14351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73990">
              <a:lnSpc>
                <a:spcPts val="3775"/>
              </a:lnSpc>
              <a:spcBef>
                <a:spcPts val="114"/>
              </a:spcBef>
            </a:pPr>
            <a:r>
              <a:rPr dirty="0" sz="2100" spc="-95" b="1">
                <a:solidFill>
                  <a:srgbClr val="070705"/>
                </a:solidFill>
                <a:latin typeface="Arial"/>
                <a:cs typeface="Arial"/>
              </a:rPr>
              <a:t>K</a:t>
            </a:r>
            <a:r>
              <a:rPr dirty="0" sz="2100" spc="-95" b="1">
                <a:solidFill>
                  <a:srgbClr val="262623"/>
                </a:solidFill>
                <a:latin typeface="Arial"/>
                <a:cs typeface="Arial"/>
              </a:rPr>
              <a:t>e</a:t>
            </a:r>
            <a:r>
              <a:rPr dirty="0" sz="2100" spc="-95" b="1">
                <a:solidFill>
                  <a:srgbClr val="070705"/>
                </a:solidFill>
                <a:latin typeface="Arial"/>
                <a:cs typeface="Arial"/>
              </a:rPr>
              <a:t>rn</a:t>
            </a:r>
            <a:r>
              <a:rPr dirty="0" sz="2100" spc="-95" b="1">
                <a:solidFill>
                  <a:srgbClr val="262623"/>
                </a:solidFill>
                <a:latin typeface="Arial"/>
                <a:cs typeface="Arial"/>
              </a:rPr>
              <a:t>e</a:t>
            </a:r>
            <a:r>
              <a:rPr dirty="0" sz="2100" spc="-95" b="1">
                <a:solidFill>
                  <a:srgbClr val="070705"/>
                </a:solidFill>
                <a:latin typeface="Arial"/>
                <a:cs typeface="Arial"/>
              </a:rPr>
              <a:t>lRuntime</a:t>
            </a:r>
            <a:r>
              <a:rPr dirty="0" sz="2100" spc="-125" b="1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2100" spc="-60" b="1">
                <a:solidFill>
                  <a:srgbClr val="070705"/>
                </a:solidFill>
                <a:latin typeface="Arial"/>
                <a:cs typeface="Arial"/>
              </a:rPr>
              <a:t>Prote</a:t>
            </a:r>
            <a:r>
              <a:rPr dirty="0" sz="2100" spc="-60" b="1">
                <a:solidFill>
                  <a:srgbClr val="262623"/>
                </a:solidFill>
                <a:latin typeface="Arial"/>
                <a:cs typeface="Arial"/>
              </a:rPr>
              <a:t>c</a:t>
            </a:r>
            <a:r>
              <a:rPr dirty="0" sz="2100" spc="-60" b="1">
                <a:solidFill>
                  <a:srgbClr val="070705"/>
                </a:solidFill>
                <a:latin typeface="Arial"/>
                <a:cs typeface="Arial"/>
              </a:rPr>
              <a:t>tion</a:t>
            </a:r>
            <a:r>
              <a:rPr dirty="0" sz="2100" spc="70" b="1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3200" spc="290">
                <a:solidFill>
                  <a:srgbClr val="444D54"/>
                </a:solidFill>
                <a:latin typeface="Arial"/>
                <a:cs typeface="Arial"/>
              </a:rPr>
              <a:t>@</a:t>
            </a:r>
            <a:r>
              <a:rPr dirty="0" sz="3200" spc="-305">
                <a:solidFill>
                  <a:srgbClr val="444D54"/>
                </a:solidFill>
                <a:latin typeface="Arial"/>
                <a:cs typeface="Arial"/>
              </a:rPr>
              <a:t> </a:t>
            </a:r>
            <a:r>
              <a:rPr dirty="0" sz="1650" spc="300">
                <a:solidFill>
                  <a:srgbClr val="444D54"/>
                </a:solidFill>
                <a:latin typeface="Arial"/>
                <a:cs typeface="Arial"/>
              </a:rPr>
              <a:t>-----</a:t>
            </a:r>
            <a:r>
              <a:rPr dirty="0" sz="1650" spc="265">
                <a:solidFill>
                  <a:srgbClr val="444D54"/>
                </a:solidFill>
                <a:latin typeface="Arial"/>
                <a:cs typeface="Arial"/>
              </a:rPr>
              <a:t>4,.i.....i/lr-</a:t>
            </a:r>
            <a:r>
              <a:rPr dirty="0" sz="1650" spc="295">
                <a:solidFill>
                  <a:srgbClr val="444D54"/>
                </a:solidFill>
                <a:latin typeface="Arial"/>
                <a:cs typeface="Arial"/>
              </a:rPr>
              <a:t>��</a:t>
            </a:r>
            <a:endParaRPr sz="1650">
              <a:latin typeface="Arial"/>
              <a:cs typeface="Arial"/>
            </a:endParaRPr>
          </a:p>
          <a:p>
            <a:pPr algn="r" marR="3027045">
              <a:lnSpc>
                <a:spcPts val="1975"/>
              </a:lnSpc>
            </a:pPr>
            <a:r>
              <a:rPr dirty="0" sz="1700" spc="-55">
                <a:solidFill>
                  <a:srgbClr val="070705"/>
                </a:solidFill>
                <a:latin typeface="Arial"/>
                <a:cs typeface="Arial"/>
              </a:rPr>
              <a:t>Li</a:t>
            </a:r>
            <a:r>
              <a:rPr dirty="0" sz="1700" spc="-55">
                <a:solidFill>
                  <a:srgbClr val="363633"/>
                </a:solidFill>
                <a:latin typeface="Arial"/>
                <a:cs typeface="Arial"/>
              </a:rPr>
              <a:t>nux</a:t>
            </a:r>
            <a:r>
              <a:rPr dirty="0" sz="1700" spc="-90">
                <a:solidFill>
                  <a:srgbClr val="363633"/>
                </a:solidFill>
                <a:latin typeface="Arial"/>
                <a:cs typeface="Arial"/>
              </a:rPr>
              <a:t> </a:t>
            </a:r>
            <a:r>
              <a:rPr dirty="0" sz="1700" spc="-70">
                <a:solidFill>
                  <a:srgbClr val="262623"/>
                </a:solidFill>
                <a:latin typeface="Arial"/>
                <a:cs typeface="Arial"/>
              </a:rPr>
              <a:t>Kerne</a:t>
            </a:r>
            <a:r>
              <a:rPr dirty="0" sz="1700" spc="-70">
                <a:solidFill>
                  <a:srgbClr val="070705"/>
                </a:solidFill>
                <a:latin typeface="Arial"/>
                <a:cs typeface="Arial"/>
              </a:rPr>
              <a:t>l</a:t>
            </a:r>
            <a:r>
              <a:rPr dirty="0" sz="1700" spc="-140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1700" spc="-65">
                <a:solidFill>
                  <a:srgbClr val="363633"/>
                </a:solidFill>
                <a:latin typeface="Arial"/>
                <a:cs typeface="Arial"/>
              </a:rPr>
              <a:t>Runt</a:t>
            </a:r>
            <a:r>
              <a:rPr dirty="0" sz="1700" spc="-65">
                <a:solidFill>
                  <a:srgbClr val="444D54"/>
                </a:solidFill>
                <a:latin typeface="Arial"/>
                <a:cs typeface="Arial"/>
              </a:rPr>
              <a:t>i</a:t>
            </a:r>
            <a:r>
              <a:rPr dirty="0" sz="1700" spc="-65">
                <a:solidFill>
                  <a:srgbClr val="363633"/>
                </a:solidFill>
                <a:latin typeface="Arial"/>
                <a:cs typeface="Arial"/>
              </a:rPr>
              <a:t>me</a:t>
            </a:r>
            <a:r>
              <a:rPr dirty="0" sz="1700" spc="-160">
                <a:solidFill>
                  <a:srgbClr val="363633"/>
                </a:solidFill>
                <a:latin typeface="Arial"/>
                <a:cs typeface="Arial"/>
              </a:rPr>
              <a:t> </a:t>
            </a:r>
            <a:r>
              <a:rPr dirty="0" sz="1700" spc="-80">
                <a:solidFill>
                  <a:srgbClr val="262623"/>
                </a:solidFill>
                <a:latin typeface="Arial"/>
                <a:cs typeface="Arial"/>
              </a:rPr>
              <a:t>Guard</a:t>
            </a:r>
            <a:r>
              <a:rPr dirty="0" sz="1700" spc="-3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1700" spc="-120">
                <a:solidFill>
                  <a:srgbClr val="363633"/>
                </a:solidFill>
                <a:latin typeface="Arial"/>
                <a:cs typeface="Arial"/>
              </a:rPr>
              <a:t>(LKRG)</a:t>
            </a:r>
            <a:endParaRPr sz="1700">
              <a:latin typeface="Arial"/>
              <a:cs typeface="Arial"/>
            </a:endParaRPr>
          </a:p>
          <a:p>
            <a:pPr algn="r" marR="3009265">
              <a:lnSpc>
                <a:spcPts val="2025"/>
              </a:lnSpc>
              <a:spcBef>
                <a:spcPts val="1275"/>
              </a:spcBef>
            </a:pPr>
            <a:r>
              <a:rPr dirty="0" sz="1700" spc="-10">
                <a:solidFill>
                  <a:srgbClr val="363633"/>
                </a:solidFill>
                <a:latin typeface="Arial"/>
                <a:cs typeface="Arial"/>
              </a:rPr>
              <a:t>Detects</a:t>
            </a:r>
            <a:r>
              <a:rPr dirty="0" sz="1700" spc="-180">
                <a:solidFill>
                  <a:srgbClr val="363633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63633"/>
                </a:solidFill>
                <a:latin typeface="Arial"/>
                <a:cs typeface="Arial"/>
              </a:rPr>
              <a:t>and</a:t>
            </a:r>
            <a:r>
              <a:rPr dirty="0" sz="1700" spc="-165">
                <a:solidFill>
                  <a:srgbClr val="363633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63633"/>
                </a:solidFill>
                <a:latin typeface="Arial"/>
                <a:cs typeface="Arial"/>
              </a:rPr>
              <a:t>stops</a:t>
            </a:r>
            <a:r>
              <a:rPr dirty="0" sz="1700" spc="-120">
                <a:solidFill>
                  <a:srgbClr val="363633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63633"/>
                </a:solidFill>
                <a:latin typeface="Arial"/>
                <a:cs typeface="Arial"/>
              </a:rPr>
              <a:t>kernel-</a:t>
            </a:r>
            <a:r>
              <a:rPr dirty="0" sz="1700" spc="-20">
                <a:solidFill>
                  <a:srgbClr val="363633"/>
                </a:solidFill>
                <a:latin typeface="Arial"/>
                <a:cs typeface="Arial"/>
              </a:rPr>
              <a:t>leve</a:t>
            </a:r>
            <a:r>
              <a:rPr dirty="0" sz="1700" spc="-20">
                <a:solidFill>
                  <a:srgbClr val="444D54"/>
                </a:solidFill>
                <a:latin typeface="Arial"/>
                <a:cs typeface="Arial"/>
              </a:rPr>
              <a:t>l</a:t>
            </a:r>
            <a:endParaRPr sz="1700">
              <a:latin typeface="Arial"/>
              <a:cs typeface="Arial"/>
            </a:endParaRPr>
          </a:p>
          <a:p>
            <a:pPr algn="r" marR="2997200">
              <a:lnSpc>
                <a:spcPts val="2025"/>
              </a:lnSpc>
            </a:pPr>
            <a:r>
              <a:rPr dirty="0" sz="1700" spc="-35">
                <a:solidFill>
                  <a:srgbClr val="363633"/>
                </a:solidFill>
                <a:latin typeface="Arial"/>
                <a:cs typeface="Arial"/>
              </a:rPr>
              <a:t>exp</a:t>
            </a:r>
            <a:r>
              <a:rPr dirty="0" sz="1700" spc="-35">
                <a:solidFill>
                  <a:srgbClr val="070705"/>
                </a:solidFill>
                <a:latin typeface="Arial"/>
                <a:cs typeface="Arial"/>
              </a:rPr>
              <a:t>l</a:t>
            </a:r>
            <a:r>
              <a:rPr dirty="0" sz="1700" spc="-35">
                <a:solidFill>
                  <a:srgbClr val="363633"/>
                </a:solidFill>
                <a:latin typeface="Arial"/>
                <a:cs typeface="Arial"/>
              </a:rPr>
              <a:t>o</a:t>
            </a:r>
            <a:r>
              <a:rPr dirty="0" sz="1700" spc="-35">
                <a:solidFill>
                  <a:srgbClr val="444D54"/>
                </a:solidFill>
                <a:latin typeface="Arial"/>
                <a:cs typeface="Arial"/>
              </a:rPr>
              <a:t>it</a:t>
            </a:r>
            <a:r>
              <a:rPr dirty="0" sz="1700" spc="-35">
                <a:solidFill>
                  <a:srgbClr val="363633"/>
                </a:solidFill>
                <a:latin typeface="Arial"/>
                <a:cs typeface="Arial"/>
              </a:rPr>
              <a:t>s</a:t>
            </a:r>
            <a:r>
              <a:rPr dirty="0" sz="1700" spc="-195">
                <a:solidFill>
                  <a:srgbClr val="363633"/>
                </a:solidFill>
                <a:latin typeface="Arial"/>
                <a:cs typeface="Arial"/>
              </a:rPr>
              <a:t> </a:t>
            </a:r>
            <a:r>
              <a:rPr dirty="0" sz="1700" spc="50">
                <a:solidFill>
                  <a:srgbClr val="444D54"/>
                </a:solidFill>
                <a:latin typeface="Arial"/>
                <a:cs typeface="Arial"/>
              </a:rPr>
              <a:t>i</a:t>
            </a:r>
            <a:r>
              <a:rPr dirty="0" sz="1700" spc="50">
                <a:solidFill>
                  <a:srgbClr val="363633"/>
                </a:solidFill>
                <a:latin typeface="Arial"/>
                <a:cs typeface="Arial"/>
              </a:rPr>
              <a:t>n</a:t>
            </a:r>
            <a:r>
              <a:rPr dirty="0" sz="1700" spc="-175">
                <a:solidFill>
                  <a:srgbClr val="363633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262623"/>
                </a:solidFill>
                <a:latin typeface="Arial"/>
                <a:cs typeface="Arial"/>
              </a:rPr>
              <a:t>rea</a:t>
            </a:r>
            <a:r>
              <a:rPr dirty="0" sz="1700" spc="-50">
                <a:solidFill>
                  <a:srgbClr val="444D54"/>
                </a:solidFill>
                <a:latin typeface="Arial"/>
                <a:cs typeface="Arial"/>
              </a:rPr>
              <a:t>l</a:t>
            </a:r>
            <a:r>
              <a:rPr dirty="0" sz="1700" spc="-140">
                <a:solidFill>
                  <a:srgbClr val="444D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63633"/>
                </a:solidFill>
                <a:latin typeface="Arial"/>
                <a:cs typeface="Arial"/>
              </a:rPr>
              <a:t>t</a:t>
            </a:r>
            <a:r>
              <a:rPr dirty="0" sz="1700" spc="-20">
                <a:solidFill>
                  <a:srgbClr val="444D54"/>
                </a:solidFill>
                <a:latin typeface="Arial"/>
                <a:cs typeface="Arial"/>
              </a:rPr>
              <a:t>i</a:t>
            </a:r>
            <a:r>
              <a:rPr dirty="0" sz="1700" spc="-20">
                <a:solidFill>
                  <a:srgbClr val="363633"/>
                </a:solidFill>
                <a:latin typeface="Arial"/>
                <a:cs typeface="Arial"/>
              </a:rPr>
              <a:t>me.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27138" y="3083355"/>
            <a:ext cx="6488430" cy="8032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4220"/>
              </a:lnSpc>
              <a:spcBef>
                <a:spcPts val="120"/>
              </a:spcBef>
            </a:pPr>
            <a:r>
              <a:rPr dirty="0" sz="3650" spc="-385">
                <a:solidFill>
                  <a:srgbClr val="444D54"/>
                </a:solidFill>
                <a:latin typeface="Arial"/>
                <a:cs typeface="Arial"/>
              </a:rPr>
              <a:t>�::::::::;����7rt-</a:t>
            </a:r>
            <a:r>
              <a:rPr dirty="0" sz="3650" spc="-254">
                <a:solidFill>
                  <a:srgbClr val="444D54"/>
                </a:solidFill>
                <a:latin typeface="Arial"/>
                <a:cs typeface="Arial"/>
              </a:rPr>
              <a:t>-</a:t>
            </a:r>
            <a:r>
              <a:rPr dirty="0" sz="3650" spc="-300">
                <a:solidFill>
                  <a:srgbClr val="444D54"/>
                </a:solidFill>
                <a:latin typeface="Arial"/>
                <a:cs typeface="Arial"/>
              </a:rPr>
              <a:t> </a:t>
            </a:r>
            <a:r>
              <a:rPr dirty="0" sz="3200" spc="195">
                <a:solidFill>
                  <a:srgbClr val="363633"/>
                </a:solidFill>
                <a:latin typeface="Arial"/>
                <a:cs typeface="Arial"/>
              </a:rPr>
              <a:t>@</a:t>
            </a:r>
            <a:r>
              <a:rPr dirty="0" sz="3200" spc="105">
                <a:solidFill>
                  <a:srgbClr val="363633"/>
                </a:solidFill>
                <a:latin typeface="Arial"/>
                <a:cs typeface="Arial"/>
              </a:rPr>
              <a:t> </a:t>
            </a:r>
            <a:r>
              <a:rPr dirty="0" sz="2100" spc="-95" b="1">
                <a:solidFill>
                  <a:srgbClr val="070705"/>
                </a:solidFill>
                <a:latin typeface="Arial"/>
                <a:cs typeface="Arial"/>
              </a:rPr>
              <a:t>Configur</a:t>
            </a:r>
            <a:r>
              <a:rPr dirty="0" sz="2100" spc="-95" b="1">
                <a:solidFill>
                  <a:srgbClr val="262623"/>
                </a:solidFill>
                <a:latin typeface="Arial"/>
                <a:cs typeface="Arial"/>
              </a:rPr>
              <a:t>a</a:t>
            </a:r>
            <a:r>
              <a:rPr dirty="0" sz="2100" spc="-95" b="1">
                <a:solidFill>
                  <a:srgbClr val="070705"/>
                </a:solidFill>
                <a:latin typeface="Arial"/>
                <a:cs typeface="Arial"/>
              </a:rPr>
              <a:t>tion</a:t>
            </a:r>
            <a:r>
              <a:rPr dirty="0" sz="2100" spc="-370" b="1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2100" spc="-509" b="1">
                <a:solidFill>
                  <a:srgbClr val="070705"/>
                </a:solidFill>
                <a:latin typeface="Arial"/>
                <a:cs typeface="Arial"/>
              </a:rPr>
              <a:t>Hardening</a:t>
            </a:r>
            <a:endParaRPr sz="2100">
              <a:latin typeface="Arial"/>
              <a:cs typeface="Arial"/>
            </a:endParaRPr>
          </a:p>
          <a:p>
            <a:pPr marL="3613150">
              <a:lnSpc>
                <a:spcPts val="1880"/>
              </a:lnSpc>
            </a:pPr>
            <a:r>
              <a:rPr dirty="0" sz="1700" spc="-85">
                <a:solidFill>
                  <a:srgbClr val="363633"/>
                </a:solidFill>
                <a:latin typeface="Arial"/>
                <a:cs typeface="Arial"/>
              </a:rPr>
              <a:t>CIS</a:t>
            </a:r>
            <a:r>
              <a:rPr dirty="0" sz="1700" spc="-215">
                <a:solidFill>
                  <a:srgbClr val="363633"/>
                </a:solidFill>
                <a:latin typeface="Arial"/>
                <a:cs typeface="Arial"/>
              </a:rPr>
              <a:t> </a:t>
            </a:r>
            <a:r>
              <a:rPr dirty="0" sz="1700" spc="-65">
                <a:solidFill>
                  <a:srgbClr val="363633"/>
                </a:solidFill>
                <a:latin typeface="Arial"/>
                <a:cs typeface="Arial"/>
              </a:rPr>
              <a:t>Benchmarks,</a:t>
            </a:r>
            <a:r>
              <a:rPr dirty="0" sz="1700" spc="15">
                <a:solidFill>
                  <a:srgbClr val="363633"/>
                </a:solidFill>
                <a:latin typeface="Arial"/>
                <a:cs typeface="Arial"/>
              </a:rPr>
              <a:t> </a:t>
            </a:r>
            <a:r>
              <a:rPr dirty="0" sz="1700" spc="-100">
                <a:solidFill>
                  <a:srgbClr val="262623"/>
                </a:solidFill>
                <a:latin typeface="Arial"/>
                <a:cs typeface="Arial"/>
              </a:rPr>
              <a:t>D</a:t>
            </a:r>
            <a:r>
              <a:rPr dirty="0" sz="1700" spc="-100">
                <a:solidFill>
                  <a:srgbClr val="070705"/>
                </a:solidFill>
                <a:latin typeface="Arial"/>
                <a:cs typeface="Arial"/>
              </a:rPr>
              <a:t>I</a:t>
            </a:r>
            <a:r>
              <a:rPr dirty="0" sz="1700" spc="-100">
                <a:solidFill>
                  <a:srgbClr val="363633"/>
                </a:solidFill>
                <a:latin typeface="Arial"/>
                <a:cs typeface="Arial"/>
              </a:rPr>
              <a:t>SA</a:t>
            </a:r>
            <a:r>
              <a:rPr dirty="0" sz="1700" spc="-150">
                <a:solidFill>
                  <a:srgbClr val="363633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63633"/>
                </a:solidFill>
                <a:latin typeface="Arial"/>
                <a:cs typeface="Arial"/>
              </a:rPr>
              <a:t>ST</a:t>
            </a:r>
            <a:r>
              <a:rPr dirty="0" sz="1700" spc="-20">
                <a:solidFill>
                  <a:srgbClr val="070705"/>
                </a:solidFill>
                <a:latin typeface="Arial"/>
                <a:cs typeface="Arial"/>
              </a:rPr>
              <a:t>I</a:t>
            </a:r>
            <a:r>
              <a:rPr dirty="0" sz="1700" spc="-20">
                <a:solidFill>
                  <a:srgbClr val="363633"/>
                </a:solidFill>
                <a:latin typeface="Arial"/>
                <a:cs typeface="Arial"/>
              </a:rPr>
              <a:t>Gs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34480" y="4021666"/>
            <a:ext cx="2805430" cy="52895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6510" marR="5080" indent="-4445">
              <a:lnSpc>
                <a:spcPts val="1910"/>
              </a:lnSpc>
              <a:spcBef>
                <a:spcPts val="280"/>
              </a:spcBef>
            </a:pPr>
            <a:r>
              <a:rPr dirty="0" sz="1700" spc="-65">
                <a:solidFill>
                  <a:srgbClr val="262623"/>
                </a:solidFill>
                <a:latin typeface="Arial"/>
                <a:cs typeface="Arial"/>
              </a:rPr>
              <a:t>Establ</a:t>
            </a:r>
            <a:r>
              <a:rPr dirty="0" sz="1700" spc="-65">
                <a:solidFill>
                  <a:srgbClr val="444D54"/>
                </a:solidFill>
                <a:latin typeface="Arial"/>
                <a:cs typeface="Arial"/>
              </a:rPr>
              <a:t>i</a:t>
            </a:r>
            <a:r>
              <a:rPr dirty="0" sz="1700" spc="-65">
                <a:solidFill>
                  <a:srgbClr val="262623"/>
                </a:solidFill>
                <a:latin typeface="Arial"/>
                <a:cs typeface="Arial"/>
              </a:rPr>
              <a:t>shes</a:t>
            </a:r>
            <a:r>
              <a:rPr dirty="0" sz="1700" spc="-114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1700" spc="75">
                <a:solidFill>
                  <a:srgbClr val="363633"/>
                </a:solidFill>
                <a:latin typeface="Arial"/>
                <a:cs typeface="Arial"/>
              </a:rPr>
              <a:t>a</a:t>
            </a:r>
            <a:r>
              <a:rPr dirty="0" sz="1700" spc="-150">
                <a:solidFill>
                  <a:srgbClr val="363633"/>
                </a:solidFill>
                <a:latin typeface="Arial"/>
                <a:cs typeface="Arial"/>
              </a:rPr>
              <a:t> </a:t>
            </a:r>
            <a:r>
              <a:rPr dirty="0" sz="1700" spc="-65">
                <a:solidFill>
                  <a:srgbClr val="262623"/>
                </a:solidFill>
                <a:latin typeface="Arial"/>
                <a:cs typeface="Arial"/>
              </a:rPr>
              <a:t>secure</a:t>
            </a:r>
            <a:r>
              <a:rPr dirty="0" sz="1700" spc="-7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62623"/>
                </a:solidFill>
                <a:latin typeface="Arial"/>
                <a:cs typeface="Arial"/>
              </a:rPr>
              <a:t>base</a:t>
            </a:r>
            <a:r>
              <a:rPr dirty="0" sz="1700" spc="-10">
                <a:solidFill>
                  <a:srgbClr val="070705"/>
                </a:solidFill>
                <a:latin typeface="Arial"/>
                <a:cs typeface="Arial"/>
              </a:rPr>
              <a:t>l</a:t>
            </a:r>
            <a:r>
              <a:rPr dirty="0" sz="1700" spc="-10">
                <a:solidFill>
                  <a:srgbClr val="262623"/>
                </a:solidFill>
                <a:latin typeface="Arial"/>
                <a:cs typeface="Arial"/>
              </a:rPr>
              <a:t>ine. </a:t>
            </a:r>
            <a:r>
              <a:rPr dirty="0" sz="1700" spc="-55">
                <a:solidFill>
                  <a:srgbClr val="363633"/>
                </a:solidFill>
                <a:latin typeface="Arial"/>
                <a:cs typeface="Arial"/>
              </a:rPr>
              <a:t>(</a:t>
            </a:r>
            <a:r>
              <a:rPr dirty="0" sz="1700" spc="-55">
                <a:solidFill>
                  <a:srgbClr val="070705"/>
                </a:solidFill>
                <a:latin typeface="Arial"/>
                <a:cs typeface="Arial"/>
              </a:rPr>
              <a:t>T</a:t>
            </a:r>
            <a:r>
              <a:rPr dirty="0" sz="1700" spc="-55">
                <a:solidFill>
                  <a:srgbClr val="262623"/>
                </a:solidFill>
                <a:latin typeface="Arial"/>
                <a:cs typeface="Arial"/>
              </a:rPr>
              <a:t>he</a:t>
            </a:r>
            <a:r>
              <a:rPr dirty="0" sz="1700" spc="-13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1700" spc="-40">
                <a:solidFill>
                  <a:srgbClr val="262623"/>
                </a:solidFill>
                <a:latin typeface="Arial"/>
                <a:cs typeface="Arial"/>
              </a:rPr>
              <a:t>Competitor's</a:t>
            </a:r>
            <a:r>
              <a:rPr dirty="0" sz="1700" spc="-7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1700" spc="-45">
                <a:solidFill>
                  <a:srgbClr val="262623"/>
                </a:solidFill>
                <a:latin typeface="Arial"/>
                <a:cs typeface="Arial"/>
              </a:rPr>
              <a:t>Ent</a:t>
            </a:r>
            <a:r>
              <a:rPr dirty="0" sz="1700" spc="-45">
                <a:solidFill>
                  <a:srgbClr val="070705"/>
                </a:solidFill>
                <a:latin typeface="Arial"/>
                <a:cs typeface="Arial"/>
              </a:rPr>
              <a:t>i</a:t>
            </a:r>
            <a:r>
              <a:rPr dirty="0" sz="1700" spc="-45">
                <a:solidFill>
                  <a:srgbClr val="363633"/>
                </a:solidFill>
                <a:latin typeface="Arial"/>
                <a:cs typeface="Arial"/>
              </a:rPr>
              <a:t>re</a:t>
            </a:r>
            <a:r>
              <a:rPr dirty="0" sz="1700" spc="-125">
                <a:solidFill>
                  <a:srgbClr val="363633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262623"/>
                </a:solidFill>
                <a:latin typeface="Arial"/>
                <a:cs typeface="Arial"/>
              </a:rPr>
              <a:t>Offer)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21544" y="5400411"/>
            <a:ext cx="179514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145">
                <a:solidFill>
                  <a:srgbClr val="444D54"/>
                </a:solidFill>
                <a:latin typeface="Arial"/>
                <a:cs typeface="Arial"/>
              </a:rPr>
              <a:t>-</a:t>
            </a:r>
            <a:r>
              <a:rPr dirty="0" sz="1100" spc="204">
                <a:solidFill>
                  <a:srgbClr val="444D54"/>
                </a:solidFill>
                <a:latin typeface="Arial"/>
                <a:cs typeface="Arial"/>
              </a:rPr>
              <a:t>+-</a:t>
            </a:r>
            <a:r>
              <a:rPr dirty="0" sz="1100" spc="175">
                <a:solidFill>
                  <a:srgbClr val="444D54"/>
                </a:solidFill>
                <a:latin typeface="Arial"/>
                <a:cs typeface="Arial"/>
              </a:rPr>
              <a:t>+i-</a:t>
            </a:r>
            <a:r>
              <a:rPr dirty="0" sz="1100" spc="229">
                <a:solidFill>
                  <a:srgbClr val="444D54"/>
                </a:solidFill>
                <a:latin typeface="Arial"/>
                <a:cs typeface="Arial"/>
              </a:rPr>
              <a:t>++-</a:t>
            </a:r>
            <a:r>
              <a:rPr dirty="0" sz="1100" spc="145">
                <a:solidFill>
                  <a:srgbClr val="444D54"/>
                </a:solidFill>
                <a:latin typeface="Arial"/>
                <a:cs typeface="Arial"/>
              </a:rPr>
              <a:t>----</a:t>
            </a:r>
            <a:r>
              <a:rPr dirty="0" sz="1100" spc="220">
                <a:solidFill>
                  <a:srgbClr val="444D54"/>
                </a:solidFill>
                <a:latin typeface="Arial"/>
                <a:cs typeface="Arial"/>
              </a:rPr>
              <a:t>1+-</a:t>
            </a:r>
            <a:r>
              <a:rPr dirty="0" sz="1100" spc="140">
                <a:solidFill>
                  <a:srgbClr val="444D54"/>
                </a:solidFill>
                <a:latin typeface="Arial"/>
                <a:cs typeface="Arial"/>
              </a:rPr>
              <a:t>-</a:t>
            </a:r>
            <a:r>
              <a:rPr dirty="0" sz="1100" spc="190">
                <a:solidFill>
                  <a:srgbClr val="444D54"/>
                </a:solidFill>
                <a:latin typeface="Arial"/>
                <a:cs typeface="Arial"/>
              </a:rPr>
              <a:t>H'-</a:t>
            </a:r>
            <a:r>
              <a:rPr dirty="0" sz="1100" spc="150">
                <a:solidFill>
                  <a:srgbClr val="444D54"/>
                </a:solidFill>
                <a:latin typeface="Arial"/>
                <a:cs typeface="Arial"/>
              </a:rPr>
              <a:t>-</a:t>
            </a:r>
            <a:r>
              <a:rPr dirty="0" sz="1100" spc="100">
                <a:solidFill>
                  <a:srgbClr val="262623"/>
                </a:solidFill>
                <a:latin typeface="Arial"/>
                <a:cs typeface="Arial"/>
              </a:rPr>
              <a:t>-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89189" y="5119555"/>
            <a:ext cx="3848735" cy="14478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3885"/>
              </a:lnSpc>
              <a:spcBef>
                <a:spcPts val="114"/>
              </a:spcBef>
            </a:pPr>
            <a:r>
              <a:rPr dirty="0" sz="3300" spc="975">
                <a:solidFill>
                  <a:srgbClr val="363633"/>
                </a:solidFill>
                <a:latin typeface="Times New Roman"/>
                <a:cs typeface="Times New Roman"/>
              </a:rPr>
              <a:t>O</a:t>
            </a:r>
            <a:r>
              <a:rPr dirty="0" sz="3300" spc="125">
                <a:solidFill>
                  <a:srgbClr val="363633"/>
                </a:solidFill>
                <a:latin typeface="Times New Roman"/>
                <a:cs typeface="Times New Roman"/>
              </a:rPr>
              <a:t> </a:t>
            </a:r>
            <a:r>
              <a:rPr dirty="0" sz="2100" spc="-85" b="1">
                <a:solidFill>
                  <a:srgbClr val="070705"/>
                </a:solidFill>
                <a:latin typeface="Arial"/>
                <a:cs typeface="Arial"/>
              </a:rPr>
              <a:t>Hard</a:t>
            </a:r>
            <a:r>
              <a:rPr dirty="0" sz="2100" spc="-85" b="1">
                <a:solidFill>
                  <a:srgbClr val="262623"/>
                </a:solidFill>
                <a:latin typeface="Arial"/>
                <a:cs typeface="Arial"/>
              </a:rPr>
              <a:t>e</a:t>
            </a:r>
            <a:r>
              <a:rPr dirty="0" sz="2100" spc="-85" b="1">
                <a:solidFill>
                  <a:srgbClr val="070705"/>
                </a:solidFill>
                <a:latin typeface="Arial"/>
                <a:cs typeface="Arial"/>
              </a:rPr>
              <a:t>ned</a:t>
            </a:r>
            <a:r>
              <a:rPr dirty="0" sz="2100" spc="-275" b="1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2100" spc="-70" b="1">
                <a:solidFill>
                  <a:srgbClr val="070705"/>
                </a:solidFill>
                <a:latin typeface="Arial"/>
                <a:cs typeface="Arial"/>
              </a:rPr>
              <a:t>M</a:t>
            </a:r>
            <a:r>
              <a:rPr dirty="0" sz="2100" spc="-70" b="1">
                <a:solidFill>
                  <a:srgbClr val="262623"/>
                </a:solidFill>
                <a:latin typeface="Arial"/>
                <a:cs typeface="Arial"/>
              </a:rPr>
              <a:t>e</a:t>
            </a:r>
            <a:r>
              <a:rPr dirty="0" sz="2100" spc="-70" b="1">
                <a:solidFill>
                  <a:srgbClr val="070705"/>
                </a:solidFill>
                <a:latin typeface="Arial"/>
                <a:cs typeface="Arial"/>
              </a:rPr>
              <a:t>mory</a:t>
            </a:r>
            <a:r>
              <a:rPr dirty="0" sz="2100" spc="-200" b="1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2100" spc="-70" b="1">
                <a:solidFill>
                  <a:srgbClr val="070705"/>
                </a:solidFill>
                <a:latin typeface="Arial"/>
                <a:cs typeface="Arial"/>
              </a:rPr>
              <a:t>Alloc</a:t>
            </a:r>
            <a:r>
              <a:rPr dirty="0" sz="2100" spc="-70" b="1">
                <a:solidFill>
                  <a:srgbClr val="262623"/>
                </a:solidFill>
                <a:latin typeface="Arial"/>
                <a:cs typeface="Arial"/>
              </a:rPr>
              <a:t>a</a:t>
            </a:r>
            <a:r>
              <a:rPr dirty="0" sz="2100" spc="-70" b="1">
                <a:solidFill>
                  <a:srgbClr val="070705"/>
                </a:solidFill>
                <a:latin typeface="Arial"/>
                <a:cs typeface="Arial"/>
              </a:rPr>
              <a:t>tor</a:t>
            </a:r>
            <a:endParaRPr sz="2100">
              <a:latin typeface="Arial"/>
              <a:cs typeface="Arial"/>
            </a:endParaRPr>
          </a:p>
          <a:p>
            <a:pPr marL="560705">
              <a:lnSpc>
                <a:spcPts val="1964"/>
              </a:lnSpc>
            </a:pPr>
            <a:r>
              <a:rPr dirty="0" sz="1700" spc="-10">
                <a:solidFill>
                  <a:srgbClr val="363633"/>
                </a:solidFill>
                <a:latin typeface="Arial"/>
                <a:cs typeface="Arial"/>
              </a:rPr>
              <a:t>hardened_malloc</a:t>
            </a:r>
            <a:endParaRPr sz="1700">
              <a:latin typeface="Arial"/>
              <a:cs typeface="Arial"/>
            </a:endParaRPr>
          </a:p>
          <a:p>
            <a:pPr marL="560705" marR="600075" indent="-2540">
              <a:lnSpc>
                <a:spcPct val="103499"/>
              </a:lnSpc>
              <a:spcBef>
                <a:spcPts val="1105"/>
              </a:spcBef>
            </a:pPr>
            <a:r>
              <a:rPr dirty="0" sz="1700" spc="-65">
                <a:solidFill>
                  <a:srgbClr val="262623"/>
                </a:solidFill>
                <a:latin typeface="Arial"/>
                <a:cs typeface="Arial"/>
              </a:rPr>
              <a:t>Prevents</a:t>
            </a:r>
            <a:r>
              <a:rPr dirty="0" sz="1700" spc="-3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1700" spc="-40">
                <a:solidFill>
                  <a:srgbClr val="262623"/>
                </a:solidFill>
                <a:latin typeface="Arial"/>
                <a:cs typeface="Arial"/>
              </a:rPr>
              <a:t>heap</a:t>
            </a:r>
            <a:r>
              <a:rPr dirty="0" sz="1700" spc="-19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63633"/>
                </a:solidFill>
                <a:latin typeface="Arial"/>
                <a:cs typeface="Arial"/>
              </a:rPr>
              <a:t>co</a:t>
            </a:r>
            <a:r>
              <a:rPr dirty="0" sz="1700" spc="-20">
                <a:solidFill>
                  <a:srgbClr val="070705"/>
                </a:solidFill>
                <a:latin typeface="Arial"/>
                <a:cs typeface="Arial"/>
              </a:rPr>
              <a:t>r</a:t>
            </a:r>
            <a:r>
              <a:rPr dirty="0" sz="1700" spc="-20">
                <a:solidFill>
                  <a:srgbClr val="363633"/>
                </a:solidFill>
                <a:latin typeface="Arial"/>
                <a:cs typeface="Arial"/>
              </a:rPr>
              <a:t>ruption</a:t>
            </a:r>
            <a:r>
              <a:rPr dirty="0" sz="1700" spc="-220">
                <a:solidFill>
                  <a:srgbClr val="363633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63633"/>
                </a:solidFill>
                <a:latin typeface="Arial"/>
                <a:cs typeface="Arial"/>
              </a:rPr>
              <a:t>a</a:t>
            </a:r>
            <a:r>
              <a:rPr dirty="0" sz="1700" spc="-25">
                <a:solidFill>
                  <a:srgbClr val="444D54"/>
                </a:solidFill>
                <a:latin typeface="Arial"/>
                <a:cs typeface="Arial"/>
              </a:rPr>
              <a:t>n</a:t>
            </a:r>
            <a:r>
              <a:rPr dirty="0" sz="1700" spc="-25">
                <a:solidFill>
                  <a:srgbClr val="262623"/>
                </a:solidFill>
                <a:latin typeface="Arial"/>
                <a:cs typeface="Arial"/>
              </a:rPr>
              <a:t>d </a:t>
            </a:r>
            <a:r>
              <a:rPr dirty="0" sz="1700" spc="-50">
                <a:solidFill>
                  <a:srgbClr val="363633"/>
                </a:solidFill>
                <a:latin typeface="Arial"/>
                <a:cs typeface="Arial"/>
              </a:rPr>
              <a:t>memory</a:t>
            </a:r>
            <a:r>
              <a:rPr dirty="0" sz="1700" spc="-65">
                <a:solidFill>
                  <a:srgbClr val="363633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62623"/>
                </a:solidFill>
                <a:latin typeface="Arial"/>
                <a:cs typeface="Arial"/>
              </a:rPr>
              <a:t>exploits.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688" y="4493948"/>
            <a:ext cx="917058" cy="102129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793" y="6102482"/>
            <a:ext cx="1095375" cy="10978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8741" y="7813145"/>
            <a:ext cx="1018953" cy="4085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87639" y="5668433"/>
            <a:ext cx="5578770" cy="375324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89689" y="8221660"/>
            <a:ext cx="0" cy="612775"/>
          </a:xfrm>
          <a:custGeom>
            <a:avLst/>
            <a:gdLst/>
            <a:ahLst/>
            <a:cxnLst/>
            <a:rect l="l" t="t" r="r" b="b"/>
            <a:pathLst>
              <a:path w="0" h="612775">
                <a:moveTo>
                  <a:pt x="0" y="612774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81273" y="8221660"/>
            <a:ext cx="0" cy="612775"/>
          </a:xfrm>
          <a:custGeom>
            <a:avLst/>
            <a:gdLst/>
            <a:ahLst/>
            <a:cxnLst/>
            <a:rect l="l" t="t" r="r" b="b"/>
            <a:pathLst>
              <a:path w="0" h="612775">
                <a:moveTo>
                  <a:pt x="0" y="612774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774826" y="7098239"/>
            <a:ext cx="0" cy="919480"/>
          </a:xfrm>
          <a:custGeom>
            <a:avLst/>
            <a:gdLst/>
            <a:ahLst/>
            <a:cxnLst/>
            <a:rect l="l" t="t" r="r" b="b"/>
            <a:pathLst>
              <a:path w="0" h="919479">
                <a:moveTo>
                  <a:pt x="0" y="91916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4215" y="8783370"/>
            <a:ext cx="968375" cy="0"/>
          </a:xfrm>
          <a:custGeom>
            <a:avLst/>
            <a:gdLst/>
            <a:ahLst/>
            <a:cxnLst/>
            <a:rect l="l" t="t" r="r" b="b"/>
            <a:pathLst>
              <a:path w="968375" h="0">
                <a:moveTo>
                  <a:pt x="0" y="0"/>
                </a:moveTo>
                <a:lnTo>
                  <a:pt x="968005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380285" y="9357846"/>
            <a:ext cx="1121410" cy="0"/>
          </a:xfrm>
          <a:custGeom>
            <a:avLst/>
            <a:gdLst/>
            <a:ahLst/>
            <a:cxnLst/>
            <a:rect l="l" t="t" r="r" b="b"/>
            <a:pathLst>
              <a:path w="1121409" h="0">
                <a:moveTo>
                  <a:pt x="0" y="0"/>
                </a:moveTo>
                <a:lnTo>
                  <a:pt x="112084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705407" y="485443"/>
            <a:ext cx="9530715" cy="57721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600" spc="-140">
                <a:solidFill>
                  <a:srgbClr val="080805"/>
                </a:solidFill>
                <a:latin typeface="Arial"/>
                <a:cs typeface="Arial"/>
              </a:rPr>
              <a:t>''Layer</a:t>
            </a:r>
            <a:r>
              <a:rPr dirty="0" sz="3600" spc="-235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3600" spc="-190">
                <a:solidFill>
                  <a:srgbClr val="080805"/>
                </a:solidFill>
                <a:latin typeface="Arial"/>
                <a:cs typeface="Arial"/>
              </a:rPr>
              <a:t>1'':</a:t>
            </a:r>
            <a:r>
              <a:rPr dirty="0" sz="3600" spc="-25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3500" b="0">
                <a:solidFill>
                  <a:srgbClr val="080805"/>
                </a:solidFill>
                <a:latin typeface="Arial"/>
                <a:cs typeface="Arial"/>
              </a:rPr>
              <a:t>Linux</a:t>
            </a:r>
            <a:r>
              <a:rPr dirty="0" sz="3500" spc="20" b="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3500" b="0">
                <a:solidFill>
                  <a:srgbClr val="080805"/>
                </a:solidFill>
                <a:latin typeface="Arial"/>
                <a:cs typeface="Arial"/>
              </a:rPr>
              <a:t>Kernel</a:t>
            </a:r>
            <a:r>
              <a:rPr dirty="0" sz="3500" spc="-25" b="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3500" b="0">
                <a:solidFill>
                  <a:srgbClr val="080805"/>
                </a:solidFill>
                <a:latin typeface="Arial"/>
                <a:cs typeface="Arial"/>
              </a:rPr>
              <a:t>Runtime</a:t>
            </a:r>
            <a:r>
              <a:rPr dirty="0" sz="3500" spc="70" b="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3500" b="0">
                <a:solidFill>
                  <a:srgbClr val="080805"/>
                </a:solidFill>
                <a:latin typeface="Arial"/>
                <a:cs typeface="Arial"/>
              </a:rPr>
              <a:t>Guard</a:t>
            </a:r>
            <a:r>
              <a:rPr dirty="0" sz="3500" spc="50" b="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3500" spc="-125" b="0">
                <a:solidFill>
                  <a:srgbClr val="080805"/>
                </a:solidFill>
                <a:latin typeface="Arial"/>
                <a:cs typeface="Arial"/>
              </a:rPr>
              <a:t>(LKRG)</a:t>
            </a:r>
            <a:r>
              <a:rPr dirty="0" sz="3500" spc="110" b="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3500" spc="-50" b="0">
                <a:solidFill>
                  <a:srgbClr val="080805"/>
                </a:solidFill>
                <a:latin typeface="Arial"/>
                <a:cs typeface="Arial"/>
              </a:rPr>
              <a:t>-</a:t>
            </a:r>
            <a:endParaRPr sz="3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147783" y="9418922"/>
            <a:ext cx="125476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B3B38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3B3B3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61613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38356" y="498209"/>
            <a:ext cx="5893435" cy="561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0" spc="-10">
                <a:solidFill>
                  <a:srgbClr val="080805"/>
                </a:solidFill>
                <a:latin typeface="Arial"/>
                <a:cs typeface="Arial"/>
              </a:rPr>
              <a:t>Real-</a:t>
            </a:r>
            <a:r>
              <a:rPr dirty="0" sz="3500">
                <a:solidFill>
                  <a:srgbClr val="080805"/>
                </a:solidFill>
                <a:latin typeface="Arial"/>
                <a:cs typeface="Arial"/>
              </a:rPr>
              <a:t>Time</a:t>
            </a:r>
            <a:r>
              <a:rPr dirty="0" sz="3500" spc="18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3500">
                <a:solidFill>
                  <a:srgbClr val="080805"/>
                </a:solidFill>
                <a:latin typeface="Arial"/>
                <a:cs typeface="Arial"/>
              </a:rPr>
              <a:t>Exploit</a:t>
            </a:r>
            <a:r>
              <a:rPr dirty="0" sz="3500" spc="24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3500" spc="-10">
                <a:solidFill>
                  <a:srgbClr val="080805"/>
                </a:solidFill>
                <a:latin typeface="Arial"/>
                <a:cs typeface="Arial"/>
              </a:rPr>
              <a:t>Prevention</a:t>
            </a:r>
            <a:endParaRPr sz="3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9217" y="1457406"/>
            <a:ext cx="7668895" cy="566293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just" marL="22225">
              <a:lnSpc>
                <a:spcPct val="100000"/>
              </a:lnSpc>
              <a:spcBef>
                <a:spcPts val="700"/>
              </a:spcBef>
            </a:pPr>
            <a:r>
              <a:rPr dirty="0" sz="2600">
                <a:solidFill>
                  <a:srgbClr val="1C1C18"/>
                </a:solidFill>
                <a:latin typeface="Arial"/>
                <a:cs typeface="Arial"/>
              </a:rPr>
              <a:t>What</a:t>
            </a:r>
            <a:r>
              <a:rPr dirty="0" sz="2600" spc="114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080805"/>
                </a:solidFill>
                <a:latin typeface="Arial"/>
                <a:cs typeface="Arial"/>
              </a:rPr>
              <a:t>It</a:t>
            </a:r>
            <a:r>
              <a:rPr dirty="0" sz="2600" spc="19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600" spc="-25">
                <a:solidFill>
                  <a:srgbClr val="080805"/>
                </a:solidFill>
                <a:latin typeface="Arial"/>
                <a:cs typeface="Arial"/>
              </a:rPr>
              <a:t>Is</a:t>
            </a:r>
            <a:endParaRPr sz="2600">
              <a:latin typeface="Arial"/>
              <a:cs typeface="Arial"/>
            </a:endParaRPr>
          </a:p>
          <a:p>
            <a:pPr algn="just" marL="17145" marR="376555" indent="-3175">
              <a:lnSpc>
                <a:spcPts val="2510"/>
              </a:lnSpc>
              <a:spcBef>
                <a:spcPts val="890"/>
              </a:spcBef>
            </a:pPr>
            <a:r>
              <a:rPr dirty="0" sz="2350">
                <a:solidFill>
                  <a:srgbClr val="1C1C18"/>
                </a:solidFill>
                <a:latin typeface="Arial"/>
                <a:cs typeface="Arial"/>
              </a:rPr>
              <a:t>A</a:t>
            </a:r>
            <a:r>
              <a:rPr dirty="0" sz="2350" spc="-18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50">
                <a:solidFill>
                  <a:srgbClr val="1C1C18"/>
                </a:solidFill>
                <a:latin typeface="Arial"/>
                <a:cs typeface="Arial"/>
              </a:rPr>
              <a:t>runtime</a:t>
            </a:r>
            <a:r>
              <a:rPr dirty="0" sz="2350" spc="-17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55">
                <a:solidFill>
                  <a:srgbClr val="1C1C18"/>
                </a:solidFill>
                <a:latin typeface="Arial"/>
                <a:cs typeface="Arial"/>
              </a:rPr>
              <a:t>guard</a:t>
            </a:r>
            <a:r>
              <a:rPr dirty="0" sz="2350" spc="-14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15">
                <a:solidFill>
                  <a:srgbClr val="1C1C18"/>
                </a:solidFill>
                <a:latin typeface="Arial"/>
                <a:cs typeface="Arial"/>
              </a:rPr>
              <a:t>that</a:t>
            </a:r>
            <a:r>
              <a:rPr dirty="0" sz="2350" spc="-10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55">
                <a:solidFill>
                  <a:srgbClr val="1C1C18"/>
                </a:solidFill>
                <a:latin typeface="Arial"/>
                <a:cs typeface="Arial"/>
              </a:rPr>
              <a:t>continuously</a:t>
            </a:r>
            <a:r>
              <a:rPr dirty="0" sz="2350" spc="7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60">
                <a:solidFill>
                  <a:srgbClr val="1C1C18"/>
                </a:solidFill>
                <a:latin typeface="Arial"/>
                <a:cs typeface="Arial"/>
              </a:rPr>
              <a:t>monitors</a:t>
            </a:r>
            <a:r>
              <a:rPr dirty="0" sz="2350" spc="1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40">
                <a:solidFill>
                  <a:srgbClr val="1C1C18"/>
                </a:solidFill>
                <a:latin typeface="Arial"/>
                <a:cs typeface="Arial"/>
              </a:rPr>
              <a:t>the</a:t>
            </a:r>
            <a:r>
              <a:rPr dirty="0" sz="2350" spc="-27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70">
                <a:solidFill>
                  <a:srgbClr val="1C1C18"/>
                </a:solidFill>
                <a:latin typeface="Arial"/>
                <a:cs typeface="Arial"/>
              </a:rPr>
              <a:t>kernel</a:t>
            </a:r>
            <a:r>
              <a:rPr dirty="0" sz="2350" spc="-9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25">
                <a:solidFill>
                  <a:srgbClr val="1C1C18"/>
                </a:solidFill>
                <a:latin typeface="Arial"/>
                <a:cs typeface="Arial"/>
              </a:rPr>
              <a:t>for</a:t>
            </a:r>
            <a:r>
              <a:rPr dirty="0" sz="2350" spc="1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45">
                <a:solidFill>
                  <a:srgbClr val="1C1C18"/>
                </a:solidFill>
                <a:latin typeface="Arial"/>
                <a:cs typeface="Arial"/>
              </a:rPr>
              <a:t>signs</a:t>
            </a:r>
            <a:r>
              <a:rPr dirty="0" sz="2350" spc="-12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45">
                <a:solidFill>
                  <a:srgbClr val="1C1C18"/>
                </a:solidFill>
                <a:latin typeface="Arial"/>
                <a:cs typeface="Arial"/>
              </a:rPr>
              <a:t>of</a:t>
            </a:r>
            <a:r>
              <a:rPr dirty="0" sz="2350" spc="-12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70">
                <a:solidFill>
                  <a:srgbClr val="1C1C18"/>
                </a:solidFill>
                <a:latin typeface="Arial"/>
                <a:cs typeface="Arial"/>
              </a:rPr>
              <a:t>compromise,</a:t>
            </a:r>
            <a:r>
              <a:rPr dirty="0" sz="2350" spc="9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5">
                <a:solidFill>
                  <a:srgbClr val="1C1C18"/>
                </a:solidFill>
                <a:latin typeface="Arial"/>
                <a:cs typeface="Arial"/>
              </a:rPr>
              <a:t>acting</a:t>
            </a:r>
            <a:r>
              <a:rPr dirty="0" sz="2350" spc="-6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1C1C18"/>
                </a:solidFill>
                <a:latin typeface="Arial"/>
                <a:cs typeface="Arial"/>
              </a:rPr>
              <a:t>as</a:t>
            </a:r>
            <a:r>
              <a:rPr dirty="0" sz="2350" spc="-18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85">
                <a:solidFill>
                  <a:srgbClr val="1C1C18"/>
                </a:solidFill>
                <a:latin typeface="Arial"/>
                <a:cs typeface="Arial"/>
              </a:rPr>
              <a:t>an</a:t>
            </a:r>
            <a:r>
              <a:rPr dirty="0" sz="2350" spc="-13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5">
                <a:solidFill>
                  <a:srgbClr val="1C1C18"/>
                </a:solidFill>
                <a:latin typeface="Arial"/>
                <a:cs typeface="Arial"/>
              </a:rPr>
              <a:t>active</a:t>
            </a:r>
            <a:r>
              <a:rPr dirty="0" sz="2350" spc="-12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65">
                <a:solidFill>
                  <a:srgbClr val="1C1C18"/>
                </a:solidFill>
                <a:latin typeface="Arial"/>
                <a:cs typeface="Arial"/>
              </a:rPr>
              <a:t>defense</a:t>
            </a:r>
            <a:r>
              <a:rPr dirty="0" sz="2350" spc="-8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60">
                <a:solidFill>
                  <a:srgbClr val="1C1C18"/>
                </a:solidFill>
                <a:latin typeface="Arial"/>
                <a:cs typeface="Arial"/>
              </a:rPr>
              <a:t>against</a:t>
            </a:r>
            <a:r>
              <a:rPr dirty="0" sz="2350" spc="-4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5">
                <a:solidFill>
                  <a:srgbClr val="080805"/>
                </a:solidFill>
                <a:latin typeface="Arial"/>
                <a:cs typeface="Arial"/>
              </a:rPr>
              <a:t>bot</a:t>
            </a:r>
            <a:r>
              <a:rPr dirty="0" sz="2350">
                <a:solidFill>
                  <a:srgbClr val="080805"/>
                </a:solidFill>
                <a:latin typeface="Arial"/>
                <a:cs typeface="Arial"/>
              </a:rPr>
              <a:t>h</a:t>
            </a:r>
            <a:r>
              <a:rPr dirty="0" sz="2350" spc="-175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350" spc="-35">
                <a:solidFill>
                  <a:srgbClr val="1C1C18"/>
                </a:solidFill>
                <a:latin typeface="Arial"/>
                <a:cs typeface="Arial"/>
              </a:rPr>
              <a:t>known</a:t>
            </a:r>
            <a:r>
              <a:rPr dirty="0" sz="2350" spc="-14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30">
                <a:solidFill>
                  <a:srgbClr val="1C1C18"/>
                </a:solidFill>
                <a:latin typeface="Arial"/>
                <a:cs typeface="Arial"/>
              </a:rPr>
              <a:t>and</a:t>
            </a:r>
            <a:r>
              <a:rPr dirty="0" sz="2350" spc="-9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65">
                <a:solidFill>
                  <a:srgbClr val="1C1C18"/>
                </a:solidFill>
                <a:latin typeface="Arial"/>
                <a:cs typeface="Arial"/>
              </a:rPr>
              <a:t>zero-</a:t>
            </a:r>
            <a:r>
              <a:rPr dirty="0" sz="2350" spc="-80">
                <a:solidFill>
                  <a:srgbClr val="1C1C18"/>
                </a:solidFill>
                <a:latin typeface="Arial"/>
                <a:cs typeface="Arial"/>
              </a:rPr>
              <a:t>day</a:t>
            </a:r>
            <a:r>
              <a:rPr dirty="0" sz="2350" spc="2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1C1C18"/>
                </a:solidFill>
                <a:latin typeface="Arial"/>
                <a:cs typeface="Arial"/>
              </a:rPr>
              <a:t>exploits.</a:t>
            </a:r>
            <a:endParaRPr sz="2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45"/>
              </a:spcBef>
            </a:pPr>
            <a:endParaRPr sz="23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2600" spc="80">
                <a:solidFill>
                  <a:srgbClr val="080805"/>
                </a:solidFill>
                <a:latin typeface="Arial"/>
                <a:cs typeface="Arial"/>
              </a:rPr>
              <a:t>How</a:t>
            </a:r>
            <a:r>
              <a:rPr dirty="0" sz="2600" spc="-1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080805"/>
                </a:solidFill>
                <a:latin typeface="Arial"/>
                <a:cs typeface="Arial"/>
              </a:rPr>
              <a:t>It</a:t>
            </a:r>
            <a:r>
              <a:rPr dirty="0" sz="2600" spc="1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600" spc="70">
                <a:solidFill>
                  <a:srgbClr val="080805"/>
                </a:solidFill>
                <a:latin typeface="Arial"/>
                <a:cs typeface="Arial"/>
              </a:rPr>
              <a:t>Protects</a:t>
            </a:r>
            <a:r>
              <a:rPr dirty="0" sz="2600" spc="65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080805"/>
                </a:solidFill>
                <a:latin typeface="Arial"/>
                <a:cs typeface="Arial"/>
              </a:rPr>
              <a:t>Your</a:t>
            </a:r>
            <a:r>
              <a:rPr dirty="0" sz="2600" spc="-35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080805"/>
                </a:solidFill>
                <a:latin typeface="Arial"/>
                <a:cs typeface="Arial"/>
              </a:rPr>
              <a:t>Kernel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600">
              <a:latin typeface="Arial"/>
              <a:cs typeface="Arial"/>
            </a:endParaRPr>
          </a:p>
          <a:p>
            <a:pPr marL="1402715" marR="5080" indent="-8890">
              <a:lnSpc>
                <a:spcPts val="2610"/>
              </a:lnSpc>
              <a:spcBef>
                <a:spcPts val="5"/>
              </a:spcBef>
            </a:pPr>
            <a:r>
              <a:rPr dirty="0" sz="2350" spc="-45" b="1">
                <a:solidFill>
                  <a:srgbClr val="080805"/>
                </a:solidFill>
                <a:latin typeface="Arial"/>
                <a:cs typeface="Arial"/>
              </a:rPr>
              <a:t>Integrity</a:t>
            </a:r>
            <a:r>
              <a:rPr dirty="0" sz="2350" spc="-120" b="1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350" spc="-90" b="1">
                <a:solidFill>
                  <a:srgbClr val="080805"/>
                </a:solidFill>
                <a:latin typeface="Arial"/>
                <a:cs typeface="Arial"/>
              </a:rPr>
              <a:t>Checking:</a:t>
            </a:r>
            <a:r>
              <a:rPr dirty="0" sz="2350" spc="-125" b="1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350" spc="-40">
                <a:solidFill>
                  <a:srgbClr val="1C1C18"/>
                </a:solidFill>
                <a:latin typeface="Arial"/>
                <a:cs typeface="Arial"/>
              </a:rPr>
              <a:t>Continuously</a:t>
            </a:r>
            <a:r>
              <a:rPr dirty="0" sz="2350" spc="-4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C1C18"/>
                </a:solidFill>
                <a:latin typeface="Arial"/>
                <a:cs typeface="Arial"/>
              </a:rPr>
              <a:t>validates </a:t>
            </a:r>
            <a:r>
              <a:rPr dirty="0" sz="2350" spc="-25">
                <a:solidFill>
                  <a:srgbClr val="1C1C18"/>
                </a:solidFill>
                <a:latin typeface="Arial"/>
                <a:cs typeface="Arial"/>
              </a:rPr>
              <a:t>critical</a:t>
            </a:r>
            <a:r>
              <a:rPr dirty="0" sz="2350" spc="-14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65">
                <a:solidFill>
                  <a:srgbClr val="1C1C18"/>
                </a:solidFill>
                <a:latin typeface="Arial"/>
                <a:cs typeface="Arial"/>
              </a:rPr>
              <a:t>kernel</a:t>
            </a:r>
            <a:r>
              <a:rPr dirty="0" sz="2350" spc="-10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40">
                <a:solidFill>
                  <a:srgbClr val="1C1C18"/>
                </a:solidFill>
                <a:latin typeface="Arial"/>
                <a:cs typeface="Arial"/>
              </a:rPr>
              <a:t>structures,</a:t>
            </a:r>
            <a:r>
              <a:rPr dirty="0" sz="2350" spc="-10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60">
                <a:solidFill>
                  <a:srgbClr val="1C1C18"/>
                </a:solidFill>
                <a:latin typeface="Arial"/>
                <a:cs typeface="Arial"/>
              </a:rPr>
              <a:t>process</a:t>
            </a:r>
            <a:r>
              <a:rPr dirty="0" sz="2350" spc="-6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50">
                <a:solidFill>
                  <a:srgbClr val="1C1C18"/>
                </a:solidFill>
                <a:latin typeface="Arial"/>
                <a:cs typeface="Arial"/>
              </a:rPr>
              <a:t>credentials,</a:t>
            </a:r>
            <a:r>
              <a:rPr dirty="0" sz="2350" spc="-7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1C1C18"/>
                </a:solidFill>
                <a:latin typeface="Arial"/>
                <a:cs typeface="Arial"/>
              </a:rPr>
              <a:t>and </a:t>
            </a:r>
            <a:r>
              <a:rPr dirty="0" sz="2350" spc="-35">
                <a:solidFill>
                  <a:srgbClr val="1C1C18"/>
                </a:solidFill>
                <a:latin typeface="Arial"/>
                <a:cs typeface="Arial"/>
              </a:rPr>
              <a:t>security</a:t>
            </a:r>
            <a:r>
              <a:rPr dirty="0" sz="2350" spc="-114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35">
                <a:solidFill>
                  <a:srgbClr val="1C1C18"/>
                </a:solidFill>
                <a:latin typeface="Arial"/>
                <a:cs typeface="Arial"/>
              </a:rPr>
              <a:t>feature</a:t>
            </a:r>
            <a:r>
              <a:rPr dirty="0" sz="2350" spc="-12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30">
                <a:solidFill>
                  <a:srgbClr val="1C1C18"/>
                </a:solidFill>
                <a:latin typeface="Arial"/>
                <a:cs typeface="Arial"/>
              </a:rPr>
              <a:t>states</a:t>
            </a:r>
            <a:r>
              <a:rPr dirty="0" sz="2350" spc="-65">
                <a:solidFill>
                  <a:srgbClr val="1C1C18"/>
                </a:solidFill>
                <a:latin typeface="Arial"/>
                <a:cs typeface="Arial"/>
              </a:rPr>
              <a:t> (e.g.,</a:t>
            </a:r>
            <a:r>
              <a:rPr dirty="0" sz="2350" spc="-14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60">
                <a:solidFill>
                  <a:srgbClr val="1C1C18"/>
                </a:solidFill>
                <a:latin typeface="Arial"/>
                <a:cs typeface="Arial"/>
              </a:rPr>
              <a:t>SELinux</a:t>
            </a:r>
            <a:r>
              <a:rPr dirty="0" sz="2350" spc="3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C1C18"/>
                </a:solidFill>
                <a:latin typeface="Arial"/>
                <a:cs typeface="Arial"/>
              </a:rPr>
              <a:t>enforcing).</a:t>
            </a:r>
            <a:endParaRPr sz="2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35"/>
              </a:spcBef>
            </a:pPr>
            <a:endParaRPr sz="2350">
              <a:latin typeface="Arial"/>
              <a:cs typeface="Arial"/>
            </a:endParaRPr>
          </a:p>
          <a:p>
            <a:pPr marL="1397000" marR="52069" indent="-4445">
              <a:lnSpc>
                <a:spcPts val="2610"/>
              </a:lnSpc>
            </a:pPr>
            <a:r>
              <a:rPr dirty="0" sz="2350" spc="-120" b="1">
                <a:solidFill>
                  <a:srgbClr val="080805"/>
                </a:solidFill>
                <a:latin typeface="Arial"/>
                <a:cs typeface="Arial"/>
              </a:rPr>
              <a:t>Exploit</a:t>
            </a:r>
            <a:r>
              <a:rPr dirty="0" sz="2350" spc="-185" b="1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350" spc="-100" b="1">
                <a:solidFill>
                  <a:srgbClr val="080805"/>
                </a:solidFill>
                <a:latin typeface="Arial"/>
                <a:cs typeface="Arial"/>
              </a:rPr>
              <a:t>Detection:</a:t>
            </a:r>
            <a:r>
              <a:rPr dirty="0" sz="2350" spc="-160" b="1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080805"/>
                </a:solidFill>
                <a:latin typeface="Arial"/>
                <a:cs typeface="Arial"/>
              </a:rPr>
              <a:t>Identifies </a:t>
            </a:r>
            <a:r>
              <a:rPr dirty="0" sz="2350" spc="-110">
                <a:solidFill>
                  <a:srgbClr val="1C1C18"/>
                </a:solidFill>
                <a:latin typeface="Arial"/>
                <a:cs typeface="Arial"/>
              </a:rPr>
              <a:t>common</a:t>
            </a:r>
            <a:r>
              <a:rPr dirty="0" sz="2350" spc="-9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1C1C18"/>
                </a:solidFill>
                <a:latin typeface="Arial"/>
                <a:cs typeface="Arial"/>
              </a:rPr>
              <a:t>exploitation </a:t>
            </a:r>
            <a:r>
              <a:rPr dirty="0" sz="2350" spc="-60">
                <a:solidFill>
                  <a:srgbClr val="080805"/>
                </a:solidFill>
                <a:latin typeface="Arial"/>
                <a:cs typeface="Arial"/>
              </a:rPr>
              <a:t>techn</a:t>
            </a:r>
            <a:r>
              <a:rPr dirty="0" sz="2350" spc="-60">
                <a:solidFill>
                  <a:srgbClr val="2F2F2B"/>
                </a:solidFill>
                <a:latin typeface="Arial"/>
                <a:cs typeface="Arial"/>
              </a:rPr>
              <a:t>i</a:t>
            </a:r>
            <a:r>
              <a:rPr dirty="0" sz="2350" spc="-60">
                <a:solidFill>
                  <a:srgbClr val="080805"/>
                </a:solidFill>
                <a:latin typeface="Arial"/>
                <a:cs typeface="Arial"/>
              </a:rPr>
              <a:t>ques</a:t>
            </a:r>
            <a:r>
              <a:rPr dirty="0" sz="2350" spc="-60">
                <a:solidFill>
                  <a:srgbClr val="2F2F2B"/>
                </a:solidFill>
                <a:latin typeface="Arial"/>
                <a:cs typeface="Arial"/>
              </a:rPr>
              <a:t>,</a:t>
            </a:r>
            <a:r>
              <a:rPr dirty="0" sz="2350" spc="-195">
                <a:solidFill>
                  <a:srgbClr val="2F2F2B"/>
                </a:solidFill>
                <a:latin typeface="Arial"/>
                <a:cs typeface="Arial"/>
              </a:rPr>
              <a:t> </a:t>
            </a:r>
            <a:r>
              <a:rPr dirty="0" sz="2350" spc="-45">
                <a:solidFill>
                  <a:srgbClr val="2F2F2B"/>
                </a:solidFill>
                <a:latin typeface="Arial"/>
                <a:cs typeface="Arial"/>
              </a:rPr>
              <a:t>inc</a:t>
            </a:r>
            <a:r>
              <a:rPr dirty="0" sz="2350" spc="-45">
                <a:solidFill>
                  <a:srgbClr val="080805"/>
                </a:solidFill>
                <a:latin typeface="Arial"/>
                <a:cs typeface="Arial"/>
              </a:rPr>
              <a:t>luding</a:t>
            </a:r>
            <a:r>
              <a:rPr dirty="0" sz="2350" spc="-11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350" spc="-60">
                <a:solidFill>
                  <a:srgbClr val="1C1C18"/>
                </a:solidFill>
                <a:latin typeface="Arial"/>
                <a:cs typeface="Arial"/>
              </a:rPr>
              <a:t>privilege</a:t>
            </a:r>
            <a:r>
              <a:rPr dirty="0" sz="2350" spc="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C1C18"/>
                </a:solidFill>
                <a:latin typeface="Arial"/>
                <a:cs typeface="Arial"/>
              </a:rPr>
              <a:t>escalation,</a:t>
            </a:r>
            <a:endParaRPr sz="2350">
              <a:latin typeface="Arial"/>
              <a:cs typeface="Arial"/>
            </a:endParaRPr>
          </a:p>
          <a:p>
            <a:pPr marL="1390015">
              <a:lnSpc>
                <a:spcPts val="2465"/>
              </a:lnSpc>
            </a:pPr>
            <a:r>
              <a:rPr dirty="0" sz="2350" spc="-20">
                <a:solidFill>
                  <a:srgbClr val="1C1C18"/>
                </a:solidFill>
                <a:latin typeface="Arial"/>
                <a:cs typeface="Arial"/>
              </a:rPr>
              <a:t>control-</a:t>
            </a:r>
            <a:r>
              <a:rPr dirty="0" sz="2350">
                <a:solidFill>
                  <a:srgbClr val="1C1C18"/>
                </a:solidFill>
                <a:latin typeface="Arial"/>
                <a:cs typeface="Arial"/>
              </a:rPr>
              <a:t>flow</a:t>
            </a:r>
            <a:r>
              <a:rPr dirty="0" sz="2350" spc="1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50">
                <a:solidFill>
                  <a:srgbClr val="1C1C18"/>
                </a:solidFill>
                <a:latin typeface="Arial"/>
                <a:cs typeface="Arial"/>
              </a:rPr>
              <a:t>hijacking,</a:t>
            </a:r>
            <a:r>
              <a:rPr dirty="0" sz="2350" spc="-16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75">
                <a:solidFill>
                  <a:srgbClr val="1C1C18"/>
                </a:solidFill>
                <a:latin typeface="Arial"/>
                <a:cs typeface="Arial"/>
              </a:rPr>
              <a:t>and</a:t>
            </a:r>
            <a:r>
              <a:rPr dirty="0" sz="2350" spc="-11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55">
                <a:solidFill>
                  <a:srgbClr val="1C1C18"/>
                </a:solidFill>
                <a:latin typeface="Arial"/>
                <a:cs typeface="Arial"/>
              </a:rPr>
              <a:t>credential</a:t>
            </a:r>
            <a:r>
              <a:rPr dirty="0" sz="2350" spc="-6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C1C18"/>
                </a:solidFill>
                <a:latin typeface="Arial"/>
                <a:cs typeface="Arial"/>
              </a:rPr>
              <a:t>tampering.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8794" y="8132365"/>
            <a:ext cx="853440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89560">
              <a:lnSpc>
                <a:spcPct val="100000"/>
              </a:lnSpc>
              <a:spcBef>
                <a:spcPts val="120"/>
              </a:spcBef>
            </a:pPr>
            <a:r>
              <a:rPr dirty="0" sz="4100" spc="130">
                <a:solidFill>
                  <a:srgbClr val="13364F"/>
                </a:solidFill>
                <a:latin typeface="Arial"/>
                <a:cs typeface="Arial"/>
              </a:rPr>
              <a:t>0</a:t>
            </a:r>
            <a:endParaRPr sz="4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77816" y="7794062"/>
            <a:ext cx="6233160" cy="104965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 indent="7620">
              <a:lnSpc>
                <a:spcPts val="2610"/>
              </a:lnSpc>
              <a:spcBef>
                <a:spcPts val="375"/>
              </a:spcBef>
            </a:pPr>
            <a:r>
              <a:rPr dirty="0" sz="2350" spc="-95" b="1">
                <a:solidFill>
                  <a:srgbClr val="080805"/>
                </a:solidFill>
                <a:latin typeface="Arial"/>
                <a:cs typeface="Arial"/>
              </a:rPr>
              <a:t>Zero-</a:t>
            </a:r>
            <a:r>
              <a:rPr dirty="0" sz="2350" spc="-110" b="1">
                <a:solidFill>
                  <a:srgbClr val="080805"/>
                </a:solidFill>
                <a:latin typeface="Arial"/>
                <a:cs typeface="Arial"/>
              </a:rPr>
              <a:t>Day</a:t>
            </a:r>
            <a:r>
              <a:rPr dirty="0" sz="2350" spc="-160" b="1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350" spc="-105" b="1">
                <a:solidFill>
                  <a:srgbClr val="080805"/>
                </a:solidFill>
                <a:latin typeface="Arial"/>
                <a:cs typeface="Arial"/>
              </a:rPr>
              <a:t>Defense:</a:t>
            </a:r>
            <a:r>
              <a:rPr dirty="0" sz="2350" spc="-180" b="1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350" spc="-45">
                <a:solidFill>
                  <a:srgbClr val="1C1C18"/>
                </a:solidFill>
                <a:latin typeface="Arial"/>
                <a:cs typeface="Arial"/>
              </a:rPr>
              <a:t>Protects</a:t>
            </a:r>
            <a:r>
              <a:rPr dirty="0" sz="2350" spc="-11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75">
                <a:solidFill>
                  <a:srgbClr val="1C1C18"/>
                </a:solidFill>
                <a:latin typeface="Arial"/>
                <a:cs typeface="Arial"/>
              </a:rPr>
              <a:t>against</a:t>
            </a:r>
            <a:r>
              <a:rPr dirty="0" sz="2350" spc="1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70" i="1">
                <a:solidFill>
                  <a:srgbClr val="1C1C18"/>
                </a:solidFill>
                <a:latin typeface="Arial"/>
                <a:cs typeface="Arial"/>
              </a:rPr>
              <a:t>classes</a:t>
            </a:r>
            <a:r>
              <a:rPr dirty="0" sz="2350" spc="-45" i="1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1C1C18"/>
                </a:solidFill>
                <a:latin typeface="Arial"/>
                <a:cs typeface="Arial"/>
              </a:rPr>
              <a:t>of </a:t>
            </a:r>
            <a:r>
              <a:rPr dirty="0" sz="2350" spc="-40">
                <a:solidFill>
                  <a:srgbClr val="1C1C18"/>
                </a:solidFill>
                <a:latin typeface="Arial"/>
                <a:cs typeface="Arial"/>
              </a:rPr>
              <a:t>exploits,</a:t>
            </a:r>
            <a:r>
              <a:rPr dirty="0" sz="2350" spc="-15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50">
                <a:solidFill>
                  <a:srgbClr val="1C1C18"/>
                </a:solidFill>
                <a:latin typeface="Arial"/>
                <a:cs typeface="Arial"/>
              </a:rPr>
              <a:t>providing</a:t>
            </a:r>
            <a:r>
              <a:rPr dirty="0" sz="2350" spc="-10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85">
                <a:solidFill>
                  <a:srgbClr val="080805"/>
                </a:solidFill>
                <a:latin typeface="Arial"/>
                <a:cs typeface="Arial"/>
              </a:rPr>
              <a:t>defense</a:t>
            </a:r>
            <a:r>
              <a:rPr dirty="0" sz="2350" spc="-8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350" spc="-85">
                <a:solidFill>
                  <a:srgbClr val="1C1C18"/>
                </a:solidFill>
                <a:latin typeface="Arial"/>
                <a:cs typeface="Arial"/>
              </a:rPr>
              <a:t>even</a:t>
            </a:r>
            <a:r>
              <a:rPr dirty="0" sz="2350" spc="-14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65">
                <a:solidFill>
                  <a:srgbClr val="080805"/>
                </a:solidFill>
                <a:latin typeface="Arial"/>
                <a:cs typeface="Arial"/>
              </a:rPr>
              <a:t>before</a:t>
            </a:r>
            <a:r>
              <a:rPr dirty="0" sz="2350" spc="-6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1C1C18"/>
                </a:solidFill>
                <a:latin typeface="Arial"/>
                <a:cs typeface="Arial"/>
              </a:rPr>
              <a:t>a</a:t>
            </a:r>
            <a:r>
              <a:rPr dirty="0" sz="2350" spc="-7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C1C18"/>
                </a:solidFill>
                <a:latin typeface="Arial"/>
                <a:cs typeface="Arial"/>
              </a:rPr>
              <a:t>specific </a:t>
            </a:r>
            <a:r>
              <a:rPr dirty="0" sz="2350" spc="-50">
                <a:solidFill>
                  <a:srgbClr val="1C1C18"/>
                </a:solidFill>
                <a:latin typeface="Arial"/>
                <a:cs typeface="Arial"/>
              </a:rPr>
              <a:t>vulnerability</a:t>
            </a:r>
            <a:r>
              <a:rPr dirty="0" sz="2350" spc="-4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65">
                <a:solidFill>
                  <a:srgbClr val="1C1C18"/>
                </a:solidFill>
                <a:latin typeface="Arial"/>
                <a:cs typeface="Arial"/>
              </a:rPr>
              <a:t>is</a:t>
            </a:r>
            <a:r>
              <a:rPr dirty="0" sz="2350" spc="-29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50">
                <a:solidFill>
                  <a:srgbClr val="1C1C18"/>
                </a:solidFill>
                <a:latin typeface="Arial"/>
                <a:cs typeface="Arial"/>
              </a:rPr>
              <a:t>known</a:t>
            </a:r>
            <a:r>
              <a:rPr dirty="0" sz="2350" spc="-16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1C1C18"/>
                </a:solidFill>
                <a:latin typeface="Arial"/>
                <a:cs typeface="Arial"/>
              </a:rPr>
              <a:t>or</a:t>
            </a:r>
            <a:r>
              <a:rPr dirty="0" sz="2350" spc="-24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C1C18"/>
                </a:solidFill>
                <a:latin typeface="Arial"/>
                <a:cs typeface="Arial"/>
              </a:rPr>
              <a:t>patched.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06908" y="1457406"/>
            <a:ext cx="7578725" cy="368427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600">
                <a:solidFill>
                  <a:srgbClr val="080805"/>
                </a:solidFill>
                <a:latin typeface="Arial"/>
                <a:cs typeface="Arial"/>
              </a:rPr>
              <a:t>Proven</a:t>
            </a:r>
            <a:r>
              <a:rPr dirty="0" sz="2600" spc="11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600" spc="45">
                <a:solidFill>
                  <a:srgbClr val="080805"/>
                </a:solidFill>
                <a:latin typeface="Arial"/>
                <a:cs typeface="Arial"/>
              </a:rPr>
              <a:t>Effectiveness</a:t>
            </a:r>
            <a:endParaRPr sz="2600">
              <a:latin typeface="Arial"/>
              <a:cs typeface="Arial"/>
            </a:endParaRPr>
          </a:p>
          <a:p>
            <a:pPr marL="463550" marR="508634" indent="-263525">
              <a:lnSpc>
                <a:spcPts val="2510"/>
              </a:lnSpc>
              <a:spcBef>
                <a:spcPts val="890"/>
              </a:spcBef>
              <a:buChar char="•"/>
              <a:tabLst>
                <a:tab pos="463550" algn="l"/>
                <a:tab pos="469900" algn="l"/>
              </a:tabLst>
            </a:pPr>
            <a:r>
              <a:rPr dirty="0" sz="2350">
                <a:solidFill>
                  <a:srgbClr val="080805"/>
                </a:solidFill>
                <a:latin typeface="Arial"/>
                <a:cs typeface="Arial"/>
              </a:rPr>
              <a:t>	</a:t>
            </a:r>
            <a:r>
              <a:rPr dirty="0" sz="2350" spc="-60">
                <a:solidFill>
                  <a:srgbClr val="1C1C18"/>
                </a:solidFill>
                <a:latin typeface="Arial"/>
                <a:cs typeface="Arial"/>
              </a:rPr>
              <a:t>Successfully</a:t>
            </a:r>
            <a:r>
              <a:rPr dirty="0" sz="2350" spc="2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20">
                <a:solidFill>
                  <a:srgbClr val="080805"/>
                </a:solidFill>
                <a:latin typeface="Arial"/>
                <a:cs typeface="Arial"/>
              </a:rPr>
              <a:t>detects</a:t>
            </a:r>
            <a:r>
              <a:rPr dirty="0" sz="2350" spc="-145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350" spc="-30">
                <a:solidFill>
                  <a:srgbClr val="1C1C18"/>
                </a:solidFill>
                <a:latin typeface="Arial"/>
                <a:cs typeface="Arial"/>
              </a:rPr>
              <a:t>exploits</a:t>
            </a:r>
            <a:r>
              <a:rPr dirty="0" sz="2350" spc="-10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1C1C18"/>
                </a:solidFill>
                <a:latin typeface="Arial"/>
                <a:cs typeface="Arial"/>
              </a:rPr>
              <a:t>for</a:t>
            </a:r>
            <a:r>
              <a:rPr dirty="0" sz="2350" spc="-16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00">
                <a:solidFill>
                  <a:srgbClr val="1C1C18"/>
                </a:solidFill>
                <a:latin typeface="Arial"/>
                <a:cs typeface="Arial"/>
              </a:rPr>
              <a:t>numerous</a:t>
            </a:r>
            <a:r>
              <a:rPr dirty="0" sz="2350" spc="-4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30">
                <a:solidFill>
                  <a:srgbClr val="080805"/>
                </a:solidFill>
                <a:latin typeface="Arial"/>
                <a:cs typeface="Arial"/>
              </a:rPr>
              <a:t>historical </a:t>
            </a:r>
            <a:r>
              <a:rPr dirty="0" sz="2350" spc="-55">
                <a:solidFill>
                  <a:srgbClr val="1C1C18"/>
                </a:solidFill>
                <a:latin typeface="Arial"/>
                <a:cs typeface="Arial"/>
              </a:rPr>
              <a:t>kernel</a:t>
            </a:r>
            <a:r>
              <a:rPr dirty="0" sz="2350" spc="-8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70">
                <a:solidFill>
                  <a:srgbClr val="1C1C18"/>
                </a:solidFill>
                <a:latin typeface="Arial"/>
                <a:cs typeface="Arial"/>
              </a:rPr>
              <a:t>CVEs</a:t>
            </a:r>
            <a:r>
              <a:rPr dirty="0" sz="2350" spc="2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65">
                <a:solidFill>
                  <a:srgbClr val="1C1C18"/>
                </a:solidFill>
                <a:latin typeface="Arial"/>
                <a:cs typeface="Arial"/>
              </a:rPr>
              <a:t>(e.g.,</a:t>
            </a:r>
            <a:r>
              <a:rPr dirty="0" sz="2350" spc="-18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50">
                <a:solidFill>
                  <a:srgbClr val="1C1C18"/>
                </a:solidFill>
                <a:latin typeface="Arial"/>
                <a:cs typeface="Arial"/>
              </a:rPr>
              <a:t>BadlRET,</a:t>
            </a:r>
            <a:r>
              <a:rPr dirty="0" sz="2350" spc="2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C1C18"/>
                </a:solidFill>
                <a:latin typeface="Arial"/>
                <a:cs typeface="Arial"/>
              </a:rPr>
              <a:t>waitid(2)).</a:t>
            </a:r>
            <a:endParaRPr sz="2350">
              <a:latin typeface="Arial"/>
              <a:cs typeface="Arial"/>
            </a:endParaRPr>
          </a:p>
          <a:p>
            <a:pPr marL="459740" marR="5080" indent="-259715">
              <a:lnSpc>
                <a:spcPts val="2510"/>
              </a:lnSpc>
              <a:spcBef>
                <a:spcPts val="810"/>
              </a:spcBef>
              <a:buChar char="•"/>
              <a:tabLst>
                <a:tab pos="459740" algn="l"/>
                <a:tab pos="469265" algn="l"/>
              </a:tabLst>
            </a:pPr>
            <a:r>
              <a:rPr dirty="0" sz="2350">
                <a:solidFill>
                  <a:srgbClr val="080805"/>
                </a:solidFill>
                <a:latin typeface="Arial"/>
                <a:cs typeface="Arial"/>
              </a:rPr>
              <a:t>	</a:t>
            </a:r>
            <a:r>
              <a:rPr dirty="0" sz="2350" spc="-70">
                <a:solidFill>
                  <a:srgbClr val="1C1C18"/>
                </a:solidFill>
                <a:latin typeface="Arial"/>
                <a:cs typeface="Arial"/>
              </a:rPr>
              <a:t>Validated</a:t>
            </a:r>
            <a:r>
              <a:rPr dirty="0" sz="2350" spc="-10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30">
                <a:solidFill>
                  <a:srgbClr val="080805"/>
                </a:solidFill>
                <a:latin typeface="Arial"/>
                <a:cs typeface="Arial"/>
              </a:rPr>
              <a:t>by</a:t>
            </a:r>
            <a:r>
              <a:rPr dirty="0" sz="2350" spc="-19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350" spc="-55">
                <a:solidFill>
                  <a:srgbClr val="1C1C18"/>
                </a:solidFill>
                <a:latin typeface="Arial"/>
                <a:cs typeface="Arial"/>
              </a:rPr>
              <a:t>independent</a:t>
            </a:r>
            <a:r>
              <a:rPr dirty="0" sz="2350" spc="-11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80">
                <a:solidFill>
                  <a:srgbClr val="1C1C18"/>
                </a:solidFill>
                <a:latin typeface="Arial"/>
                <a:cs typeface="Arial"/>
              </a:rPr>
              <a:t>academic</a:t>
            </a:r>
            <a:r>
              <a:rPr dirty="0" sz="2350" spc="-5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70">
                <a:solidFill>
                  <a:srgbClr val="1C1C18"/>
                </a:solidFill>
                <a:latin typeface="Arial"/>
                <a:cs typeface="Arial"/>
              </a:rPr>
              <a:t>research</a:t>
            </a:r>
            <a:r>
              <a:rPr dirty="0" sz="2350" spc="-1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30">
                <a:solidFill>
                  <a:srgbClr val="1C1C18"/>
                </a:solidFill>
                <a:latin typeface="Arial"/>
                <a:cs typeface="Arial"/>
              </a:rPr>
              <a:t>as</a:t>
            </a:r>
            <a:r>
              <a:rPr dirty="0" sz="2350" spc="-19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75">
                <a:solidFill>
                  <a:srgbClr val="1C1C18"/>
                </a:solidFill>
                <a:latin typeface="Arial"/>
                <a:cs typeface="Arial"/>
              </a:rPr>
              <a:t>a</a:t>
            </a:r>
            <a:r>
              <a:rPr dirty="0" sz="2350" spc="-18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C1C18"/>
                </a:solidFill>
                <a:latin typeface="Arial"/>
                <a:cs typeface="Arial"/>
              </a:rPr>
              <a:t>highly effective</a:t>
            </a:r>
            <a:r>
              <a:rPr dirty="0" sz="2350" spc="-15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70">
                <a:solidFill>
                  <a:srgbClr val="1C1C18"/>
                </a:solidFill>
                <a:latin typeface="Arial"/>
                <a:cs typeface="Arial"/>
              </a:rPr>
              <a:t>kernel</a:t>
            </a:r>
            <a:r>
              <a:rPr dirty="0" sz="2350" spc="-10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1C1C18"/>
                </a:solidFill>
                <a:latin typeface="Arial"/>
                <a:cs typeface="Arial"/>
              </a:rPr>
              <a:t>rootkit</a:t>
            </a:r>
            <a:r>
              <a:rPr dirty="0" sz="2350" spc="1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080805"/>
                </a:solidFill>
                <a:latin typeface="Arial"/>
                <a:cs typeface="Arial"/>
              </a:rPr>
              <a:t>detector.</a:t>
            </a:r>
            <a:endParaRPr sz="2350">
              <a:latin typeface="Arial"/>
              <a:cs typeface="Arial"/>
            </a:endParaRPr>
          </a:p>
          <a:p>
            <a:pPr marL="50165">
              <a:lnSpc>
                <a:spcPct val="100000"/>
              </a:lnSpc>
              <a:spcBef>
                <a:spcPts val="1830"/>
              </a:spcBef>
            </a:pPr>
            <a:r>
              <a:rPr dirty="0" sz="2600" spc="-10">
                <a:solidFill>
                  <a:srgbClr val="080805"/>
                </a:solidFill>
                <a:latin typeface="Arial"/>
                <a:cs typeface="Arial"/>
              </a:rPr>
              <a:t>RLC-</a:t>
            </a:r>
            <a:r>
              <a:rPr dirty="0" sz="2600">
                <a:solidFill>
                  <a:srgbClr val="080805"/>
                </a:solidFill>
                <a:latin typeface="Arial"/>
                <a:cs typeface="Arial"/>
              </a:rPr>
              <a:t>H</a:t>
            </a:r>
            <a:r>
              <a:rPr dirty="0" sz="2600" spc="-8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600" spc="60">
                <a:solidFill>
                  <a:srgbClr val="080805"/>
                </a:solidFill>
                <a:latin typeface="Arial"/>
                <a:cs typeface="Arial"/>
              </a:rPr>
              <a:t>Integration</a:t>
            </a:r>
            <a:endParaRPr sz="2600">
              <a:latin typeface="Arial"/>
              <a:cs typeface="Arial"/>
            </a:endParaRPr>
          </a:p>
          <a:p>
            <a:pPr algn="just" marL="53340" marR="128905" indent="-635">
              <a:lnSpc>
                <a:spcPts val="2510"/>
              </a:lnSpc>
              <a:spcBef>
                <a:spcPts val="890"/>
              </a:spcBef>
            </a:pPr>
            <a:r>
              <a:rPr dirty="0" sz="2350" spc="-125">
                <a:solidFill>
                  <a:srgbClr val="080805"/>
                </a:solidFill>
                <a:latin typeface="Arial"/>
                <a:cs typeface="Arial"/>
              </a:rPr>
              <a:t>Enabled</a:t>
            </a:r>
            <a:r>
              <a:rPr dirty="0" sz="2350" spc="-40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1C1C18"/>
                </a:solidFill>
                <a:latin typeface="Arial"/>
                <a:cs typeface="Arial"/>
              </a:rPr>
              <a:t>out-of-the-</a:t>
            </a:r>
            <a:r>
              <a:rPr dirty="0" sz="2350" spc="-10">
                <a:solidFill>
                  <a:srgbClr val="1C1C18"/>
                </a:solidFill>
                <a:latin typeface="Arial"/>
                <a:cs typeface="Arial"/>
              </a:rPr>
              <a:t>box,</a:t>
            </a:r>
            <a:r>
              <a:rPr dirty="0" sz="2350" spc="-15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C1C18"/>
                </a:solidFill>
                <a:latin typeface="Arial"/>
                <a:cs typeface="Arial"/>
              </a:rPr>
              <a:t>fully</a:t>
            </a:r>
            <a:r>
              <a:rPr dirty="0" sz="2350" spc="-15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50">
                <a:solidFill>
                  <a:srgbClr val="1C1C18"/>
                </a:solidFill>
                <a:latin typeface="Arial"/>
                <a:cs typeface="Arial"/>
              </a:rPr>
              <a:t>supported,</a:t>
            </a:r>
            <a:r>
              <a:rPr dirty="0" sz="2350" spc="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75">
                <a:solidFill>
                  <a:srgbClr val="1C1C18"/>
                </a:solidFill>
                <a:latin typeface="Arial"/>
                <a:cs typeface="Arial"/>
              </a:rPr>
              <a:t>signed</a:t>
            </a:r>
            <a:r>
              <a:rPr dirty="0" sz="2350" spc="-4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20">
                <a:solidFill>
                  <a:srgbClr val="1C1C18"/>
                </a:solidFill>
                <a:latin typeface="Arial"/>
                <a:cs typeface="Arial"/>
              </a:rPr>
              <a:t>for</a:t>
            </a:r>
            <a:r>
              <a:rPr dirty="0" sz="2350" spc="-14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C1C18"/>
                </a:solidFill>
                <a:latin typeface="Arial"/>
                <a:cs typeface="Arial"/>
              </a:rPr>
              <a:t>Secure </a:t>
            </a:r>
            <a:r>
              <a:rPr dirty="0" sz="2350" spc="-35">
                <a:solidFill>
                  <a:srgbClr val="080805"/>
                </a:solidFill>
                <a:latin typeface="Arial"/>
                <a:cs typeface="Arial"/>
              </a:rPr>
              <a:t>Boot</a:t>
            </a:r>
            <a:r>
              <a:rPr dirty="0" sz="2350" spc="-35">
                <a:solidFill>
                  <a:srgbClr val="2F2F2B"/>
                </a:solidFill>
                <a:latin typeface="Arial"/>
                <a:cs typeface="Arial"/>
              </a:rPr>
              <a:t>,</a:t>
            </a:r>
            <a:r>
              <a:rPr dirty="0" sz="2350" spc="-130">
                <a:solidFill>
                  <a:srgbClr val="2F2F2B"/>
                </a:solidFill>
                <a:latin typeface="Arial"/>
                <a:cs typeface="Arial"/>
              </a:rPr>
              <a:t> </a:t>
            </a:r>
            <a:r>
              <a:rPr dirty="0" sz="2350" spc="-120">
                <a:solidFill>
                  <a:srgbClr val="1C1C18"/>
                </a:solidFill>
                <a:latin typeface="Arial"/>
                <a:cs typeface="Arial"/>
              </a:rPr>
              <a:t>and</a:t>
            </a:r>
            <a:r>
              <a:rPr dirty="0" sz="2350" spc="-40">
                <a:solidFill>
                  <a:srgbClr val="1C1C18"/>
                </a:solidFill>
                <a:latin typeface="Arial"/>
                <a:cs typeface="Arial"/>
              </a:rPr>
              <a:t> requires</a:t>
            </a:r>
            <a:r>
              <a:rPr dirty="0" sz="2350" spc="-12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35">
                <a:solidFill>
                  <a:srgbClr val="1C1C18"/>
                </a:solidFill>
                <a:latin typeface="Arial"/>
                <a:cs typeface="Arial"/>
              </a:rPr>
              <a:t>no</a:t>
            </a:r>
            <a:r>
              <a:rPr dirty="0" sz="2350" spc="-2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95">
                <a:solidFill>
                  <a:srgbClr val="1C1C18"/>
                </a:solidFill>
                <a:latin typeface="Arial"/>
                <a:cs typeface="Arial"/>
              </a:rPr>
              <a:t>manual</a:t>
            </a:r>
            <a:r>
              <a:rPr dirty="0" sz="2350" spc="-7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40">
                <a:solidFill>
                  <a:srgbClr val="1C1C18"/>
                </a:solidFill>
                <a:latin typeface="Arial"/>
                <a:cs typeface="Arial"/>
              </a:rPr>
              <a:t>compilation</a:t>
            </a:r>
            <a:r>
              <a:rPr dirty="0" sz="2350" spc="-3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1C1C18"/>
                </a:solidFill>
                <a:latin typeface="Arial"/>
                <a:cs typeface="Arial"/>
              </a:rPr>
              <a:t>or</a:t>
            </a:r>
            <a:r>
              <a:rPr dirty="0" sz="2350" spc="-10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30">
                <a:solidFill>
                  <a:srgbClr val="1C1C18"/>
                </a:solidFill>
                <a:latin typeface="Arial"/>
                <a:cs typeface="Arial"/>
              </a:rPr>
              <a:t>maintenance. </a:t>
            </a:r>
            <a:r>
              <a:rPr dirty="0" sz="2350" spc="-50">
                <a:solidFill>
                  <a:srgbClr val="080805"/>
                </a:solidFill>
                <a:latin typeface="Arial"/>
                <a:cs typeface="Arial"/>
              </a:rPr>
              <a:t>Performance</a:t>
            </a:r>
            <a:r>
              <a:rPr dirty="0" sz="2350" spc="5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350" spc="-80">
                <a:solidFill>
                  <a:srgbClr val="1C1C18"/>
                </a:solidFill>
                <a:latin typeface="Arial"/>
                <a:cs typeface="Arial"/>
              </a:rPr>
              <a:t>overhead</a:t>
            </a:r>
            <a:r>
              <a:rPr dirty="0" sz="2350" spc="-7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65">
                <a:solidFill>
                  <a:srgbClr val="080805"/>
                </a:solidFill>
                <a:latin typeface="Arial"/>
                <a:cs typeface="Arial"/>
              </a:rPr>
              <a:t>is</a:t>
            </a:r>
            <a:r>
              <a:rPr dirty="0" sz="2350" spc="-215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2350" spc="-75">
                <a:solidFill>
                  <a:srgbClr val="1C1C18"/>
                </a:solidFill>
                <a:latin typeface="Arial"/>
                <a:cs typeface="Arial"/>
              </a:rPr>
              <a:t>a</a:t>
            </a:r>
            <a:r>
              <a:rPr dirty="0" sz="2350" spc="-18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65">
                <a:solidFill>
                  <a:srgbClr val="1C1C18"/>
                </a:solidFill>
                <a:latin typeface="Arial"/>
                <a:cs typeface="Arial"/>
              </a:rPr>
              <a:t>minimal</a:t>
            </a:r>
            <a:r>
              <a:rPr dirty="0" sz="2350" spc="-95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C1C18"/>
                </a:solidFill>
                <a:latin typeface="Arial"/>
                <a:cs typeface="Arial"/>
              </a:rPr>
              <a:t>~2.5%.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534594" y="7372780"/>
            <a:ext cx="1358900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0">
                <a:solidFill>
                  <a:srgbClr val="2F2F2B"/>
                </a:solidFill>
                <a:latin typeface="Arial"/>
                <a:cs typeface="Arial"/>
              </a:rPr>
              <a:t>Linux</a:t>
            </a:r>
            <a:r>
              <a:rPr dirty="0" sz="1950" spc="-105">
                <a:solidFill>
                  <a:srgbClr val="2F2F2B"/>
                </a:solidFill>
                <a:latin typeface="Arial"/>
                <a:cs typeface="Arial"/>
              </a:rPr>
              <a:t> </a:t>
            </a:r>
            <a:r>
              <a:rPr dirty="0" sz="1950" spc="-25">
                <a:solidFill>
                  <a:srgbClr val="1C1C18"/>
                </a:solidFill>
                <a:latin typeface="Arial"/>
                <a:cs typeface="Arial"/>
              </a:rPr>
              <a:t>Kernel</a:t>
            </a:r>
            <a:endParaRPr sz="1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188297" y="6134463"/>
            <a:ext cx="1815464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>
                <a:solidFill>
                  <a:srgbClr val="1C1C18"/>
                </a:solidFill>
                <a:latin typeface="Arial"/>
                <a:cs typeface="Arial"/>
              </a:rPr>
              <a:t>Exploit</a:t>
            </a:r>
            <a:r>
              <a:rPr dirty="0" sz="1950" spc="-6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1C1C18"/>
                </a:solidFill>
                <a:latin typeface="Arial"/>
                <a:cs typeface="Arial"/>
              </a:rPr>
              <a:t>Attempts</a:t>
            </a:r>
            <a:endParaRPr sz="1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290599" y="6466383"/>
            <a:ext cx="84391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900" spc="-60">
                <a:solidFill>
                  <a:srgbClr val="9C9EA5"/>
                </a:solidFill>
                <a:latin typeface="Times New Roman"/>
                <a:cs typeface="Times New Roman"/>
              </a:rPr>
              <a:t>,,</a:t>
            </a:r>
            <a:r>
              <a:rPr dirty="0" sz="1900" spc="-60">
                <a:solidFill>
                  <a:srgbClr val="906767"/>
                </a:solidFill>
                <a:latin typeface="Times New Roman"/>
                <a:cs typeface="Times New Roman"/>
              </a:rPr>
              <a:t>_</a:t>
            </a:r>
            <a:r>
              <a:rPr dirty="0" sz="1900" spc="-60">
                <a:solidFill>
                  <a:srgbClr val="893D3D"/>
                </a:solidFill>
                <a:latin typeface="Times New Roman"/>
                <a:cs typeface="Times New Roman"/>
              </a:rPr>
              <a:t>.,._</a:t>
            </a:r>
            <a:r>
              <a:rPr dirty="0" baseline="37037" sz="1125" spc="-89">
                <a:solidFill>
                  <a:srgbClr val="85524F"/>
                </a:solidFill>
                <a:latin typeface="Arial"/>
                <a:cs typeface="Arial"/>
              </a:rPr>
              <a:t>◄ </a:t>
            </a:r>
            <a:r>
              <a:rPr dirty="0" sz="2150" spc="-120">
                <a:solidFill>
                  <a:srgbClr val="85524F"/>
                </a:solidFill>
                <a:latin typeface="Arial"/>
                <a:cs typeface="Arial"/>
              </a:rPr>
              <a:t>...</a:t>
            </a:r>
            <a:r>
              <a:rPr dirty="0" baseline="37037" sz="1125" spc="-179">
                <a:solidFill>
                  <a:srgbClr val="85524F"/>
                </a:solidFill>
                <a:latin typeface="Arial"/>
                <a:cs typeface="Arial"/>
              </a:rPr>
              <a:t>-</a:t>
            </a:r>
            <a:endParaRPr baseline="37037" sz="1125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751088" y="6657875"/>
            <a:ext cx="673735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-430">
                <a:solidFill>
                  <a:srgbClr val="822B28"/>
                </a:solidFill>
                <a:latin typeface="Arial"/>
                <a:cs typeface="Arial"/>
              </a:rPr>
              <a:t>...........</a:t>
            </a:r>
            <a:endParaRPr sz="31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986000" y="7372780"/>
            <a:ext cx="626745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140">
                <a:solidFill>
                  <a:srgbClr val="1C1C18"/>
                </a:solidFill>
                <a:latin typeface="Arial"/>
                <a:cs typeface="Arial"/>
              </a:rPr>
              <a:t>LKRG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3607" y="4672674"/>
            <a:ext cx="1146322" cy="17106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89307" y="4672674"/>
            <a:ext cx="687793" cy="7149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89307" y="5974820"/>
            <a:ext cx="713267" cy="4085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63226" y="4698206"/>
            <a:ext cx="636845" cy="6383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30402" y="4238625"/>
            <a:ext cx="2496436" cy="45958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13267" y="4698205"/>
            <a:ext cx="0" cy="1659889"/>
          </a:xfrm>
          <a:custGeom>
            <a:avLst/>
            <a:gdLst/>
            <a:ahLst/>
            <a:cxnLst/>
            <a:rect l="l" t="t" r="r" b="b"/>
            <a:pathLst>
              <a:path w="0" h="1659889">
                <a:moveTo>
                  <a:pt x="0" y="165959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641847" y="4698205"/>
            <a:ext cx="0" cy="638810"/>
          </a:xfrm>
          <a:custGeom>
            <a:avLst/>
            <a:gdLst/>
            <a:ahLst/>
            <a:cxnLst/>
            <a:rect l="l" t="t" r="r" b="b"/>
            <a:pathLst>
              <a:path w="0" h="638810">
                <a:moveTo>
                  <a:pt x="0" y="63830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119027" y="4979060"/>
            <a:ext cx="0" cy="1200150"/>
          </a:xfrm>
          <a:custGeom>
            <a:avLst/>
            <a:gdLst/>
            <a:ahLst/>
            <a:cxnLst/>
            <a:rect l="l" t="t" r="r" b="b"/>
            <a:pathLst>
              <a:path w="0" h="1200150">
                <a:moveTo>
                  <a:pt x="0" y="120001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430930" y="4979060"/>
            <a:ext cx="0" cy="1200150"/>
          </a:xfrm>
          <a:custGeom>
            <a:avLst/>
            <a:gdLst/>
            <a:ahLst/>
            <a:cxnLst/>
            <a:rect l="l" t="t" r="r" b="b"/>
            <a:pathLst>
              <a:path w="0" h="1200150">
                <a:moveTo>
                  <a:pt x="0" y="120001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475357" y="4979060"/>
            <a:ext cx="0" cy="1200150"/>
          </a:xfrm>
          <a:custGeom>
            <a:avLst/>
            <a:gdLst/>
            <a:ahLst/>
            <a:cxnLst/>
            <a:rect l="l" t="t" r="r" b="b"/>
            <a:pathLst>
              <a:path w="0" h="1200150">
                <a:moveTo>
                  <a:pt x="0" y="120001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787259" y="4979060"/>
            <a:ext cx="0" cy="1200150"/>
          </a:xfrm>
          <a:custGeom>
            <a:avLst/>
            <a:gdLst/>
            <a:ahLst/>
            <a:cxnLst/>
            <a:rect l="l" t="t" r="r" b="b"/>
            <a:pathLst>
              <a:path w="0" h="1200150">
                <a:moveTo>
                  <a:pt x="0" y="120001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629110" y="4723737"/>
            <a:ext cx="1834514" cy="0"/>
          </a:xfrm>
          <a:custGeom>
            <a:avLst/>
            <a:gdLst/>
            <a:ahLst/>
            <a:cxnLst/>
            <a:rect l="l" t="t" r="r" b="b"/>
            <a:pathLst>
              <a:path w="1834515" h="0">
                <a:moveTo>
                  <a:pt x="0" y="0"/>
                </a:moveTo>
                <a:lnTo>
                  <a:pt x="1834116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40636" y="4851398"/>
            <a:ext cx="789940" cy="0"/>
          </a:xfrm>
          <a:custGeom>
            <a:avLst/>
            <a:gdLst/>
            <a:ahLst/>
            <a:cxnLst/>
            <a:rect l="l" t="t" r="r" b="b"/>
            <a:pathLst>
              <a:path w="789939" h="0">
                <a:moveTo>
                  <a:pt x="0" y="0"/>
                </a:moveTo>
                <a:lnTo>
                  <a:pt x="789689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40636" y="4991826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 h="0">
                <a:moveTo>
                  <a:pt x="0" y="0"/>
                </a:moveTo>
                <a:lnTo>
                  <a:pt x="58589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629110" y="5285447"/>
            <a:ext cx="1834514" cy="0"/>
          </a:xfrm>
          <a:custGeom>
            <a:avLst/>
            <a:gdLst/>
            <a:ahLst/>
            <a:cxnLst/>
            <a:rect l="l" t="t" r="r" b="b"/>
            <a:pathLst>
              <a:path w="1834515" h="0">
                <a:moveTo>
                  <a:pt x="0" y="0"/>
                </a:moveTo>
                <a:lnTo>
                  <a:pt x="183411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902802" y="5540770"/>
            <a:ext cx="815340" cy="0"/>
          </a:xfrm>
          <a:custGeom>
            <a:avLst/>
            <a:gdLst/>
            <a:ahLst/>
            <a:cxnLst/>
            <a:rect l="l" t="t" r="r" b="b"/>
            <a:pathLst>
              <a:path w="815340" h="0">
                <a:moveTo>
                  <a:pt x="0" y="0"/>
                </a:moveTo>
                <a:lnTo>
                  <a:pt x="81516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87793" y="5910988"/>
            <a:ext cx="2051050" cy="0"/>
          </a:xfrm>
          <a:custGeom>
            <a:avLst/>
            <a:gdLst/>
            <a:ahLst/>
            <a:cxnLst/>
            <a:rect l="l" t="t" r="r" b="b"/>
            <a:pathLst>
              <a:path w="2051050" h="0">
                <a:moveTo>
                  <a:pt x="0" y="0"/>
                </a:moveTo>
                <a:lnTo>
                  <a:pt x="205064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40636" y="6115246"/>
            <a:ext cx="789940" cy="0"/>
          </a:xfrm>
          <a:custGeom>
            <a:avLst/>
            <a:gdLst/>
            <a:ahLst/>
            <a:cxnLst/>
            <a:rect l="l" t="t" r="r" b="b"/>
            <a:pathLst>
              <a:path w="789939" h="0">
                <a:moveTo>
                  <a:pt x="0" y="0"/>
                </a:moveTo>
                <a:lnTo>
                  <a:pt x="789689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462620" y="6140779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4" h="0">
                <a:moveTo>
                  <a:pt x="0" y="0"/>
                </a:moveTo>
                <a:lnTo>
                  <a:pt x="135011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3093552" y="6140779"/>
            <a:ext cx="1376045" cy="0"/>
          </a:xfrm>
          <a:custGeom>
            <a:avLst/>
            <a:gdLst/>
            <a:ahLst/>
            <a:cxnLst/>
            <a:rect l="l" t="t" r="r" b="b"/>
            <a:pathLst>
              <a:path w="1376044" h="0">
                <a:moveTo>
                  <a:pt x="0" y="0"/>
                </a:moveTo>
                <a:lnTo>
                  <a:pt x="137558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909930" y="6319504"/>
            <a:ext cx="1579880" cy="0"/>
          </a:xfrm>
          <a:custGeom>
            <a:avLst/>
            <a:gdLst/>
            <a:ahLst/>
            <a:cxnLst/>
            <a:rect l="l" t="t" r="r" b="b"/>
            <a:pathLst>
              <a:path w="1579879" h="0">
                <a:moveTo>
                  <a:pt x="0" y="0"/>
                </a:moveTo>
                <a:lnTo>
                  <a:pt x="157937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630325" y="4545011"/>
            <a:ext cx="1923414" cy="0"/>
          </a:xfrm>
          <a:custGeom>
            <a:avLst/>
            <a:gdLst/>
            <a:ahLst/>
            <a:cxnLst/>
            <a:rect l="l" t="t" r="r" b="b"/>
            <a:pathLst>
              <a:path w="1923414" h="0">
                <a:moveTo>
                  <a:pt x="0" y="0"/>
                </a:moveTo>
                <a:lnTo>
                  <a:pt x="192327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87793" y="4717354"/>
            <a:ext cx="2038350" cy="0"/>
          </a:xfrm>
          <a:custGeom>
            <a:avLst/>
            <a:gdLst/>
            <a:ahLst/>
            <a:cxnLst/>
            <a:rect l="l" t="t" r="r" b="b"/>
            <a:pathLst>
              <a:path w="2038350" h="0">
                <a:moveTo>
                  <a:pt x="0" y="0"/>
                </a:moveTo>
                <a:lnTo>
                  <a:pt x="203790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09703" y="4532245"/>
            <a:ext cx="1172210" cy="319405"/>
          </a:xfrm>
          <a:custGeom>
            <a:avLst/>
            <a:gdLst/>
            <a:ahLst/>
            <a:cxnLst/>
            <a:rect l="l" t="t" r="r" b="b"/>
            <a:pathLst>
              <a:path w="1172210" h="319404">
                <a:moveTo>
                  <a:pt x="0" y="178725"/>
                </a:moveTo>
                <a:lnTo>
                  <a:pt x="1171796" y="178725"/>
                </a:lnTo>
              </a:path>
              <a:path w="1172210" h="319404">
                <a:moveTo>
                  <a:pt x="331159" y="319153"/>
                </a:moveTo>
                <a:lnTo>
                  <a:pt x="331159" y="0"/>
                </a:lnTo>
              </a:path>
            </a:pathLst>
          </a:custGeom>
          <a:ln w="25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725700" y="4698205"/>
            <a:ext cx="0" cy="306705"/>
          </a:xfrm>
          <a:custGeom>
            <a:avLst/>
            <a:gdLst/>
            <a:ahLst/>
            <a:cxnLst/>
            <a:rect l="l" t="t" r="r" b="b"/>
            <a:pathLst>
              <a:path w="0" h="306704">
                <a:moveTo>
                  <a:pt x="0" y="30638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209703" y="4710970"/>
            <a:ext cx="0" cy="1596390"/>
          </a:xfrm>
          <a:custGeom>
            <a:avLst/>
            <a:gdLst/>
            <a:ahLst/>
            <a:cxnLst/>
            <a:rect l="l" t="t" r="r" b="b"/>
            <a:pathLst>
              <a:path w="0" h="1596389">
                <a:moveTo>
                  <a:pt x="0" y="159576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381500" y="4698205"/>
            <a:ext cx="0" cy="1621790"/>
          </a:xfrm>
          <a:custGeom>
            <a:avLst/>
            <a:gdLst/>
            <a:ahLst/>
            <a:cxnLst/>
            <a:rect l="l" t="t" r="r" b="b"/>
            <a:pathLst>
              <a:path w="0" h="1621789">
                <a:moveTo>
                  <a:pt x="0" y="162130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630325" y="4991826"/>
            <a:ext cx="1108710" cy="0"/>
          </a:xfrm>
          <a:custGeom>
            <a:avLst/>
            <a:gdLst/>
            <a:ahLst/>
            <a:cxnLst/>
            <a:rect l="l" t="t" r="r" b="b"/>
            <a:pathLst>
              <a:path w="1108710" h="0">
                <a:moveTo>
                  <a:pt x="0" y="0"/>
                </a:moveTo>
                <a:lnTo>
                  <a:pt x="110811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687793" y="4979060"/>
            <a:ext cx="2063750" cy="1346835"/>
            <a:chOff x="687793" y="4979060"/>
            <a:chExt cx="2063750" cy="1346835"/>
          </a:xfrm>
        </p:grpSpPr>
        <p:sp>
          <p:nvSpPr>
            <p:cNvPr id="31" name="object 31"/>
            <p:cNvSpPr/>
            <p:nvPr/>
          </p:nvSpPr>
          <p:spPr>
            <a:xfrm>
              <a:off x="687793" y="5125870"/>
              <a:ext cx="2063750" cy="0"/>
            </a:xfrm>
            <a:custGeom>
              <a:avLst/>
              <a:gdLst/>
              <a:ahLst/>
              <a:cxnLst/>
              <a:rect l="l" t="t" r="r" b="b"/>
              <a:pathLst>
                <a:path w="2063750" h="0">
                  <a:moveTo>
                    <a:pt x="0" y="0"/>
                  </a:moveTo>
                  <a:lnTo>
                    <a:pt x="2063380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725700" y="4979060"/>
              <a:ext cx="0" cy="319405"/>
            </a:xfrm>
            <a:custGeom>
              <a:avLst/>
              <a:gdLst/>
              <a:ahLst/>
              <a:cxnLst/>
              <a:rect l="l" t="t" r="r" b="b"/>
              <a:pathLst>
                <a:path w="0" h="319404">
                  <a:moveTo>
                    <a:pt x="0" y="319153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87793" y="5298213"/>
              <a:ext cx="2051050" cy="1021715"/>
            </a:xfrm>
            <a:custGeom>
              <a:avLst/>
              <a:gdLst/>
              <a:ahLst/>
              <a:cxnLst/>
              <a:rect l="l" t="t" r="r" b="b"/>
              <a:pathLst>
                <a:path w="2051050" h="1021714">
                  <a:moveTo>
                    <a:pt x="2037907" y="1021291"/>
                  </a:moveTo>
                  <a:lnTo>
                    <a:pt x="2037907" y="0"/>
                  </a:lnTo>
                </a:path>
                <a:path w="2051050" h="1021714">
                  <a:moveTo>
                    <a:pt x="0" y="1014908"/>
                  </a:moveTo>
                  <a:lnTo>
                    <a:pt x="2050644" y="1014908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/>
          <p:nvPr/>
        </p:nvSpPr>
        <p:spPr>
          <a:xfrm>
            <a:off x="3196966" y="6306738"/>
            <a:ext cx="1197610" cy="0"/>
          </a:xfrm>
          <a:custGeom>
            <a:avLst/>
            <a:gdLst/>
            <a:ahLst/>
            <a:cxnLst/>
            <a:rect l="l" t="t" r="r" b="b"/>
            <a:pathLst>
              <a:path w="1197610" h="0">
                <a:moveTo>
                  <a:pt x="0" y="0"/>
                </a:moveTo>
                <a:lnTo>
                  <a:pt x="119727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xfrm>
            <a:off x="686321" y="440763"/>
            <a:ext cx="6324600" cy="120777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4640"/>
              </a:lnSpc>
              <a:spcBef>
                <a:spcPts val="120"/>
              </a:spcBef>
            </a:pPr>
            <a:r>
              <a:rPr dirty="0" sz="4050" spc="-70">
                <a:solidFill>
                  <a:srgbClr val="010101"/>
                </a:solidFill>
                <a:latin typeface="Arial"/>
                <a:cs typeface="Arial"/>
              </a:rPr>
              <a:t>Layer</a:t>
            </a:r>
            <a:r>
              <a:rPr dirty="0" sz="4050" spc="-8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4050" spc="140">
                <a:solidFill>
                  <a:srgbClr val="010101"/>
                </a:solidFill>
                <a:latin typeface="Arial"/>
                <a:cs typeface="Arial"/>
              </a:rPr>
              <a:t>2:</a:t>
            </a:r>
            <a:r>
              <a:rPr dirty="0" sz="4050" spc="-39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4050" spc="-145">
                <a:solidFill>
                  <a:srgbClr val="010101"/>
                </a:solidFill>
                <a:latin typeface="Arial"/>
                <a:cs typeface="Arial"/>
              </a:rPr>
              <a:t>hardened_malloc</a:t>
            </a:r>
            <a:r>
              <a:rPr dirty="0" sz="4050" spc="-26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4050" spc="-50" b="0">
                <a:solidFill>
                  <a:srgbClr val="010101"/>
                </a:solidFill>
                <a:latin typeface="Arial"/>
                <a:cs typeface="Arial"/>
              </a:rPr>
              <a:t>-</a:t>
            </a:r>
            <a:endParaRPr sz="4050">
              <a:latin typeface="Arial"/>
              <a:cs typeface="Arial"/>
            </a:endParaRPr>
          </a:p>
          <a:p>
            <a:pPr marL="27940">
              <a:lnSpc>
                <a:spcPts val="4640"/>
              </a:lnSpc>
            </a:pPr>
            <a:r>
              <a:rPr dirty="0" sz="4050" spc="-10">
                <a:solidFill>
                  <a:srgbClr val="010101"/>
                </a:solidFill>
                <a:latin typeface="Arial"/>
                <a:cs typeface="Arial"/>
              </a:rPr>
              <a:t>Threat.</a:t>
            </a:r>
            <a:endParaRPr sz="40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477162" y="453529"/>
            <a:ext cx="7619365" cy="6464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050" spc="-140" b="1">
                <a:solidFill>
                  <a:srgbClr val="010101"/>
                </a:solidFill>
                <a:latin typeface="Arial"/>
                <a:cs typeface="Arial"/>
              </a:rPr>
              <a:t>Defusing</a:t>
            </a:r>
            <a:r>
              <a:rPr dirty="0" sz="4050" spc="-11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4050" b="1">
                <a:solidFill>
                  <a:srgbClr val="010101"/>
                </a:solidFill>
                <a:latin typeface="Arial"/>
                <a:cs typeface="Arial"/>
              </a:rPr>
              <a:t>the</a:t>
            </a:r>
            <a:r>
              <a:rPr dirty="0" sz="4050" spc="-28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4050" spc="-60" b="1">
                <a:solidFill>
                  <a:srgbClr val="010101"/>
                </a:solidFill>
                <a:latin typeface="Arial"/>
                <a:cs typeface="Arial"/>
              </a:rPr>
              <a:t>Memory</a:t>
            </a:r>
            <a:r>
              <a:rPr dirty="0" sz="4050" spc="-7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4050" spc="-150" b="1">
                <a:solidFill>
                  <a:srgbClr val="010101"/>
                </a:solidFill>
                <a:latin typeface="Arial"/>
                <a:cs typeface="Arial"/>
              </a:rPr>
              <a:t>Corruption</a:t>
            </a:r>
            <a:endParaRPr sz="40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2161" y="1701419"/>
            <a:ext cx="14364335" cy="1424305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3000" spc="-65" b="1">
                <a:solidFill>
                  <a:srgbClr val="010101"/>
                </a:solidFill>
                <a:latin typeface="Arial"/>
                <a:cs typeface="Arial"/>
              </a:rPr>
              <a:t>The</a:t>
            </a:r>
            <a:r>
              <a:rPr dirty="0" sz="3000" spc="-24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010101"/>
                </a:solidFill>
                <a:latin typeface="Arial"/>
                <a:cs typeface="Arial"/>
              </a:rPr>
              <a:t>Problem</a:t>
            </a:r>
            <a:endParaRPr sz="3000">
              <a:latin typeface="Arial"/>
              <a:cs typeface="Arial"/>
            </a:endParaRPr>
          </a:p>
          <a:p>
            <a:pPr marL="18415" marR="5080" indent="3175">
              <a:lnSpc>
                <a:spcPct val="101200"/>
              </a:lnSpc>
              <a:spcBef>
                <a:spcPts val="685"/>
              </a:spcBef>
            </a:pPr>
            <a:r>
              <a:rPr dirty="0" sz="2400">
                <a:solidFill>
                  <a:srgbClr val="161511"/>
                </a:solidFill>
                <a:latin typeface="Arial"/>
                <a:cs typeface="Arial"/>
              </a:rPr>
              <a:t>60-</a:t>
            </a:r>
            <a:r>
              <a:rPr dirty="0" sz="2400" spc="60">
                <a:solidFill>
                  <a:srgbClr val="161511"/>
                </a:solidFill>
                <a:latin typeface="Arial"/>
                <a:cs typeface="Arial"/>
              </a:rPr>
              <a:t>70%</a:t>
            </a:r>
            <a:r>
              <a:rPr dirty="0" sz="2400" spc="-10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61511"/>
                </a:solidFill>
                <a:latin typeface="Arial"/>
                <a:cs typeface="Arial"/>
              </a:rPr>
              <a:t>of</a:t>
            </a:r>
            <a:r>
              <a:rPr dirty="0" sz="2400" spc="240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161511"/>
                </a:solidFill>
                <a:latin typeface="Arial"/>
                <a:cs typeface="Arial"/>
              </a:rPr>
              <a:t>high-severity</a:t>
            </a:r>
            <a:r>
              <a:rPr dirty="0" sz="2400" spc="204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 spc="55">
                <a:solidFill>
                  <a:srgbClr val="161511"/>
                </a:solidFill>
                <a:latin typeface="Arial"/>
                <a:cs typeface="Arial"/>
              </a:rPr>
              <a:t>vulnerabilities</a:t>
            </a:r>
            <a:r>
              <a:rPr dirty="0" sz="2400" spc="-100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161511"/>
                </a:solidFill>
                <a:latin typeface="Arial"/>
                <a:cs typeface="Arial"/>
              </a:rPr>
              <a:t>are</a:t>
            </a:r>
            <a:r>
              <a:rPr dirty="0" sz="2400" spc="-140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 spc="55">
                <a:solidFill>
                  <a:srgbClr val="161511"/>
                </a:solidFill>
                <a:latin typeface="Arial"/>
                <a:cs typeface="Arial"/>
              </a:rPr>
              <a:t>memory</a:t>
            </a:r>
            <a:r>
              <a:rPr dirty="0" sz="2400" spc="165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2A2A26"/>
                </a:solidFill>
                <a:latin typeface="Arial"/>
                <a:cs typeface="Arial"/>
              </a:rPr>
              <a:t>safety</a:t>
            </a:r>
            <a:r>
              <a:rPr dirty="0" sz="2400" spc="12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2400" spc="65">
                <a:solidFill>
                  <a:srgbClr val="161511"/>
                </a:solidFill>
                <a:latin typeface="Arial"/>
                <a:cs typeface="Arial"/>
              </a:rPr>
              <a:t>bugs</a:t>
            </a:r>
            <a:r>
              <a:rPr dirty="0" sz="2400" spc="35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61511"/>
                </a:solidFill>
                <a:latin typeface="Arial"/>
                <a:cs typeface="Arial"/>
              </a:rPr>
              <a:t>(heap</a:t>
            </a:r>
            <a:r>
              <a:rPr dirty="0" sz="2400" spc="30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161511"/>
                </a:solidFill>
                <a:latin typeface="Arial"/>
                <a:cs typeface="Arial"/>
              </a:rPr>
              <a:t>overflows,</a:t>
            </a:r>
            <a:r>
              <a:rPr dirty="0" sz="2400" spc="-30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 spc="110">
                <a:solidFill>
                  <a:srgbClr val="161511"/>
                </a:solidFill>
                <a:latin typeface="Arial"/>
                <a:cs typeface="Arial"/>
              </a:rPr>
              <a:t>use-</a:t>
            </a:r>
            <a:r>
              <a:rPr dirty="0" sz="2400" spc="85">
                <a:solidFill>
                  <a:srgbClr val="161511"/>
                </a:solidFill>
                <a:latin typeface="Arial"/>
                <a:cs typeface="Arial"/>
              </a:rPr>
              <a:t>after-</a:t>
            </a:r>
            <a:r>
              <a:rPr dirty="0" sz="2400" spc="90">
                <a:solidFill>
                  <a:srgbClr val="161511"/>
                </a:solidFill>
                <a:latin typeface="Arial"/>
                <a:cs typeface="Arial"/>
              </a:rPr>
              <a:t>free,</a:t>
            </a:r>
            <a:r>
              <a:rPr dirty="0" sz="2400" spc="-220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 spc="45">
                <a:solidFill>
                  <a:srgbClr val="161511"/>
                </a:solidFill>
                <a:latin typeface="Arial"/>
                <a:cs typeface="Arial"/>
              </a:rPr>
              <a:t>etc.). </a:t>
            </a:r>
            <a:r>
              <a:rPr dirty="0" sz="2400" spc="50">
                <a:solidFill>
                  <a:srgbClr val="161511"/>
                </a:solidFill>
                <a:latin typeface="Arial"/>
                <a:cs typeface="Arial"/>
              </a:rPr>
              <a:t>Configuration</a:t>
            </a:r>
            <a:r>
              <a:rPr dirty="0" sz="2400" spc="125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61511"/>
                </a:solidFill>
                <a:latin typeface="Arial"/>
                <a:cs typeface="Arial"/>
              </a:rPr>
              <a:t>hardening</a:t>
            </a:r>
            <a:r>
              <a:rPr dirty="0" sz="2400" spc="125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 spc="100">
                <a:solidFill>
                  <a:srgbClr val="161511"/>
                </a:solidFill>
                <a:latin typeface="Arial"/>
                <a:cs typeface="Arial"/>
              </a:rPr>
              <a:t>offers</a:t>
            </a:r>
            <a:r>
              <a:rPr dirty="0" sz="2400" spc="70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61511"/>
                </a:solidFill>
                <a:latin typeface="Arial"/>
                <a:cs typeface="Arial"/>
              </a:rPr>
              <a:t>zero</a:t>
            </a:r>
            <a:r>
              <a:rPr dirty="0" sz="2400" spc="70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 spc="75">
                <a:solidFill>
                  <a:srgbClr val="161511"/>
                </a:solidFill>
                <a:latin typeface="Arial"/>
                <a:cs typeface="Arial"/>
              </a:rPr>
              <a:t>protection</a:t>
            </a:r>
            <a:r>
              <a:rPr dirty="0" sz="2400" spc="25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A2A26"/>
                </a:solidFill>
                <a:latin typeface="Arial"/>
                <a:cs typeface="Arial"/>
              </a:rPr>
              <a:t>aga</a:t>
            </a:r>
            <a:r>
              <a:rPr dirty="0" sz="2400">
                <a:solidFill>
                  <a:srgbClr val="010101"/>
                </a:solidFill>
                <a:latin typeface="Arial"/>
                <a:cs typeface="Arial"/>
              </a:rPr>
              <a:t>in</a:t>
            </a:r>
            <a:r>
              <a:rPr dirty="0" sz="2400">
                <a:solidFill>
                  <a:srgbClr val="2A2A26"/>
                </a:solidFill>
                <a:latin typeface="Arial"/>
                <a:cs typeface="Arial"/>
              </a:rPr>
              <a:t>st</a:t>
            </a:r>
            <a:r>
              <a:rPr dirty="0" sz="2400" spc="29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2400" spc="80">
                <a:solidFill>
                  <a:srgbClr val="161511"/>
                </a:solidFill>
                <a:latin typeface="Arial"/>
                <a:cs typeface="Arial"/>
              </a:rPr>
              <a:t>them.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0010" y="3523787"/>
            <a:ext cx="2671445" cy="9956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3000" spc="-114" b="1">
                <a:solidFill>
                  <a:srgbClr val="010101"/>
                </a:solidFill>
                <a:latin typeface="Arial"/>
                <a:cs typeface="Arial"/>
              </a:rPr>
              <a:t>How</a:t>
            </a:r>
            <a:r>
              <a:rPr dirty="0" sz="3000" spc="-8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010101"/>
                </a:solidFill>
                <a:latin typeface="Arial"/>
                <a:cs typeface="Arial"/>
              </a:rPr>
              <a:t>It</a:t>
            </a:r>
            <a:r>
              <a:rPr dirty="0" sz="3000" spc="-11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010101"/>
                </a:solidFill>
                <a:latin typeface="Arial"/>
                <a:cs typeface="Arial"/>
              </a:rPr>
              <a:t>Works</a:t>
            </a:r>
            <a:endParaRPr sz="3000">
              <a:latin typeface="Arial"/>
              <a:cs typeface="Arial"/>
            </a:endParaRPr>
          </a:p>
          <a:p>
            <a:pPr marL="1313180">
              <a:lnSpc>
                <a:spcPct val="100000"/>
              </a:lnSpc>
              <a:spcBef>
                <a:spcPts val="2220"/>
              </a:spcBef>
            </a:pPr>
            <a:r>
              <a:rPr dirty="0" sz="1450" spc="-10">
                <a:solidFill>
                  <a:srgbClr val="835D56"/>
                </a:solidFill>
                <a:latin typeface="Arial"/>
                <a:cs typeface="Arial"/>
              </a:rPr>
              <a:t>Buffer</a:t>
            </a:r>
            <a:r>
              <a:rPr dirty="0" sz="1450" spc="-170">
                <a:solidFill>
                  <a:srgbClr val="835D56"/>
                </a:solidFill>
                <a:latin typeface="Arial"/>
                <a:cs typeface="Arial"/>
              </a:rPr>
              <a:t> </a:t>
            </a:r>
            <a:r>
              <a:rPr dirty="0" sz="1450" spc="-25">
                <a:solidFill>
                  <a:srgbClr val="835D56"/>
                </a:solidFill>
                <a:latin typeface="Arial"/>
                <a:cs typeface="Arial"/>
              </a:rPr>
              <a:t>Overflow</a:t>
            </a:r>
            <a:r>
              <a:rPr dirty="0" sz="1450" spc="-120">
                <a:solidFill>
                  <a:srgbClr val="835D56"/>
                </a:solidFill>
                <a:latin typeface="Arial"/>
                <a:cs typeface="Arial"/>
              </a:rPr>
              <a:t> </a:t>
            </a:r>
            <a:r>
              <a:rPr dirty="0" baseline="-37037" sz="2250" spc="-75">
                <a:solidFill>
                  <a:srgbClr val="794642"/>
                </a:solidFill>
                <a:latin typeface="Times New Roman"/>
                <a:cs typeface="Times New Roman"/>
              </a:rPr>
              <a:t>,</a:t>
            </a:r>
            <a:endParaRPr baseline="-37037" sz="22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385395" y="4123796"/>
            <a:ext cx="131445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-520">
                <a:solidFill>
                  <a:srgbClr val="794642"/>
                </a:solidFill>
                <a:latin typeface="Arial"/>
                <a:cs typeface="Arial"/>
              </a:rPr>
              <a:t>-</a:t>
            </a:r>
            <a:endParaRPr sz="3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86748" y="5291897"/>
            <a:ext cx="895985" cy="45212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213360" marR="5080" indent="-201295">
              <a:lnSpc>
                <a:spcPts val="1610"/>
              </a:lnSpc>
              <a:spcBef>
                <a:spcPts val="270"/>
              </a:spcBef>
            </a:pPr>
            <a:r>
              <a:rPr dirty="0" sz="1450" spc="-10">
                <a:solidFill>
                  <a:srgbClr val="3B5464"/>
                </a:solidFill>
                <a:latin typeface="Arial"/>
                <a:cs typeface="Arial"/>
              </a:rPr>
              <a:t>Allocation </a:t>
            </a:r>
            <a:r>
              <a:rPr dirty="0" sz="1450" spc="-20">
                <a:solidFill>
                  <a:srgbClr val="3B5464"/>
                </a:solidFill>
                <a:latin typeface="Arial"/>
                <a:cs typeface="Arial"/>
              </a:rPr>
              <a:t>H</a:t>
            </a:r>
            <a:r>
              <a:rPr dirty="0" sz="1450" spc="-20">
                <a:solidFill>
                  <a:srgbClr val="284152"/>
                </a:solidFill>
                <a:latin typeface="Arial"/>
                <a:cs typeface="Arial"/>
              </a:rPr>
              <a:t>eap</a:t>
            </a:r>
            <a:endParaRPr sz="14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50654" y="4787636"/>
            <a:ext cx="339090" cy="561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0" spc="-365" b="1">
                <a:solidFill>
                  <a:srgbClr val="90312D"/>
                </a:solidFill>
                <a:latin typeface="Arial"/>
                <a:cs typeface="Arial"/>
              </a:rPr>
              <a:t>x-</a:t>
            </a:r>
            <a:endParaRPr sz="35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74945" y="5394027"/>
            <a:ext cx="85788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10" b="1">
                <a:solidFill>
                  <a:srgbClr val="284152"/>
                </a:solidFill>
                <a:latin typeface="Arial"/>
                <a:cs typeface="Arial"/>
              </a:rPr>
              <a:t>Metadata</a:t>
            </a:r>
            <a:endParaRPr sz="14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6696" y="6613194"/>
            <a:ext cx="3716020" cy="79565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 indent="5715">
              <a:lnSpc>
                <a:spcPct val="101299"/>
              </a:lnSpc>
              <a:spcBef>
                <a:spcPts val="80"/>
              </a:spcBef>
            </a:pPr>
            <a:r>
              <a:rPr dirty="0" sz="1700" spc="-50" b="1">
                <a:solidFill>
                  <a:srgbClr val="161511"/>
                </a:solidFill>
                <a:latin typeface="Arial"/>
                <a:cs typeface="Arial"/>
              </a:rPr>
              <a:t>Separated</a:t>
            </a:r>
            <a:r>
              <a:rPr dirty="0" sz="1700" spc="-70" b="1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61511"/>
                </a:solidFill>
                <a:latin typeface="Arial"/>
                <a:cs typeface="Arial"/>
              </a:rPr>
              <a:t>Metadata:</a:t>
            </a:r>
            <a:r>
              <a:rPr dirty="0" sz="1700" spc="-65" b="1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Prevents</a:t>
            </a:r>
            <a:r>
              <a:rPr dirty="0" sz="1650" spc="-65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2A2A26"/>
                </a:solidFill>
                <a:latin typeface="Arial"/>
                <a:cs typeface="Arial"/>
              </a:rPr>
              <a:t>buffer </a:t>
            </a:r>
            <a:r>
              <a:rPr dirty="0" sz="1650" spc="10">
                <a:solidFill>
                  <a:srgbClr val="2A2A26"/>
                </a:solidFill>
                <a:latin typeface="Arial"/>
                <a:cs typeface="Arial"/>
              </a:rPr>
              <a:t>overflows</a:t>
            </a:r>
            <a:r>
              <a:rPr dirty="0" sz="1650" spc="-5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2A2A26"/>
                </a:solidFill>
                <a:latin typeface="Arial"/>
                <a:cs typeface="Arial"/>
              </a:rPr>
              <a:t>from</a:t>
            </a:r>
            <a:r>
              <a:rPr dirty="0" sz="1650" spc="-5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2A2A26"/>
                </a:solidFill>
                <a:latin typeface="Arial"/>
                <a:cs typeface="Arial"/>
              </a:rPr>
              <a:t>corrupt</a:t>
            </a:r>
            <a:r>
              <a:rPr dirty="0" sz="1650" spc="10">
                <a:solidFill>
                  <a:srgbClr val="48413F"/>
                </a:solidFill>
                <a:latin typeface="Arial"/>
                <a:cs typeface="Arial"/>
              </a:rPr>
              <a:t>i</a:t>
            </a:r>
            <a:r>
              <a:rPr dirty="0" sz="1650" spc="10">
                <a:solidFill>
                  <a:srgbClr val="2A2A26"/>
                </a:solidFill>
                <a:latin typeface="Arial"/>
                <a:cs typeface="Arial"/>
              </a:rPr>
              <a:t>ng</a:t>
            </a:r>
            <a:r>
              <a:rPr dirty="0" sz="1650" spc="9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2A2A26"/>
                </a:solidFill>
                <a:latin typeface="Arial"/>
                <a:cs typeface="Arial"/>
              </a:rPr>
              <a:t>the</a:t>
            </a:r>
            <a:r>
              <a:rPr dirty="0" sz="1650" spc="20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2A2A26"/>
                </a:solidFill>
                <a:latin typeface="Arial"/>
                <a:cs typeface="Arial"/>
              </a:rPr>
              <a:t>allocator itse</a:t>
            </a:r>
            <a:r>
              <a:rPr dirty="0" sz="1650" spc="-10">
                <a:solidFill>
                  <a:srgbClr val="010101"/>
                </a:solidFill>
                <a:latin typeface="Arial"/>
                <a:cs typeface="Arial"/>
              </a:rPr>
              <a:t>l</a:t>
            </a:r>
            <a:r>
              <a:rPr dirty="0" sz="1650" spc="-10">
                <a:solidFill>
                  <a:srgbClr val="2A2A26"/>
                </a:solidFill>
                <a:latin typeface="Arial"/>
                <a:cs typeface="Arial"/>
              </a:rPr>
              <a:t>f</a:t>
            </a:r>
            <a:r>
              <a:rPr dirty="0" sz="1650" spc="-10">
                <a:solidFill>
                  <a:srgbClr val="010101"/>
                </a:solidFill>
                <a:latin typeface="Arial"/>
                <a:cs typeface="Arial"/>
              </a:rPr>
              <a:t>.</a:t>
            </a:r>
            <a:endParaRPr sz="16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276070" y="4206775"/>
            <a:ext cx="2844165" cy="4521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675"/>
              </a:lnSpc>
              <a:spcBef>
                <a:spcPts val="105"/>
              </a:spcBef>
              <a:tabLst>
                <a:tab pos="2292350" algn="l"/>
              </a:tabLst>
            </a:pPr>
            <a:r>
              <a:rPr dirty="0" sz="1450" spc="-10">
                <a:solidFill>
                  <a:srgbClr val="3B5464"/>
                </a:solidFill>
                <a:latin typeface="Arial"/>
                <a:cs typeface="Arial"/>
              </a:rPr>
              <a:t>Guard</a:t>
            </a:r>
            <a:r>
              <a:rPr dirty="0" sz="1450">
                <a:solidFill>
                  <a:srgbClr val="3B5464"/>
                </a:solidFill>
                <a:latin typeface="Arial"/>
                <a:cs typeface="Arial"/>
              </a:rPr>
              <a:t>	</a:t>
            </a:r>
            <a:r>
              <a:rPr dirty="0" sz="1450" spc="-10">
                <a:solidFill>
                  <a:srgbClr val="3B5464"/>
                </a:solidFill>
                <a:latin typeface="Arial"/>
                <a:cs typeface="Arial"/>
              </a:rPr>
              <a:t>Guard</a:t>
            </a:r>
            <a:endParaRPr sz="1450">
              <a:latin typeface="Arial"/>
              <a:cs typeface="Arial"/>
            </a:endParaRPr>
          </a:p>
          <a:p>
            <a:pPr marL="59055">
              <a:lnSpc>
                <a:spcPts val="1675"/>
              </a:lnSpc>
              <a:tabLst>
                <a:tab pos="2260600" algn="l"/>
              </a:tabLst>
            </a:pPr>
            <a:r>
              <a:rPr dirty="0" sz="1450">
                <a:solidFill>
                  <a:srgbClr val="3B5464"/>
                </a:solidFill>
                <a:latin typeface="Arial"/>
                <a:cs typeface="Arial"/>
              </a:rPr>
              <a:t>Page</a:t>
            </a:r>
            <a:r>
              <a:rPr dirty="0" sz="1450" spc="585">
                <a:solidFill>
                  <a:srgbClr val="3B5464"/>
                </a:solidFill>
                <a:latin typeface="Arial"/>
                <a:cs typeface="Arial"/>
              </a:rPr>
              <a:t> </a:t>
            </a:r>
            <a:r>
              <a:rPr dirty="0" u="heavy" sz="1450">
                <a:solidFill>
                  <a:srgbClr val="3B5464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sz="1450">
                <a:solidFill>
                  <a:srgbClr val="3B5464"/>
                </a:solidFill>
                <a:latin typeface="Arial"/>
                <a:cs typeface="Arial"/>
              </a:rPr>
              <a:t> Page</a:t>
            </a:r>
            <a:endParaRPr sz="14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897230" y="4857848"/>
            <a:ext cx="89154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8205" algn="l"/>
              </a:tabLst>
            </a:pPr>
            <a:r>
              <a:rPr dirty="0" u="heavy" sz="1450" spc="-275">
                <a:solidFill>
                  <a:srgbClr val="794642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50" spc="-10">
                <a:solidFill>
                  <a:srgbClr val="794642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Ove</a:t>
            </a:r>
            <a:r>
              <a:rPr dirty="0" u="heavy" sz="1450" spc="-10">
                <a:solidFill>
                  <a:srgbClr val="916D67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rflow</a:t>
            </a:r>
            <a:r>
              <a:rPr dirty="0" u="heavy" sz="1450">
                <a:solidFill>
                  <a:srgbClr val="916D67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4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189875" y="4991894"/>
            <a:ext cx="172720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25">
                <a:solidFill>
                  <a:srgbClr val="794642"/>
                </a:solidFill>
                <a:latin typeface="Arial"/>
                <a:cs typeface="Arial"/>
              </a:rPr>
              <a:t>//</a:t>
            </a:r>
            <a:endParaRPr sz="2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269583" y="5221685"/>
            <a:ext cx="6985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solidFill>
                  <a:srgbClr val="794642"/>
                </a:solidFill>
                <a:latin typeface="Times New Roman"/>
                <a:cs typeface="Times New Roman"/>
              </a:rPr>
              <a:t>/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254146" y="5271472"/>
            <a:ext cx="1220470" cy="715010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450" spc="40">
                <a:solidFill>
                  <a:srgbClr val="3B5464"/>
                </a:solidFill>
                <a:latin typeface="Arial"/>
                <a:cs typeface="Arial"/>
              </a:rPr>
              <a:t>Allocation</a:t>
            </a:r>
            <a:endParaRPr sz="1450">
              <a:latin typeface="Arial"/>
              <a:cs typeface="Arial"/>
            </a:endParaRPr>
          </a:p>
          <a:p>
            <a:pPr marL="392430">
              <a:lnSpc>
                <a:spcPct val="100000"/>
              </a:lnSpc>
              <a:spcBef>
                <a:spcPts val="975"/>
              </a:spcBef>
            </a:pPr>
            <a:r>
              <a:rPr dirty="0" u="heavy" sz="1450" spc="-20">
                <a:solidFill>
                  <a:srgbClr val="794642"/>
                </a:solidFill>
                <a:uFill>
                  <a:solidFill>
                    <a:srgbClr val="794642"/>
                  </a:solidFill>
                </a:uFill>
                <a:latin typeface="Arial"/>
                <a:cs typeface="Arial"/>
              </a:rPr>
              <a:t>Underflow</a:t>
            </a:r>
            <a:endParaRPr sz="14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015061" y="5394027"/>
            <a:ext cx="62039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75">
                <a:solidFill>
                  <a:srgbClr val="794642"/>
                </a:solidFill>
                <a:latin typeface="Arial"/>
                <a:cs typeface="Arial"/>
              </a:rPr>
              <a:t>CRASH</a:t>
            </a:r>
            <a:endParaRPr sz="14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189745" y="5521688"/>
            <a:ext cx="387350" cy="4648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18745">
              <a:lnSpc>
                <a:spcPts val="1964"/>
              </a:lnSpc>
              <a:spcBef>
                <a:spcPts val="110"/>
              </a:spcBef>
            </a:pPr>
            <a:r>
              <a:rPr dirty="0" sz="1850" spc="-225">
                <a:solidFill>
                  <a:srgbClr val="794642"/>
                </a:solidFill>
                <a:latin typeface="Arial"/>
                <a:cs typeface="Arial"/>
              </a:rPr>
              <a:t>.......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1485"/>
              </a:lnSpc>
            </a:pPr>
            <a:r>
              <a:rPr dirty="0" sz="1450" spc="200">
                <a:solidFill>
                  <a:srgbClr val="794642"/>
                </a:solidFill>
                <a:latin typeface="Arial"/>
                <a:cs typeface="Arial"/>
              </a:rPr>
              <a:t>\'\.</a:t>
            </a:r>
            <a:endParaRPr sz="14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826212" y="6585959"/>
            <a:ext cx="3251835" cy="106553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3175">
              <a:lnSpc>
                <a:spcPct val="101299"/>
              </a:lnSpc>
              <a:spcBef>
                <a:spcPts val="195"/>
              </a:spcBef>
            </a:pPr>
            <a:r>
              <a:rPr dirty="0" sz="1700" spc="-50" b="1">
                <a:solidFill>
                  <a:srgbClr val="161511"/>
                </a:solidFill>
                <a:latin typeface="Arial"/>
                <a:cs typeface="Arial"/>
              </a:rPr>
              <a:t>Guard</a:t>
            </a:r>
            <a:r>
              <a:rPr dirty="0" sz="1700" spc="-175" b="1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1700" spc="-50" b="1">
                <a:solidFill>
                  <a:srgbClr val="010101"/>
                </a:solidFill>
                <a:latin typeface="Arial"/>
                <a:cs typeface="Arial"/>
              </a:rPr>
              <a:t>Page</a:t>
            </a:r>
            <a:r>
              <a:rPr dirty="0" sz="1700" spc="-50" b="1">
                <a:solidFill>
                  <a:srgbClr val="2A2A26"/>
                </a:solidFill>
                <a:latin typeface="Arial"/>
                <a:cs typeface="Arial"/>
              </a:rPr>
              <a:t>s:</a:t>
            </a:r>
            <a:r>
              <a:rPr dirty="0" sz="1700" spc="-170" b="1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161511"/>
                </a:solidFill>
                <a:latin typeface="Arial"/>
                <a:cs typeface="Arial"/>
              </a:rPr>
              <a:t>Creates</a:t>
            </a:r>
            <a:r>
              <a:rPr dirty="0" sz="1650" spc="-65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161511"/>
                </a:solidFill>
                <a:latin typeface="Arial"/>
                <a:cs typeface="Arial"/>
              </a:rPr>
              <a:t>impassable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memory</a:t>
            </a:r>
            <a:r>
              <a:rPr dirty="0" sz="1650" spc="16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bar</a:t>
            </a:r>
            <a:r>
              <a:rPr dirty="0" sz="1650">
                <a:solidFill>
                  <a:srgbClr val="010101"/>
                </a:solidFill>
                <a:latin typeface="Arial"/>
                <a:cs typeface="Arial"/>
              </a:rPr>
              <a:t>r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iers</a:t>
            </a:r>
            <a:r>
              <a:rPr dirty="0" sz="1650" spc="12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around</a:t>
            </a:r>
            <a:r>
              <a:rPr dirty="0" sz="1650" spc="25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2A2A26"/>
                </a:solidFill>
                <a:latin typeface="Arial"/>
                <a:cs typeface="Arial"/>
              </a:rPr>
              <a:t>large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allocat</a:t>
            </a:r>
            <a:r>
              <a:rPr dirty="0" sz="1650">
                <a:solidFill>
                  <a:srgbClr val="48413F"/>
                </a:solidFill>
                <a:latin typeface="Arial"/>
                <a:cs typeface="Arial"/>
              </a:rPr>
              <a:t>i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ons</a:t>
            </a:r>
            <a:r>
              <a:rPr dirty="0" sz="1650" spc="155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to</a:t>
            </a:r>
            <a:r>
              <a:rPr dirty="0" sz="1650" spc="9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immediately</a:t>
            </a:r>
            <a:r>
              <a:rPr dirty="0" sz="1650" spc="185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2A2A26"/>
                </a:solidFill>
                <a:latin typeface="Arial"/>
                <a:cs typeface="Arial"/>
              </a:rPr>
              <a:t>detect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overf</a:t>
            </a:r>
            <a:r>
              <a:rPr dirty="0" sz="1650">
                <a:solidFill>
                  <a:srgbClr val="48413F"/>
                </a:solidFill>
                <a:latin typeface="Arial"/>
                <a:cs typeface="Arial"/>
              </a:rPr>
              <a:t>l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ows</a:t>
            </a:r>
            <a:r>
              <a:rPr dirty="0" sz="1650" spc="17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and</a:t>
            </a:r>
            <a:r>
              <a:rPr dirty="0" sz="1650" spc="5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2A2A26"/>
                </a:solidFill>
                <a:latin typeface="Arial"/>
                <a:cs typeface="Arial"/>
              </a:rPr>
              <a:t>underflows.</a:t>
            </a:r>
            <a:endParaRPr sz="16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623817" y="4283373"/>
            <a:ext cx="2442845" cy="4013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43560">
              <a:lnSpc>
                <a:spcPts val="1475"/>
              </a:lnSpc>
              <a:spcBef>
                <a:spcPts val="105"/>
              </a:spcBef>
            </a:pPr>
            <a:r>
              <a:rPr dirty="0" sz="1450" spc="-10">
                <a:solidFill>
                  <a:srgbClr val="794642"/>
                </a:solidFill>
                <a:latin typeface="Arial"/>
                <a:cs typeface="Arial"/>
              </a:rPr>
              <a:t>Ove</a:t>
            </a:r>
            <a:r>
              <a:rPr dirty="0" sz="1450" spc="-10">
                <a:solidFill>
                  <a:srgbClr val="916D67"/>
                </a:solidFill>
                <a:latin typeface="Arial"/>
                <a:cs typeface="Arial"/>
              </a:rPr>
              <a:t>rflow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ts val="1475"/>
              </a:lnSpc>
            </a:pPr>
            <a:r>
              <a:rPr dirty="0" sz="1350" spc="1400">
                <a:solidFill>
                  <a:srgbClr val="794642"/>
                </a:solidFill>
                <a:latin typeface="Arial"/>
                <a:cs typeface="Arial"/>
              </a:rPr>
              <a:t>-----</a:t>
            </a:r>
            <a:r>
              <a:rPr dirty="0" sz="1350" spc="4225">
                <a:solidFill>
                  <a:srgbClr val="722B28"/>
                </a:solidFill>
                <a:latin typeface="Arial"/>
                <a:cs typeface="Arial"/>
              </a:rPr>
              <a:t>➔</a:t>
            </a:r>
            <a:r>
              <a:rPr dirty="0" sz="1350" spc="280">
                <a:solidFill>
                  <a:srgbClr val="722B28"/>
                </a:solidFill>
                <a:latin typeface="Arial"/>
                <a:cs typeface="Arial"/>
              </a:rPr>
              <a:t> </a:t>
            </a:r>
            <a:r>
              <a:rPr dirty="0" sz="1450" spc="-190">
                <a:solidFill>
                  <a:srgbClr val="3B5464"/>
                </a:solidFill>
                <a:latin typeface="Arial"/>
                <a:cs typeface="Arial"/>
              </a:rPr>
              <a:t>Canary</a:t>
            </a:r>
            <a:endParaRPr sz="14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648216" y="4883382"/>
            <a:ext cx="1815464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3995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solidFill>
                  <a:srgbClr val="3B5464"/>
                </a:solidFill>
                <a:latin typeface="Arial"/>
                <a:cs typeface="Arial"/>
              </a:rPr>
              <a:t>Small</a:t>
            </a:r>
            <a:r>
              <a:rPr dirty="0" sz="1450" spc="-15">
                <a:solidFill>
                  <a:srgbClr val="3B5464"/>
                </a:solidFill>
                <a:latin typeface="Arial"/>
                <a:cs typeface="Arial"/>
              </a:rPr>
              <a:t> </a:t>
            </a:r>
            <a:r>
              <a:rPr dirty="0" sz="1450" spc="40">
                <a:solidFill>
                  <a:srgbClr val="284152"/>
                </a:solidFill>
                <a:latin typeface="Arial"/>
                <a:cs typeface="Arial"/>
              </a:rPr>
              <a:t>Allocation</a:t>
            </a:r>
            <a:endParaRPr sz="145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0692357" y="5770560"/>
            <a:ext cx="153035" cy="0"/>
          </a:xfrm>
          <a:custGeom>
            <a:avLst/>
            <a:gdLst/>
            <a:ahLst/>
            <a:cxnLst/>
            <a:rect l="l" t="t" r="r" b="b"/>
            <a:pathLst>
              <a:path w="153034" h="0">
                <a:moveTo>
                  <a:pt x="0" y="0"/>
                </a:moveTo>
                <a:lnTo>
                  <a:pt x="152843" y="0"/>
                </a:lnTo>
              </a:path>
            </a:pathLst>
          </a:custGeom>
          <a:ln w="12766">
            <a:solidFill>
              <a:srgbClr val="9EA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10635215" y="5311047"/>
            <a:ext cx="247650" cy="561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33333" sz="5250" spc="-3307" b="1">
                <a:solidFill>
                  <a:srgbClr val="90312D"/>
                </a:solidFill>
                <a:latin typeface="Arial"/>
                <a:cs typeface="Arial"/>
              </a:rPr>
              <a:t>X</a:t>
            </a:r>
            <a:r>
              <a:rPr dirty="0" sz="1450" spc="5">
                <a:solidFill>
                  <a:srgbClr val="9EA0A0"/>
                </a:solidFill>
                <a:latin typeface="Arial"/>
                <a:cs typeface="Arial"/>
              </a:rPr>
              <a:t>�</a:t>
            </a:r>
            <a:endParaRPr sz="14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046448" y="5840842"/>
            <a:ext cx="105219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40">
                <a:solidFill>
                  <a:srgbClr val="835D56"/>
                </a:solidFill>
                <a:latin typeface="Arial"/>
                <a:cs typeface="Arial"/>
              </a:rPr>
              <a:t>Check</a:t>
            </a:r>
            <a:r>
              <a:rPr dirty="0" sz="1450" spc="-105">
                <a:solidFill>
                  <a:srgbClr val="835D5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794642"/>
                </a:solidFill>
                <a:latin typeface="Arial"/>
                <a:cs typeface="Arial"/>
              </a:rPr>
              <a:t>F</a:t>
            </a:r>
            <a:r>
              <a:rPr dirty="0" sz="1450" spc="-10">
                <a:solidFill>
                  <a:srgbClr val="916D67"/>
                </a:solidFill>
                <a:latin typeface="Arial"/>
                <a:cs typeface="Arial"/>
              </a:rPr>
              <a:t>a</a:t>
            </a:r>
            <a:r>
              <a:rPr dirty="0" sz="1450" spc="-10">
                <a:solidFill>
                  <a:srgbClr val="794642"/>
                </a:solidFill>
                <a:latin typeface="Arial"/>
                <a:cs typeface="Arial"/>
              </a:rPr>
              <a:t>il</a:t>
            </a:r>
            <a:r>
              <a:rPr dirty="0" sz="1450" spc="-10">
                <a:solidFill>
                  <a:srgbClr val="916D67"/>
                </a:solidFill>
                <a:latin typeface="Arial"/>
                <a:cs typeface="Arial"/>
              </a:rPr>
              <a:t>ed</a:t>
            </a:r>
            <a:endParaRPr sz="14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531820" y="6159996"/>
            <a:ext cx="61214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170">
                <a:solidFill>
                  <a:srgbClr val="2A2A26"/>
                </a:solidFill>
                <a:latin typeface="Arial"/>
                <a:cs typeface="Arial"/>
              </a:rPr>
              <a:t>free()</a:t>
            </a:r>
            <a:endParaRPr sz="145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1687276" y="5540770"/>
            <a:ext cx="76835" cy="0"/>
          </a:xfrm>
          <a:custGeom>
            <a:avLst/>
            <a:gdLst/>
            <a:ahLst/>
            <a:cxnLst/>
            <a:rect l="l" t="t" r="r" b="b"/>
            <a:pathLst>
              <a:path w="76834" h="0">
                <a:moveTo>
                  <a:pt x="0" y="0"/>
                </a:moveTo>
                <a:lnTo>
                  <a:pt x="76421" y="0"/>
                </a:lnTo>
              </a:path>
            </a:pathLst>
          </a:custGeom>
          <a:ln w="12766">
            <a:solidFill>
              <a:srgbClr val="9EA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11674574" y="5279131"/>
            <a:ext cx="119380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50">
                <a:solidFill>
                  <a:srgbClr val="9EA0A0"/>
                </a:solidFill>
                <a:latin typeface="Times New Roman"/>
                <a:cs typeface="Times New Roman"/>
              </a:rPr>
              <a:t>J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6147783" y="9418922"/>
            <a:ext cx="125476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B3B38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3B3B3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61613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952957" y="6585959"/>
            <a:ext cx="3637915" cy="81026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3175">
              <a:lnSpc>
                <a:spcPct val="101200"/>
              </a:lnSpc>
              <a:spcBef>
                <a:spcPts val="195"/>
              </a:spcBef>
            </a:pPr>
            <a:r>
              <a:rPr dirty="0" sz="1700" spc="-35" b="1">
                <a:solidFill>
                  <a:srgbClr val="161511"/>
                </a:solidFill>
                <a:latin typeface="Arial"/>
                <a:cs typeface="Arial"/>
              </a:rPr>
              <a:t>Canary</a:t>
            </a:r>
            <a:r>
              <a:rPr dirty="0" sz="1700" spc="-20" b="1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1700" spc="-50" b="1">
                <a:solidFill>
                  <a:srgbClr val="161511"/>
                </a:solidFill>
                <a:latin typeface="Arial"/>
                <a:cs typeface="Arial"/>
              </a:rPr>
              <a:t>Values:</a:t>
            </a:r>
            <a:r>
              <a:rPr dirty="0" sz="1700" spc="-90" b="1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P</a:t>
            </a:r>
            <a:r>
              <a:rPr dirty="0" sz="1650">
                <a:solidFill>
                  <a:srgbClr val="48413F"/>
                </a:solidFill>
                <a:latin typeface="Arial"/>
                <a:cs typeface="Arial"/>
              </a:rPr>
              <a:t>l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aces </a:t>
            </a:r>
            <a:r>
              <a:rPr dirty="0" sz="1650">
                <a:solidFill>
                  <a:srgbClr val="161511"/>
                </a:solidFill>
                <a:latin typeface="Arial"/>
                <a:cs typeface="Arial"/>
              </a:rPr>
              <a:t>random</a:t>
            </a:r>
            <a:r>
              <a:rPr dirty="0" sz="1650" spc="-25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2A2A26"/>
                </a:solidFill>
                <a:latin typeface="Arial"/>
                <a:cs typeface="Arial"/>
              </a:rPr>
              <a:t>values </a:t>
            </a:r>
            <a:r>
              <a:rPr dirty="0" sz="1650" spc="55">
                <a:solidFill>
                  <a:srgbClr val="2A2A26"/>
                </a:solidFill>
                <a:latin typeface="Arial"/>
                <a:cs typeface="Arial"/>
              </a:rPr>
              <a:t>next</a:t>
            </a:r>
            <a:r>
              <a:rPr dirty="0" sz="1650" spc="25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161511"/>
                </a:solidFill>
                <a:latin typeface="Arial"/>
                <a:cs typeface="Arial"/>
              </a:rPr>
              <a:t>to</a:t>
            </a:r>
            <a:r>
              <a:rPr dirty="0" sz="1650" spc="-5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small</a:t>
            </a:r>
            <a:r>
              <a:rPr dirty="0" sz="1650" spc="-125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allocations</a:t>
            </a:r>
            <a:r>
              <a:rPr dirty="0" sz="1650" spc="95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161511"/>
                </a:solidFill>
                <a:latin typeface="Arial"/>
                <a:cs typeface="Arial"/>
              </a:rPr>
              <a:t>to</a:t>
            </a:r>
            <a:r>
              <a:rPr dirty="0" sz="1650" spc="90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2A2A26"/>
                </a:solidFill>
                <a:latin typeface="Arial"/>
                <a:cs typeface="Arial"/>
              </a:rPr>
              <a:t>detect </a:t>
            </a:r>
            <a:r>
              <a:rPr dirty="0" sz="1650" spc="10">
                <a:solidFill>
                  <a:srgbClr val="2A2A26"/>
                </a:solidFill>
                <a:latin typeface="Arial"/>
                <a:cs typeface="Arial"/>
              </a:rPr>
              <a:t>corruption</a:t>
            </a:r>
            <a:r>
              <a:rPr dirty="0" sz="1650" spc="135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2A2A26"/>
                </a:solidFill>
                <a:latin typeface="Arial"/>
                <a:cs typeface="Arial"/>
              </a:rPr>
              <a:t>upon</a:t>
            </a:r>
            <a:r>
              <a:rPr dirty="0" sz="1650" spc="135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450" spc="270">
                <a:solidFill>
                  <a:srgbClr val="2A2A26"/>
                </a:solidFill>
                <a:latin typeface="Arial"/>
                <a:cs typeface="Arial"/>
              </a:rPr>
              <a:t>·free()·.</a:t>
            </a:r>
            <a:endParaRPr sz="14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3143420" y="4704655"/>
            <a:ext cx="126873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1450" spc="60">
                <a:solidFill>
                  <a:srgbClr val="3B5464"/>
                </a:solidFill>
                <a:uFill>
                  <a:solidFill>
                    <a:srgbClr val="3B5464"/>
                  </a:solidFill>
                </a:uFill>
                <a:latin typeface="Arial"/>
                <a:cs typeface="Arial"/>
              </a:rPr>
              <a:t>Memory</a:t>
            </a:r>
            <a:r>
              <a:rPr dirty="0" u="heavy" sz="1450" spc="-40">
                <a:solidFill>
                  <a:srgbClr val="3B5464"/>
                </a:solidFill>
                <a:uFill>
                  <a:solidFill>
                    <a:srgbClr val="3B5464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50" spc="-10">
                <a:solidFill>
                  <a:srgbClr val="3B5464"/>
                </a:solidFill>
                <a:uFill>
                  <a:solidFill>
                    <a:srgbClr val="3B5464"/>
                  </a:solidFill>
                </a:uFill>
                <a:latin typeface="Arial"/>
                <a:cs typeface="Arial"/>
              </a:rPr>
              <a:t>Block</a:t>
            </a:r>
            <a:endParaRPr sz="14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5499753" y="4704655"/>
            <a:ext cx="128270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1450" spc="70">
                <a:solidFill>
                  <a:srgbClr val="284152"/>
                </a:solidFill>
                <a:uFill>
                  <a:solidFill>
                    <a:srgbClr val="3B5464"/>
                  </a:solidFill>
                </a:uFill>
                <a:latin typeface="Arial"/>
                <a:cs typeface="Arial"/>
              </a:rPr>
              <a:t>Memory</a:t>
            </a:r>
            <a:r>
              <a:rPr dirty="0" u="heavy" sz="1450" spc="-105">
                <a:solidFill>
                  <a:srgbClr val="284152"/>
                </a:solidFill>
                <a:uFill>
                  <a:solidFill>
                    <a:srgbClr val="3B5464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50" spc="50">
                <a:solidFill>
                  <a:srgbClr val="3B5464"/>
                </a:solidFill>
                <a:uFill>
                  <a:solidFill>
                    <a:srgbClr val="3B5464"/>
                  </a:solidFill>
                </a:uFill>
                <a:latin typeface="Arial"/>
                <a:cs typeface="Arial"/>
              </a:rPr>
              <a:t>Block</a:t>
            </a:r>
            <a:endParaRPr sz="14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3131764" y="5445091"/>
            <a:ext cx="128651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105"/>
              </a:spcBef>
            </a:pPr>
            <a:r>
              <a:rPr dirty="0" sz="1450" spc="75">
                <a:solidFill>
                  <a:srgbClr val="9EA0A0"/>
                </a:solidFill>
                <a:latin typeface="Arial"/>
                <a:cs typeface="Arial"/>
              </a:rPr>
              <a:t>P@ssw0rdl</a:t>
            </a:r>
            <a:endParaRPr sz="14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4460422" y="5089444"/>
            <a:ext cx="909955" cy="90995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2150" spc="235">
                <a:solidFill>
                  <a:srgbClr val="9EA0A0"/>
                </a:solidFill>
                <a:latin typeface="Arial"/>
                <a:cs typeface="Arial"/>
              </a:rPr>
              <a:t>➔</a:t>
            </a:r>
            <a:r>
              <a:rPr dirty="0" sz="2150" spc="-5">
                <a:solidFill>
                  <a:srgbClr val="9EA0A0"/>
                </a:solidFill>
                <a:latin typeface="Arial"/>
                <a:cs typeface="Arial"/>
              </a:rPr>
              <a:t> </a:t>
            </a:r>
            <a:r>
              <a:rPr dirty="0" sz="3700" spc="-434">
                <a:solidFill>
                  <a:srgbClr val="7B8085"/>
                </a:solidFill>
                <a:latin typeface="Arial"/>
                <a:cs typeface="Arial"/>
              </a:rPr>
              <a:t>D</a:t>
            </a:r>
            <a:r>
              <a:rPr dirty="0" sz="2150" spc="-434">
                <a:solidFill>
                  <a:srgbClr val="9EA0A0"/>
                </a:solidFill>
                <a:latin typeface="Arial"/>
                <a:cs typeface="Arial"/>
              </a:rPr>
              <a:t>➔</a:t>
            </a:r>
            <a:endParaRPr sz="2150">
              <a:latin typeface="Arial"/>
              <a:cs typeface="Arial"/>
            </a:endParaRPr>
          </a:p>
          <a:p>
            <a:pPr marL="197485">
              <a:lnSpc>
                <a:spcPct val="100000"/>
              </a:lnSpc>
              <a:spcBef>
                <a:spcPts val="225"/>
              </a:spcBef>
            </a:pPr>
            <a:r>
              <a:rPr dirty="0" sz="1450" spc="170">
                <a:solidFill>
                  <a:srgbClr val="2A2A26"/>
                </a:solidFill>
                <a:latin typeface="Arial"/>
                <a:cs typeface="Arial"/>
              </a:rPr>
              <a:t>free()</a:t>
            </a:r>
            <a:endParaRPr sz="14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5481724" y="5483390"/>
            <a:ext cx="129286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dirty="0" sz="1150" spc="-75">
                <a:solidFill>
                  <a:srgbClr val="9EA0A0"/>
                </a:solidFill>
                <a:latin typeface="Arial"/>
                <a:cs typeface="Arial"/>
              </a:rPr>
              <a:t>000900000000000-</a:t>
            </a:r>
            <a:r>
              <a:rPr dirty="0" sz="1150" spc="-50">
                <a:solidFill>
                  <a:srgbClr val="9EA0A0"/>
                </a:solidFill>
                <a:latin typeface="Arial"/>
                <a:cs typeface="Arial"/>
              </a:rPr>
              <a:t>0</a:t>
            </a:r>
            <a:endParaRPr sz="11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3090233" y="6600428"/>
            <a:ext cx="3778250" cy="79565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 indent="635">
              <a:lnSpc>
                <a:spcPct val="101299"/>
              </a:lnSpc>
              <a:spcBef>
                <a:spcPts val="80"/>
              </a:spcBef>
            </a:pPr>
            <a:r>
              <a:rPr dirty="0" sz="1700" spc="-20" b="1">
                <a:solidFill>
                  <a:srgbClr val="010101"/>
                </a:solidFill>
                <a:latin typeface="Arial"/>
                <a:cs typeface="Arial"/>
              </a:rPr>
              <a:t>Zero-</a:t>
            </a:r>
            <a:r>
              <a:rPr dirty="0" sz="1700" spc="-10" b="1">
                <a:solidFill>
                  <a:srgbClr val="010101"/>
                </a:solidFill>
                <a:latin typeface="Arial"/>
                <a:cs typeface="Arial"/>
              </a:rPr>
              <a:t>on-</a:t>
            </a:r>
            <a:r>
              <a:rPr dirty="0" sz="1700" spc="-20" b="1">
                <a:solidFill>
                  <a:srgbClr val="010101"/>
                </a:solidFill>
                <a:latin typeface="Arial"/>
                <a:cs typeface="Arial"/>
              </a:rPr>
              <a:t>Free</a:t>
            </a:r>
            <a:r>
              <a:rPr dirty="0" sz="1700" spc="-20" b="1">
                <a:solidFill>
                  <a:srgbClr val="2A2A26"/>
                </a:solidFill>
                <a:latin typeface="Arial"/>
                <a:cs typeface="Arial"/>
              </a:rPr>
              <a:t>:</a:t>
            </a:r>
            <a:r>
              <a:rPr dirty="0" sz="1700" spc="-185" b="1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Wipes</a:t>
            </a:r>
            <a:r>
              <a:rPr dirty="0" sz="1650" spc="-3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161511"/>
                </a:solidFill>
                <a:latin typeface="Arial"/>
                <a:cs typeface="Arial"/>
              </a:rPr>
              <a:t>memory</a:t>
            </a:r>
            <a:r>
              <a:rPr dirty="0" sz="1650" spc="60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2A2A26"/>
                </a:solidFill>
                <a:latin typeface="Arial"/>
                <a:cs typeface="Arial"/>
              </a:rPr>
              <a:t>after</a:t>
            </a:r>
            <a:r>
              <a:rPr dirty="0" sz="1650" spc="4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2A2A26"/>
                </a:solidFill>
                <a:latin typeface="Arial"/>
                <a:cs typeface="Arial"/>
              </a:rPr>
              <a:t>use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to</a:t>
            </a:r>
            <a:r>
              <a:rPr dirty="0" sz="1650" spc="18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prevent</a:t>
            </a:r>
            <a:r>
              <a:rPr dirty="0" sz="1650" spc="11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sens</a:t>
            </a:r>
            <a:r>
              <a:rPr dirty="0" sz="1650">
                <a:solidFill>
                  <a:srgbClr val="010101"/>
                </a:solidFill>
                <a:latin typeface="Arial"/>
                <a:cs typeface="Arial"/>
              </a:rPr>
              <a:t>i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tive</a:t>
            </a:r>
            <a:r>
              <a:rPr dirty="0" sz="1650" spc="11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data</a:t>
            </a:r>
            <a:r>
              <a:rPr dirty="0" sz="1650" spc="25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leakage</a:t>
            </a:r>
            <a:r>
              <a:rPr dirty="0" sz="1650" spc="-80">
                <a:solidFill>
                  <a:srgbClr val="2A2A26"/>
                </a:solidFill>
                <a:latin typeface="Arial"/>
                <a:cs typeface="Arial"/>
              </a:rPr>
              <a:t> </a:t>
            </a:r>
            <a:r>
              <a:rPr dirty="0" sz="1650" spc="45">
                <a:solidFill>
                  <a:srgbClr val="2A2A26"/>
                </a:solidFill>
                <a:latin typeface="Arial"/>
                <a:cs typeface="Arial"/>
              </a:rPr>
              <a:t>from </a:t>
            </a:r>
            <a:r>
              <a:rPr dirty="0" sz="1650" spc="55">
                <a:solidFill>
                  <a:srgbClr val="2A2A26"/>
                </a:solidFill>
                <a:latin typeface="Arial"/>
                <a:cs typeface="Arial"/>
              </a:rPr>
              <a:t>use-</a:t>
            </a:r>
            <a:r>
              <a:rPr dirty="0" sz="1650">
                <a:solidFill>
                  <a:srgbClr val="2A2A26"/>
                </a:solidFill>
                <a:latin typeface="Arial"/>
                <a:cs typeface="Arial"/>
              </a:rPr>
              <a:t>after-</a:t>
            </a:r>
            <a:r>
              <a:rPr dirty="0" sz="1650" spc="50">
                <a:solidFill>
                  <a:srgbClr val="2A2A26"/>
                </a:solidFill>
                <a:latin typeface="Arial"/>
                <a:cs typeface="Arial"/>
              </a:rPr>
              <a:t>free </a:t>
            </a:r>
            <a:r>
              <a:rPr dirty="0" sz="1650" spc="-10">
                <a:solidFill>
                  <a:srgbClr val="2A2A26"/>
                </a:solidFill>
                <a:latin typeface="Arial"/>
                <a:cs typeface="Arial"/>
              </a:rPr>
              <a:t>bugs.</a:t>
            </a:r>
            <a:endParaRPr sz="16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85410" y="8081301"/>
            <a:ext cx="7832090" cy="485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85" b="1">
                <a:solidFill>
                  <a:srgbClr val="010101"/>
                </a:solidFill>
                <a:latin typeface="Arial"/>
                <a:cs typeface="Arial"/>
              </a:rPr>
              <a:t>Protection</a:t>
            </a:r>
            <a:r>
              <a:rPr dirty="0" sz="300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000" spc="-150" b="1">
                <a:solidFill>
                  <a:srgbClr val="010101"/>
                </a:solidFill>
                <a:latin typeface="Arial"/>
                <a:cs typeface="Arial"/>
              </a:rPr>
              <a:t>Against</a:t>
            </a:r>
            <a:r>
              <a:rPr dirty="0" sz="3000" spc="-8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000" spc="-160" b="1">
                <a:solidFill>
                  <a:srgbClr val="010101"/>
                </a:solidFill>
                <a:latin typeface="Arial"/>
                <a:cs typeface="Arial"/>
              </a:rPr>
              <a:t>Common</a:t>
            </a:r>
            <a:r>
              <a:rPr dirty="0" sz="3000" spc="-19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000" spc="-120" b="1">
                <a:solidFill>
                  <a:srgbClr val="010101"/>
                </a:solidFill>
                <a:latin typeface="Arial"/>
                <a:cs typeface="Arial"/>
              </a:rPr>
              <a:t>Exploit</a:t>
            </a:r>
            <a:r>
              <a:rPr dirty="0" sz="3000" spc="-13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000" spc="-95" b="1">
                <a:solidFill>
                  <a:srgbClr val="010101"/>
                </a:solidFill>
                <a:latin typeface="Arial"/>
                <a:cs typeface="Arial"/>
              </a:rPr>
              <a:t>Primitives</a:t>
            </a:r>
            <a:endParaRPr sz="30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36882" y="8630245"/>
            <a:ext cx="5869940" cy="5156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97205" indent="-484505">
              <a:lnSpc>
                <a:spcPct val="100000"/>
              </a:lnSpc>
              <a:spcBef>
                <a:spcPts val="114"/>
              </a:spcBef>
              <a:buClr>
                <a:srgbClr val="0E4466"/>
              </a:buClr>
              <a:buSzPct val="133333"/>
              <a:buChar char="✓"/>
              <a:tabLst>
                <a:tab pos="497205" algn="l"/>
                <a:tab pos="3221990" algn="l"/>
              </a:tabLst>
            </a:pPr>
            <a:r>
              <a:rPr dirty="0" sz="2400">
                <a:solidFill>
                  <a:srgbClr val="161511"/>
                </a:solidFill>
                <a:latin typeface="Arial"/>
                <a:cs typeface="Arial"/>
              </a:rPr>
              <a:t>Heap</a:t>
            </a:r>
            <a:r>
              <a:rPr dirty="0" sz="2400" spc="60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 spc="45">
                <a:solidFill>
                  <a:srgbClr val="161511"/>
                </a:solidFill>
                <a:latin typeface="Arial"/>
                <a:cs typeface="Arial"/>
              </a:rPr>
              <a:t>Overflows</a:t>
            </a:r>
            <a:r>
              <a:rPr dirty="0" sz="2400">
                <a:solidFill>
                  <a:srgbClr val="161511"/>
                </a:solidFill>
                <a:latin typeface="Arial"/>
                <a:cs typeface="Arial"/>
              </a:rPr>
              <a:t>	</a:t>
            </a:r>
            <a:r>
              <a:rPr dirty="0" sz="3200" spc="160">
                <a:solidFill>
                  <a:srgbClr val="0E4466"/>
                </a:solidFill>
                <a:latin typeface="Arial"/>
                <a:cs typeface="Arial"/>
              </a:rPr>
              <a:t>✓</a:t>
            </a:r>
            <a:r>
              <a:rPr dirty="0" sz="3200" spc="335">
                <a:solidFill>
                  <a:srgbClr val="0E4466"/>
                </a:solidFill>
                <a:latin typeface="Arial"/>
                <a:cs typeface="Arial"/>
              </a:rPr>
              <a:t> </a:t>
            </a:r>
            <a:r>
              <a:rPr dirty="0" sz="2400" spc="80">
                <a:solidFill>
                  <a:srgbClr val="161511"/>
                </a:solidFill>
                <a:latin typeface="Arial"/>
                <a:cs typeface="Arial"/>
              </a:rPr>
              <a:t>Use-</a:t>
            </a:r>
            <a:r>
              <a:rPr dirty="0" sz="2400" spc="60">
                <a:solidFill>
                  <a:srgbClr val="161511"/>
                </a:solidFill>
                <a:latin typeface="Arial"/>
                <a:cs typeface="Arial"/>
              </a:rPr>
              <a:t>After-</a:t>
            </a:r>
            <a:r>
              <a:rPr dirty="0" sz="2400" spc="-90">
                <a:solidFill>
                  <a:srgbClr val="161511"/>
                </a:solidFill>
                <a:latin typeface="Arial"/>
                <a:cs typeface="Arial"/>
              </a:rPr>
              <a:t>Free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928920" y="8732374"/>
            <a:ext cx="2248535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94360" indent="-581660">
              <a:lnSpc>
                <a:spcPct val="100000"/>
              </a:lnSpc>
              <a:spcBef>
                <a:spcPts val="110"/>
              </a:spcBef>
              <a:buClr>
                <a:srgbClr val="0E4466"/>
              </a:buClr>
              <a:buSzPct val="133333"/>
              <a:buChar char="✓"/>
              <a:tabLst>
                <a:tab pos="594360" algn="l"/>
              </a:tabLst>
            </a:pPr>
            <a:r>
              <a:rPr dirty="0" sz="2400">
                <a:solidFill>
                  <a:srgbClr val="161511"/>
                </a:solidFill>
                <a:latin typeface="Arial"/>
                <a:cs typeface="Arial"/>
              </a:rPr>
              <a:t>Double-</a:t>
            </a:r>
            <a:r>
              <a:rPr dirty="0" sz="2400" spc="-160">
                <a:solidFill>
                  <a:srgbClr val="161511"/>
                </a:solidFill>
                <a:latin typeface="Arial"/>
                <a:cs typeface="Arial"/>
              </a:rPr>
              <a:t>Free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629147" y="8732374"/>
            <a:ext cx="4173854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88645" indent="-575945">
              <a:lnSpc>
                <a:spcPct val="100000"/>
              </a:lnSpc>
              <a:spcBef>
                <a:spcPts val="110"/>
              </a:spcBef>
              <a:buClr>
                <a:srgbClr val="0E4466"/>
              </a:buClr>
              <a:buSzPct val="133333"/>
              <a:buChar char="✓"/>
              <a:tabLst>
                <a:tab pos="588645" algn="l"/>
              </a:tabLst>
            </a:pPr>
            <a:r>
              <a:rPr dirty="0" sz="2400" spc="65">
                <a:solidFill>
                  <a:srgbClr val="010101"/>
                </a:solidFill>
                <a:latin typeface="Arial"/>
                <a:cs typeface="Arial"/>
              </a:rPr>
              <a:t>Heap</a:t>
            </a:r>
            <a:r>
              <a:rPr dirty="0" sz="2400" spc="-6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61511"/>
                </a:solidFill>
                <a:latin typeface="Arial"/>
                <a:cs typeface="Arial"/>
              </a:rPr>
              <a:t>Layout</a:t>
            </a:r>
            <a:r>
              <a:rPr dirty="0" sz="2400" spc="210">
                <a:solidFill>
                  <a:srgbClr val="161511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161511"/>
                </a:solidFill>
                <a:latin typeface="Arial"/>
                <a:cs typeface="Arial"/>
              </a:rPr>
              <a:t>Manipulation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799" y="6408869"/>
            <a:ext cx="3311598" cy="125108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54584" y="6408869"/>
            <a:ext cx="3922971" cy="20936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83245" y="6204611"/>
            <a:ext cx="2037906" cy="183832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52008" y="6434400"/>
            <a:ext cx="0" cy="1251585"/>
          </a:xfrm>
          <a:custGeom>
            <a:avLst/>
            <a:gdLst/>
            <a:ahLst/>
            <a:cxnLst/>
            <a:rect l="l" t="t" r="r" b="b"/>
            <a:pathLst>
              <a:path w="0" h="1251584">
                <a:moveTo>
                  <a:pt x="0" y="125108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24032" y="7149303"/>
            <a:ext cx="0" cy="1047115"/>
          </a:xfrm>
          <a:custGeom>
            <a:avLst/>
            <a:gdLst/>
            <a:ahLst/>
            <a:cxnLst/>
            <a:rect l="l" t="t" r="r" b="b"/>
            <a:pathLst>
              <a:path w="0" h="1047115">
                <a:moveTo>
                  <a:pt x="0" y="104682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24032" y="5821625"/>
            <a:ext cx="0" cy="1123950"/>
          </a:xfrm>
          <a:custGeom>
            <a:avLst/>
            <a:gdLst/>
            <a:ahLst/>
            <a:cxnLst/>
            <a:rect l="l" t="t" r="r" b="b"/>
            <a:pathLst>
              <a:path w="0" h="1123950">
                <a:moveTo>
                  <a:pt x="0" y="112342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463835" y="5847157"/>
            <a:ext cx="0" cy="2374900"/>
          </a:xfrm>
          <a:custGeom>
            <a:avLst/>
            <a:gdLst/>
            <a:ahLst/>
            <a:cxnLst/>
            <a:rect l="l" t="t" r="r" b="b"/>
            <a:pathLst>
              <a:path w="0" h="2374900">
                <a:moveTo>
                  <a:pt x="0" y="237450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03940" y="5719496"/>
            <a:ext cx="0" cy="2374900"/>
          </a:xfrm>
          <a:custGeom>
            <a:avLst/>
            <a:gdLst/>
            <a:ahLst/>
            <a:cxnLst/>
            <a:rect l="l" t="t" r="r" b="b"/>
            <a:pathLst>
              <a:path w="0" h="2374900">
                <a:moveTo>
                  <a:pt x="0" y="237450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578010" y="5642899"/>
            <a:ext cx="114935" cy="766445"/>
          </a:xfrm>
          <a:custGeom>
            <a:avLst/>
            <a:gdLst/>
            <a:ahLst/>
            <a:cxnLst/>
            <a:rect l="l" t="t" r="r" b="b"/>
            <a:pathLst>
              <a:path w="114934" h="766445">
                <a:moveTo>
                  <a:pt x="0" y="0"/>
                </a:moveTo>
                <a:lnTo>
                  <a:pt x="114632" y="0"/>
                </a:lnTo>
                <a:lnTo>
                  <a:pt x="114632" y="765968"/>
                </a:lnTo>
                <a:lnTo>
                  <a:pt x="0" y="7659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10915539" y="5515237"/>
            <a:ext cx="255270" cy="894080"/>
            <a:chOff x="10915539" y="5515237"/>
            <a:chExt cx="255270" cy="894080"/>
          </a:xfrm>
        </p:grpSpPr>
        <p:sp>
          <p:nvSpPr>
            <p:cNvPr id="12" name="object 12"/>
            <p:cNvSpPr/>
            <p:nvPr/>
          </p:nvSpPr>
          <p:spPr>
            <a:xfrm>
              <a:off x="10915539" y="5515237"/>
              <a:ext cx="153035" cy="894080"/>
            </a:xfrm>
            <a:custGeom>
              <a:avLst/>
              <a:gdLst/>
              <a:ahLst/>
              <a:cxnLst/>
              <a:rect l="l" t="t" r="r" b="b"/>
              <a:pathLst>
                <a:path w="153034" h="894079">
                  <a:moveTo>
                    <a:pt x="0" y="0"/>
                  </a:moveTo>
                  <a:lnTo>
                    <a:pt x="152843" y="0"/>
                  </a:lnTo>
                  <a:lnTo>
                    <a:pt x="152843" y="893630"/>
                  </a:lnTo>
                  <a:lnTo>
                    <a:pt x="0" y="893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132067" y="5515237"/>
              <a:ext cx="0" cy="817244"/>
            </a:xfrm>
            <a:custGeom>
              <a:avLst/>
              <a:gdLst/>
              <a:ahLst/>
              <a:cxnLst/>
              <a:rect l="l" t="t" r="r" b="b"/>
              <a:pathLst>
                <a:path w="0" h="817245">
                  <a:moveTo>
                    <a:pt x="0" y="817033"/>
                  </a:moveTo>
                  <a:lnTo>
                    <a:pt x="0" y="0"/>
                  </a:lnTo>
                </a:path>
              </a:pathLst>
            </a:custGeom>
            <a:ln w="764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5425927" y="5745028"/>
            <a:ext cx="2216785" cy="0"/>
          </a:xfrm>
          <a:custGeom>
            <a:avLst/>
            <a:gdLst/>
            <a:ahLst/>
            <a:cxnLst/>
            <a:rect l="l" t="t" r="r" b="b"/>
            <a:pathLst>
              <a:path w="2216784" h="0">
                <a:moveTo>
                  <a:pt x="0" y="0"/>
                </a:moveTo>
                <a:lnTo>
                  <a:pt x="221622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53904" y="6383335"/>
            <a:ext cx="1936114" cy="0"/>
          </a:xfrm>
          <a:custGeom>
            <a:avLst/>
            <a:gdLst/>
            <a:ahLst/>
            <a:cxnLst/>
            <a:rect l="l" t="t" r="r" b="b"/>
            <a:pathLst>
              <a:path w="1936114" h="0">
                <a:moveTo>
                  <a:pt x="0" y="0"/>
                </a:moveTo>
                <a:lnTo>
                  <a:pt x="193601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26535" y="7647183"/>
            <a:ext cx="1961514" cy="0"/>
          </a:xfrm>
          <a:custGeom>
            <a:avLst/>
            <a:gdLst/>
            <a:ahLst/>
            <a:cxnLst/>
            <a:rect l="l" t="t" r="r" b="b"/>
            <a:pathLst>
              <a:path w="1961514" h="0">
                <a:moveTo>
                  <a:pt x="0" y="0"/>
                </a:moveTo>
                <a:lnTo>
                  <a:pt x="196148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298558" y="8170595"/>
            <a:ext cx="2267585" cy="0"/>
          </a:xfrm>
          <a:custGeom>
            <a:avLst/>
            <a:gdLst/>
            <a:ahLst/>
            <a:cxnLst/>
            <a:rect l="l" t="t" r="r" b="b"/>
            <a:pathLst>
              <a:path w="2267584" h="0">
                <a:moveTo>
                  <a:pt x="0" y="0"/>
                </a:moveTo>
                <a:lnTo>
                  <a:pt x="226717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839654" y="165197"/>
            <a:ext cx="15389860" cy="1701800"/>
          </a:xfrm>
          <a:prstGeom prst="rect"/>
        </p:spPr>
        <p:txBody>
          <a:bodyPr wrap="square" lIns="0" tIns="284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40"/>
              </a:spcBef>
              <a:tabLst>
                <a:tab pos="7411720" algn="l"/>
              </a:tabLst>
            </a:pPr>
            <a:r>
              <a:rPr dirty="0" sz="4000" spc="80">
                <a:solidFill>
                  <a:srgbClr val="070705"/>
                </a:solidFill>
                <a:latin typeface="Arial"/>
                <a:cs typeface="Arial"/>
              </a:rPr>
              <a:t>Layer</a:t>
            </a:r>
            <a:r>
              <a:rPr dirty="0" sz="4000" spc="-135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4100" spc="65">
                <a:solidFill>
                  <a:srgbClr val="070705"/>
                </a:solidFill>
              </a:rPr>
              <a:t>3:</a:t>
            </a:r>
            <a:r>
              <a:rPr dirty="0" sz="4100" spc="-65">
                <a:solidFill>
                  <a:srgbClr val="070705"/>
                </a:solidFill>
              </a:rPr>
              <a:t> </a:t>
            </a:r>
            <a:r>
              <a:rPr dirty="0" sz="4100" spc="105">
                <a:solidFill>
                  <a:srgbClr val="070705"/>
                </a:solidFill>
              </a:rPr>
              <a:t>Hardened</a:t>
            </a:r>
            <a:r>
              <a:rPr dirty="0" sz="4100" spc="110">
                <a:solidFill>
                  <a:srgbClr val="070705"/>
                </a:solidFill>
              </a:rPr>
              <a:t> </a:t>
            </a:r>
            <a:r>
              <a:rPr dirty="0" sz="4100">
                <a:solidFill>
                  <a:srgbClr val="070705"/>
                </a:solidFill>
              </a:rPr>
              <a:t>Libraries</a:t>
            </a:r>
            <a:r>
              <a:rPr dirty="0" sz="4100" spc="170">
                <a:solidFill>
                  <a:srgbClr val="070705"/>
                </a:solidFill>
              </a:rPr>
              <a:t> </a:t>
            </a:r>
            <a:r>
              <a:rPr dirty="0" sz="4100" spc="-50" b="0">
                <a:solidFill>
                  <a:srgbClr val="070705"/>
                </a:solidFill>
                <a:latin typeface="Times New Roman"/>
                <a:cs typeface="Times New Roman"/>
              </a:rPr>
              <a:t>-</a:t>
            </a:r>
            <a:r>
              <a:rPr dirty="0" sz="4100" b="0">
                <a:solidFill>
                  <a:srgbClr val="070705"/>
                </a:solidFill>
                <a:latin typeface="Times New Roman"/>
                <a:cs typeface="Times New Roman"/>
              </a:rPr>
              <a:t>	</a:t>
            </a:r>
            <a:r>
              <a:rPr dirty="0" sz="4100" spc="70">
                <a:solidFill>
                  <a:srgbClr val="070705"/>
                </a:solidFill>
              </a:rPr>
              <a:t>Security</a:t>
            </a:r>
            <a:r>
              <a:rPr dirty="0" sz="4100" spc="155">
                <a:solidFill>
                  <a:srgbClr val="070705"/>
                </a:solidFill>
              </a:rPr>
              <a:t> </a:t>
            </a:r>
            <a:r>
              <a:rPr dirty="0" sz="4100" spc="95">
                <a:solidFill>
                  <a:srgbClr val="070705"/>
                </a:solidFill>
              </a:rPr>
              <a:t>Engineered</a:t>
            </a:r>
            <a:r>
              <a:rPr dirty="0" sz="4100" spc="145">
                <a:solidFill>
                  <a:srgbClr val="070705"/>
                </a:solidFill>
              </a:rPr>
              <a:t> </a:t>
            </a:r>
            <a:r>
              <a:rPr dirty="0" sz="4100" spc="135">
                <a:solidFill>
                  <a:srgbClr val="070705"/>
                </a:solidFill>
              </a:rPr>
              <a:t>at</a:t>
            </a:r>
            <a:r>
              <a:rPr dirty="0" sz="4100" spc="-195">
                <a:solidFill>
                  <a:srgbClr val="070705"/>
                </a:solidFill>
              </a:rPr>
              <a:t> </a:t>
            </a:r>
            <a:r>
              <a:rPr dirty="0" sz="4100" spc="160">
                <a:solidFill>
                  <a:srgbClr val="070705"/>
                </a:solidFill>
              </a:rPr>
              <a:t>the</a:t>
            </a:r>
            <a:r>
              <a:rPr dirty="0" sz="4100" spc="-5">
                <a:solidFill>
                  <a:srgbClr val="070705"/>
                </a:solidFill>
              </a:rPr>
              <a:t> </a:t>
            </a:r>
            <a:r>
              <a:rPr dirty="0" sz="4100" spc="65">
                <a:solidFill>
                  <a:srgbClr val="070705"/>
                </a:solidFill>
              </a:rPr>
              <a:t>Source</a:t>
            </a:r>
            <a:endParaRPr sz="4100">
              <a:latin typeface="Times New Roman"/>
              <a:cs typeface="Times New Roman"/>
            </a:endParaRPr>
          </a:p>
          <a:p>
            <a:pPr marL="4514850" marR="2097405" indent="-2018030">
              <a:lnSpc>
                <a:spcPct val="100000"/>
              </a:lnSpc>
              <a:spcBef>
                <a:spcPts val="1100"/>
              </a:spcBef>
            </a:pPr>
            <a:r>
              <a:rPr dirty="0" sz="2100" spc="-20" b="0">
                <a:solidFill>
                  <a:srgbClr val="21211F"/>
                </a:solidFill>
                <a:latin typeface="Arial"/>
                <a:cs typeface="Arial"/>
              </a:rPr>
              <a:t>Our</a:t>
            </a:r>
            <a:r>
              <a:rPr dirty="0" sz="2100" spc="20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b="0">
                <a:solidFill>
                  <a:srgbClr val="21211F"/>
                </a:solidFill>
                <a:latin typeface="Arial"/>
                <a:cs typeface="Arial"/>
              </a:rPr>
              <a:t>core</a:t>
            </a:r>
            <a:r>
              <a:rPr dirty="0" sz="2100" spc="-50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b="0">
                <a:solidFill>
                  <a:srgbClr val="21211F"/>
                </a:solidFill>
                <a:latin typeface="Arial"/>
                <a:cs typeface="Arial"/>
              </a:rPr>
              <a:t>libraries</a:t>
            </a:r>
            <a:r>
              <a:rPr dirty="0" sz="2100" spc="95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b="0">
                <a:solidFill>
                  <a:srgbClr val="21211F"/>
                </a:solidFill>
                <a:latin typeface="Arial"/>
                <a:cs typeface="Arial"/>
              </a:rPr>
              <a:t>are</a:t>
            </a:r>
            <a:r>
              <a:rPr dirty="0" sz="2100" spc="-105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60" b="0">
                <a:solidFill>
                  <a:srgbClr val="21211F"/>
                </a:solidFill>
                <a:latin typeface="Arial"/>
                <a:cs typeface="Arial"/>
              </a:rPr>
              <a:t>not</a:t>
            </a:r>
            <a:r>
              <a:rPr dirty="0" sz="2100" spc="130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b="0">
                <a:solidFill>
                  <a:srgbClr val="21211F"/>
                </a:solidFill>
                <a:latin typeface="Arial"/>
                <a:cs typeface="Arial"/>
              </a:rPr>
              <a:t>just</a:t>
            </a:r>
            <a:r>
              <a:rPr dirty="0" sz="2100" spc="5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140" b="0">
                <a:solidFill>
                  <a:srgbClr val="21211F"/>
                </a:solidFill>
                <a:latin typeface="Arial"/>
                <a:cs typeface="Arial"/>
              </a:rPr>
              <a:t>patched-</a:t>
            </a:r>
            <a:r>
              <a:rPr dirty="0" sz="2100" spc="135" b="0">
                <a:solidFill>
                  <a:srgbClr val="21211F"/>
                </a:solidFill>
                <a:latin typeface="Arial"/>
                <a:cs typeface="Arial"/>
              </a:rPr>
              <a:t>they </a:t>
            </a:r>
            <a:r>
              <a:rPr dirty="0" sz="2100" spc="55" b="0">
                <a:solidFill>
                  <a:srgbClr val="21211F"/>
                </a:solidFill>
                <a:latin typeface="Arial"/>
                <a:cs typeface="Arial"/>
              </a:rPr>
              <a:t>are</a:t>
            </a:r>
            <a:r>
              <a:rPr dirty="0" sz="2100" spc="-75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b="0">
                <a:solidFill>
                  <a:srgbClr val="21211F"/>
                </a:solidFill>
                <a:latin typeface="Arial"/>
                <a:cs typeface="Arial"/>
              </a:rPr>
              <a:t>fundamentally</a:t>
            </a:r>
            <a:r>
              <a:rPr dirty="0" sz="2100" spc="170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b="0">
                <a:solidFill>
                  <a:srgbClr val="31312F"/>
                </a:solidFill>
                <a:latin typeface="Arial"/>
                <a:cs typeface="Arial"/>
              </a:rPr>
              <a:t>re-</a:t>
            </a:r>
            <a:r>
              <a:rPr dirty="0" sz="2100" spc="50" b="0">
                <a:solidFill>
                  <a:srgbClr val="31312F"/>
                </a:solidFill>
                <a:latin typeface="Arial"/>
                <a:cs typeface="Arial"/>
              </a:rPr>
              <a:t>architected</a:t>
            </a:r>
            <a:r>
              <a:rPr dirty="0" sz="2100" spc="-10" b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dirty="0" sz="2100" b="0">
                <a:solidFill>
                  <a:srgbClr val="21211F"/>
                </a:solidFill>
                <a:latin typeface="Arial"/>
                <a:cs typeface="Arial"/>
              </a:rPr>
              <a:t>based</a:t>
            </a:r>
            <a:r>
              <a:rPr dirty="0" sz="2100" spc="100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65" b="0">
                <a:solidFill>
                  <a:srgbClr val="21211F"/>
                </a:solidFill>
                <a:latin typeface="Arial"/>
                <a:cs typeface="Arial"/>
              </a:rPr>
              <a:t>on</a:t>
            </a:r>
            <a:r>
              <a:rPr dirty="0" sz="2100" spc="-95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40" b="0">
                <a:solidFill>
                  <a:srgbClr val="21211F"/>
                </a:solidFill>
                <a:latin typeface="Arial"/>
                <a:cs typeface="Arial"/>
              </a:rPr>
              <a:t>a </a:t>
            </a:r>
            <a:r>
              <a:rPr dirty="0" sz="2100" b="0">
                <a:solidFill>
                  <a:srgbClr val="21211F"/>
                </a:solidFill>
                <a:latin typeface="Arial"/>
                <a:cs typeface="Arial"/>
              </a:rPr>
              <a:t>20+</a:t>
            </a:r>
            <a:r>
              <a:rPr dirty="0" sz="2100" spc="140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b="0">
                <a:solidFill>
                  <a:srgbClr val="21211F"/>
                </a:solidFill>
                <a:latin typeface="Arial"/>
                <a:cs typeface="Arial"/>
              </a:rPr>
              <a:t>year</a:t>
            </a:r>
            <a:r>
              <a:rPr dirty="0" sz="2100" spc="190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b="0">
                <a:solidFill>
                  <a:srgbClr val="21211F"/>
                </a:solidFill>
                <a:latin typeface="Arial"/>
                <a:cs typeface="Arial"/>
              </a:rPr>
              <a:t>security</a:t>
            </a:r>
            <a:r>
              <a:rPr dirty="0" sz="2100" spc="85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b="0">
                <a:solidFill>
                  <a:srgbClr val="21211F"/>
                </a:solidFill>
                <a:latin typeface="Arial"/>
                <a:cs typeface="Arial"/>
              </a:rPr>
              <a:t>heritage</a:t>
            </a:r>
            <a:r>
              <a:rPr dirty="0" sz="2100" spc="35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b="0">
                <a:solidFill>
                  <a:srgbClr val="21211F"/>
                </a:solidFill>
                <a:latin typeface="Arial"/>
                <a:cs typeface="Arial"/>
              </a:rPr>
              <a:t>from</a:t>
            </a:r>
            <a:r>
              <a:rPr dirty="0" sz="2100" spc="55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b="0">
                <a:solidFill>
                  <a:srgbClr val="21211F"/>
                </a:solidFill>
                <a:latin typeface="Arial"/>
                <a:cs typeface="Arial"/>
              </a:rPr>
              <a:t>Openwall</a:t>
            </a:r>
            <a:r>
              <a:rPr dirty="0" sz="2100" spc="85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b="0">
                <a:solidFill>
                  <a:srgbClr val="21211F"/>
                </a:solidFill>
                <a:latin typeface="Arial"/>
                <a:cs typeface="Arial"/>
              </a:rPr>
              <a:t>and</a:t>
            </a:r>
            <a:r>
              <a:rPr dirty="0" sz="2100" spc="5" b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75" b="0">
                <a:solidFill>
                  <a:srgbClr val="21211F"/>
                </a:solidFill>
                <a:latin typeface="Arial"/>
                <a:cs typeface="Arial"/>
              </a:rPr>
              <a:t>ALT</a:t>
            </a:r>
            <a:r>
              <a:rPr dirty="0" sz="2100" spc="-10" b="0">
                <a:solidFill>
                  <a:srgbClr val="21211F"/>
                </a:solidFill>
                <a:latin typeface="Arial"/>
                <a:cs typeface="Arial"/>
              </a:rPr>
              <a:t> Linux.</a:t>
            </a:r>
            <a:endParaRPr sz="2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147783" y="9418922"/>
            <a:ext cx="125476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70">
                <a:solidFill>
                  <a:srgbClr val="31312F"/>
                </a:solidFill>
                <a:latin typeface="Arial"/>
                <a:cs typeface="Arial"/>
              </a:rPr>
              <a:t>I'S\</a:t>
            </a:r>
            <a:r>
              <a:rPr dirty="0" sz="1300" spc="-2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1211F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9358" y="2150787"/>
            <a:ext cx="7146925" cy="316293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425"/>
              </a:spcBef>
            </a:pPr>
            <a:r>
              <a:rPr dirty="0" sz="3150" spc="-60" b="1">
                <a:solidFill>
                  <a:srgbClr val="070705"/>
                </a:solidFill>
                <a:latin typeface="Times New Roman"/>
                <a:cs typeface="Times New Roman"/>
              </a:rPr>
              <a:t>H</a:t>
            </a:r>
            <a:r>
              <a:rPr dirty="0" sz="3150" spc="-60" b="1">
                <a:solidFill>
                  <a:srgbClr val="21211F"/>
                </a:solidFill>
                <a:latin typeface="Times New Roman"/>
                <a:cs typeface="Times New Roman"/>
              </a:rPr>
              <a:t>ar</a:t>
            </a:r>
            <a:r>
              <a:rPr dirty="0" sz="3150" spc="-60" b="1">
                <a:solidFill>
                  <a:srgbClr val="070705"/>
                </a:solidFill>
                <a:latin typeface="Times New Roman"/>
                <a:cs typeface="Times New Roman"/>
              </a:rPr>
              <a:t>d</a:t>
            </a:r>
            <a:r>
              <a:rPr dirty="0" sz="3150" spc="-60" b="1">
                <a:solidFill>
                  <a:srgbClr val="21211F"/>
                </a:solidFill>
                <a:latin typeface="Times New Roman"/>
                <a:cs typeface="Times New Roman"/>
              </a:rPr>
              <a:t>e</a:t>
            </a:r>
            <a:r>
              <a:rPr dirty="0" sz="3150" spc="-60" b="1">
                <a:solidFill>
                  <a:srgbClr val="070705"/>
                </a:solidFill>
                <a:latin typeface="Times New Roman"/>
                <a:cs typeface="Times New Roman"/>
              </a:rPr>
              <a:t>n</a:t>
            </a:r>
            <a:r>
              <a:rPr dirty="0" sz="3150" spc="-60" b="1">
                <a:solidFill>
                  <a:srgbClr val="21211F"/>
                </a:solidFill>
                <a:latin typeface="Times New Roman"/>
                <a:cs typeface="Times New Roman"/>
              </a:rPr>
              <a:t>e</a:t>
            </a:r>
            <a:r>
              <a:rPr dirty="0" sz="3150" spc="-60" b="1">
                <a:solidFill>
                  <a:srgbClr val="070705"/>
                </a:solidFill>
                <a:latin typeface="Times New Roman"/>
                <a:cs typeface="Times New Roman"/>
              </a:rPr>
              <a:t>d</a:t>
            </a:r>
            <a:r>
              <a:rPr dirty="0" sz="3150" spc="-260" b="1">
                <a:solidFill>
                  <a:srgbClr val="070705"/>
                </a:solidFill>
                <a:latin typeface="Times New Roman"/>
                <a:cs typeface="Times New Roman"/>
              </a:rPr>
              <a:t> </a:t>
            </a:r>
            <a:r>
              <a:rPr dirty="0" sz="3150" spc="-20" b="1">
                <a:solidFill>
                  <a:srgbClr val="21211F"/>
                </a:solidFill>
                <a:latin typeface="Times New Roman"/>
                <a:cs typeface="Times New Roman"/>
              </a:rPr>
              <a:t>g</a:t>
            </a:r>
            <a:r>
              <a:rPr dirty="0" sz="3150" spc="-20" b="1">
                <a:solidFill>
                  <a:srgbClr val="070705"/>
                </a:solidFill>
                <a:latin typeface="Times New Roman"/>
                <a:cs typeface="Times New Roman"/>
              </a:rPr>
              <a:t>lib</a:t>
            </a:r>
            <a:r>
              <a:rPr dirty="0" sz="3150" spc="-20" b="1">
                <a:solidFill>
                  <a:srgbClr val="21211F"/>
                </a:solidFill>
                <a:latin typeface="Times New Roman"/>
                <a:cs typeface="Times New Roman"/>
              </a:rPr>
              <a:t>c</a:t>
            </a:r>
            <a:endParaRPr sz="3150">
              <a:latin typeface="Times New Roman"/>
              <a:cs typeface="Times New Roman"/>
            </a:endParaRPr>
          </a:p>
          <a:p>
            <a:pPr marL="27305" marR="1104265" indent="-15240">
              <a:lnSpc>
                <a:spcPct val="100000"/>
              </a:lnSpc>
              <a:spcBef>
                <a:spcPts val="890"/>
              </a:spcBef>
            </a:pPr>
            <a:r>
              <a:rPr dirty="0" sz="2100" spc="-65" b="1">
                <a:solidFill>
                  <a:srgbClr val="070705"/>
                </a:solidFill>
                <a:latin typeface="Arial"/>
                <a:cs typeface="Arial"/>
              </a:rPr>
              <a:t>Prin</a:t>
            </a:r>
            <a:r>
              <a:rPr dirty="0" sz="2100" spc="-65" b="1">
                <a:solidFill>
                  <a:srgbClr val="21211F"/>
                </a:solidFill>
                <a:latin typeface="Arial"/>
                <a:cs typeface="Arial"/>
              </a:rPr>
              <a:t>c</a:t>
            </a:r>
            <a:r>
              <a:rPr dirty="0" sz="2100" spc="-65" b="1">
                <a:solidFill>
                  <a:srgbClr val="070705"/>
                </a:solidFill>
                <a:latin typeface="Arial"/>
                <a:cs typeface="Arial"/>
              </a:rPr>
              <a:t>ipl</a:t>
            </a:r>
            <a:r>
              <a:rPr dirty="0" sz="2100" spc="-65" b="1">
                <a:solidFill>
                  <a:srgbClr val="21211F"/>
                </a:solidFill>
                <a:latin typeface="Arial"/>
                <a:cs typeface="Arial"/>
              </a:rPr>
              <a:t>e</a:t>
            </a:r>
            <a:r>
              <a:rPr dirty="0" sz="2100" spc="-65" b="1">
                <a:solidFill>
                  <a:srgbClr val="070705"/>
                </a:solidFill>
                <a:latin typeface="Arial"/>
                <a:cs typeface="Arial"/>
              </a:rPr>
              <a:t>:</a:t>
            </a:r>
            <a:r>
              <a:rPr dirty="0" sz="2100" spc="-229" b="1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2100" spc="-20">
                <a:solidFill>
                  <a:srgbClr val="21211F"/>
                </a:solidFill>
                <a:latin typeface="Arial"/>
                <a:cs typeface="Arial"/>
              </a:rPr>
              <a:t>Distrust</a:t>
            </a:r>
            <a:r>
              <a:rPr dirty="0" sz="2100" spc="-114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25">
                <a:solidFill>
                  <a:srgbClr val="21211F"/>
                </a:solidFill>
                <a:latin typeface="Arial"/>
                <a:cs typeface="Arial"/>
              </a:rPr>
              <a:t>environment</a:t>
            </a:r>
            <a:r>
              <a:rPr dirty="0" sz="2100" spc="4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30">
                <a:solidFill>
                  <a:srgbClr val="21211F"/>
                </a:solidFill>
                <a:latin typeface="Arial"/>
                <a:cs typeface="Arial"/>
              </a:rPr>
              <a:t>variables</a:t>
            </a:r>
            <a:r>
              <a:rPr dirty="0" sz="2100" spc="-3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1211F"/>
                </a:solidFill>
                <a:latin typeface="Arial"/>
                <a:cs typeface="Arial"/>
              </a:rPr>
              <a:t>at</a:t>
            </a:r>
            <a:r>
              <a:rPr dirty="0" sz="2100" spc="-14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privilege boundaries.</a:t>
            </a:r>
            <a:endParaRPr sz="2100">
              <a:latin typeface="Arial"/>
              <a:cs typeface="Arial"/>
            </a:endParaRPr>
          </a:p>
          <a:p>
            <a:pPr marL="19685" marR="5080" indent="-7620">
              <a:lnSpc>
                <a:spcPts val="2410"/>
              </a:lnSpc>
              <a:spcBef>
                <a:spcPts val="860"/>
              </a:spcBef>
            </a:pPr>
            <a:r>
              <a:rPr dirty="0" sz="2100" spc="-55" b="1">
                <a:solidFill>
                  <a:srgbClr val="070705"/>
                </a:solidFill>
                <a:latin typeface="Arial"/>
                <a:cs typeface="Arial"/>
              </a:rPr>
              <a:t>Proof</a:t>
            </a:r>
            <a:r>
              <a:rPr dirty="0" sz="2100" spc="-55" b="1">
                <a:solidFill>
                  <a:srgbClr val="21211F"/>
                </a:solidFill>
                <a:latin typeface="Arial"/>
                <a:cs typeface="Arial"/>
              </a:rPr>
              <a:t>:</a:t>
            </a:r>
            <a:r>
              <a:rPr dirty="0" sz="2100" spc="-320" b="1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30">
                <a:solidFill>
                  <a:srgbClr val="21211F"/>
                </a:solidFill>
                <a:latin typeface="Arial"/>
                <a:cs typeface="Arial"/>
              </a:rPr>
              <a:t>This</a:t>
            </a:r>
            <a:r>
              <a:rPr dirty="0" sz="2100" spc="-12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20">
                <a:solidFill>
                  <a:srgbClr val="21211F"/>
                </a:solidFill>
                <a:latin typeface="Arial"/>
                <a:cs typeface="Arial"/>
              </a:rPr>
              <a:t>proactive</a:t>
            </a:r>
            <a:r>
              <a:rPr dirty="0" sz="2100" spc="-13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1211F"/>
                </a:solidFill>
                <a:latin typeface="Arial"/>
                <a:cs typeface="Arial"/>
              </a:rPr>
              <a:t>principle</a:t>
            </a:r>
            <a:r>
              <a:rPr dirty="0" sz="2100" spc="-6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1211F"/>
                </a:solidFill>
                <a:latin typeface="Arial"/>
                <a:cs typeface="Arial"/>
              </a:rPr>
              <a:t>mitigated</a:t>
            </a:r>
            <a:r>
              <a:rPr dirty="0" sz="2100" spc="-2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1211F"/>
                </a:solidFill>
                <a:latin typeface="Arial"/>
                <a:cs typeface="Arial"/>
              </a:rPr>
              <a:t>the</a:t>
            </a:r>
            <a:r>
              <a:rPr dirty="0" sz="2100" spc="-19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1211F"/>
                </a:solidFill>
                <a:latin typeface="Arial"/>
                <a:cs typeface="Arial"/>
              </a:rPr>
              <a:t>actively</a:t>
            </a:r>
            <a:r>
              <a:rPr dirty="0" sz="2100" spc="-3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exploited </a:t>
            </a:r>
            <a:r>
              <a:rPr dirty="0" sz="2100" spc="-25">
                <a:solidFill>
                  <a:srgbClr val="31312F"/>
                </a:solidFill>
                <a:latin typeface="Arial"/>
                <a:cs typeface="Arial"/>
              </a:rPr>
              <a:t>"Looney</a:t>
            </a:r>
            <a:r>
              <a:rPr dirty="0" sz="2100" spc="25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dirty="0" sz="2100" spc="-45">
                <a:solidFill>
                  <a:srgbClr val="21211F"/>
                </a:solidFill>
                <a:latin typeface="Arial"/>
                <a:cs typeface="Arial"/>
              </a:rPr>
              <a:t>Tunables"</a:t>
            </a:r>
            <a:r>
              <a:rPr dirty="0" sz="2100" spc="3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55">
                <a:solidFill>
                  <a:srgbClr val="21211F"/>
                </a:solidFill>
                <a:latin typeface="Arial"/>
                <a:cs typeface="Arial"/>
              </a:rPr>
              <a:t>(CVE-2023-4911)</a:t>
            </a:r>
            <a:r>
              <a:rPr dirty="0" sz="2100" spc="-19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before</a:t>
            </a:r>
            <a:r>
              <a:rPr dirty="0" sz="2100" spc="-7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31312F"/>
                </a:solidFill>
                <a:latin typeface="Arial"/>
                <a:cs typeface="Arial"/>
              </a:rPr>
              <a:t>the</a:t>
            </a:r>
            <a:r>
              <a:rPr dirty="0" sz="2100" spc="-145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vulnerability </a:t>
            </a:r>
            <a:r>
              <a:rPr dirty="0" sz="2100" spc="-20">
                <a:solidFill>
                  <a:srgbClr val="21211F"/>
                </a:solidFill>
                <a:latin typeface="Arial"/>
                <a:cs typeface="Arial"/>
              </a:rPr>
              <a:t>was</a:t>
            </a:r>
            <a:r>
              <a:rPr dirty="0" sz="2100" spc="-19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31312F"/>
                </a:solidFill>
                <a:latin typeface="Arial"/>
                <a:cs typeface="Arial"/>
              </a:rPr>
              <a:t>public.</a:t>
            </a:r>
            <a:endParaRPr sz="2100">
              <a:latin typeface="Arial"/>
              <a:cs typeface="Arial"/>
            </a:endParaRPr>
          </a:p>
          <a:p>
            <a:pPr marL="28575" marR="688340" indent="-15240">
              <a:lnSpc>
                <a:spcPts val="2410"/>
              </a:lnSpc>
              <a:spcBef>
                <a:spcPts val="815"/>
              </a:spcBef>
            </a:pPr>
            <a:r>
              <a:rPr dirty="0" sz="2100" spc="-30" b="1">
                <a:solidFill>
                  <a:srgbClr val="070705"/>
                </a:solidFill>
                <a:latin typeface="Arial"/>
                <a:cs typeface="Arial"/>
              </a:rPr>
              <a:t>Impact</a:t>
            </a:r>
            <a:r>
              <a:rPr dirty="0" sz="2100" spc="-30" b="1">
                <a:solidFill>
                  <a:srgbClr val="21211F"/>
                </a:solidFill>
                <a:latin typeface="Arial"/>
                <a:cs typeface="Arial"/>
              </a:rPr>
              <a:t>:</a:t>
            </a:r>
            <a:r>
              <a:rPr dirty="0" sz="2100" spc="-335" b="1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50">
                <a:solidFill>
                  <a:srgbClr val="31312F"/>
                </a:solidFill>
                <a:latin typeface="Arial"/>
                <a:cs typeface="Arial"/>
              </a:rPr>
              <a:t>Eliminates</a:t>
            </a:r>
            <a:r>
              <a:rPr dirty="0" sz="2100" spc="5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1211F"/>
                </a:solidFill>
                <a:latin typeface="Arial"/>
                <a:cs typeface="Arial"/>
              </a:rPr>
              <a:t>an</a:t>
            </a:r>
            <a:r>
              <a:rPr dirty="0" sz="2100" spc="-26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entire</a:t>
            </a:r>
            <a:r>
              <a:rPr dirty="0" sz="2100" spc="-13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25">
                <a:solidFill>
                  <a:srgbClr val="21211F"/>
                </a:solidFill>
                <a:latin typeface="Arial"/>
                <a:cs typeface="Arial"/>
              </a:rPr>
              <a:t>class</a:t>
            </a:r>
            <a:r>
              <a:rPr dirty="0" sz="2100" spc="-15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50">
                <a:solidFill>
                  <a:srgbClr val="21211F"/>
                </a:solidFill>
                <a:latin typeface="Arial"/>
                <a:cs typeface="Arial"/>
              </a:rPr>
              <a:t>of</a:t>
            </a:r>
            <a:r>
              <a:rPr dirty="0" sz="2100" spc="-10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privilege</a:t>
            </a:r>
            <a:r>
              <a:rPr dirty="0" sz="2100" spc="-5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escalation </a:t>
            </a:r>
            <a:r>
              <a:rPr dirty="0" sz="2100" spc="-20">
                <a:solidFill>
                  <a:srgbClr val="21211F"/>
                </a:solidFill>
                <a:latin typeface="Arial"/>
                <a:cs typeface="Arial"/>
              </a:rPr>
              <a:t>vectors,</a:t>
            </a:r>
            <a:r>
              <a:rPr dirty="0" sz="2100" spc="-14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1211F"/>
                </a:solidFill>
                <a:latin typeface="Arial"/>
                <a:cs typeface="Arial"/>
              </a:rPr>
              <a:t>rather</a:t>
            </a:r>
            <a:r>
              <a:rPr dirty="0" sz="2100" spc="-4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than</a:t>
            </a:r>
            <a:r>
              <a:rPr dirty="0" sz="2100" spc="-16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patching</a:t>
            </a:r>
            <a:r>
              <a:rPr dirty="0" sz="2100" spc="-10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20">
                <a:solidFill>
                  <a:srgbClr val="21211F"/>
                </a:solidFill>
                <a:latin typeface="Arial"/>
                <a:cs typeface="Arial"/>
              </a:rPr>
              <a:t>individual</a:t>
            </a:r>
            <a:r>
              <a:rPr dirty="0" sz="2100" spc="-3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bugs.</a:t>
            </a:r>
            <a:endParaRPr sz="2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29409" y="2150787"/>
            <a:ext cx="7217409" cy="3048000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425"/>
              </a:spcBef>
            </a:pPr>
            <a:r>
              <a:rPr dirty="0" sz="3150" spc="-70" b="1">
                <a:solidFill>
                  <a:srgbClr val="21211F"/>
                </a:solidFill>
                <a:latin typeface="Times New Roman"/>
                <a:cs typeface="Times New Roman"/>
              </a:rPr>
              <a:t>Ha</a:t>
            </a:r>
            <a:r>
              <a:rPr dirty="0" sz="3150" spc="-70" b="1">
                <a:solidFill>
                  <a:srgbClr val="070705"/>
                </a:solidFill>
                <a:latin typeface="Times New Roman"/>
                <a:cs typeface="Times New Roman"/>
              </a:rPr>
              <a:t>rd</a:t>
            </a:r>
            <a:r>
              <a:rPr dirty="0" sz="3150" spc="-70" b="1">
                <a:solidFill>
                  <a:srgbClr val="21211F"/>
                </a:solidFill>
                <a:latin typeface="Times New Roman"/>
                <a:cs typeface="Times New Roman"/>
              </a:rPr>
              <a:t>ene</a:t>
            </a:r>
            <a:r>
              <a:rPr dirty="0" sz="3150" spc="-70" b="1">
                <a:solidFill>
                  <a:srgbClr val="070705"/>
                </a:solidFill>
                <a:latin typeface="Times New Roman"/>
                <a:cs typeface="Times New Roman"/>
              </a:rPr>
              <a:t>d</a:t>
            </a:r>
            <a:r>
              <a:rPr dirty="0" sz="3150" spc="-175" b="1">
                <a:solidFill>
                  <a:srgbClr val="070705"/>
                </a:solidFill>
                <a:latin typeface="Times New Roman"/>
                <a:cs typeface="Times New Roman"/>
              </a:rPr>
              <a:t> </a:t>
            </a:r>
            <a:r>
              <a:rPr dirty="0" sz="3150" spc="-10" b="1">
                <a:solidFill>
                  <a:srgbClr val="21211F"/>
                </a:solidFill>
                <a:latin typeface="Times New Roman"/>
                <a:cs typeface="Times New Roman"/>
              </a:rPr>
              <a:t>Ope</a:t>
            </a:r>
            <a:r>
              <a:rPr dirty="0" sz="3150" spc="-10" b="1">
                <a:solidFill>
                  <a:srgbClr val="070705"/>
                </a:solidFill>
                <a:latin typeface="Times New Roman"/>
                <a:cs typeface="Times New Roman"/>
              </a:rPr>
              <a:t>n</a:t>
            </a:r>
            <a:r>
              <a:rPr dirty="0" sz="3150" spc="-10" b="1">
                <a:solidFill>
                  <a:srgbClr val="21211F"/>
                </a:solidFill>
                <a:latin typeface="Times New Roman"/>
                <a:cs typeface="Times New Roman"/>
              </a:rPr>
              <a:t>SSH</a:t>
            </a:r>
            <a:endParaRPr sz="3150">
              <a:latin typeface="Times New Roman"/>
              <a:cs typeface="Times New Roman"/>
            </a:endParaRPr>
          </a:p>
          <a:p>
            <a:pPr marL="13970" marR="750570" indent="-1905">
              <a:lnSpc>
                <a:spcPts val="2410"/>
              </a:lnSpc>
              <a:spcBef>
                <a:spcPts val="1060"/>
              </a:spcBef>
            </a:pPr>
            <a:r>
              <a:rPr dirty="0" sz="2100" spc="-65" b="1">
                <a:solidFill>
                  <a:srgbClr val="070705"/>
                </a:solidFill>
                <a:latin typeface="Arial"/>
                <a:cs typeface="Arial"/>
              </a:rPr>
              <a:t>Principl</a:t>
            </a:r>
            <a:r>
              <a:rPr dirty="0" sz="2100" spc="-65" b="1">
                <a:solidFill>
                  <a:srgbClr val="21211F"/>
                </a:solidFill>
                <a:latin typeface="Arial"/>
                <a:cs typeface="Arial"/>
              </a:rPr>
              <a:t>e</a:t>
            </a:r>
            <a:r>
              <a:rPr dirty="0" sz="2100" spc="-65" b="1">
                <a:solidFill>
                  <a:srgbClr val="070705"/>
                </a:solidFill>
                <a:latin typeface="Arial"/>
                <a:cs typeface="Arial"/>
              </a:rPr>
              <a:t>:</a:t>
            </a:r>
            <a:r>
              <a:rPr dirty="0" sz="2100" spc="-330" b="1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Drastically</a:t>
            </a:r>
            <a:r>
              <a:rPr dirty="0" sz="2100" spc="1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30">
                <a:solidFill>
                  <a:srgbClr val="31312F"/>
                </a:solidFill>
                <a:latin typeface="Arial"/>
                <a:cs typeface="Arial"/>
              </a:rPr>
              <a:t>reduce</a:t>
            </a:r>
            <a:r>
              <a:rPr dirty="0" sz="2100" spc="-114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1211F"/>
                </a:solidFill>
                <a:latin typeface="Arial"/>
                <a:cs typeface="Arial"/>
              </a:rPr>
              <a:t>attack</a:t>
            </a:r>
            <a:r>
              <a:rPr dirty="0" sz="2100" spc="-4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surface</a:t>
            </a:r>
            <a:r>
              <a:rPr dirty="0" sz="2100" spc="-8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1211F"/>
                </a:solidFill>
                <a:latin typeface="Arial"/>
                <a:cs typeface="Arial"/>
              </a:rPr>
              <a:t>by</a:t>
            </a:r>
            <a:r>
              <a:rPr dirty="0" sz="2100" spc="-11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removing </a:t>
            </a:r>
            <a:r>
              <a:rPr dirty="0" sz="2100" spc="-35">
                <a:solidFill>
                  <a:srgbClr val="21211F"/>
                </a:solidFill>
                <a:latin typeface="Arial"/>
                <a:cs typeface="Arial"/>
              </a:rPr>
              <a:t>non-</a:t>
            </a:r>
            <a:r>
              <a:rPr dirty="0" sz="2100" spc="-20">
                <a:solidFill>
                  <a:srgbClr val="21211F"/>
                </a:solidFill>
                <a:latin typeface="Arial"/>
                <a:cs typeface="Arial"/>
              </a:rPr>
              <a:t>essential</a:t>
            </a:r>
            <a:r>
              <a:rPr dirty="0" sz="2100" spc="-5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20">
                <a:solidFill>
                  <a:srgbClr val="21211F"/>
                </a:solidFill>
                <a:latin typeface="Arial"/>
                <a:cs typeface="Arial"/>
              </a:rPr>
              <a:t>code</a:t>
            </a:r>
            <a:r>
              <a:rPr dirty="0" sz="2100" spc="-20">
                <a:solidFill>
                  <a:srgbClr val="070705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  <a:p>
            <a:pPr marL="13970" marR="5080" indent="-1905">
              <a:lnSpc>
                <a:spcPts val="2410"/>
              </a:lnSpc>
              <a:spcBef>
                <a:spcPts val="1614"/>
              </a:spcBef>
            </a:pPr>
            <a:r>
              <a:rPr dirty="0" sz="2100" spc="-70" b="1">
                <a:solidFill>
                  <a:srgbClr val="070705"/>
                </a:solidFill>
                <a:latin typeface="Arial"/>
                <a:cs typeface="Arial"/>
              </a:rPr>
              <a:t>Proof</a:t>
            </a:r>
            <a:r>
              <a:rPr dirty="0" sz="2100" spc="-70" b="1">
                <a:solidFill>
                  <a:srgbClr val="21211F"/>
                </a:solidFill>
                <a:latin typeface="Arial"/>
                <a:cs typeface="Arial"/>
              </a:rPr>
              <a:t>:</a:t>
            </a:r>
            <a:r>
              <a:rPr dirty="0" sz="2100" spc="-165" b="1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40">
                <a:solidFill>
                  <a:srgbClr val="21211F"/>
                </a:solidFill>
                <a:latin typeface="Arial"/>
                <a:cs typeface="Arial"/>
              </a:rPr>
              <a:t>A</a:t>
            </a:r>
            <a:r>
              <a:rPr dirty="0" sz="2100" spc="-3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5">
                <a:solidFill>
                  <a:srgbClr val="21211F"/>
                </a:solidFill>
                <a:latin typeface="Arial"/>
                <a:cs typeface="Arial"/>
              </a:rPr>
              <a:t>54%</a:t>
            </a:r>
            <a:r>
              <a:rPr dirty="0" sz="2100" spc="-4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20">
                <a:solidFill>
                  <a:srgbClr val="21211F"/>
                </a:solidFill>
                <a:latin typeface="Arial"/>
                <a:cs typeface="Arial"/>
              </a:rPr>
              <a:t>reduction</a:t>
            </a:r>
            <a:r>
              <a:rPr dirty="0" sz="2100" spc="-13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70">
                <a:solidFill>
                  <a:srgbClr val="21211F"/>
                </a:solidFill>
                <a:latin typeface="Arial"/>
                <a:cs typeface="Arial"/>
              </a:rPr>
              <a:t>in</a:t>
            </a:r>
            <a:r>
              <a:rPr dirty="0" sz="2100" spc="-26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1211F"/>
                </a:solidFill>
                <a:latin typeface="Arial"/>
                <a:cs typeface="Arial"/>
              </a:rPr>
              <a:t>library</a:t>
            </a:r>
            <a:r>
              <a:rPr dirty="0" sz="2100" spc="-8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30">
                <a:solidFill>
                  <a:srgbClr val="21211F"/>
                </a:solidFill>
                <a:latin typeface="Arial"/>
                <a:cs typeface="Arial"/>
              </a:rPr>
              <a:t>dependencies</a:t>
            </a:r>
            <a:r>
              <a:rPr dirty="0" sz="2100" spc="8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provided immunity</a:t>
            </a:r>
            <a:r>
              <a:rPr dirty="0" sz="2100" spc="-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1211F"/>
                </a:solidFill>
                <a:latin typeface="Arial"/>
                <a:cs typeface="Arial"/>
              </a:rPr>
              <a:t>to</a:t>
            </a:r>
            <a:r>
              <a:rPr dirty="0" sz="2100" spc="6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20">
                <a:solidFill>
                  <a:srgbClr val="21211F"/>
                </a:solidFill>
                <a:latin typeface="Arial"/>
                <a:cs typeface="Arial"/>
              </a:rPr>
              <a:t>all</a:t>
            </a:r>
            <a:r>
              <a:rPr dirty="0" sz="2100" spc="-23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45">
                <a:solidFill>
                  <a:srgbClr val="21211F"/>
                </a:solidFill>
                <a:latin typeface="Arial"/>
                <a:cs typeface="Arial"/>
              </a:rPr>
              <a:t>Kerberos</a:t>
            </a:r>
            <a:r>
              <a:rPr dirty="0" sz="2100" spc="-11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25">
                <a:solidFill>
                  <a:srgbClr val="21211F"/>
                </a:solidFill>
                <a:latin typeface="Arial"/>
                <a:cs typeface="Arial"/>
              </a:rPr>
              <a:t>CVEs</a:t>
            </a:r>
            <a:r>
              <a:rPr dirty="0" sz="2100" spc="-3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5">
                <a:solidFill>
                  <a:srgbClr val="31312F"/>
                </a:solidFill>
                <a:latin typeface="Arial"/>
                <a:cs typeface="Arial"/>
              </a:rPr>
              <a:t>and</a:t>
            </a:r>
            <a:r>
              <a:rPr dirty="0" sz="2100" spc="-155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dirty="0" sz="2100" spc="-20">
                <a:solidFill>
                  <a:srgbClr val="21211F"/>
                </a:solidFill>
                <a:latin typeface="Arial"/>
                <a:cs typeface="Arial"/>
              </a:rPr>
              <a:t>contained</a:t>
            </a:r>
            <a:r>
              <a:rPr dirty="0" sz="2100" spc="-4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1211F"/>
                </a:solidFill>
                <a:latin typeface="Arial"/>
                <a:cs typeface="Arial"/>
              </a:rPr>
              <a:t>the</a:t>
            </a:r>
            <a:r>
              <a:rPr dirty="0" sz="2100" spc="-12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5">
                <a:solidFill>
                  <a:srgbClr val="21211F"/>
                </a:solidFill>
                <a:latin typeface="Arial"/>
                <a:cs typeface="Arial"/>
              </a:rPr>
              <a:t>XZ</a:t>
            </a:r>
            <a:r>
              <a:rPr dirty="0" sz="2100" spc="-22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20">
                <a:solidFill>
                  <a:srgbClr val="21211F"/>
                </a:solidFill>
                <a:latin typeface="Arial"/>
                <a:cs typeface="Arial"/>
              </a:rPr>
              <a:t>Backdoor.</a:t>
            </a:r>
            <a:endParaRPr sz="2100">
              <a:latin typeface="Arial"/>
              <a:cs typeface="Arial"/>
            </a:endParaRPr>
          </a:p>
          <a:p>
            <a:pPr marL="16510" marR="46990" indent="-3175">
              <a:lnSpc>
                <a:spcPct val="100000"/>
              </a:lnSpc>
              <a:spcBef>
                <a:spcPts val="1340"/>
              </a:spcBef>
            </a:pPr>
            <a:r>
              <a:rPr dirty="0" sz="2100" spc="-50" b="1">
                <a:solidFill>
                  <a:srgbClr val="070705"/>
                </a:solidFill>
                <a:latin typeface="Arial"/>
                <a:cs typeface="Arial"/>
              </a:rPr>
              <a:t>Impa</a:t>
            </a:r>
            <a:r>
              <a:rPr dirty="0" sz="2100" spc="-50" b="1">
                <a:solidFill>
                  <a:srgbClr val="21211F"/>
                </a:solidFill>
                <a:latin typeface="Arial"/>
                <a:cs typeface="Arial"/>
              </a:rPr>
              <a:t>c</a:t>
            </a:r>
            <a:r>
              <a:rPr dirty="0" sz="2100" spc="-50" b="1">
                <a:solidFill>
                  <a:srgbClr val="070705"/>
                </a:solidFill>
                <a:latin typeface="Arial"/>
                <a:cs typeface="Arial"/>
              </a:rPr>
              <a:t>t:</a:t>
            </a:r>
            <a:r>
              <a:rPr dirty="0" sz="2100" spc="-229" b="1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dirty="0" sz="2100" spc="-70">
                <a:solidFill>
                  <a:srgbClr val="21211F"/>
                </a:solidFill>
                <a:latin typeface="Arial"/>
                <a:cs typeface="Arial"/>
              </a:rPr>
              <a:t>Reduced</a:t>
            </a:r>
            <a:r>
              <a:rPr dirty="0" sz="2100" spc="-3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30">
                <a:solidFill>
                  <a:srgbClr val="21211F"/>
                </a:solidFill>
                <a:latin typeface="Arial"/>
                <a:cs typeface="Arial"/>
              </a:rPr>
              <a:t>operational</a:t>
            </a:r>
            <a:r>
              <a:rPr dirty="0" sz="2100" spc="-5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burden</a:t>
            </a:r>
            <a:r>
              <a:rPr dirty="0" sz="2100" spc="-12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and</a:t>
            </a:r>
            <a:r>
              <a:rPr dirty="0" sz="2100" spc="-13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40">
                <a:solidFill>
                  <a:srgbClr val="21211F"/>
                </a:solidFill>
                <a:latin typeface="Arial"/>
                <a:cs typeface="Arial"/>
              </a:rPr>
              <a:t>permanent</a:t>
            </a:r>
            <a:r>
              <a:rPr dirty="0" sz="2100" spc="-3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immunity </a:t>
            </a:r>
            <a:r>
              <a:rPr dirty="0" sz="2100">
                <a:solidFill>
                  <a:srgbClr val="21211F"/>
                </a:solidFill>
                <a:latin typeface="Arial"/>
                <a:cs typeface="Arial"/>
              </a:rPr>
              <a:t>from</a:t>
            </a:r>
            <a:r>
              <a:rPr dirty="0" sz="2100" spc="-215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entire</a:t>
            </a:r>
            <a:r>
              <a:rPr dirty="0" sz="2100" spc="-12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25">
                <a:solidFill>
                  <a:srgbClr val="21211F"/>
                </a:solidFill>
                <a:latin typeface="Arial"/>
                <a:cs typeface="Arial"/>
              </a:rPr>
              <a:t>classes</a:t>
            </a:r>
            <a:r>
              <a:rPr dirty="0" sz="2100" spc="-3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50">
                <a:solidFill>
                  <a:srgbClr val="21211F"/>
                </a:solidFill>
                <a:latin typeface="Arial"/>
                <a:cs typeface="Arial"/>
              </a:rPr>
              <a:t>of</a:t>
            </a:r>
            <a:r>
              <a:rPr dirty="0" sz="2100" spc="-7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1211F"/>
                </a:solidFill>
                <a:latin typeface="Arial"/>
                <a:cs typeface="Arial"/>
              </a:rPr>
              <a:t>future</a:t>
            </a:r>
            <a:r>
              <a:rPr dirty="0" sz="2100" spc="-9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1211F"/>
                </a:solidFill>
                <a:latin typeface="Arial"/>
                <a:cs typeface="Arial"/>
              </a:rPr>
              <a:t>vulnerabilities</a:t>
            </a:r>
            <a:r>
              <a:rPr dirty="0" sz="2100" spc="-10">
                <a:solidFill>
                  <a:srgbClr val="070705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74841" y="6823835"/>
            <a:ext cx="2667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723F38"/>
                </a:solidFill>
                <a:latin typeface="Arial"/>
                <a:cs typeface="Arial"/>
              </a:rPr>
              <a:t>-</a:t>
            </a:r>
            <a:r>
              <a:rPr dirty="0" sz="1350" spc="-155">
                <a:solidFill>
                  <a:srgbClr val="723F38"/>
                </a:solidFill>
                <a:latin typeface="Arial"/>
                <a:cs typeface="Arial"/>
              </a:rPr>
              <a:t>➔)</a:t>
            </a:r>
            <a:endParaRPr sz="13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12949" y="6728089"/>
            <a:ext cx="1164590" cy="62801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14300" marR="5080" indent="-102235">
              <a:lnSpc>
                <a:spcPts val="2210"/>
              </a:lnSpc>
              <a:spcBef>
                <a:spcPts val="440"/>
              </a:spcBef>
            </a:pPr>
            <a:r>
              <a:rPr dirty="0" sz="2100" spc="-35">
                <a:solidFill>
                  <a:srgbClr val="85544D"/>
                </a:solidFill>
                <a:latin typeface="Arial"/>
                <a:cs typeface="Arial"/>
              </a:rPr>
              <a:t>Privileged </a:t>
            </a:r>
            <a:r>
              <a:rPr dirty="0" sz="2100" spc="-10">
                <a:solidFill>
                  <a:srgbClr val="85544D"/>
                </a:solidFill>
                <a:latin typeface="Arial"/>
                <a:cs typeface="Arial"/>
              </a:rPr>
              <a:t>Process</a:t>
            </a:r>
            <a:endParaRPr sz="2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54394" y="8017469"/>
            <a:ext cx="10096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40">
                <a:solidFill>
                  <a:srgbClr val="AA756D"/>
                </a:solidFill>
                <a:latin typeface="Arial"/>
                <a:cs typeface="Arial"/>
              </a:rPr>
              <a:t>I</a:t>
            </a:r>
            <a:r>
              <a:rPr dirty="0" sz="800" spc="40">
                <a:solidFill>
                  <a:srgbClr val="85544D"/>
                </a:solidFill>
                <a:latin typeface="Arial"/>
                <a:cs typeface="Arial"/>
              </a:rPr>
              <a:t>/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590633" y="7698316"/>
            <a:ext cx="106235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-700">
                <a:solidFill>
                  <a:srgbClr val="85544D"/>
                </a:solidFill>
                <a:latin typeface="Arial"/>
                <a:cs typeface="Arial"/>
              </a:rPr>
              <a:t>�</a:t>
            </a:r>
            <a:r>
              <a:rPr dirty="0" sz="7200" spc="-700">
                <a:solidFill>
                  <a:srgbClr val="B1564F"/>
                </a:solidFill>
                <a:latin typeface="Arial"/>
                <a:cs typeface="Arial"/>
              </a:rPr>
              <a:t>·</a:t>
            </a:r>
            <a:endParaRPr sz="7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204957" y="8611096"/>
            <a:ext cx="1688464" cy="521334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84785" marR="5080" indent="-172720">
              <a:lnSpc>
                <a:spcPts val="1910"/>
              </a:lnSpc>
              <a:spcBef>
                <a:spcPts val="229"/>
              </a:spcBef>
            </a:pPr>
            <a:r>
              <a:rPr dirty="0" sz="1650" spc="-10">
                <a:solidFill>
                  <a:srgbClr val="21211F"/>
                </a:solidFill>
                <a:latin typeface="Arial"/>
                <a:cs typeface="Arial"/>
              </a:rPr>
              <a:t>Or</a:t>
            </a:r>
            <a:r>
              <a:rPr dirty="0" sz="1650" spc="-10">
                <a:solidFill>
                  <a:srgbClr val="070705"/>
                </a:solidFill>
                <a:latin typeface="Arial"/>
                <a:cs typeface="Arial"/>
              </a:rPr>
              <a:t>i</a:t>
            </a:r>
            <a:r>
              <a:rPr dirty="0" sz="1650" spc="-10">
                <a:solidFill>
                  <a:srgbClr val="31312F"/>
                </a:solidFill>
                <a:latin typeface="Arial"/>
                <a:cs typeface="Arial"/>
              </a:rPr>
              <a:t>ginal</a:t>
            </a:r>
            <a:r>
              <a:rPr dirty="0" sz="1650" spc="-75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dirty="0" sz="1650" spc="-55">
                <a:solidFill>
                  <a:srgbClr val="21211F"/>
                </a:solidFill>
                <a:latin typeface="Arial"/>
                <a:cs typeface="Arial"/>
              </a:rPr>
              <a:t>OpenSSH </a:t>
            </a:r>
            <a:r>
              <a:rPr dirty="0" sz="1650" spc="-10">
                <a:solidFill>
                  <a:srgbClr val="31312F"/>
                </a:solidFill>
                <a:latin typeface="Arial"/>
                <a:cs typeface="Arial"/>
              </a:rPr>
              <a:t>Dependencies</a:t>
            </a:r>
            <a:endParaRPr sz="16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325929" y="8611096"/>
            <a:ext cx="1519555" cy="52133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945"/>
              </a:lnSpc>
              <a:spcBef>
                <a:spcPts val="105"/>
              </a:spcBef>
            </a:pPr>
            <a:r>
              <a:rPr dirty="0" sz="1650" spc="-10">
                <a:solidFill>
                  <a:srgbClr val="31312F"/>
                </a:solidFill>
                <a:latin typeface="Arial"/>
                <a:cs typeface="Arial"/>
              </a:rPr>
              <a:t>D</a:t>
            </a:r>
            <a:r>
              <a:rPr dirty="0" sz="1650" spc="-10">
                <a:solidFill>
                  <a:srgbClr val="070705"/>
                </a:solidFill>
                <a:latin typeface="Arial"/>
                <a:cs typeface="Arial"/>
              </a:rPr>
              <a:t>i</a:t>
            </a:r>
            <a:r>
              <a:rPr dirty="0" sz="1650" spc="-10">
                <a:solidFill>
                  <a:srgbClr val="31312F"/>
                </a:solidFill>
                <a:latin typeface="Arial"/>
                <a:cs typeface="Arial"/>
              </a:rPr>
              <a:t>scarded</a:t>
            </a:r>
            <a:r>
              <a:rPr dirty="0" sz="1650" spc="-8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21211F"/>
                </a:solidFill>
                <a:latin typeface="Arial"/>
                <a:cs typeface="Arial"/>
              </a:rPr>
              <a:t>Code</a:t>
            </a:r>
            <a:endParaRPr sz="1650">
              <a:latin typeface="Arial"/>
              <a:cs typeface="Arial"/>
            </a:endParaRPr>
          </a:p>
          <a:p>
            <a:pPr marL="41275">
              <a:lnSpc>
                <a:spcPts val="1945"/>
              </a:lnSpc>
            </a:pPr>
            <a:r>
              <a:rPr dirty="0" sz="1650">
                <a:solidFill>
                  <a:srgbClr val="31312F"/>
                </a:solidFill>
                <a:latin typeface="Arial"/>
                <a:cs typeface="Arial"/>
              </a:rPr>
              <a:t>/</a:t>
            </a:r>
            <a:r>
              <a:rPr dirty="0" sz="1650" spc="7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1312F"/>
                </a:solidFill>
                <a:latin typeface="Arial"/>
                <a:cs typeface="Arial"/>
              </a:rPr>
              <a:t>Vulnerab</a:t>
            </a:r>
            <a:r>
              <a:rPr dirty="0" sz="1650" spc="-10">
                <a:solidFill>
                  <a:srgbClr val="070705"/>
                </a:solidFill>
                <a:latin typeface="Arial"/>
                <a:cs typeface="Arial"/>
              </a:rPr>
              <a:t>i</a:t>
            </a:r>
            <a:r>
              <a:rPr dirty="0" sz="1650" spc="-10">
                <a:solidFill>
                  <a:srgbClr val="31312F"/>
                </a:solidFill>
                <a:latin typeface="Arial"/>
                <a:cs typeface="Arial"/>
              </a:rPr>
              <a:t>lities</a:t>
            </a:r>
            <a:endParaRPr sz="1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490369" y="8611096"/>
            <a:ext cx="948690" cy="521334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9050" marR="5080" indent="-6985">
              <a:lnSpc>
                <a:spcPts val="1910"/>
              </a:lnSpc>
              <a:spcBef>
                <a:spcPts val="229"/>
              </a:spcBef>
            </a:pPr>
            <a:r>
              <a:rPr dirty="0" sz="1650" spc="-10">
                <a:solidFill>
                  <a:srgbClr val="31312F"/>
                </a:solidFill>
                <a:latin typeface="Arial"/>
                <a:cs typeface="Arial"/>
              </a:rPr>
              <a:t>Hardened </a:t>
            </a:r>
            <a:r>
              <a:rPr dirty="0" sz="1650" spc="-40">
                <a:solidFill>
                  <a:srgbClr val="21211F"/>
                </a:solidFill>
                <a:latin typeface="Arial"/>
                <a:cs typeface="Arial"/>
              </a:rPr>
              <a:t>OpenSSH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94664" y="236504"/>
            <a:ext cx="14003655" cy="15944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6510">
              <a:lnSpc>
                <a:spcPts val="5590"/>
              </a:lnSpc>
              <a:spcBef>
                <a:spcPts val="125"/>
              </a:spcBef>
            </a:pPr>
            <a:r>
              <a:rPr dirty="0" sz="5250" spc="245">
                <a:solidFill>
                  <a:srgbClr val="030303"/>
                </a:solidFill>
                <a:latin typeface="Arial"/>
                <a:cs typeface="Arial"/>
              </a:rPr>
              <a:t>The</a:t>
            </a:r>
            <a:r>
              <a:rPr dirty="0" sz="5250" spc="-49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5250" spc="95">
                <a:solidFill>
                  <a:srgbClr val="030303"/>
                </a:solidFill>
                <a:latin typeface="Arial"/>
                <a:cs typeface="Arial"/>
              </a:rPr>
              <a:t>Difference</a:t>
            </a:r>
            <a:r>
              <a:rPr dirty="0" sz="5250" spc="-3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5250" spc="215">
                <a:solidFill>
                  <a:srgbClr val="030303"/>
                </a:solidFill>
                <a:latin typeface="Arial"/>
                <a:cs typeface="Arial"/>
              </a:rPr>
              <a:t>is</a:t>
            </a:r>
            <a:r>
              <a:rPr dirty="0" sz="5250" spc="-484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5250" spc="85">
                <a:solidFill>
                  <a:srgbClr val="030303"/>
                </a:solidFill>
                <a:latin typeface="Arial"/>
                <a:cs typeface="Arial"/>
              </a:rPr>
              <a:t>Architectural:</a:t>
            </a:r>
            <a:endParaRPr sz="5250">
              <a:latin typeface="Arial"/>
              <a:cs typeface="Arial"/>
            </a:endParaRPr>
          </a:p>
          <a:p>
            <a:pPr marL="12700">
              <a:lnSpc>
                <a:spcPts val="6730"/>
              </a:lnSpc>
            </a:pPr>
            <a:r>
              <a:rPr dirty="0" sz="5850">
                <a:solidFill>
                  <a:srgbClr val="030303"/>
                </a:solidFill>
              </a:rPr>
              <a:t>Proactive</a:t>
            </a:r>
            <a:r>
              <a:rPr dirty="0" sz="5850" spc="440">
                <a:solidFill>
                  <a:srgbClr val="030303"/>
                </a:solidFill>
              </a:rPr>
              <a:t> </a:t>
            </a:r>
            <a:r>
              <a:rPr dirty="0" sz="5850" spc="75">
                <a:solidFill>
                  <a:srgbClr val="030303"/>
                </a:solidFill>
              </a:rPr>
              <a:t>Prevention</a:t>
            </a:r>
            <a:r>
              <a:rPr dirty="0" sz="5850" spc="130">
                <a:solidFill>
                  <a:srgbClr val="030303"/>
                </a:solidFill>
              </a:rPr>
              <a:t> </a:t>
            </a:r>
            <a:r>
              <a:rPr dirty="0" sz="6200" spc="114" b="0">
                <a:solidFill>
                  <a:srgbClr val="030303"/>
                </a:solidFill>
                <a:latin typeface="Times New Roman"/>
                <a:cs typeface="Times New Roman"/>
              </a:rPr>
              <a:t>vs.</a:t>
            </a:r>
            <a:r>
              <a:rPr dirty="0" sz="6200" spc="-355" b="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dirty="0" sz="5850">
                <a:solidFill>
                  <a:srgbClr val="030303"/>
                </a:solidFill>
              </a:rPr>
              <a:t>Reactive</a:t>
            </a:r>
            <a:r>
              <a:rPr dirty="0" sz="5850" spc="409">
                <a:solidFill>
                  <a:srgbClr val="030303"/>
                </a:solidFill>
              </a:rPr>
              <a:t> </a:t>
            </a:r>
            <a:r>
              <a:rPr dirty="0" sz="5850" spc="45">
                <a:solidFill>
                  <a:srgbClr val="030303"/>
                </a:solidFill>
              </a:rPr>
              <a:t>Patching</a:t>
            </a:r>
            <a:endParaRPr sz="58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829915" y="2756181"/>
            <a:ext cx="64135" cy="356870"/>
          </a:xfrm>
          <a:custGeom>
            <a:avLst/>
            <a:gdLst/>
            <a:ahLst/>
            <a:cxnLst/>
            <a:rect l="l" t="t" r="r" b="b"/>
            <a:pathLst>
              <a:path w="64134" h="356869">
                <a:moveTo>
                  <a:pt x="63684" y="356710"/>
                </a:moveTo>
                <a:lnTo>
                  <a:pt x="0" y="356710"/>
                </a:lnTo>
                <a:lnTo>
                  <a:pt x="0" y="0"/>
                </a:lnTo>
                <a:lnTo>
                  <a:pt x="63684" y="0"/>
                </a:lnTo>
                <a:lnTo>
                  <a:pt x="63684" y="356710"/>
                </a:lnTo>
                <a:close/>
              </a:path>
            </a:pathLst>
          </a:custGeom>
          <a:solidFill>
            <a:srgbClr val="EDEFF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47687" y="2093912"/>
          <a:ext cx="16465550" cy="6813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9135"/>
                <a:gridCol w="3681095"/>
                <a:gridCol w="3159125"/>
                <a:gridCol w="5015230"/>
              </a:tblGrid>
              <a:tr h="791210">
                <a:tc rowSpan="2"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dirty="0" sz="2250" spc="-10" b="1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endParaRPr sz="225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400" spc="-50">
                          <a:solidFill>
                            <a:srgbClr val="BABDBC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3843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2200" spc="-12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CIS/STIG</a:t>
                      </a:r>
                      <a:r>
                        <a:rPr dirty="0" sz="2200" spc="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Compliance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501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0" marR="154305" indent="-746760">
                        <a:lnSpc>
                          <a:spcPts val="2510"/>
                        </a:lnSpc>
                        <a:spcBef>
                          <a:spcPts val="1005"/>
                        </a:spcBef>
                      </a:pPr>
                      <a:r>
                        <a:rPr dirty="0" sz="2250" spc="-50" b="1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Standard</a:t>
                      </a:r>
                      <a:r>
                        <a:rPr dirty="0" sz="2250" spc="-225" b="1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5" b="1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Hardened</a:t>
                      </a:r>
                      <a:r>
                        <a:rPr dirty="0" sz="2250" spc="-40" b="1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50" b="1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Linux </a:t>
                      </a:r>
                      <a:r>
                        <a:rPr dirty="0" sz="2250" spc="-10" b="1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(Competitors)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dirty="0" sz="2250" spc="-40" b="1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RLC</a:t>
                      </a:r>
                      <a:r>
                        <a:rPr dirty="0" sz="2250" spc="-40" b="1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2250" spc="-50" b="1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H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2501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139700" marR="3175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dirty="0" sz="2250" spc="-10" b="1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Advantage</a:t>
                      </a:r>
                      <a:endParaRPr sz="2250">
                        <a:latin typeface="Arial"/>
                        <a:cs typeface="Arial"/>
                      </a:endParaRPr>
                    </a:p>
                    <a:p>
                      <a:pPr marL="492061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2100" spc="-50">
                          <a:solidFill>
                            <a:srgbClr val="BABDBC"/>
                          </a:solidFill>
                          <a:latin typeface="Arial"/>
                          <a:cs typeface="Arial"/>
                        </a:rPr>
                        <a:t>-</a:t>
                      </a:r>
                      <a:endParaRPr sz="2100">
                        <a:latin typeface="Arial"/>
                        <a:cs typeface="Arial"/>
                      </a:endParaRPr>
                    </a:p>
                    <a:p>
                      <a:pPr marL="130810" marR="317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Pa</a:t>
                      </a:r>
                      <a:r>
                        <a:rPr dirty="0" sz="2200" spc="-1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ity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501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471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01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2370"/>
                        </a:spcBef>
                      </a:pPr>
                      <a:r>
                        <a:rPr dirty="0" sz="2250" spc="165" b="1">
                          <a:solidFill>
                            <a:srgbClr val="082B69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dirty="0" sz="2250" spc="165" b="1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300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3350" spc="150" b="1">
                          <a:solidFill>
                            <a:srgbClr val="082B69"/>
                          </a:solidFill>
                          <a:latin typeface="Arial"/>
                          <a:cs typeface="Arial"/>
                        </a:rPr>
                        <a:t>ti</a:t>
                      </a:r>
                      <a:r>
                        <a:rPr dirty="0" sz="3350" spc="-235" b="1">
                          <a:solidFill>
                            <a:srgbClr val="082B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2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117475">
                        <a:lnSpc>
                          <a:spcPct val="100000"/>
                        </a:lnSpc>
                      </a:pPr>
                      <a:r>
                        <a:rPr dirty="0" sz="2250" spc="-10" b="1">
                          <a:solidFill>
                            <a:srgbClr val="082B69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dirty="0" sz="2250" spc="-10" b="1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LKRG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612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01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42010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dirty="0" sz="2200" spc="-7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Kernel</a:t>
                      </a:r>
                      <a:r>
                        <a:rPr dirty="0" sz="2200" spc="-9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7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Runtime</a:t>
                      </a:r>
                      <a:r>
                        <a:rPr dirty="0" sz="220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Protection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692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70"/>
                        </a:spcBef>
                      </a:pPr>
                      <a:r>
                        <a:rPr dirty="0" sz="2250" spc="185" b="1">
                          <a:solidFill>
                            <a:srgbClr val="914D41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dirty="0" sz="2250" spc="185" b="1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None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2755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612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 marR="3175">
                        <a:lnSpc>
                          <a:spcPct val="100000"/>
                        </a:lnSpc>
                        <a:spcBef>
                          <a:spcPts val="2070"/>
                        </a:spcBef>
                      </a:pPr>
                      <a:r>
                        <a:rPr dirty="0" sz="2250" spc="-10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RLC-</a:t>
                      </a:r>
                      <a:r>
                        <a:rPr dirty="0" sz="2250" spc="-9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dirty="0" sz="2250" spc="-95" b="1">
                          <a:solidFill>
                            <a:srgbClr val="333436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dirty="0" sz="2250" spc="-350" b="1">
                          <a:solidFill>
                            <a:srgbClr val="33343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9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Zero-</a:t>
                      </a:r>
                      <a:r>
                        <a:rPr dirty="0" sz="2250" spc="-12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Day</a:t>
                      </a:r>
                      <a:r>
                        <a:rPr dirty="0" sz="2250" spc="-19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14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Exploit</a:t>
                      </a:r>
                      <a:r>
                        <a:rPr dirty="0" sz="2250" spc="-12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Prevention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2628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42010"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dirty="0" sz="2200" spc="-3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Memory</a:t>
                      </a:r>
                      <a:r>
                        <a:rPr dirty="0" sz="2200" spc="-10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Corruption</a:t>
                      </a:r>
                      <a:r>
                        <a:rPr dirty="0" sz="2200" spc="-8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Ha</a:t>
                      </a:r>
                      <a:r>
                        <a:rPr dirty="0" sz="2200" spc="-1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dening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692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070"/>
                        </a:spcBef>
                      </a:pPr>
                      <a:r>
                        <a:rPr dirty="0" sz="2250" spc="185" b="1">
                          <a:solidFill>
                            <a:srgbClr val="914D41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dirty="0" sz="2250" spc="185" b="1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None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2628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2070"/>
                        </a:spcBef>
                      </a:pPr>
                      <a:r>
                        <a:rPr dirty="0" sz="2250" spc="135" b="1">
                          <a:solidFill>
                            <a:srgbClr val="082B69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dirty="0" sz="2250" spc="110" b="1">
                          <a:solidFill>
                            <a:srgbClr val="082B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5" b="1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hardened_malloc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2628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 marR="3175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dirty="0" sz="2250" spc="-14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RLC-</a:t>
                      </a:r>
                      <a:r>
                        <a:rPr dirty="0" sz="2250" spc="-12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H:</a:t>
                      </a:r>
                      <a:r>
                        <a:rPr dirty="0" sz="2250" spc="-27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8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Heap</a:t>
                      </a:r>
                      <a:r>
                        <a:rPr dirty="0" sz="2250" spc="-21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14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Exploit</a:t>
                      </a:r>
                      <a:r>
                        <a:rPr dirty="0" sz="2250" spc="-22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Mitigation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2501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29310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Ope</a:t>
                      </a:r>
                      <a:r>
                        <a:rPr dirty="0" sz="2200" spc="-1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SS</a:t>
                      </a:r>
                      <a:r>
                        <a:rPr dirty="0" sz="2200" spc="-1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HD</a:t>
                      </a: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ependencies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565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r>
                        <a:rPr dirty="0" sz="2200" spc="-2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28</a:t>
                      </a:r>
                      <a:r>
                        <a:rPr dirty="0" sz="2200" spc="-12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ibraries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565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r>
                        <a:rPr dirty="0" sz="220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220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2200" spc="-8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333436"/>
                          </a:solidFill>
                          <a:latin typeface="Arial"/>
                          <a:cs typeface="Arial"/>
                        </a:rPr>
                        <a:t>Libraries</a:t>
                      </a:r>
                      <a:endParaRPr sz="2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</a:pP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Pre-Mi</a:t>
                      </a:r>
                      <a:r>
                        <a:rPr dirty="0" sz="2200" spc="-1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igated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565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 marR="3175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dirty="0" sz="2250" spc="-14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RLC-</a:t>
                      </a:r>
                      <a:r>
                        <a:rPr dirty="0" sz="2250" spc="-12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H:</a:t>
                      </a:r>
                      <a:r>
                        <a:rPr dirty="0" sz="2250" spc="-204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54%</a:t>
                      </a:r>
                      <a:r>
                        <a:rPr dirty="0" sz="2250" spc="-204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8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Attack</a:t>
                      </a:r>
                      <a:r>
                        <a:rPr dirty="0" sz="2250" spc="-13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Surface</a:t>
                      </a:r>
                      <a:r>
                        <a:rPr dirty="0" sz="2250" spc="-17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Reduction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2501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29310"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dirty="0" sz="2200" spc="-5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CVE-</a:t>
                      </a:r>
                      <a:r>
                        <a:rPr dirty="0" sz="2200" spc="-4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2023-49</a:t>
                      </a:r>
                      <a:r>
                        <a:rPr dirty="0" sz="2200" spc="-45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11</a:t>
                      </a:r>
                      <a:r>
                        <a:rPr dirty="0" sz="2200" spc="-33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4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(Looney</a:t>
                      </a:r>
                      <a:r>
                        <a:rPr dirty="0" sz="2200" spc="-1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Tunab</a:t>
                      </a:r>
                      <a:r>
                        <a:rPr dirty="0" sz="2200" spc="-1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es)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692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dirty="0" sz="2200" spc="-6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2200" spc="-6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equired</a:t>
                      </a:r>
                      <a:r>
                        <a:rPr dirty="0" sz="2200" spc="-4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6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Eme</a:t>
                      </a:r>
                      <a:r>
                        <a:rPr dirty="0" sz="2200" spc="-65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2200" spc="-6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gency</a:t>
                      </a:r>
                      <a:r>
                        <a:rPr dirty="0" sz="2200" spc="-12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Patch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692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65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 marR="3175">
                        <a:lnSpc>
                          <a:spcPct val="100000"/>
                        </a:lnSpc>
                        <a:spcBef>
                          <a:spcPts val="2070"/>
                        </a:spcBef>
                      </a:pPr>
                      <a:r>
                        <a:rPr dirty="0" sz="2250" spc="-14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RLC-</a:t>
                      </a:r>
                      <a:r>
                        <a:rPr dirty="0" sz="2250" spc="-12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H:</a:t>
                      </a:r>
                      <a:r>
                        <a:rPr dirty="0" sz="2250" spc="-14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14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Proactive</a:t>
                      </a:r>
                      <a:r>
                        <a:rPr dirty="0" sz="2250" spc="-17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Immunity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2628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42010"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dirty="0" sz="2200" spc="-2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CV</a:t>
                      </a:r>
                      <a:r>
                        <a:rPr dirty="0" sz="2200" spc="-25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2200" spc="-25">
                          <a:solidFill>
                            <a:srgbClr val="333436"/>
                          </a:solidFill>
                          <a:latin typeface="Arial"/>
                          <a:cs typeface="Arial"/>
                        </a:rPr>
                        <a:t>-2024-</a:t>
                      </a:r>
                      <a:r>
                        <a:rPr dirty="0" sz="2200">
                          <a:solidFill>
                            <a:srgbClr val="333436"/>
                          </a:solidFill>
                          <a:latin typeface="Arial"/>
                          <a:cs typeface="Arial"/>
                        </a:rPr>
                        <a:t>3094</a:t>
                      </a:r>
                      <a:r>
                        <a:rPr dirty="0" sz="2200" spc="-25">
                          <a:solidFill>
                            <a:srgbClr val="33343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9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(XZ</a:t>
                      </a:r>
                      <a:r>
                        <a:rPr dirty="0" sz="2200" spc="-13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Backdoor)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692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220"/>
                        </a:spcBef>
                      </a:pP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Architecturally</a:t>
                      </a:r>
                      <a:r>
                        <a:rPr dirty="0" sz="2200" spc="-9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Vulnerable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81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2220"/>
                        </a:spcBef>
                      </a:pPr>
                      <a:r>
                        <a:rPr dirty="0" sz="2200" spc="-4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Blast</a:t>
                      </a:r>
                      <a:r>
                        <a:rPr dirty="0" sz="2200" spc="-9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75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Radius</a:t>
                      </a:r>
                      <a:r>
                        <a:rPr dirty="0" sz="2200" spc="-6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Con</a:t>
                      </a:r>
                      <a:r>
                        <a:rPr dirty="0" sz="2200" spc="-1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200" spc="-1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ained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81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 marR="3175">
                        <a:lnSpc>
                          <a:spcPct val="100000"/>
                        </a:lnSpc>
                        <a:spcBef>
                          <a:spcPts val="2170"/>
                        </a:spcBef>
                      </a:pPr>
                      <a:r>
                        <a:rPr dirty="0" sz="2250" spc="-14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RLC-</a:t>
                      </a:r>
                      <a:r>
                        <a:rPr dirty="0" sz="2250" spc="-12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H:</a:t>
                      </a:r>
                      <a:r>
                        <a:rPr dirty="0" sz="2250" spc="-17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~80%</a:t>
                      </a:r>
                      <a:r>
                        <a:rPr dirty="0" sz="2250" spc="-25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3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Risk</a:t>
                      </a:r>
                      <a:r>
                        <a:rPr dirty="0" sz="2250" spc="-27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Reduction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2755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dirty="0" sz="2250" spc="-100" b="1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Security</a:t>
                      </a:r>
                      <a:r>
                        <a:rPr dirty="0" sz="2250" spc="-120" b="1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 b="1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0795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131445" marR="3175">
                        <a:lnSpc>
                          <a:spcPts val="1930"/>
                        </a:lnSpc>
                        <a:tabLst>
                          <a:tab pos="3812540" algn="l"/>
                          <a:tab pos="6971030" algn="l"/>
                        </a:tabLst>
                      </a:pPr>
                      <a:r>
                        <a:rPr dirty="0" baseline="32098" sz="3375" spc="-15" b="1">
                          <a:solidFill>
                            <a:srgbClr val="914D41"/>
                          </a:solidFill>
                          <a:latin typeface="Arial"/>
                          <a:cs typeface="Arial"/>
                        </a:rPr>
                        <a:t>REACTIVE</a:t>
                      </a:r>
                      <a:r>
                        <a:rPr dirty="0" baseline="32098" sz="3375" b="1">
                          <a:solidFill>
                            <a:srgbClr val="914D41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29629" sz="3375" spc="-1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PROACTIVE</a:t>
                      </a:r>
                      <a:r>
                        <a:rPr dirty="0" baseline="29629" sz="337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250" spc="-12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Fundamental</a:t>
                      </a:r>
                      <a:r>
                        <a:rPr dirty="0" sz="2250" spc="-65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 b="1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Superiority</a:t>
                      </a:r>
                      <a:endParaRPr sz="2250">
                        <a:latin typeface="Arial"/>
                        <a:cs typeface="Arial"/>
                      </a:endParaRPr>
                    </a:p>
                    <a:p>
                      <a:pPr marL="147955" marR="3175">
                        <a:lnSpc>
                          <a:spcPts val="1870"/>
                        </a:lnSpc>
                        <a:tabLst>
                          <a:tab pos="3829685" algn="l"/>
                        </a:tabLst>
                      </a:pPr>
                      <a:r>
                        <a:rPr dirty="0" baseline="-2525" sz="3300" spc="-52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(Patch</a:t>
                      </a:r>
                      <a:r>
                        <a:rPr dirty="0" baseline="-2525" sz="3300" spc="-112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2525" sz="3300" spc="-37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known</a:t>
                      </a:r>
                      <a:r>
                        <a:rPr dirty="0" baseline="-2525" sz="3300" spc="-27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2525" sz="3300" spc="-15">
                          <a:solidFill>
                            <a:srgbClr val="333436"/>
                          </a:solidFill>
                          <a:latin typeface="Arial"/>
                          <a:cs typeface="Arial"/>
                        </a:rPr>
                        <a:t>threats)</a:t>
                      </a:r>
                      <a:r>
                        <a:rPr dirty="0" baseline="-2525" sz="3300">
                          <a:solidFill>
                            <a:srgbClr val="33343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100" spc="-120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(Prevent</a:t>
                      </a:r>
                      <a:r>
                        <a:rPr dirty="0" sz="2100" spc="15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100" spc="-70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unkno</a:t>
                      </a:r>
                      <a:r>
                        <a:rPr dirty="0" sz="2100" spc="-70">
                          <a:solidFill>
                            <a:srgbClr val="1F211F"/>
                          </a:solidFill>
                          <a:latin typeface="Arial"/>
                          <a:cs typeface="Arial"/>
                        </a:rPr>
                        <a:t>w</a:t>
                      </a:r>
                      <a:r>
                        <a:rPr dirty="0" sz="2100" spc="-70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100" spc="-210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100" spc="-10">
                          <a:solidFill>
                            <a:srgbClr val="112341"/>
                          </a:solidFill>
                          <a:latin typeface="Arial"/>
                          <a:cs typeface="Arial"/>
                        </a:rPr>
                        <a:t>threats)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B="0" marT="107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6147783" y="9418922"/>
            <a:ext cx="125476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70">
                <a:solidFill>
                  <a:srgbClr val="31312F"/>
                </a:solidFill>
                <a:latin typeface="Arial"/>
                <a:cs typeface="Arial"/>
              </a:rPr>
              <a:t>I'S\</a:t>
            </a:r>
            <a:r>
              <a:rPr dirty="0" sz="1300" spc="-2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1211F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427" y="2681155"/>
            <a:ext cx="687793" cy="7404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6535" y="3932237"/>
            <a:ext cx="2547383" cy="163406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74979" y="4289689"/>
            <a:ext cx="2394540" cy="11744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72476" y="2732219"/>
            <a:ext cx="789688" cy="6638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58375" y="3932237"/>
            <a:ext cx="2394540" cy="1659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577557" y="4264157"/>
            <a:ext cx="2547383" cy="1148953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610764" y="5259915"/>
            <a:ext cx="0" cy="1123950"/>
          </a:xfrm>
          <a:custGeom>
            <a:avLst/>
            <a:gdLst/>
            <a:ahLst/>
            <a:cxnLst/>
            <a:rect l="l" t="t" r="r" b="b"/>
            <a:pathLst>
              <a:path w="0" h="1123950">
                <a:moveTo>
                  <a:pt x="0" y="112342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10764" y="3753510"/>
            <a:ext cx="0" cy="434340"/>
          </a:xfrm>
          <a:custGeom>
            <a:avLst/>
            <a:gdLst/>
            <a:ahLst/>
            <a:cxnLst/>
            <a:rect l="l" t="t" r="r" b="b"/>
            <a:pathLst>
              <a:path w="0" h="434339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355419" y="2502428"/>
            <a:ext cx="0" cy="5744845"/>
          </a:xfrm>
          <a:custGeom>
            <a:avLst/>
            <a:gdLst/>
            <a:ahLst/>
            <a:cxnLst/>
            <a:rect l="l" t="t" r="r" b="b"/>
            <a:pathLst>
              <a:path w="0" h="5744845">
                <a:moveTo>
                  <a:pt x="0" y="574476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876721" y="4187559"/>
            <a:ext cx="789940" cy="0"/>
          </a:xfrm>
          <a:custGeom>
            <a:avLst/>
            <a:gdLst/>
            <a:ahLst/>
            <a:cxnLst/>
            <a:rect l="l" t="t" r="r" b="b"/>
            <a:pathLst>
              <a:path w="789940" h="0">
                <a:moveTo>
                  <a:pt x="0" y="0"/>
                </a:moveTo>
                <a:lnTo>
                  <a:pt x="78968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823273" y="676936"/>
            <a:ext cx="15460980" cy="56197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0" spc="65">
                <a:solidFill>
                  <a:srgbClr val="0A0A08"/>
                </a:solidFill>
              </a:rPr>
              <a:t>Quantifying</a:t>
            </a:r>
            <a:r>
              <a:rPr dirty="0" sz="3500" spc="114">
                <a:solidFill>
                  <a:srgbClr val="0A0A08"/>
                </a:solidFill>
              </a:rPr>
              <a:t> </a:t>
            </a:r>
            <a:r>
              <a:rPr dirty="0" sz="3500" spc="55">
                <a:solidFill>
                  <a:srgbClr val="0A0A08"/>
                </a:solidFill>
              </a:rPr>
              <a:t>the</a:t>
            </a:r>
            <a:r>
              <a:rPr dirty="0" sz="3500" spc="140">
                <a:solidFill>
                  <a:srgbClr val="0A0A08"/>
                </a:solidFill>
              </a:rPr>
              <a:t> </a:t>
            </a:r>
            <a:r>
              <a:rPr dirty="0" sz="3500">
                <a:solidFill>
                  <a:srgbClr val="0A0A08"/>
                </a:solidFill>
              </a:rPr>
              <a:t>Value:</a:t>
            </a:r>
            <a:r>
              <a:rPr dirty="0" sz="3500" spc="-20">
                <a:solidFill>
                  <a:srgbClr val="0A0A08"/>
                </a:solidFill>
              </a:rPr>
              <a:t> </a:t>
            </a:r>
            <a:r>
              <a:rPr dirty="0" sz="3500" spc="60">
                <a:solidFill>
                  <a:srgbClr val="0A0A08"/>
                </a:solidFill>
              </a:rPr>
              <a:t>From</a:t>
            </a:r>
            <a:r>
              <a:rPr dirty="0" sz="3500" spc="-110">
                <a:solidFill>
                  <a:srgbClr val="0A0A08"/>
                </a:solidFill>
              </a:rPr>
              <a:t> </a:t>
            </a:r>
            <a:r>
              <a:rPr dirty="0" sz="3500" spc="90">
                <a:solidFill>
                  <a:srgbClr val="0A0A08"/>
                </a:solidFill>
              </a:rPr>
              <a:t>Technical</a:t>
            </a:r>
            <a:r>
              <a:rPr dirty="0" sz="3500" spc="165">
                <a:solidFill>
                  <a:srgbClr val="0A0A08"/>
                </a:solidFill>
              </a:rPr>
              <a:t> </a:t>
            </a:r>
            <a:r>
              <a:rPr dirty="0" sz="3500" spc="60">
                <a:solidFill>
                  <a:srgbClr val="0A0A08"/>
                </a:solidFill>
              </a:rPr>
              <a:t>Superiority</a:t>
            </a:r>
            <a:r>
              <a:rPr dirty="0" sz="3500" spc="70">
                <a:solidFill>
                  <a:srgbClr val="0A0A08"/>
                </a:solidFill>
              </a:rPr>
              <a:t> </a:t>
            </a:r>
            <a:r>
              <a:rPr dirty="0" sz="3500" spc="55">
                <a:solidFill>
                  <a:srgbClr val="0A0A08"/>
                </a:solidFill>
              </a:rPr>
              <a:t>to</a:t>
            </a:r>
            <a:r>
              <a:rPr dirty="0" sz="3500" spc="155">
                <a:solidFill>
                  <a:srgbClr val="0A0A08"/>
                </a:solidFill>
              </a:rPr>
              <a:t> </a:t>
            </a:r>
            <a:r>
              <a:rPr dirty="0" sz="3500" spc="60">
                <a:solidFill>
                  <a:srgbClr val="0A0A08"/>
                </a:solidFill>
              </a:rPr>
              <a:t>Operational</a:t>
            </a:r>
            <a:r>
              <a:rPr dirty="0" sz="3500" spc="240">
                <a:solidFill>
                  <a:srgbClr val="0A0A08"/>
                </a:solidFill>
              </a:rPr>
              <a:t> </a:t>
            </a:r>
            <a:r>
              <a:rPr dirty="0" sz="3500" spc="-10">
                <a:solidFill>
                  <a:srgbClr val="0A0A08"/>
                </a:solidFill>
              </a:rPr>
              <a:t>Efficiency.</a:t>
            </a:r>
            <a:endParaRPr sz="3500"/>
          </a:p>
        </p:txBody>
      </p:sp>
      <p:sp>
        <p:nvSpPr>
          <p:cNvPr id="26" name="object 26"/>
          <p:cNvSpPr txBox="1"/>
          <p:nvPr/>
        </p:nvSpPr>
        <p:spPr>
          <a:xfrm>
            <a:off x="16147783" y="9418922"/>
            <a:ext cx="125476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70">
                <a:solidFill>
                  <a:srgbClr val="31312F"/>
                </a:solidFill>
                <a:latin typeface="Arial"/>
                <a:cs typeface="Arial"/>
              </a:rPr>
              <a:t>I'S\</a:t>
            </a:r>
            <a:r>
              <a:rPr dirty="0" sz="1300" spc="-2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1211F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6324" y="1366307"/>
            <a:ext cx="14438630" cy="82232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 marR="5080" indent="8255">
              <a:lnSpc>
                <a:spcPts val="3020"/>
              </a:lnSpc>
              <a:spcBef>
                <a:spcPts val="395"/>
              </a:spcBef>
            </a:pP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Proactive</a:t>
            </a:r>
            <a:r>
              <a:rPr dirty="0" sz="2700" spc="25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0A0A08"/>
                </a:solidFill>
                <a:latin typeface="Times New Roman"/>
                <a:cs typeface="Times New Roman"/>
              </a:rPr>
              <a:t>hardening</a:t>
            </a:r>
            <a:r>
              <a:rPr dirty="0" sz="2700" spc="19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doesn't</a:t>
            </a:r>
            <a:r>
              <a:rPr dirty="0" sz="2700" spc="19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just</a:t>
            </a:r>
            <a:r>
              <a:rPr dirty="0" sz="2700" spc="14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reduce</a:t>
            </a:r>
            <a:r>
              <a:rPr dirty="0" sz="2700" spc="10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risk;</a:t>
            </a:r>
            <a:r>
              <a:rPr dirty="0" sz="2700" spc="-114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70">
                <a:solidFill>
                  <a:srgbClr val="1D1D1A"/>
                </a:solidFill>
                <a:latin typeface="Times New Roman"/>
                <a:cs typeface="Times New Roman"/>
              </a:rPr>
              <a:t>it</a:t>
            </a:r>
            <a:r>
              <a:rPr dirty="0" sz="2700" spc="-14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eliminates</a:t>
            </a:r>
            <a:r>
              <a:rPr dirty="0" sz="2700" spc="2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65">
                <a:solidFill>
                  <a:srgbClr val="2F2F2B"/>
                </a:solidFill>
                <a:latin typeface="Times New Roman"/>
                <a:cs typeface="Times New Roman"/>
              </a:rPr>
              <a:t>entire</a:t>
            </a:r>
            <a:r>
              <a:rPr dirty="0" sz="2700" spc="114">
                <a:solidFill>
                  <a:srgbClr val="2F2F2B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categories</a:t>
            </a:r>
            <a:r>
              <a:rPr dirty="0" sz="2700" spc="13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of</a:t>
            </a:r>
            <a:r>
              <a:rPr dirty="0" sz="2700" spc="-2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operational</a:t>
            </a:r>
            <a:r>
              <a:rPr dirty="0" sz="2700" spc="3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work,</a:t>
            </a:r>
            <a:r>
              <a:rPr dirty="0" sz="2700" spc="2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-10">
                <a:solidFill>
                  <a:srgbClr val="1D1D1A"/>
                </a:solidFill>
                <a:latin typeface="Times New Roman"/>
                <a:cs typeface="Times New Roman"/>
              </a:rPr>
              <a:t>freeing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your</a:t>
            </a:r>
            <a:r>
              <a:rPr dirty="0" sz="2700" spc="-13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security</a:t>
            </a:r>
            <a:r>
              <a:rPr dirty="0" sz="2700" spc="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75">
                <a:solidFill>
                  <a:srgbClr val="1D1D1A"/>
                </a:solidFill>
                <a:latin typeface="Times New Roman"/>
                <a:cs typeface="Times New Roman"/>
              </a:rPr>
              <a:t>team</a:t>
            </a:r>
            <a:r>
              <a:rPr dirty="0" sz="2700" spc="-2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from</a:t>
            </a:r>
            <a:r>
              <a:rPr dirty="0" sz="2700" spc="1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110">
                <a:solidFill>
                  <a:srgbClr val="1D1D1A"/>
                </a:solidFill>
                <a:latin typeface="Times New Roman"/>
                <a:cs typeface="Times New Roman"/>
              </a:rPr>
              <a:t>an</a:t>
            </a:r>
            <a:r>
              <a:rPr dirty="0" sz="2700" spc="-9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50">
                <a:solidFill>
                  <a:srgbClr val="1D1D1A"/>
                </a:solidFill>
                <a:latin typeface="Times New Roman"/>
                <a:cs typeface="Times New Roman"/>
              </a:rPr>
              <a:t>endless</a:t>
            </a:r>
            <a:r>
              <a:rPr dirty="0" sz="2700" spc="-15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-10">
                <a:solidFill>
                  <a:srgbClr val="1D1D1A"/>
                </a:solidFill>
                <a:latin typeface="Times New Roman"/>
                <a:cs typeface="Times New Roman"/>
              </a:rPr>
              <a:t>cycle</a:t>
            </a:r>
            <a:r>
              <a:rPr dirty="0" sz="2700" spc="-9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of</a:t>
            </a:r>
            <a:r>
              <a:rPr dirty="0" sz="2700" spc="1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0A0A08"/>
                </a:solidFill>
                <a:latin typeface="Times New Roman"/>
                <a:cs typeface="Times New Roman"/>
              </a:rPr>
              <a:t>reactive</a:t>
            </a:r>
            <a:r>
              <a:rPr dirty="0" sz="2700" spc="13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2700" spc="-10">
                <a:solidFill>
                  <a:srgbClr val="1D1D1A"/>
                </a:solidFill>
                <a:latin typeface="Times New Roman"/>
                <a:cs typeface="Times New Roman"/>
              </a:rPr>
              <a:t>patching.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80218" y="2605684"/>
            <a:ext cx="5476240" cy="80454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405"/>
              </a:spcBef>
            </a:pPr>
            <a:r>
              <a:rPr dirty="0" sz="2600" spc="-114" b="1">
                <a:solidFill>
                  <a:srgbClr val="0A0A08"/>
                </a:solidFill>
                <a:latin typeface="Arial"/>
                <a:cs typeface="Arial"/>
              </a:rPr>
              <a:t>Annual</a:t>
            </a:r>
            <a:r>
              <a:rPr dirty="0" sz="2600" spc="-190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600" spc="-80" b="1">
                <a:solidFill>
                  <a:srgbClr val="0A0A08"/>
                </a:solidFill>
                <a:latin typeface="Arial"/>
                <a:cs typeface="Arial"/>
              </a:rPr>
              <a:t>Remediation</a:t>
            </a:r>
            <a:r>
              <a:rPr dirty="0" sz="2600" spc="-4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600" spc="-40" b="1">
                <a:solidFill>
                  <a:srgbClr val="0A0A08"/>
                </a:solidFill>
                <a:latin typeface="Arial"/>
                <a:cs typeface="Arial"/>
              </a:rPr>
              <a:t>Cost</a:t>
            </a:r>
            <a:r>
              <a:rPr dirty="0" sz="2600" spc="-3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600" spc="-90" b="1">
                <a:solidFill>
                  <a:srgbClr val="0A0A08"/>
                </a:solidFill>
                <a:latin typeface="Arial"/>
                <a:cs typeface="Arial"/>
              </a:rPr>
              <a:t>Avoidance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2050" spc="-65">
                <a:solidFill>
                  <a:srgbClr val="1D1D1A"/>
                </a:solidFill>
                <a:latin typeface="Arial"/>
                <a:cs typeface="Arial"/>
              </a:rPr>
              <a:t>Focus:</a:t>
            </a:r>
            <a:r>
              <a:rPr dirty="0" sz="2050" spc="-19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dirty="0" sz="2050" spc="-65">
                <a:solidFill>
                  <a:srgbClr val="1D1D1A"/>
                </a:solidFill>
                <a:latin typeface="Arial"/>
                <a:cs typeface="Arial"/>
              </a:rPr>
              <a:t>Kerberos</a:t>
            </a:r>
            <a:r>
              <a:rPr dirty="0" sz="2050" spc="-7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dirty="0" sz="2050" spc="-125">
                <a:solidFill>
                  <a:srgbClr val="1D1D1A"/>
                </a:solidFill>
                <a:latin typeface="Arial"/>
                <a:cs typeface="Arial"/>
              </a:rPr>
              <a:t>CVEs</a:t>
            </a:r>
            <a:r>
              <a:rPr dirty="0" sz="2050" spc="-17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F2F2B"/>
                </a:solidFill>
                <a:latin typeface="Arial"/>
                <a:cs typeface="Arial"/>
              </a:rPr>
              <a:t>in</a:t>
            </a:r>
            <a:r>
              <a:rPr dirty="0" sz="2050" spc="5">
                <a:solidFill>
                  <a:srgbClr val="2F2F2B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D1D1A"/>
                </a:solidFill>
                <a:latin typeface="Arial"/>
                <a:cs typeface="Arial"/>
              </a:rPr>
              <a:t>OpenSSH.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52772" y="5687648"/>
            <a:ext cx="2563495" cy="8426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35">
                <a:solidFill>
                  <a:srgbClr val="1D1D1A"/>
                </a:solidFill>
                <a:latin typeface="Arial"/>
                <a:cs typeface="Arial"/>
              </a:rPr>
              <a:t>Standard</a:t>
            </a:r>
            <a:r>
              <a:rPr dirty="0" sz="2050" spc="-7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dirty="0" sz="2050" spc="-65">
                <a:solidFill>
                  <a:srgbClr val="1D1D1A"/>
                </a:solidFill>
                <a:latin typeface="Arial"/>
                <a:cs typeface="Arial"/>
              </a:rPr>
              <a:t>Linux</a:t>
            </a:r>
            <a:r>
              <a:rPr dirty="0" sz="2050" spc="-75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dirty="0" sz="2050" spc="-35">
                <a:solidFill>
                  <a:srgbClr val="1D1D1A"/>
                </a:solidFill>
                <a:latin typeface="Arial"/>
                <a:cs typeface="Arial"/>
              </a:rPr>
              <a:t>Burden</a:t>
            </a:r>
            <a:endParaRPr sz="2050">
              <a:latin typeface="Arial"/>
              <a:cs typeface="Arial"/>
            </a:endParaRPr>
          </a:p>
          <a:p>
            <a:pPr marL="55244">
              <a:lnSpc>
                <a:spcPct val="100000"/>
              </a:lnSpc>
              <a:spcBef>
                <a:spcPts val="60"/>
              </a:spcBef>
            </a:pPr>
            <a:r>
              <a:rPr dirty="0" sz="3250" spc="180" b="1">
                <a:solidFill>
                  <a:srgbClr val="903D31"/>
                </a:solidFill>
                <a:latin typeface="Arial"/>
                <a:cs typeface="Arial"/>
              </a:rPr>
              <a:t>18-</a:t>
            </a:r>
            <a:r>
              <a:rPr dirty="0" sz="3250" spc="215" b="1">
                <a:solidFill>
                  <a:srgbClr val="903D31"/>
                </a:solidFill>
                <a:latin typeface="Arial"/>
                <a:cs typeface="Arial"/>
              </a:rPr>
              <a:t>64</a:t>
            </a:r>
            <a:r>
              <a:rPr dirty="0" sz="3250" spc="-155" b="1">
                <a:solidFill>
                  <a:srgbClr val="903D31"/>
                </a:solidFill>
                <a:latin typeface="Arial"/>
                <a:cs typeface="Arial"/>
              </a:rPr>
              <a:t> </a:t>
            </a:r>
            <a:r>
              <a:rPr dirty="0" sz="3250" spc="-10" b="1">
                <a:solidFill>
                  <a:srgbClr val="903D31"/>
                </a:solidFill>
                <a:latin typeface="Arial"/>
                <a:cs typeface="Arial"/>
              </a:rPr>
              <a:t>hours</a:t>
            </a:r>
            <a:endParaRPr sz="32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58123" y="4500397"/>
            <a:ext cx="126364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heavy" sz="2350" spc="-50">
                <a:solidFill>
                  <a:srgbClr val="2F2F2B"/>
                </a:solidFill>
                <a:uFill>
                  <a:solidFill>
                    <a:srgbClr val="2F2F2B"/>
                  </a:solidFill>
                </a:uFill>
                <a:latin typeface="Arial"/>
                <a:cs typeface="Arial"/>
              </a:rPr>
              <a:t>)</a:t>
            </a:r>
            <a:endParaRPr sz="2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36497" y="5687648"/>
            <a:ext cx="1616710" cy="8426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80">
                <a:solidFill>
                  <a:srgbClr val="1D1D1A"/>
                </a:solidFill>
                <a:latin typeface="Arial"/>
                <a:cs typeface="Arial"/>
              </a:rPr>
              <a:t>RLC</a:t>
            </a:r>
            <a:r>
              <a:rPr dirty="0" sz="2050" spc="-80">
                <a:solidFill>
                  <a:srgbClr val="42423D"/>
                </a:solidFill>
                <a:latin typeface="Arial"/>
                <a:cs typeface="Arial"/>
              </a:rPr>
              <a:t>-</a:t>
            </a:r>
            <a:r>
              <a:rPr dirty="0" sz="2050" spc="-95">
                <a:solidFill>
                  <a:srgbClr val="1D1D1A"/>
                </a:solidFill>
                <a:latin typeface="Arial"/>
                <a:cs typeface="Arial"/>
              </a:rPr>
              <a:t>H</a:t>
            </a:r>
            <a:r>
              <a:rPr dirty="0" sz="2050" spc="-225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dirty="0" sz="2050" spc="-40">
                <a:solidFill>
                  <a:srgbClr val="1D1D1A"/>
                </a:solidFill>
                <a:latin typeface="Arial"/>
                <a:cs typeface="Arial"/>
              </a:rPr>
              <a:t>Burden</a:t>
            </a:r>
            <a:endParaRPr sz="2050">
              <a:latin typeface="Arial"/>
              <a:cs typeface="Arial"/>
            </a:endParaRPr>
          </a:p>
          <a:p>
            <a:pPr marL="53975">
              <a:lnSpc>
                <a:spcPct val="100000"/>
              </a:lnSpc>
              <a:spcBef>
                <a:spcPts val="60"/>
              </a:spcBef>
            </a:pPr>
            <a:r>
              <a:rPr dirty="0" sz="3250" b="1">
                <a:solidFill>
                  <a:srgbClr val="0A3B59"/>
                </a:solidFill>
                <a:latin typeface="Arial"/>
                <a:cs typeface="Arial"/>
              </a:rPr>
              <a:t>0</a:t>
            </a:r>
            <a:r>
              <a:rPr dirty="0" sz="3250" spc="90" b="1">
                <a:solidFill>
                  <a:srgbClr val="0A3B59"/>
                </a:solidFill>
                <a:latin typeface="Arial"/>
                <a:cs typeface="Arial"/>
              </a:rPr>
              <a:t> </a:t>
            </a:r>
            <a:r>
              <a:rPr dirty="0" sz="3250" spc="-10" b="1">
                <a:solidFill>
                  <a:srgbClr val="0A3B59"/>
                </a:solidFill>
                <a:latin typeface="Arial"/>
                <a:cs typeface="Arial"/>
              </a:rPr>
              <a:t>hours</a:t>
            </a:r>
            <a:endParaRPr sz="32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9010" y="6625960"/>
            <a:ext cx="5739765" cy="128968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 marL="64769">
              <a:lnSpc>
                <a:spcPts val="2985"/>
              </a:lnSpc>
              <a:spcBef>
                <a:spcPts val="115"/>
              </a:spcBef>
            </a:pPr>
            <a:r>
              <a:rPr dirty="0" sz="2700" spc="-120">
                <a:solidFill>
                  <a:srgbClr val="1D1D1A"/>
                </a:solidFill>
                <a:latin typeface="Times New Roman"/>
                <a:cs typeface="Times New Roman"/>
              </a:rPr>
              <a:t>Annual</a:t>
            </a:r>
            <a:r>
              <a:rPr dirty="0" sz="2700" spc="-7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-10">
                <a:solidFill>
                  <a:srgbClr val="1D1D1A"/>
                </a:solidFill>
                <a:latin typeface="Times New Roman"/>
                <a:cs typeface="Times New Roman"/>
              </a:rPr>
              <a:t>Savings:</a:t>
            </a:r>
            <a:endParaRPr sz="2700">
              <a:latin typeface="Times New Roman"/>
              <a:cs typeface="Times New Roman"/>
            </a:endParaRPr>
          </a:p>
          <a:p>
            <a:pPr algn="ctr">
              <a:lnSpc>
                <a:spcPts val="6945"/>
              </a:lnSpc>
            </a:pPr>
            <a:r>
              <a:rPr dirty="0" sz="6000" spc="114" b="1">
                <a:solidFill>
                  <a:srgbClr val="0A3B59"/>
                </a:solidFill>
                <a:latin typeface="Arial"/>
                <a:cs typeface="Arial"/>
              </a:rPr>
              <a:t>$1,350</a:t>
            </a:r>
            <a:r>
              <a:rPr dirty="0" sz="6000" spc="-175" b="1">
                <a:solidFill>
                  <a:srgbClr val="0A3B59"/>
                </a:solidFill>
                <a:latin typeface="Arial"/>
                <a:cs typeface="Arial"/>
              </a:rPr>
              <a:t> </a:t>
            </a:r>
            <a:r>
              <a:rPr dirty="0" sz="6000" spc="80" b="1">
                <a:solidFill>
                  <a:srgbClr val="0A3B59"/>
                </a:solidFill>
                <a:latin typeface="Arial"/>
                <a:cs typeface="Arial"/>
              </a:rPr>
              <a:t>-</a:t>
            </a:r>
            <a:r>
              <a:rPr dirty="0" sz="6000" spc="200" b="1">
                <a:solidFill>
                  <a:srgbClr val="0A3B59"/>
                </a:solidFill>
                <a:latin typeface="Arial"/>
                <a:cs typeface="Arial"/>
              </a:rPr>
              <a:t> </a:t>
            </a:r>
            <a:r>
              <a:rPr dirty="0" sz="6000" spc="320" b="1">
                <a:solidFill>
                  <a:srgbClr val="0A3B59"/>
                </a:solidFill>
                <a:latin typeface="Arial"/>
                <a:cs typeface="Arial"/>
              </a:rPr>
              <a:t>$9,600</a:t>
            </a:r>
            <a:endParaRPr sz="6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79939" y="7787680"/>
            <a:ext cx="629729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in</a:t>
            </a:r>
            <a:r>
              <a:rPr dirty="0" sz="2700" spc="-229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-60">
                <a:solidFill>
                  <a:srgbClr val="1D1D1A"/>
                </a:solidFill>
                <a:latin typeface="Times New Roman"/>
                <a:cs typeface="Times New Roman"/>
              </a:rPr>
              <a:t>engineering</a:t>
            </a:r>
            <a:r>
              <a:rPr dirty="0" sz="2700" spc="-6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-45">
                <a:solidFill>
                  <a:srgbClr val="1D1D1A"/>
                </a:solidFill>
                <a:latin typeface="Times New Roman"/>
                <a:cs typeface="Times New Roman"/>
              </a:rPr>
              <a:t>time,</a:t>
            </a:r>
            <a:r>
              <a:rPr dirty="0" sz="2700" spc="-85">
                <a:solidFill>
                  <a:srgbClr val="1D1D1A"/>
                </a:solidFill>
                <a:latin typeface="Times New Roman"/>
                <a:cs typeface="Times New Roman"/>
              </a:rPr>
              <a:t> multiplied</a:t>
            </a:r>
            <a:r>
              <a:rPr dirty="0" sz="2700" spc="-2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-55">
                <a:solidFill>
                  <a:srgbClr val="1D1D1A"/>
                </a:solidFill>
                <a:latin typeface="Times New Roman"/>
                <a:cs typeface="Times New Roman"/>
              </a:rPr>
              <a:t>across</a:t>
            </a:r>
            <a:r>
              <a:rPr dirty="0" sz="2700" spc="-23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-70">
                <a:solidFill>
                  <a:srgbClr val="1D1D1A"/>
                </a:solidFill>
                <a:latin typeface="Times New Roman"/>
                <a:cs typeface="Times New Roman"/>
              </a:rPr>
              <a:t>your</a:t>
            </a:r>
            <a:r>
              <a:rPr dirty="0" sz="2700" spc="-24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-10">
                <a:solidFill>
                  <a:srgbClr val="0A0A08"/>
                </a:solidFill>
                <a:latin typeface="Times New Roman"/>
                <a:cs typeface="Times New Roman"/>
              </a:rPr>
              <a:t>flee</a:t>
            </a:r>
            <a:r>
              <a:rPr dirty="0" sz="2700" spc="-10">
                <a:solidFill>
                  <a:srgbClr val="2F2F2B"/>
                </a:solidFill>
                <a:latin typeface="Times New Roman"/>
                <a:cs typeface="Times New Roman"/>
              </a:rPr>
              <a:t>t.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356451" y="2605684"/>
            <a:ext cx="5708015" cy="80454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2600" spc="-85" b="1">
                <a:solidFill>
                  <a:srgbClr val="0A0A08"/>
                </a:solidFill>
                <a:latin typeface="Arial"/>
                <a:cs typeface="Arial"/>
              </a:rPr>
              <a:t>Emergency</a:t>
            </a:r>
            <a:r>
              <a:rPr dirty="0" sz="2600" spc="-13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600" spc="-100" b="1">
                <a:solidFill>
                  <a:srgbClr val="0A0A08"/>
                </a:solidFill>
                <a:latin typeface="Arial"/>
                <a:cs typeface="Arial"/>
              </a:rPr>
              <a:t>Response</a:t>
            </a:r>
            <a:r>
              <a:rPr dirty="0" sz="2600" spc="-13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600" spc="-40" b="1">
                <a:solidFill>
                  <a:srgbClr val="0A0A08"/>
                </a:solidFill>
                <a:latin typeface="Arial"/>
                <a:cs typeface="Arial"/>
              </a:rPr>
              <a:t>Cost</a:t>
            </a:r>
            <a:r>
              <a:rPr dirty="0" sz="2600" spc="-7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600" spc="-90" b="1">
                <a:solidFill>
                  <a:srgbClr val="0A0A08"/>
                </a:solidFill>
                <a:latin typeface="Arial"/>
                <a:cs typeface="Arial"/>
              </a:rPr>
              <a:t>Avoidance</a:t>
            </a:r>
            <a:endParaRPr sz="26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245"/>
              </a:spcBef>
            </a:pPr>
            <a:r>
              <a:rPr dirty="0" sz="2050" spc="-65">
                <a:solidFill>
                  <a:srgbClr val="2F2F2B"/>
                </a:solidFill>
                <a:latin typeface="Arial"/>
                <a:cs typeface="Arial"/>
              </a:rPr>
              <a:t>Focus:</a:t>
            </a:r>
            <a:r>
              <a:rPr dirty="0" sz="2050" spc="-235">
                <a:solidFill>
                  <a:srgbClr val="2F2F2B"/>
                </a:solidFill>
                <a:latin typeface="Arial"/>
                <a:cs typeface="Arial"/>
              </a:rPr>
              <a:t> </a:t>
            </a:r>
            <a:r>
              <a:rPr dirty="0" sz="2050" spc="-45">
                <a:solidFill>
                  <a:srgbClr val="1D1D1A"/>
                </a:solidFill>
                <a:latin typeface="Arial"/>
                <a:cs typeface="Arial"/>
              </a:rPr>
              <a:t>CVE</a:t>
            </a:r>
            <a:r>
              <a:rPr dirty="0" sz="2050" spc="-45">
                <a:solidFill>
                  <a:srgbClr val="42423D"/>
                </a:solidFill>
                <a:latin typeface="Arial"/>
                <a:cs typeface="Arial"/>
              </a:rPr>
              <a:t>-</a:t>
            </a:r>
            <a:r>
              <a:rPr dirty="0" sz="2050" spc="-40">
                <a:solidFill>
                  <a:srgbClr val="1D1D1A"/>
                </a:solidFill>
                <a:latin typeface="Arial"/>
                <a:cs typeface="Arial"/>
              </a:rPr>
              <a:t>2023-</a:t>
            </a:r>
            <a:r>
              <a:rPr dirty="0" sz="2050" spc="-35">
                <a:solidFill>
                  <a:srgbClr val="1D1D1A"/>
                </a:solidFill>
                <a:latin typeface="Arial"/>
                <a:cs typeface="Arial"/>
              </a:rPr>
              <a:t>4911</a:t>
            </a:r>
            <a:r>
              <a:rPr dirty="0" sz="2050" spc="-35">
                <a:solidFill>
                  <a:srgbClr val="2F2F2B"/>
                </a:solidFill>
                <a:latin typeface="Arial"/>
                <a:cs typeface="Arial"/>
              </a:rPr>
              <a:t>('Looney</a:t>
            </a:r>
            <a:r>
              <a:rPr dirty="0" sz="2050" spc="65">
                <a:solidFill>
                  <a:srgbClr val="2F2F2B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2F2F2B"/>
                </a:solidFill>
                <a:latin typeface="Arial"/>
                <a:cs typeface="Arial"/>
              </a:rPr>
              <a:t>Tunables').</a:t>
            </a:r>
            <a:endParaRPr sz="2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771641" y="5687648"/>
            <a:ext cx="2517140" cy="8426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5095">
              <a:lnSpc>
                <a:spcPct val="100000"/>
              </a:lnSpc>
              <a:spcBef>
                <a:spcPts val="110"/>
              </a:spcBef>
            </a:pPr>
            <a:r>
              <a:rPr dirty="0" sz="2050" spc="-50">
                <a:solidFill>
                  <a:srgbClr val="1D1D1A"/>
                </a:solidFill>
                <a:latin typeface="Arial"/>
                <a:cs typeface="Arial"/>
              </a:rPr>
              <a:t>Standard</a:t>
            </a:r>
            <a:r>
              <a:rPr dirty="0" sz="2050" spc="-95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dirty="0" sz="2050" spc="-45">
                <a:solidFill>
                  <a:srgbClr val="1D1D1A"/>
                </a:solidFill>
                <a:latin typeface="Arial"/>
                <a:cs typeface="Arial"/>
              </a:rPr>
              <a:t>Linux</a:t>
            </a:r>
            <a:r>
              <a:rPr dirty="0" sz="2050" spc="-85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dirty="0" sz="2050" spc="-20">
                <a:solidFill>
                  <a:srgbClr val="1D1D1A"/>
                </a:solidFill>
                <a:latin typeface="Arial"/>
                <a:cs typeface="Arial"/>
              </a:rPr>
              <a:t>Cost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3250" spc="245" b="1">
                <a:solidFill>
                  <a:srgbClr val="903D31"/>
                </a:solidFill>
                <a:latin typeface="Arial"/>
                <a:cs typeface="Arial"/>
              </a:rPr>
              <a:t>22-</a:t>
            </a:r>
            <a:r>
              <a:rPr dirty="0" sz="3250" spc="285" b="1">
                <a:solidFill>
                  <a:srgbClr val="903D31"/>
                </a:solidFill>
                <a:latin typeface="Arial"/>
                <a:cs typeface="Arial"/>
              </a:rPr>
              <a:t>44</a:t>
            </a:r>
            <a:r>
              <a:rPr dirty="0" sz="3250" spc="-270" b="1">
                <a:solidFill>
                  <a:srgbClr val="903D31"/>
                </a:solidFill>
                <a:latin typeface="Arial"/>
                <a:cs typeface="Arial"/>
              </a:rPr>
              <a:t> </a:t>
            </a:r>
            <a:r>
              <a:rPr dirty="0" sz="3250" spc="-20" b="1">
                <a:solidFill>
                  <a:srgbClr val="903D31"/>
                </a:solidFill>
                <a:latin typeface="Arial"/>
                <a:cs typeface="Arial"/>
              </a:rPr>
              <a:t>hours</a:t>
            </a:r>
            <a:endParaRPr sz="32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037122" y="4500397"/>
            <a:ext cx="17843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heavy" sz="2350" spc="-50">
                <a:solidFill>
                  <a:srgbClr val="1D1D1A"/>
                </a:solidFill>
                <a:uFill>
                  <a:solidFill>
                    <a:srgbClr val="1D1D1A"/>
                  </a:solidFill>
                </a:uFill>
                <a:latin typeface="Arial"/>
                <a:cs typeface="Arial"/>
              </a:rPr>
              <a:t>)</a:t>
            </a:r>
            <a:r>
              <a:rPr dirty="0" u="heavy" sz="2350">
                <a:solidFill>
                  <a:srgbClr val="1D1D1A"/>
                </a:solidFill>
                <a:uFill>
                  <a:solidFill>
                    <a:srgbClr val="1D1D1A"/>
                  </a:solidFill>
                </a:uFill>
                <a:latin typeface="Arial"/>
                <a:cs typeface="Arial"/>
              </a:rPr>
              <a:t> </a:t>
            </a:r>
            <a:endParaRPr sz="23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130122" y="5687648"/>
            <a:ext cx="1337310" cy="8426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80">
                <a:solidFill>
                  <a:srgbClr val="1D1D1A"/>
                </a:solidFill>
                <a:latin typeface="Arial"/>
                <a:cs typeface="Arial"/>
              </a:rPr>
              <a:t>RLC</a:t>
            </a:r>
            <a:r>
              <a:rPr dirty="0" sz="2050" spc="-80">
                <a:solidFill>
                  <a:srgbClr val="42423D"/>
                </a:solidFill>
                <a:latin typeface="Arial"/>
                <a:cs typeface="Arial"/>
              </a:rPr>
              <a:t>-</a:t>
            </a:r>
            <a:r>
              <a:rPr dirty="0" sz="2050" spc="-95">
                <a:solidFill>
                  <a:srgbClr val="1D1D1A"/>
                </a:solidFill>
                <a:latin typeface="Arial"/>
                <a:cs typeface="Arial"/>
              </a:rPr>
              <a:t>H</a:t>
            </a:r>
            <a:r>
              <a:rPr dirty="0" sz="2050" spc="-18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1D1D1A"/>
                </a:solidFill>
                <a:latin typeface="Arial"/>
                <a:cs typeface="Arial"/>
              </a:rPr>
              <a:t>Cost</a:t>
            </a:r>
            <a:endParaRPr sz="2050">
              <a:latin typeface="Arial"/>
              <a:cs typeface="Arial"/>
            </a:endParaRPr>
          </a:p>
          <a:p>
            <a:pPr marL="401320">
              <a:lnSpc>
                <a:spcPct val="100000"/>
              </a:lnSpc>
              <a:spcBef>
                <a:spcPts val="60"/>
              </a:spcBef>
            </a:pPr>
            <a:r>
              <a:rPr dirty="0" sz="3250" spc="-25" b="1">
                <a:solidFill>
                  <a:srgbClr val="0A3B59"/>
                </a:solidFill>
                <a:latin typeface="Arial"/>
                <a:cs typeface="Arial"/>
              </a:rPr>
              <a:t>$0</a:t>
            </a:r>
            <a:endParaRPr sz="32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96634" y="7079158"/>
            <a:ext cx="6014085" cy="89281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907539" marR="5080" indent="-1895475">
              <a:lnSpc>
                <a:spcPct val="90000"/>
              </a:lnSpc>
              <a:spcBef>
                <a:spcPts val="505"/>
              </a:spcBef>
            </a:pPr>
            <a:r>
              <a:rPr dirty="0" sz="2700" spc="-125">
                <a:solidFill>
                  <a:srgbClr val="1D1D1A"/>
                </a:solidFill>
                <a:latin typeface="Times New Roman"/>
                <a:cs typeface="Times New Roman"/>
              </a:rPr>
              <a:t>Costing</a:t>
            </a:r>
            <a:r>
              <a:rPr dirty="0" sz="2700" spc="-3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3250" spc="225" b="1">
                <a:solidFill>
                  <a:srgbClr val="903D31"/>
                </a:solidFill>
                <a:latin typeface="Arial"/>
                <a:cs typeface="Arial"/>
              </a:rPr>
              <a:t>$3,300</a:t>
            </a:r>
            <a:r>
              <a:rPr dirty="0" sz="3250" spc="-185" b="1">
                <a:solidFill>
                  <a:srgbClr val="903D31"/>
                </a:solidFill>
                <a:latin typeface="Arial"/>
                <a:cs typeface="Arial"/>
              </a:rPr>
              <a:t> </a:t>
            </a:r>
            <a:r>
              <a:rPr dirty="0" sz="3250" spc="140" b="1">
                <a:solidFill>
                  <a:srgbClr val="903D31"/>
                </a:solidFill>
                <a:latin typeface="Arial"/>
                <a:cs typeface="Arial"/>
              </a:rPr>
              <a:t>-</a:t>
            </a:r>
            <a:r>
              <a:rPr dirty="0" sz="3250" spc="65" b="1">
                <a:solidFill>
                  <a:srgbClr val="903D31"/>
                </a:solidFill>
                <a:latin typeface="Arial"/>
                <a:cs typeface="Arial"/>
              </a:rPr>
              <a:t> </a:t>
            </a:r>
            <a:r>
              <a:rPr dirty="0" sz="3250" spc="160" b="1">
                <a:solidFill>
                  <a:srgbClr val="903D31"/>
                </a:solidFill>
                <a:latin typeface="Arial"/>
                <a:cs typeface="Arial"/>
              </a:rPr>
              <a:t>$13,200</a:t>
            </a:r>
            <a:r>
              <a:rPr dirty="0" sz="3250" spc="-300" b="1">
                <a:solidFill>
                  <a:srgbClr val="903D31"/>
                </a:solidFill>
                <a:latin typeface="Arial"/>
                <a:cs typeface="Arial"/>
              </a:rPr>
              <a:t> </a:t>
            </a:r>
            <a:r>
              <a:rPr dirty="0" sz="2700" spc="-50">
                <a:solidFill>
                  <a:srgbClr val="1D1D1A"/>
                </a:solidFill>
                <a:latin typeface="Times New Roman"/>
                <a:cs typeface="Times New Roman"/>
              </a:rPr>
              <a:t>for</a:t>
            </a:r>
            <a:r>
              <a:rPr dirty="0" sz="2700" spc="-28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-50">
                <a:solidFill>
                  <a:srgbClr val="1D1D1A"/>
                </a:solidFill>
                <a:latin typeface="Times New Roman"/>
                <a:cs typeface="Times New Roman"/>
              </a:rPr>
              <a:t>a</a:t>
            </a:r>
            <a:r>
              <a:rPr dirty="0" sz="2700" spc="-15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-55">
                <a:solidFill>
                  <a:srgbClr val="1D1D1A"/>
                </a:solidFill>
                <a:latin typeface="Times New Roman"/>
                <a:cs typeface="Times New Roman"/>
              </a:rPr>
              <a:t>single </a:t>
            </a:r>
            <a:r>
              <a:rPr dirty="0" sz="2700" spc="-114">
                <a:solidFill>
                  <a:srgbClr val="1D1D1A"/>
                </a:solidFill>
                <a:latin typeface="Times New Roman"/>
                <a:cs typeface="Times New Roman"/>
              </a:rPr>
              <a:t>high-</a:t>
            </a:r>
            <a:r>
              <a:rPr dirty="0" sz="2700" spc="-100">
                <a:solidFill>
                  <a:srgbClr val="1D1D1A"/>
                </a:solidFill>
                <a:latin typeface="Times New Roman"/>
                <a:cs typeface="Times New Roman"/>
              </a:rPr>
              <a:t>profile</a:t>
            </a:r>
            <a:r>
              <a:rPr dirty="0" sz="2700" spc="-1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-280">
                <a:solidFill>
                  <a:srgbClr val="1D1D1A"/>
                </a:solidFill>
                <a:latin typeface="Times New Roman"/>
                <a:cs typeface="Times New Roman"/>
              </a:rPr>
              <a:t>CVE.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75691" y="8528116"/>
            <a:ext cx="8771890" cy="80962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91590" marR="5080" indent="-1279525">
              <a:lnSpc>
                <a:spcPts val="2920"/>
              </a:lnSpc>
              <a:spcBef>
                <a:spcPts val="475"/>
              </a:spcBef>
            </a:pPr>
            <a:r>
              <a:rPr dirty="0" sz="2700" spc="-210">
                <a:solidFill>
                  <a:srgbClr val="0A0A08"/>
                </a:solidFill>
                <a:latin typeface="Times New Roman"/>
                <a:cs typeface="Times New Roman"/>
              </a:rPr>
              <a:t>RLC-</a:t>
            </a:r>
            <a:r>
              <a:rPr dirty="0" sz="2700" spc="-254">
                <a:solidFill>
                  <a:srgbClr val="0A0A08"/>
                </a:solidFill>
                <a:latin typeface="Times New Roman"/>
                <a:cs typeface="Times New Roman"/>
              </a:rPr>
              <a:t>H</a:t>
            </a:r>
            <a:r>
              <a:rPr dirty="0" sz="2700" spc="-4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transforms</a:t>
            </a:r>
            <a:r>
              <a:rPr dirty="0" sz="2700" spc="3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security</a:t>
            </a:r>
            <a:r>
              <a:rPr dirty="0" sz="2700" spc="-3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0A0A08"/>
                </a:solidFill>
                <a:latin typeface="Times New Roman"/>
                <a:cs typeface="Times New Roman"/>
              </a:rPr>
              <a:t>maintenance</a:t>
            </a:r>
            <a:r>
              <a:rPr dirty="0" sz="2700" spc="-9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from</a:t>
            </a:r>
            <a:r>
              <a:rPr dirty="0" sz="2700" spc="1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80">
                <a:solidFill>
                  <a:srgbClr val="1D1D1A"/>
                </a:solidFill>
                <a:latin typeface="Times New Roman"/>
                <a:cs typeface="Times New Roman"/>
              </a:rPr>
              <a:t>a</a:t>
            </a:r>
            <a:r>
              <a:rPr dirty="0" sz="2700" spc="-21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chaotic, </a:t>
            </a:r>
            <a:r>
              <a:rPr dirty="0" sz="2700" spc="-10">
                <a:solidFill>
                  <a:srgbClr val="1D1D1A"/>
                </a:solidFill>
                <a:latin typeface="Times New Roman"/>
                <a:cs typeface="Times New Roman"/>
              </a:rPr>
              <a:t>reactive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fire</a:t>
            </a:r>
            <a:r>
              <a:rPr dirty="0" sz="2700" spc="-27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0A0A08"/>
                </a:solidFill>
                <a:latin typeface="Times New Roman"/>
                <a:cs typeface="Times New Roman"/>
              </a:rPr>
              <a:t>drill</a:t>
            </a:r>
            <a:r>
              <a:rPr dirty="0" sz="2700" spc="-13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into</a:t>
            </a:r>
            <a:r>
              <a:rPr dirty="0" sz="2700" spc="-17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 spc="80">
                <a:solidFill>
                  <a:srgbClr val="1D1D1A"/>
                </a:solidFill>
                <a:latin typeface="Times New Roman"/>
                <a:cs typeface="Times New Roman"/>
              </a:rPr>
              <a:t>a</a:t>
            </a:r>
            <a:r>
              <a:rPr dirty="0" sz="2700" spc="-16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predictable,</a:t>
            </a:r>
            <a:r>
              <a:rPr dirty="0" sz="2700" spc="13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D1D1A"/>
                </a:solidFill>
                <a:latin typeface="Times New Roman"/>
                <a:cs typeface="Times New Roman"/>
              </a:rPr>
              <a:t>managed </a:t>
            </a:r>
            <a:r>
              <a:rPr dirty="0" sz="2700" spc="-10">
                <a:solidFill>
                  <a:srgbClr val="1D1D1A"/>
                </a:solidFill>
                <a:latin typeface="Times New Roman"/>
                <a:cs typeface="Times New Roman"/>
              </a:rPr>
              <a:t>process.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32901" y="5413110"/>
            <a:ext cx="2114329" cy="40851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89763" y="4008833"/>
            <a:ext cx="3311598" cy="319153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26004" y="4264155"/>
            <a:ext cx="0" cy="2094230"/>
          </a:xfrm>
          <a:custGeom>
            <a:avLst/>
            <a:gdLst/>
            <a:ahLst/>
            <a:cxnLst/>
            <a:rect l="l" t="t" r="r" b="b"/>
            <a:pathLst>
              <a:path w="0" h="2094229">
                <a:moveTo>
                  <a:pt x="0" y="209364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78543" y="4264155"/>
            <a:ext cx="0" cy="2119630"/>
          </a:xfrm>
          <a:custGeom>
            <a:avLst/>
            <a:gdLst/>
            <a:ahLst/>
            <a:cxnLst/>
            <a:rect l="l" t="t" r="r" b="b"/>
            <a:pathLst>
              <a:path w="0" h="2119629">
                <a:moveTo>
                  <a:pt x="0" y="211917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800603" y="6510997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8741" y="4251390"/>
            <a:ext cx="2139950" cy="0"/>
          </a:xfrm>
          <a:custGeom>
            <a:avLst/>
            <a:gdLst/>
            <a:ahLst/>
            <a:cxnLst/>
            <a:rect l="l" t="t" r="r" b="b"/>
            <a:pathLst>
              <a:path w="2139950" h="0">
                <a:moveTo>
                  <a:pt x="0" y="0"/>
                </a:moveTo>
                <a:lnTo>
                  <a:pt x="213980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883849" y="5949286"/>
            <a:ext cx="2012950" cy="0"/>
          </a:xfrm>
          <a:custGeom>
            <a:avLst/>
            <a:gdLst/>
            <a:ahLst/>
            <a:cxnLst/>
            <a:rect l="l" t="t" r="r" b="b"/>
            <a:pathLst>
              <a:path w="2012950" h="0">
                <a:moveTo>
                  <a:pt x="0" y="0"/>
                </a:moveTo>
                <a:lnTo>
                  <a:pt x="201243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3267" y="6332271"/>
            <a:ext cx="2190750" cy="0"/>
          </a:xfrm>
          <a:custGeom>
            <a:avLst/>
            <a:gdLst/>
            <a:ahLst/>
            <a:cxnLst/>
            <a:rect l="l" t="t" r="r" b="b"/>
            <a:pathLst>
              <a:path w="2190750" h="0">
                <a:moveTo>
                  <a:pt x="0" y="0"/>
                </a:moveTo>
                <a:lnTo>
                  <a:pt x="219075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405759" y="7366328"/>
            <a:ext cx="1197610" cy="0"/>
          </a:xfrm>
          <a:custGeom>
            <a:avLst/>
            <a:gdLst/>
            <a:ahLst/>
            <a:cxnLst/>
            <a:rect l="l" t="t" r="r" b="b"/>
            <a:pathLst>
              <a:path w="1197609" h="0">
                <a:moveTo>
                  <a:pt x="0" y="0"/>
                </a:moveTo>
                <a:lnTo>
                  <a:pt x="119727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405759" y="7493989"/>
            <a:ext cx="1197610" cy="0"/>
          </a:xfrm>
          <a:custGeom>
            <a:avLst/>
            <a:gdLst/>
            <a:ahLst/>
            <a:cxnLst/>
            <a:rect l="l" t="t" r="r" b="b"/>
            <a:pathLst>
              <a:path w="1197609" h="0">
                <a:moveTo>
                  <a:pt x="0" y="0"/>
                </a:moveTo>
                <a:lnTo>
                  <a:pt x="119727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3458845" algn="l"/>
              </a:tabLst>
            </a:pPr>
            <a:r>
              <a:rPr dirty="0" spc="229"/>
              <a:t>The</a:t>
            </a:r>
            <a:r>
              <a:rPr dirty="0" spc="-160"/>
              <a:t> </a:t>
            </a:r>
            <a:r>
              <a:rPr dirty="0" spc="-305"/>
              <a:t>ROI</a:t>
            </a:r>
            <a:r>
              <a:rPr dirty="0" spc="-125"/>
              <a:t> </a:t>
            </a:r>
            <a:r>
              <a:rPr dirty="0" spc="-25"/>
              <a:t>of</a:t>
            </a:r>
            <a:r>
              <a:rPr dirty="0"/>
              <a:t>	</a:t>
            </a:r>
            <a:r>
              <a:rPr dirty="0" spc="170"/>
              <a:t>Preventing</a:t>
            </a:r>
            <a:r>
              <a:rPr dirty="0" spc="-80"/>
              <a:t> </a:t>
            </a:r>
            <a:r>
              <a:rPr dirty="0" spc="185"/>
              <a:t>a</a:t>
            </a:r>
            <a:r>
              <a:rPr dirty="0" spc="-185"/>
              <a:t> </a:t>
            </a:r>
            <a:r>
              <a:rPr dirty="0" spc="180"/>
              <a:t>Single</a:t>
            </a:r>
            <a:r>
              <a:rPr dirty="0" spc="25"/>
              <a:t> </a:t>
            </a:r>
            <a:r>
              <a:rPr dirty="0" spc="114"/>
              <a:t>Breach</a:t>
            </a:r>
          </a:p>
          <a:p>
            <a:pPr marL="36195" marR="5080" indent="3810">
              <a:lnSpc>
                <a:spcPts val="3520"/>
              </a:lnSpc>
              <a:spcBef>
                <a:spcPts val="1050"/>
              </a:spcBef>
            </a:pPr>
            <a:r>
              <a:rPr dirty="0" sz="3150" b="0">
                <a:latin typeface="Arial"/>
                <a:cs typeface="Arial"/>
              </a:rPr>
              <a:t>The</a:t>
            </a:r>
            <a:r>
              <a:rPr dirty="0" sz="3150" spc="-30" b="0">
                <a:latin typeface="Arial"/>
                <a:cs typeface="Arial"/>
              </a:rPr>
              <a:t> </a:t>
            </a:r>
            <a:r>
              <a:rPr dirty="0" sz="3150" spc="80" b="0">
                <a:latin typeface="Arial"/>
                <a:cs typeface="Arial"/>
              </a:rPr>
              <a:t>cost</a:t>
            </a:r>
            <a:r>
              <a:rPr dirty="0" sz="3150" spc="130" b="0">
                <a:latin typeface="Arial"/>
                <a:cs typeface="Arial"/>
              </a:rPr>
              <a:t> </a:t>
            </a:r>
            <a:r>
              <a:rPr dirty="0" sz="3150" spc="100" b="0">
                <a:latin typeface="Arial"/>
                <a:cs typeface="Arial"/>
              </a:rPr>
              <a:t>of</a:t>
            </a:r>
            <a:r>
              <a:rPr dirty="0" sz="3150" spc="55" b="0">
                <a:latin typeface="Arial"/>
                <a:cs typeface="Arial"/>
              </a:rPr>
              <a:t> </a:t>
            </a:r>
            <a:r>
              <a:rPr dirty="0" sz="3150" spc="80" b="0">
                <a:latin typeface="Arial"/>
                <a:cs typeface="Arial"/>
              </a:rPr>
              <a:t>configuration-</a:t>
            </a:r>
            <a:r>
              <a:rPr dirty="0" sz="3150" spc="85" b="0">
                <a:latin typeface="Arial"/>
                <a:cs typeface="Arial"/>
              </a:rPr>
              <a:t>only</a:t>
            </a:r>
            <a:r>
              <a:rPr dirty="0" sz="3150" spc="-35" b="0">
                <a:latin typeface="Arial"/>
                <a:cs typeface="Arial"/>
              </a:rPr>
              <a:t> </a:t>
            </a:r>
            <a:r>
              <a:rPr dirty="0" sz="3150" b="0">
                <a:latin typeface="Arial"/>
                <a:cs typeface="Arial"/>
              </a:rPr>
              <a:t>hardening</a:t>
            </a:r>
            <a:r>
              <a:rPr dirty="0" sz="3150" spc="-20" b="0">
                <a:latin typeface="Arial"/>
                <a:cs typeface="Arial"/>
              </a:rPr>
              <a:t> </a:t>
            </a:r>
            <a:r>
              <a:rPr dirty="0" sz="3150" b="0">
                <a:latin typeface="Arial"/>
                <a:cs typeface="Arial"/>
              </a:rPr>
              <a:t>is</a:t>
            </a:r>
            <a:r>
              <a:rPr dirty="0" sz="3150" spc="75" b="0">
                <a:latin typeface="Arial"/>
                <a:cs typeface="Arial"/>
              </a:rPr>
              <a:t> </a:t>
            </a:r>
            <a:r>
              <a:rPr dirty="0" sz="3150" b="0">
                <a:latin typeface="Arial"/>
                <a:cs typeface="Arial"/>
              </a:rPr>
              <a:t>measured</a:t>
            </a:r>
            <a:r>
              <a:rPr dirty="0" sz="3150" spc="65" b="0">
                <a:latin typeface="Arial"/>
                <a:cs typeface="Arial"/>
              </a:rPr>
              <a:t> </a:t>
            </a:r>
            <a:r>
              <a:rPr dirty="0" sz="3150" spc="125" b="0">
                <a:latin typeface="Arial"/>
                <a:cs typeface="Arial"/>
              </a:rPr>
              <a:t>not</a:t>
            </a:r>
            <a:r>
              <a:rPr dirty="0" sz="3150" spc="-60" b="0">
                <a:latin typeface="Arial"/>
                <a:cs typeface="Arial"/>
              </a:rPr>
              <a:t> </a:t>
            </a:r>
            <a:r>
              <a:rPr dirty="0" sz="3150" spc="130" b="0">
                <a:latin typeface="Arial"/>
                <a:cs typeface="Arial"/>
              </a:rPr>
              <a:t>by</a:t>
            </a:r>
            <a:r>
              <a:rPr dirty="0" sz="3150" spc="-95" b="0">
                <a:latin typeface="Arial"/>
                <a:cs typeface="Arial"/>
              </a:rPr>
              <a:t> </a:t>
            </a:r>
            <a:r>
              <a:rPr dirty="0" sz="3150" spc="80" b="0">
                <a:latin typeface="Arial"/>
                <a:cs typeface="Arial"/>
              </a:rPr>
              <a:t>its</a:t>
            </a:r>
            <a:r>
              <a:rPr dirty="0" sz="3150" spc="15" b="0">
                <a:latin typeface="Arial"/>
                <a:cs typeface="Arial"/>
              </a:rPr>
              <a:t> </a:t>
            </a:r>
            <a:r>
              <a:rPr dirty="0" sz="3150" b="0">
                <a:latin typeface="Arial"/>
                <a:cs typeface="Arial"/>
              </a:rPr>
              <a:t>license</a:t>
            </a:r>
            <a:r>
              <a:rPr dirty="0" sz="3150" spc="-15" b="0">
                <a:latin typeface="Arial"/>
                <a:cs typeface="Arial"/>
              </a:rPr>
              <a:t> </a:t>
            </a:r>
            <a:r>
              <a:rPr dirty="0" sz="3150" spc="40" b="0">
                <a:latin typeface="Arial"/>
                <a:cs typeface="Arial"/>
              </a:rPr>
              <a:t>fee, </a:t>
            </a:r>
            <a:r>
              <a:rPr dirty="0" sz="3150" spc="125" b="0">
                <a:latin typeface="Arial"/>
                <a:cs typeface="Arial"/>
              </a:rPr>
              <a:t>but</a:t>
            </a:r>
            <a:r>
              <a:rPr dirty="0" sz="3150" spc="-110" b="0">
                <a:latin typeface="Arial"/>
                <a:cs typeface="Arial"/>
              </a:rPr>
              <a:t> </a:t>
            </a:r>
            <a:r>
              <a:rPr dirty="0" sz="3150" spc="130" b="0">
                <a:latin typeface="Arial"/>
                <a:cs typeface="Arial"/>
              </a:rPr>
              <a:t>by</a:t>
            </a:r>
            <a:r>
              <a:rPr dirty="0" sz="3150" spc="-75" b="0">
                <a:latin typeface="Arial"/>
                <a:cs typeface="Arial"/>
              </a:rPr>
              <a:t> </a:t>
            </a:r>
            <a:r>
              <a:rPr dirty="0" sz="3150" spc="140" b="0">
                <a:latin typeface="Arial"/>
                <a:cs typeface="Arial"/>
              </a:rPr>
              <a:t>the</a:t>
            </a:r>
            <a:r>
              <a:rPr dirty="0" sz="3150" spc="-235" b="0">
                <a:latin typeface="Arial"/>
                <a:cs typeface="Arial"/>
              </a:rPr>
              <a:t> </a:t>
            </a:r>
            <a:r>
              <a:rPr dirty="0" sz="3150" spc="80" b="0">
                <a:latin typeface="Arial"/>
                <a:cs typeface="Arial"/>
              </a:rPr>
              <a:t>cost </a:t>
            </a:r>
            <a:r>
              <a:rPr dirty="0" sz="3150" spc="100" b="0">
                <a:latin typeface="Arial"/>
                <a:cs typeface="Arial"/>
              </a:rPr>
              <a:t>of</a:t>
            </a:r>
            <a:r>
              <a:rPr dirty="0" sz="3150" spc="-15" b="0">
                <a:latin typeface="Arial"/>
                <a:cs typeface="Arial"/>
              </a:rPr>
              <a:t> </a:t>
            </a:r>
            <a:r>
              <a:rPr dirty="0" sz="3150" spc="140" b="0">
                <a:latin typeface="Arial"/>
                <a:cs typeface="Arial"/>
              </a:rPr>
              <a:t>the</a:t>
            </a:r>
            <a:r>
              <a:rPr dirty="0" sz="3150" spc="-210" b="0">
                <a:latin typeface="Arial"/>
                <a:cs typeface="Arial"/>
              </a:rPr>
              <a:t> </a:t>
            </a:r>
            <a:r>
              <a:rPr dirty="0" sz="3150" b="0">
                <a:latin typeface="Arial"/>
                <a:cs typeface="Arial"/>
              </a:rPr>
              <a:t>breach</a:t>
            </a:r>
            <a:r>
              <a:rPr dirty="0" sz="3150" spc="-55" b="0">
                <a:latin typeface="Arial"/>
                <a:cs typeface="Arial"/>
              </a:rPr>
              <a:t> </a:t>
            </a:r>
            <a:r>
              <a:rPr dirty="0" sz="3150" b="0">
                <a:latin typeface="Arial"/>
                <a:cs typeface="Arial"/>
              </a:rPr>
              <a:t>it</a:t>
            </a:r>
            <a:r>
              <a:rPr dirty="0" sz="3150" spc="250" b="0">
                <a:latin typeface="Arial"/>
                <a:cs typeface="Arial"/>
              </a:rPr>
              <a:t> </a:t>
            </a:r>
            <a:r>
              <a:rPr dirty="0" sz="3150" spc="55" b="0">
                <a:latin typeface="Arial"/>
                <a:cs typeface="Arial"/>
              </a:rPr>
              <a:t>cannot</a:t>
            </a:r>
            <a:r>
              <a:rPr dirty="0" sz="3150" spc="65" b="0">
                <a:latin typeface="Arial"/>
                <a:cs typeface="Arial"/>
              </a:rPr>
              <a:t> </a:t>
            </a:r>
            <a:r>
              <a:rPr dirty="0" sz="3150" spc="70" b="0">
                <a:latin typeface="Arial"/>
                <a:cs typeface="Arial"/>
              </a:rPr>
              <a:t>prevent</a:t>
            </a:r>
            <a:r>
              <a:rPr dirty="0" sz="3150" spc="70" b="0">
                <a:solidFill>
                  <a:srgbClr val="262623"/>
                </a:solidFill>
                <a:latin typeface="Arial"/>
                <a:cs typeface="Arial"/>
              </a:rPr>
              <a:t>.</a:t>
            </a:r>
            <a:endParaRPr sz="31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147783" y="9418922"/>
            <a:ext cx="125476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70">
                <a:solidFill>
                  <a:srgbClr val="31312F"/>
                </a:solidFill>
                <a:latin typeface="Arial"/>
                <a:cs typeface="Arial"/>
              </a:rPr>
              <a:t>I'S\</a:t>
            </a:r>
            <a:r>
              <a:rPr dirty="0" sz="1300" spc="-2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1211F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4898" y="2566326"/>
            <a:ext cx="6960870" cy="16217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3410"/>
              </a:lnSpc>
              <a:spcBef>
                <a:spcPts val="114"/>
              </a:spcBef>
            </a:pPr>
            <a:r>
              <a:rPr dirty="0" sz="3000" spc="50" b="1">
                <a:solidFill>
                  <a:srgbClr val="050503"/>
                </a:solidFill>
                <a:latin typeface="Arial"/>
                <a:cs typeface="Arial"/>
              </a:rPr>
              <a:t>The</a:t>
            </a:r>
            <a:r>
              <a:rPr dirty="0" sz="3000" spc="-290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3000" spc="-25" b="1">
                <a:solidFill>
                  <a:srgbClr val="050503"/>
                </a:solidFill>
                <a:latin typeface="Arial"/>
                <a:cs typeface="Arial"/>
              </a:rPr>
              <a:t>Cost</a:t>
            </a:r>
            <a:r>
              <a:rPr dirty="0" sz="3000" spc="-125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050503"/>
                </a:solidFill>
                <a:latin typeface="Arial"/>
                <a:cs typeface="Arial"/>
              </a:rPr>
              <a:t>of</a:t>
            </a:r>
            <a:r>
              <a:rPr dirty="0" sz="3000" spc="-165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3000" spc="130" b="1">
                <a:solidFill>
                  <a:srgbClr val="050503"/>
                </a:solidFill>
                <a:latin typeface="Arial"/>
                <a:cs typeface="Arial"/>
              </a:rPr>
              <a:t>a</a:t>
            </a:r>
            <a:r>
              <a:rPr dirty="0" sz="3000" spc="-320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3000" spc="-40" b="1">
                <a:solidFill>
                  <a:srgbClr val="050503"/>
                </a:solidFill>
                <a:latin typeface="Arial"/>
                <a:cs typeface="Arial"/>
              </a:rPr>
              <a:t>Successful</a:t>
            </a:r>
            <a:r>
              <a:rPr dirty="0" sz="3000" spc="-140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3000" spc="-60" b="1">
                <a:solidFill>
                  <a:srgbClr val="050503"/>
                </a:solidFill>
                <a:latin typeface="Arial"/>
                <a:cs typeface="Arial"/>
              </a:rPr>
              <a:t>Kernel</a:t>
            </a:r>
            <a:r>
              <a:rPr dirty="0" sz="3000" spc="-260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3000" spc="-30" b="1">
                <a:solidFill>
                  <a:srgbClr val="050503"/>
                </a:solidFill>
                <a:latin typeface="Arial"/>
                <a:cs typeface="Arial"/>
              </a:rPr>
              <a:t>Exploit</a:t>
            </a:r>
            <a:endParaRPr sz="3000">
              <a:latin typeface="Arial"/>
              <a:cs typeface="Arial"/>
            </a:endParaRPr>
          </a:p>
          <a:p>
            <a:pPr marL="34925">
              <a:lnSpc>
                <a:spcPts val="3410"/>
              </a:lnSpc>
            </a:pPr>
            <a:r>
              <a:rPr dirty="0" sz="3000" spc="-60" b="1">
                <a:solidFill>
                  <a:srgbClr val="050503"/>
                </a:solidFill>
                <a:latin typeface="Arial"/>
                <a:cs typeface="Arial"/>
              </a:rPr>
              <a:t>{on</a:t>
            </a:r>
            <a:r>
              <a:rPr dirty="0" sz="3000" spc="-340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3000" spc="130" b="1">
                <a:solidFill>
                  <a:srgbClr val="050503"/>
                </a:solidFill>
                <a:latin typeface="Arial"/>
                <a:cs typeface="Arial"/>
              </a:rPr>
              <a:t>a</a:t>
            </a:r>
            <a:r>
              <a:rPr dirty="0" sz="3000" spc="-265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050503"/>
                </a:solidFill>
                <a:latin typeface="Arial"/>
                <a:cs typeface="Arial"/>
              </a:rPr>
              <a:t>CIS-</a:t>
            </a:r>
            <a:r>
              <a:rPr dirty="0" sz="3000" b="1">
                <a:solidFill>
                  <a:srgbClr val="050503"/>
                </a:solidFill>
                <a:latin typeface="Arial"/>
                <a:cs typeface="Arial"/>
              </a:rPr>
              <a:t>Hardened</a:t>
            </a:r>
            <a:r>
              <a:rPr dirty="0" sz="3000" spc="100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050503"/>
                </a:solidFill>
                <a:latin typeface="Arial"/>
                <a:cs typeface="Arial"/>
              </a:rPr>
              <a:t>System)</a:t>
            </a:r>
            <a:endParaRPr sz="3000">
              <a:latin typeface="Arial"/>
              <a:cs typeface="Arial"/>
            </a:endParaRPr>
          </a:p>
          <a:p>
            <a:pPr algn="ctr" marR="4753610">
              <a:lnSpc>
                <a:spcPts val="2305"/>
              </a:lnSpc>
              <a:spcBef>
                <a:spcPts val="1120"/>
              </a:spcBef>
            </a:pPr>
            <a:r>
              <a:rPr dirty="0" sz="2000" spc="-20">
                <a:solidFill>
                  <a:srgbClr val="262623"/>
                </a:solidFill>
                <a:latin typeface="Arial"/>
                <a:cs typeface="Arial"/>
              </a:rPr>
              <a:t>Incident</a:t>
            </a:r>
            <a:r>
              <a:rPr dirty="0" sz="2000" spc="-9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62623"/>
                </a:solidFill>
                <a:latin typeface="Arial"/>
                <a:cs typeface="Arial"/>
              </a:rPr>
              <a:t>Response</a:t>
            </a:r>
            <a:endParaRPr sz="2000">
              <a:latin typeface="Arial"/>
              <a:cs typeface="Arial"/>
            </a:endParaRPr>
          </a:p>
          <a:p>
            <a:pPr algn="ctr" marR="4755515">
              <a:lnSpc>
                <a:spcPts val="2305"/>
              </a:lnSpc>
            </a:pPr>
            <a:r>
              <a:rPr dirty="0" sz="1950" spc="-110">
                <a:solidFill>
                  <a:srgbClr val="262623"/>
                </a:solidFill>
                <a:latin typeface="Arial"/>
                <a:cs typeface="Arial"/>
              </a:rPr>
              <a:t>&amp;</a:t>
            </a:r>
            <a:r>
              <a:rPr dirty="0" sz="1950" spc="-114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62623"/>
                </a:solidFill>
                <a:latin typeface="Arial"/>
                <a:cs typeface="Arial"/>
              </a:rPr>
              <a:t>Forensics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05603" y="4264223"/>
            <a:ext cx="1695450" cy="61277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64135" marR="5080" indent="-52069">
              <a:lnSpc>
                <a:spcPts val="2210"/>
              </a:lnSpc>
              <a:spcBef>
                <a:spcPts val="340"/>
              </a:spcBef>
            </a:pPr>
            <a:r>
              <a:rPr dirty="0" sz="2000" spc="-50">
                <a:solidFill>
                  <a:srgbClr val="262623"/>
                </a:solidFill>
                <a:latin typeface="Arial"/>
                <a:cs typeface="Arial"/>
              </a:rPr>
              <a:t>System</a:t>
            </a:r>
            <a:r>
              <a:rPr dirty="0" sz="2000" spc="-19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262623"/>
                </a:solidFill>
                <a:latin typeface="Arial"/>
                <a:cs typeface="Arial"/>
              </a:rPr>
              <a:t>Rebuild </a:t>
            </a:r>
            <a:r>
              <a:rPr dirty="0" sz="2000" spc="-35">
                <a:solidFill>
                  <a:srgbClr val="262623"/>
                </a:solidFill>
                <a:latin typeface="Arial"/>
                <a:cs typeface="Arial"/>
              </a:rPr>
              <a:t>&amp;</a:t>
            </a:r>
            <a:r>
              <a:rPr dirty="0" sz="2000" spc="-229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262623"/>
                </a:solidFill>
                <a:latin typeface="Arial"/>
                <a:cs typeface="Arial"/>
              </a:rPr>
              <a:t>Remediation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2372" y="5030192"/>
            <a:ext cx="213995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64160">
              <a:lnSpc>
                <a:spcPct val="100000"/>
              </a:lnSpc>
              <a:spcBef>
                <a:spcPts val="110"/>
              </a:spcBef>
            </a:pPr>
            <a:r>
              <a:rPr dirty="0" sz="2100" spc="195">
                <a:solidFill>
                  <a:srgbClr val="262623"/>
                </a:solidFill>
                <a:latin typeface="Arial"/>
                <a:cs typeface="Arial"/>
              </a:rPr>
              <a:t>$50k-</a:t>
            </a:r>
            <a:r>
              <a:rPr dirty="0" sz="2100" spc="-114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55">
                <a:solidFill>
                  <a:srgbClr val="262623"/>
                </a:solidFill>
                <a:latin typeface="Arial"/>
                <a:cs typeface="Arial"/>
              </a:rPr>
              <a:t>$200k</a:t>
            </a:r>
            <a:endParaRPr sz="2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75283" y="4940761"/>
            <a:ext cx="2139950" cy="1391920"/>
          </a:xfrm>
          <a:prstGeom prst="rect">
            <a:avLst/>
          </a:prstGeom>
          <a:ln w="12736">
            <a:solidFill>
              <a:srgbClr val="000000"/>
            </a:solidFill>
          </a:ln>
        </p:spPr>
        <p:txBody>
          <a:bodyPr wrap="square" lIns="0" tIns="2051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14"/>
              </a:spcBef>
            </a:pPr>
            <a:endParaRPr sz="2100">
              <a:latin typeface="Times New Roman"/>
              <a:cs typeface="Times New Roman"/>
            </a:endParaRPr>
          </a:p>
          <a:p>
            <a:pPr marL="283210">
              <a:lnSpc>
                <a:spcPct val="100000"/>
              </a:lnSpc>
            </a:pPr>
            <a:r>
              <a:rPr dirty="0" sz="2100" spc="195">
                <a:solidFill>
                  <a:srgbClr val="262623"/>
                </a:solidFill>
                <a:latin typeface="Arial"/>
                <a:cs typeface="Arial"/>
              </a:rPr>
              <a:t>$20k-</a:t>
            </a:r>
            <a:r>
              <a:rPr dirty="0" sz="2100" spc="-114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62623"/>
                </a:solidFill>
                <a:latin typeface="Arial"/>
                <a:cs typeface="Arial"/>
              </a:rPr>
              <a:t>$100k</a:t>
            </a:r>
            <a:endParaRPr sz="2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80936" y="4966360"/>
            <a:ext cx="2179955" cy="118999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L="304165" marR="234950" indent="-15240">
              <a:lnSpc>
                <a:spcPts val="2110"/>
              </a:lnSpc>
              <a:spcBef>
                <a:spcPts val="420"/>
              </a:spcBef>
            </a:pPr>
            <a:r>
              <a:rPr dirty="0" sz="2000" spc="-10">
                <a:solidFill>
                  <a:srgbClr val="262623"/>
                </a:solidFill>
                <a:latin typeface="Arial"/>
                <a:cs typeface="Arial"/>
              </a:rPr>
              <a:t>Emergency </a:t>
            </a:r>
            <a:r>
              <a:rPr dirty="0" u="heavy" sz="2000" spc="-50">
                <a:solidFill>
                  <a:srgbClr val="262623"/>
                </a:solidFill>
                <a:uFill>
                  <a:solidFill>
                    <a:srgbClr val="383836"/>
                  </a:solidFill>
                </a:uFill>
                <a:latin typeface="Arial"/>
                <a:cs typeface="Arial"/>
              </a:rPr>
              <a:t>Patching</a:t>
            </a:r>
            <a:r>
              <a:rPr dirty="0" u="heavy" sz="2000" spc="-65">
                <a:solidFill>
                  <a:srgbClr val="262623"/>
                </a:solidFill>
                <a:uFill>
                  <a:solidFill>
                    <a:srgbClr val="383836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000" spc="-40">
                <a:solidFill>
                  <a:srgbClr val="383836"/>
                </a:solidFill>
                <a:uFill>
                  <a:solidFill>
                    <a:srgbClr val="383836"/>
                  </a:solidFill>
                </a:uFill>
                <a:latin typeface="Arial"/>
                <a:cs typeface="Arial"/>
              </a:rPr>
              <a:t>Labor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105"/>
              </a:spcBef>
              <a:tabLst>
                <a:tab pos="403225" algn="l"/>
                <a:tab pos="2075814" algn="l"/>
              </a:tabLst>
            </a:pPr>
            <a:r>
              <a:rPr dirty="0" u="heavy" sz="2100">
                <a:solidFill>
                  <a:srgbClr val="6B3F3A"/>
                </a:solidFill>
                <a:uFill>
                  <a:solidFill>
                    <a:srgbClr val="6B3F3A"/>
                  </a:solidFill>
                </a:uFill>
                <a:latin typeface="Arial"/>
                <a:cs typeface="Arial"/>
              </a:rPr>
              <a:t>[ </a:t>
            </a:r>
            <a:r>
              <a:rPr dirty="0" sz="2100">
                <a:solidFill>
                  <a:srgbClr val="6B3F3A"/>
                </a:solidFill>
                <a:latin typeface="Arial"/>
                <a:cs typeface="Arial"/>
              </a:rPr>
              <a:t>	</a:t>
            </a:r>
            <a:r>
              <a:rPr dirty="0" u="heavy" sz="2100">
                <a:solidFill>
                  <a:srgbClr val="262623"/>
                </a:solidFill>
                <a:uFill>
                  <a:solidFill>
                    <a:srgbClr val="262623"/>
                  </a:solidFill>
                </a:uFill>
                <a:latin typeface="Arial"/>
                <a:cs typeface="Arial"/>
              </a:rPr>
              <a:t>$10k</a:t>
            </a:r>
            <a:r>
              <a:rPr dirty="0" u="heavy" sz="2100" spc="-45">
                <a:solidFill>
                  <a:srgbClr val="262623"/>
                </a:solidFill>
                <a:uFill>
                  <a:solidFill>
                    <a:srgbClr val="262623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100">
                <a:solidFill>
                  <a:srgbClr val="383836"/>
                </a:solidFill>
                <a:uFill>
                  <a:solidFill>
                    <a:srgbClr val="262623"/>
                  </a:solidFill>
                </a:uFill>
                <a:latin typeface="Arial"/>
                <a:cs typeface="Arial"/>
              </a:rPr>
              <a:t>-</a:t>
            </a:r>
            <a:r>
              <a:rPr dirty="0" u="heavy" sz="2100" spc="25">
                <a:solidFill>
                  <a:srgbClr val="383836"/>
                </a:solidFill>
                <a:uFill>
                  <a:solidFill>
                    <a:srgbClr val="262623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100" spc="35">
                <a:solidFill>
                  <a:srgbClr val="262623"/>
                </a:solidFill>
                <a:uFill>
                  <a:solidFill>
                    <a:srgbClr val="262623"/>
                  </a:solidFill>
                </a:uFill>
                <a:latin typeface="Arial"/>
                <a:cs typeface="Arial"/>
              </a:rPr>
              <a:t>$50k</a:t>
            </a:r>
            <a:r>
              <a:rPr dirty="0" sz="2100">
                <a:solidFill>
                  <a:srgbClr val="262623"/>
                </a:solidFill>
                <a:latin typeface="Arial"/>
                <a:cs typeface="Arial"/>
              </a:rPr>
              <a:t>	</a:t>
            </a:r>
            <a:r>
              <a:rPr dirty="0" u="heavy" sz="2100" spc="-50">
                <a:solidFill>
                  <a:srgbClr val="6B3F3A"/>
                </a:solidFill>
                <a:uFill>
                  <a:solidFill>
                    <a:srgbClr val="6B3F3A"/>
                  </a:solidFill>
                </a:uFill>
                <a:latin typeface="Arial"/>
                <a:cs typeface="Arial"/>
              </a:rPr>
              <a:t>]</a:t>
            </a:r>
            <a:endParaRPr sz="2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6004" y="6498230"/>
            <a:ext cx="7438390" cy="996315"/>
          </a:xfrm>
          <a:prstGeom prst="rect">
            <a:avLst/>
          </a:prstGeom>
          <a:ln w="12736">
            <a:solidFill>
              <a:srgbClr val="000000"/>
            </a:solidFill>
          </a:ln>
        </p:spPr>
        <p:txBody>
          <a:bodyPr wrap="square" lIns="0" tIns="141605" rIns="0" bIns="0" rtlCol="0" vert="horz">
            <a:spAutoFit/>
          </a:bodyPr>
          <a:lstStyle/>
          <a:p>
            <a:pPr algn="ctr" marL="24130">
              <a:lnSpc>
                <a:spcPts val="2625"/>
              </a:lnSpc>
              <a:spcBef>
                <a:spcPts val="1115"/>
              </a:spcBef>
            </a:pPr>
            <a:r>
              <a:rPr dirty="0" sz="2200" spc="-95" b="1">
                <a:solidFill>
                  <a:srgbClr val="050503"/>
                </a:solidFill>
                <a:latin typeface="Arial"/>
                <a:cs typeface="Arial"/>
              </a:rPr>
              <a:t>Total</a:t>
            </a:r>
            <a:r>
              <a:rPr dirty="0" sz="2200" spc="-165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2200" spc="-50" b="1">
                <a:solidFill>
                  <a:srgbClr val="050503"/>
                </a:solidFill>
                <a:latin typeface="Arial"/>
                <a:cs typeface="Arial"/>
              </a:rPr>
              <a:t>Direct</a:t>
            </a:r>
            <a:r>
              <a:rPr dirty="0" sz="2200" spc="-200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050503"/>
                </a:solidFill>
                <a:latin typeface="Arial"/>
                <a:cs typeface="Arial"/>
              </a:rPr>
              <a:t>Cost</a:t>
            </a:r>
            <a:endParaRPr sz="2200">
              <a:latin typeface="Arial"/>
              <a:cs typeface="Arial"/>
            </a:endParaRPr>
          </a:p>
          <a:p>
            <a:pPr algn="ctr" marL="16510">
              <a:lnSpc>
                <a:spcPts val="2505"/>
              </a:lnSpc>
            </a:pPr>
            <a:r>
              <a:rPr dirty="0" sz="2100" spc="55">
                <a:solidFill>
                  <a:srgbClr val="262623"/>
                </a:solidFill>
                <a:latin typeface="Arial"/>
                <a:cs typeface="Arial"/>
              </a:rPr>
              <a:t>$80k</a:t>
            </a:r>
            <a:r>
              <a:rPr dirty="0" sz="2100" spc="6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62623"/>
                </a:solidFill>
                <a:latin typeface="Arial"/>
                <a:cs typeface="Arial"/>
              </a:rPr>
              <a:t>-</a:t>
            </a:r>
            <a:r>
              <a:rPr dirty="0" sz="2100" spc="9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100" spc="40">
                <a:solidFill>
                  <a:srgbClr val="262623"/>
                </a:solidFill>
                <a:latin typeface="Arial"/>
                <a:cs typeface="Arial"/>
              </a:rPr>
              <a:t>$350k+</a:t>
            </a:r>
            <a:endParaRPr sz="2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86851" y="2553559"/>
            <a:ext cx="6151245" cy="13658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30" b="1">
                <a:solidFill>
                  <a:srgbClr val="050503"/>
                </a:solidFill>
                <a:latin typeface="Arial"/>
                <a:cs typeface="Arial"/>
              </a:rPr>
              <a:t>The</a:t>
            </a:r>
            <a:r>
              <a:rPr dirty="0" sz="3000" spc="-350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3000" spc="-100" b="1">
                <a:solidFill>
                  <a:srgbClr val="050503"/>
                </a:solidFill>
                <a:latin typeface="Arial"/>
                <a:cs typeface="Arial"/>
              </a:rPr>
              <a:t>RLC-</a:t>
            </a:r>
            <a:r>
              <a:rPr dirty="0" sz="3000" spc="-114" b="1">
                <a:solidFill>
                  <a:srgbClr val="050503"/>
                </a:solidFill>
                <a:latin typeface="Arial"/>
                <a:cs typeface="Arial"/>
              </a:rPr>
              <a:t>H</a:t>
            </a:r>
            <a:r>
              <a:rPr dirty="0" sz="3000" spc="-160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3000" spc="-100" b="1">
                <a:solidFill>
                  <a:srgbClr val="050503"/>
                </a:solidFill>
                <a:latin typeface="Arial"/>
                <a:cs typeface="Arial"/>
              </a:rPr>
              <a:t>Value</a:t>
            </a:r>
            <a:r>
              <a:rPr dirty="0" sz="3000" spc="-254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3000" spc="-25" b="1">
                <a:solidFill>
                  <a:srgbClr val="050503"/>
                </a:solidFill>
                <a:latin typeface="Arial"/>
                <a:cs typeface="Arial"/>
              </a:rPr>
              <a:t>Proposition</a:t>
            </a:r>
            <a:endParaRPr sz="3000">
              <a:latin typeface="Arial"/>
              <a:cs typeface="Arial"/>
            </a:endParaRPr>
          </a:p>
          <a:p>
            <a:pPr marL="3162935" marR="5080" indent="481965">
              <a:lnSpc>
                <a:spcPts val="2110"/>
              </a:lnSpc>
              <a:spcBef>
                <a:spcPts val="2735"/>
              </a:spcBef>
            </a:pPr>
            <a:r>
              <a:rPr dirty="0" sz="2000" spc="-70" b="1">
                <a:solidFill>
                  <a:srgbClr val="050503"/>
                </a:solidFill>
                <a:latin typeface="Arial"/>
                <a:cs typeface="Arial"/>
              </a:rPr>
              <a:t>Return</a:t>
            </a:r>
            <a:r>
              <a:rPr dirty="0" sz="2000" spc="-70" b="1">
                <a:solidFill>
                  <a:srgbClr val="383836"/>
                </a:solidFill>
                <a:latin typeface="Arial"/>
                <a:cs typeface="Arial"/>
              </a:rPr>
              <a:t>:</a:t>
            </a:r>
            <a:r>
              <a:rPr dirty="0" sz="2000" spc="-270" b="1">
                <a:solidFill>
                  <a:srgbClr val="383836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262623"/>
                </a:solidFill>
                <a:latin typeface="Arial"/>
                <a:cs typeface="Arial"/>
              </a:rPr>
              <a:t>Avoiding</a:t>
            </a:r>
            <a:r>
              <a:rPr dirty="0" sz="2000" spc="-50">
                <a:solidFill>
                  <a:srgbClr val="262623"/>
                </a:solidFill>
                <a:latin typeface="Arial"/>
                <a:cs typeface="Arial"/>
              </a:rPr>
              <a:t> a </a:t>
            </a:r>
            <a:r>
              <a:rPr dirty="0" sz="2000" spc="-30">
                <a:solidFill>
                  <a:srgbClr val="262623"/>
                </a:solidFill>
                <a:latin typeface="Arial"/>
                <a:cs typeface="Arial"/>
              </a:rPr>
              <a:t>multi-</a:t>
            </a:r>
            <a:r>
              <a:rPr dirty="0" sz="2000" spc="-10">
                <a:solidFill>
                  <a:srgbClr val="262623"/>
                </a:solidFill>
                <a:latin typeface="Arial"/>
                <a:cs typeface="Arial"/>
              </a:rPr>
              <a:t>million</a:t>
            </a:r>
            <a:r>
              <a:rPr dirty="0" sz="2000" spc="-30">
                <a:solidFill>
                  <a:srgbClr val="262623"/>
                </a:solidFill>
                <a:latin typeface="Arial"/>
                <a:cs typeface="Arial"/>
              </a:rPr>
              <a:t> dollar</a:t>
            </a:r>
            <a:r>
              <a:rPr dirty="0" sz="2000" spc="-16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62623"/>
                </a:solidFill>
                <a:latin typeface="Arial"/>
                <a:cs typeface="Arial"/>
              </a:rPr>
              <a:t>incident.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752440" y="4442949"/>
            <a:ext cx="2249170" cy="8680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22225">
              <a:lnSpc>
                <a:spcPts val="2255"/>
              </a:lnSpc>
              <a:spcBef>
                <a:spcPts val="110"/>
              </a:spcBef>
            </a:pPr>
            <a:r>
              <a:rPr dirty="0" sz="2000" spc="-10" b="1">
                <a:solidFill>
                  <a:srgbClr val="050503"/>
                </a:solidFill>
                <a:latin typeface="Arial"/>
                <a:cs typeface="Arial"/>
              </a:rPr>
              <a:t>Inve</a:t>
            </a:r>
            <a:r>
              <a:rPr dirty="0" sz="2000" spc="-10" b="1">
                <a:solidFill>
                  <a:srgbClr val="262623"/>
                </a:solidFill>
                <a:latin typeface="Arial"/>
                <a:cs typeface="Arial"/>
              </a:rPr>
              <a:t>s</a:t>
            </a:r>
            <a:r>
              <a:rPr dirty="0" sz="2000" spc="-10" b="1">
                <a:solidFill>
                  <a:srgbClr val="050503"/>
                </a:solidFill>
                <a:latin typeface="Arial"/>
                <a:cs typeface="Arial"/>
              </a:rPr>
              <a:t>tment</a:t>
            </a:r>
            <a:r>
              <a:rPr dirty="0" sz="2000" spc="-10" b="1">
                <a:solidFill>
                  <a:srgbClr val="262623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algn="ctr" marL="12065" marR="5080" indent="22225">
              <a:lnSpc>
                <a:spcPts val="2110"/>
              </a:lnSpc>
              <a:spcBef>
                <a:spcPts val="165"/>
              </a:spcBef>
            </a:pPr>
            <a:r>
              <a:rPr dirty="0" sz="2000" spc="-70">
                <a:solidFill>
                  <a:srgbClr val="262623"/>
                </a:solidFill>
                <a:latin typeface="Arial"/>
                <a:cs typeface="Arial"/>
              </a:rPr>
              <a:t>The</a:t>
            </a:r>
            <a:r>
              <a:rPr dirty="0" sz="2000" spc="-21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262623"/>
                </a:solidFill>
                <a:latin typeface="Arial"/>
                <a:cs typeface="Arial"/>
              </a:rPr>
              <a:t>premium </a:t>
            </a:r>
            <a:r>
              <a:rPr dirty="0" sz="2000" spc="-25">
                <a:solidFill>
                  <a:srgbClr val="262623"/>
                </a:solidFill>
                <a:latin typeface="Arial"/>
                <a:cs typeface="Arial"/>
              </a:rPr>
              <a:t>for proactive</a:t>
            </a:r>
            <a:r>
              <a:rPr dirty="0" sz="2000" spc="-8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262623"/>
                </a:solidFill>
                <a:latin typeface="Arial"/>
                <a:cs typeface="Arial"/>
              </a:rPr>
              <a:t>hardening.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6986" y="7902575"/>
            <a:ext cx="3203575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55" b="1">
                <a:solidFill>
                  <a:srgbClr val="050503"/>
                </a:solidFill>
                <a:latin typeface="Arial"/>
                <a:cs typeface="Arial"/>
              </a:rPr>
              <a:t>Indirect</a:t>
            </a:r>
            <a:r>
              <a:rPr dirty="0" sz="2200" spc="-170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2100" spc="125">
                <a:solidFill>
                  <a:srgbClr val="050503"/>
                </a:solidFill>
                <a:latin typeface="Arial"/>
                <a:cs typeface="Arial"/>
              </a:rPr>
              <a:t>&amp;</a:t>
            </a:r>
            <a:r>
              <a:rPr dirty="0" sz="2100" spc="-26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2200" spc="-120" b="1">
                <a:solidFill>
                  <a:srgbClr val="050503"/>
                </a:solidFill>
                <a:latin typeface="Arial"/>
                <a:cs typeface="Arial"/>
              </a:rPr>
              <a:t>Business </a:t>
            </a:r>
            <a:r>
              <a:rPr dirty="0" sz="2200" spc="-50" b="1">
                <a:solidFill>
                  <a:srgbClr val="050503"/>
                </a:solidFill>
                <a:latin typeface="Arial"/>
                <a:cs typeface="Arial"/>
              </a:rPr>
              <a:t>Costs</a:t>
            </a:r>
            <a:endParaRPr sz="2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2288" y="8336623"/>
            <a:ext cx="512445" cy="6921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615"/>
              </a:lnSpc>
              <a:spcBef>
                <a:spcPts val="110"/>
              </a:spcBef>
            </a:pPr>
            <a:r>
              <a:rPr dirty="0" sz="2600" spc="-25">
                <a:solidFill>
                  <a:srgbClr val="262623"/>
                </a:solidFill>
                <a:latin typeface="Times New Roman"/>
                <a:cs typeface="Times New Roman"/>
              </a:rPr>
              <a:t>IL\</a:t>
            </a:r>
            <a:endParaRPr sz="2600">
              <a:latin typeface="Times New Roman"/>
              <a:cs typeface="Times New Roman"/>
            </a:endParaRPr>
          </a:p>
          <a:p>
            <a:pPr marL="20320">
              <a:lnSpc>
                <a:spcPts val="2615"/>
              </a:lnSpc>
            </a:pPr>
            <a:r>
              <a:rPr dirty="0" sz="2600" spc="-25">
                <a:solidFill>
                  <a:srgbClr val="262623"/>
                </a:solidFill>
                <a:latin typeface="Times New Roman"/>
                <a:cs typeface="Times New Roman"/>
              </a:rPr>
              <a:t>\.@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68237" y="8413220"/>
            <a:ext cx="1454150" cy="6000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255"/>
              </a:lnSpc>
              <a:spcBef>
                <a:spcPts val="110"/>
              </a:spcBef>
            </a:pPr>
            <a:r>
              <a:rPr dirty="0" sz="2000" spc="-10">
                <a:solidFill>
                  <a:srgbClr val="262623"/>
                </a:solidFill>
                <a:latin typeface="Arial"/>
                <a:cs typeface="Arial"/>
              </a:rPr>
              <a:t>Dow</a:t>
            </a:r>
            <a:r>
              <a:rPr dirty="0" sz="2000" spc="-10">
                <a:solidFill>
                  <a:srgbClr val="050503"/>
                </a:solidFill>
                <a:latin typeface="Arial"/>
                <a:cs typeface="Arial"/>
              </a:rPr>
              <a:t>n</a:t>
            </a:r>
            <a:r>
              <a:rPr dirty="0" sz="2000" spc="-10">
                <a:solidFill>
                  <a:srgbClr val="262623"/>
                </a:solidFill>
                <a:latin typeface="Arial"/>
                <a:cs typeface="Arial"/>
              </a:rPr>
              <a:t>time</a:t>
            </a:r>
            <a:r>
              <a:rPr dirty="0" sz="1800" spc="-10">
                <a:solidFill>
                  <a:srgbClr val="262623"/>
                </a:solidFill>
                <a:latin typeface="Arial"/>
                <a:cs typeface="Arial"/>
              </a:rPr>
              <a:t>&amp;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255"/>
              </a:lnSpc>
            </a:pPr>
            <a:r>
              <a:rPr dirty="0" sz="2000" spc="-155">
                <a:solidFill>
                  <a:srgbClr val="262623"/>
                </a:solidFill>
                <a:latin typeface="Arial"/>
                <a:cs typeface="Arial"/>
              </a:rPr>
              <a:t>Revenue</a:t>
            </a:r>
            <a:r>
              <a:rPr dirty="0" sz="2000" spc="-10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383836"/>
                </a:solidFill>
                <a:latin typeface="Arial"/>
                <a:cs typeface="Arial"/>
              </a:rPr>
              <a:t>Loss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39687" y="8343007"/>
            <a:ext cx="2470150" cy="6705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67310">
              <a:lnSpc>
                <a:spcPts val="2860"/>
              </a:lnSpc>
              <a:spcBef>
                <a:spcPts val="110"/>
              </a:spcBef>
              <a:tabLst>
                <a:tab pos="737235" algn="l"/>
              </a:tabLst>
            </a:pPr>
            <a:r>
              <a:rPr dirty="0" sz="2550" spc="-50" i="1">
                <a:solidFill>
                  <a:srgbClr val="262623"/>
                </a:solidFill>
                <a:latin typeface="Arial"/>
                <a:cs typeface="Arial"/>
              </a:rPr>
              <a:t>h</a:t>
            </a:r>
            <a:r>
              <a:rPr dirty="0" sz="2550" i="1">
                <a:solidFill>
                  <a:srgbClr val="262623"/>
                </a:solidFill>
                <a:latin typeface="Arial"/>
                <a:cs typeface="Arial"/>
              </a:rPr>
              <a:t>	</a:t>
            </a:r>
            <a:r>
              <a:rPr dirty="0" sz="2000" spc="-95">
                <a:solidFill>
                  <a:srgbClr val="262623"/>
                </a:solidFill>
                <a:latin typeface="Arial"/>
                <a:cs typeface="Arial"/>
              </a:rPr>
              <a:t>Reg</a:t>
            </a:r>
            <a:r>
              <a:rPr dirty="0" sz="2000" spc="-95">
                <a:solidFill>
                  <a:srgbClr val="050503"/>
                </a:solidFill>
                <a:latin typeface="Arial"/>
                <a:cs typeface="Arial"/>
              </a:rPr>
              <a:t>ul</a:t>
            </a:r>
            <a:r>
              <a:rPr dirty="0" sz="2000" spc="-95">
                <a:solidFill>
                  <a:srgbClr val="262623"/>
                </a:solidFill>
                <a:latin typeface="Arial"/>
                <a:cs typeface="Arial"/>
              </a:rPr>
              <a:t>atory</a:t>
            </a:r>
            <a:r>
              <a:rPr dirty="0" sz="2000" spc="-12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262623"/>
                </a:solidFill>
                <a:latin typeface="Arial"/>
                <a:cs typeface="Arial"/>
              </a:rPr>
              <a:t>Fines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00"/>
              </a:lnSpc>
              <a:tabLst>
                <a:tab pos="741680" algn="l"/>
              </a:tabLst>
            </a:pPr>
            <a:r>
              <a:rPr dirty="0" sz="2000" spc="-50">
                <a:solidFill>
                  <a:srgbClr val="262623"/>
                </a:solidFill>
                <a:latin typeface="Arial"/>
                <a:cs typeface="Arial"/>
              </a:rPr>
              <a:t>�</a:t>
            </a:r>
            <a:r>
              <a:rPr dirty="0" sz="2000">
                <a:solidFill>
                  <a:srgbClr val="262623"/>
                </a:solidFill>
                <a:latin typeface="Arial"/>
                <a:cs typeface="Arial"/>
              </a:rPr>
              <a:t>	</a:t>
            </a:r>
            <a:r>
              <a:rPr dirty="0" sz="2000" spc="-220">
                <a:solidFill>
                  <a:srgbClr val="262623"/>
                </a:solidFill>
                <a:latin typeface="Arial"/>
                <a:cs typeface="Arial"/>
              </a:rPr>
              <a:t>(GDPR,</a:t>
            </a:r>
            <a:r>
              <a:rPr dirty="0" sz="2000" spc="-8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145">
                <a:solidFill>
                  <a:srgbClr val="262623"/>
                </a:solidFill>
                <a:latin typeface="Arial"/>
                <a:cs typeface="Arial"/>
              </a:rPr>
              <a:t>PCI</a:t>
            </a:r>
            <a:r>
              <a:rPr dirty="0" sz="2000" spc="-27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145">
                <a:solidFill>
                  <a:srgbClr val="262623"/>
                </a:solidFill>
                <a:latin typeface="Arial"/>
                <a:cs typeface="Arial"/>
              </a:rPr>
              <a:t>DSS)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39516" y="8336623"/>
            <a:ext cx="2008505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265" i="1">
                <a:solidFill>
                  <a:srgbClr val="262623"/>
                </a:solidFill>
                <a:latin typeface="Arial"/>
                <a:cs typeface="Arial"/>
              </a:rPr>
              <a:t>(l.s,</a:t>
            </a:r>
            <a:r>
              <a:rPr dirty="0" sz="2000" spc="35" i="1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262623"/>
                </a:solidFill>
                <a:latin typeface="Arial"/>
                <a:cs typeface="Arial"/>
              </a:rPr>
              <a:t>Reputation</a:t>
            </a:r>
            <a:r>
              <a:rPr dirty="0" sz="2000" spc="-2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1900" spc="-360">
                <a:solidFill>
                  <a:srgbClr val="262623"/>
                </a:solidFill>
                <a:latin typeface="Times New Roman"/>
                <a:cs typeface="Times New Roman"/>
              </a:rPr>
              <a:t>&amp;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64735" y="8591946"/>
            <a:ext cx="2238375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45160" algn="l"/>
              </a:tabLst>
            </a:pPr>
            <a:r>
              <a:rPr dirty="0" sz="2000" spc="-25" i="1">
                <a:solidFill>
                  <a:srgbClr val="262623"/>
                </a:solidFill>
                <a:latin typeface="Arial"/>
                <a:cs typeface="Arial"/>
              </a:rPr>
              <a:t>\Y</a:t>
            </a:r>
            <a:r>
              <a:rPr dirty="0" sz="2000" i="1">
                <a:solidFill>
                  <a:srgbClr val="262623"/>
                </a:solidFill>
                <a:latin typeface="Arial"/>
                <a:cs typeface="Arial"/>
              </a:rPr>
              <a:t>	</a:t>
            </a:r>
            <a:r>
              <a:rPr dirty="0" sz="2000" spc="-110">
                <a:solidFill>
                  <a:srgbClr val="262623"/>
                </a:solidFill>
                <a:latin typeface="Arial"/>
                <a:cs typeface="Arial"/>
              </a:rPr>
              <a:t>Customer</a:t>
            </a:r>
            <a:r>
              <a:rPr dirty="0" sz="2000" spc="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262623"/>
                </a:solidFill>
                <a:latin typeface="Arial"/>
                <a:cs typeface="Arial"/>
              </a:rPr>
              <a:t>Trust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90883" y="8847270"/>
            <a:ext cx="873125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145">
                <a:solidFill>
                  <a:srgbClr val="262623"/>
                </a:solidFill>
                <a:latin typeface="Arial"/>
                <a:cs typeface="Arial"/>
              </a:rPr>
              <a:t>Damage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79427" y="7739679"/>
            <a:ext cx="7285990" cy="1311910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200" spc="-105" b="1">
                <a:solidFill>
                  <a:srgbClr val="050503"/>
                </a:solidFill>
                <a:latin typeface="Arial"/>
                <a:cs typeface="Arial"/>
              </a:rPr>
              <a:t>Break-</a:t>
            </a:r>
            <a:r>
              <a:rPr dirty="0" sz="2200" spc="-95" b="1">
                <a:solidFill>
                  <a:srgbClr val="050503"/>
                </a:solidFill>
                <a:latin typeface="Arial"/>
                <a:cs typeface="Arial"/>
              </a:rPr>
              <a:t>Even</a:t>
            </a:r>
            <a:r>
              <a:rPr dirty="0" sz="2200" spc="20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50503"/>
                </a:solidFill>
                <a:latin typeface="Arial"/>
                <a:cs typeface="Arial"/>
              </a:rPr>
              <a:t>Analysis</a:t>
            </a:r>
            <a:endParaRPr sz="2200">
              <a:latin typeface="Arial"/>
              <a:cs typeface="Arial"/>
            </a:endParaRPr>
          </a:p>
          <a:p>
            <a:pPr marL="24765" marR="5080" indent="-3175">
              <a:lnSpc>
                <a:spcPct val="108900"/>
              </a:lnSpc>
              <a:spcBef>
                <a:spcPts val="965"/>
              </a:spcBef>
            </a:pPr>
            <a:r>
              <a:rPr dirty="0" sz="2000">
                <a:solidFill>
                  <a:srgbClr val="262623"/>
                </a:solidFill>
                <a:latin typeface="Arial"/>
                <a:cs typeface="Arial"/>
              </a:rPr>
              <a:t>If</a:t>
            </a:r>
            <a:r>
              <a:rPr dirty="0" sz="2000" spc="19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90">
                <a:solidFill>
                  <a:srgbClr val="262623"/>
                </a:solidFill>
                <a:latin typeface="Arial"/>
                <a:cs typeface="Arial"/>
              </a:rPr>
              <a:t>RLC-</a:t>
            </a:r>
            <a:r>
              <a:rPr dirty="0" sz="2000" spc="-80">
                <a:solidFill>
                  <a:srgbClr val="262623"/>
                </a:solidFill>
                <a:latin typeface="Arial"/>
                <a:cs typeface="Arial"/>
              </a:rPr>
              <a:t>H</a:t>
            </a:r>
            <a:r>
              <a:rPr dirty="0" sz="2000" spc="-80">
                <a:solidFill>
                  <a:srgbClr val="050503"/>
                </a:solidFill>
                <a:latin typeface="Arial"/>
                <a:cs typeface="Arial"/>
              </a:rPr>
              <a:t>'</a:t>
            </a:r>
            <a:r>
              <a:rPr dirty="0" sz="2000" spc="-80">
                <a:solidFill>
                  <a:srgbClr val="262623"/>
                </a:solidFill>
                <a:latin typeface="Arial"/>
                <a:cs typeface="Arial"/>
              </a:rPr>
              <a:t>s</a:t>
            </a:r>
            <a:r>
              <a:rPr dirty="0" sz="2000" spc="-13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62623"/>
                </a:solidFill>
                <a:latin typeface="Arial"/>
                <a:cs typeface="Arial"/>
              </a:rPr>
              <a:t>proactive</a:t>
            </a:r>
            <a:r>
              <a:rPr dirty="0" sz="2000" spc="2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62623"/>
                </a:solidFill>
                <a:latin typeface="Arial"/>
                <a:cs typeface="Arial"/>
              </a:rPr>
              <a:t>laye</a:t>
            </a:r>
            <a:r>
              <a:rPr dirty="0" sz="2000" spc="-10">
                <a:solidFill>
                  <a:srgbClr val="050503"/>
                </a:solidFill>
                <a:latin typeface="Arial"/>
                <a:cs typeface="Arial"/>
              </a:rPr>
              <a:t>r</a:t>
            </a:r>
            <a:r>
              <a:rPr dirty="0" sz="2000" spc="-10">
                <a:solidFill>
                  <a:srgbClr val="262623"/>
                </a:solidFill>
                <a:latin typeface="Arial"/>
                <a:cs typeface="Arial"/>
              </a:rPr>
              <a:t>s</a:t>
            </a:r>
            <a:r>
              <a:rPr dirty="0" sz="2000" spc="-13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62623"/>
                </a:solidFill>
                <a:latin typeface="Arial"/>
                <a:cs typeface="Arial"/>
              </a:rPr>
              <a:t>preven</a:t>
            </a:r>
            <a:r>
              <a:rPr dirty="0" sz="2000">
                <a:solidFill>
                  <a:srgbClr val="050503"/>
                </a:solidFill>
                <a:latin typeface="Arial"/>
                <a:cs typeface="Arial"/>
              </a:rPr>
              <a:t>t</a:t>
            </a:r>
            <a:r>
              <a:rPr dirty="0" sz="2000" spc="6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50503"/>
                </a:solidFill>
                <a:latin typeface="Arial"/>
                <a:cs typeface="Arial"/>
              </a:rPr>
              <a:t>one</a:t>
            </a:r>
            <a:r>
              <a:rPr dirty="0" sz="2000" spc="-270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2000" spc="-30" b="1">
                <a:solidFill>
                  <a:srgbClr val="050503"/>
                </a:solidFill>
                <a:latin typeface="Arial"/>
                <a:cs typeface="Arial"/>
              </a:rPr>
              <a:t>major </a:t>
            </a:r>
            <a:r>
              <a:rPr dirty="0" sz="2000" spc="-40" b="1">
                <a:solidFill>
                  <a:srgbClr val="050503"/>
                </a:solidFill>
                <a:latin typeface="Arial"/>
                <a:cs typeface="Arial"/>
              </a:rPr>
              <a:t>security</a:t>
            </a:r>
            <a:r>
              <a:rPr dirty="0" sz="2000" spc="-170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50503"/>
                </a:solidFill>
                <a:latin typeface="Arial"/>
                <a:cs typeface="Arial"/>
              </a:rPr>
              <a:t>incident </a:t>
            </a:r>
            <a:r>
              <a:rPr dirty="0" sz="2000" spc="-45" b="1">
                <a:solidFill>
                  <a:srgbClr val="050503"/>
                </a:solidFill>
                <a:latin typeface="Arial"/>
                <a:cs typeface="Arial"/>
              </a:rPr>
              <a:t>every</a:t>
            </a:r>
            <a:r>
              <a:rPr dirty="0" sz="2000" spc="-40" b="1">
                <a:solidFill>
                  <a:srgbClr val="050503"/>
                </a:solidFill>
                <a:latin typeface="Arial"/>
                <a:cs typeface="Arial"/>
              </a:rPr>
              <a:t> 2-</a:t>
            </a:r>
            <a:r>
              <a:rPr dirty="0" sz="2000" b="1">
                <a:solidFill>
                  <a:srgbClr val="050503"/>
                </a:solidFill>
                <a:latin typeface="Arial"/>
                <a:cs typeface="Arial"/>
              </a:rPr>
              <a:t>3</a:t>
            </a:r>
            <a:r>
              <a:rPr dirty="0" sz="2000" spc="305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2000" spc="-45" b="1">
                <a:solidFill>
                  <a:srgbClr val="050503"/>
                </a:solidFill>
                <a:latin typeface="Arial"/>
                <a:cs typeface="Arial"/>
              </a:rPr>
              <a:t>years,</a:t>
            </a:r>
            <a:r>
              <a:rPr dirty="0" sz="2000" spc="-50" b="1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2000" spc="60">
                <a:solidFill>
                  <a:srgbClr val="262623"/>
                </a:solidFill>
                <a:latin typeface="Arial"/>
                <a:cs typeface="Arial"/>
              </a:rPr>
              <a:t>the</a:t>
            </a:r>
            <a:r>
              <a:rPr dirty="0" sz="2000" spc="-17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50503"/>
                </a:solidFill>
                <a:latin typeface="Arial"/>
                <a:cs typeface="Arial"/>
              </a:rPr>
              <a:t>i</a:t>
            </a:r>
            <a:r>
              <a:rPr dirty="0" sz="2000">
                <a:solidFill>
                  <a:srgbClr val="262623"/>
                </a:solidFill>
                <a:latin typeface="Arial"/>
                <a:cs typeface="Arial"/>
              </a:rPr>
              <a:t>nvestment</a:t>
            </a:r>
            <a:r>
              <a:rPr dirty="0" sz="2000" spc="17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62623"/>
                </a:solidFill>
                <a:latin typeface="Arial"/>
                <a:cs typeface="Arial"/>
              </a:rPr>
              <a:t>pays</a:t>
            </a:r>
            <a:r>
              <a:rPr dirty="0" sz="2000" spc="-2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65">
                <a:solidFill>
                  <a:srgbClr val="262623"/>
                </a:solidFill>
                <a:latin typeface="Arial"/>
                <a:cs typeface="Arial"/>
              </a:rPr>
              <a:t>for</a:t>
            </a:r>
            <a:r>
              <a:rPr dirty="0" sz="2000" spc="-16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50503"/>
                </a:solidFill>
                <a:latin typeface="Arial"/>
                <a:cs typeface="Arial"/>
              </a:rPr>
              <a:t>i</a:t>
            </a:r>
            <a:r>
              <a:rPr dirty="0" sz="2000">
                <a:solidFill>
                  <a:srgbClr val="262623"/>
                </a:solidFill>
                <a:latin typeface="Arial"/>
                <a:cs typeface="Arial"/>
              </a:rPr>
              <a:t>tsel</a:t>
            </a:r>
            <a:r>
              <a:rPr dirty="0" sz="2000">
                <a:solidFill>
                  <a:srgbClr val="050503"/>
                </a:solidFill>
                <a:latin typeface="Arial"/>
                <a:cs typeface="Arial"/>
              </a:rPr>
              <a:t>f</a:t>
            </a:r>
            <a:r>
              <a:rPr dirty="0" sz="2000" spc="6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62623"/>
                </a:solidFill>
                <a:latin typeface="Arial"/>
                <a:cs typeface="Arial"/>
              </a:rPr>
              <a:t>many</a:t>
            </a:r>
            <a:r>
              <a:rPr dirty="0" sz="2000" spc="-2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60">
                <a:solidFill>
                  <a:srgbClr val="262623"/>
                </a:solidFill>
                <a:latin typeface="Arial"/>
                <a:cs typeface="Arial"/>
              </a:rPr>
              <a:t>ti</a:t>
            </a:r>
            <a:r>
              <a:rPr dirty="0" sz="2000" spc="60">
                <a:solidFill>
                  <a:srgbClr val="050503"/>
                </a:solidFill>
                <a:latin typeface="Arial"/>
                <a:cs typeface="Arial"/>
              </a:rPr>
              <a:t>m</a:t>
            </a:r>
            <a:r>
              <a:rPr dirty="0" sz="2000" spc="60">
                <a:solidFill>
                  <a:srgbClr val="262623"/>
                </a:solidFill>
                <a:latin typeface="Arial"/>
                <a:cs typeface="Arial"/>
              </a:rPr>
              <a:t>es</a:t>
            </a:r>
            <a:r>
              <a:rPr dirty="0" sz="2000" spc="-3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62623"/>
                </a:solidFill>
                <a:latin typeface="Arial"/>
                <a:cs typeface="Arial"/>
              </a:rPr>
              <a:t>ove</a:t>
            </a:r>
            <a:r>
              <a:rPr dirty="0" sz="2000" spc="-10">
                <a:solidFill>
                  <a:srgbClr val="050503"/>
                </a:solidFill>
                <a:latin typeface="Arial"/>
                <a:cs typeface="Arial"/>
              </a:rPr>
              <a:t>r</a:t>
            </a:r>
            <a:r>
              <a:rPr dirty="0" sz="2000" spc="-10">
                <a:solidFill>
                  <a:srgbClr val="262623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1910" y="3319462"/>
            <a:ext cx="1222744" cy="11489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5927" y="3191800"/>
            <a:ext cx="1044427" cy="12000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25700" y="5489707"/>
            <a:ext cx="1095375" cy="12766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76875" y="5387578"/>
            <a:ext cx="1146322" cy="120001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896281" y="2987542"/>
            <a:ext cx="458529" cy="4340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57540" y="4213092"/>
            <a:ext cx="331159" cy="45958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399236" y="2987542"/>
            <a:ext cx="789688" cy="76596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909323" y="4825867"/>
            <a:ext cx="6037299" cy="265535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693706" y="2885412"/>
            <a:ext cx="0" cy="434340"/>
          </a:xfrm>
          <a:custGeom>
            <a:avLst/>
            <a:gdLst/>
            <a:ahLst/>
            <a:cxnLst/>
            <a:rect l="l" t="t" r="r" b="b"/>
            <a:pathLst>
              <a:path w="0" h="434339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57391" y="6766319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40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27823" y="6587594"/>
            <a:ext cx="0" cy="587375"/>
          </a:xfrm>
          <a:custGeom>
            <a:avLst/>
            <a:gdLst/>
            <a:ahLst/>
            <a:cxnLst/>
            <a:rect l="l" t="t" r="r" b="b"/>
            <a:pathLst>
              <a:path w="0" h="587375">
                <a:moveTo>
                  <a:pt x="0" y="58724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475661" y="3753510"/>
            <a:ext cx="0" cy="842644"/>
          </a:xfrm>
          <a:custGeom>
            <a:avLst/>
            <a:gdLst/>
            <a:ahLst/>
            <a:cxnLst/>
            <a:rect l="l" t="t" r="r" b="b"/>
            <a:pathLst>
              <a:path w="0" h="842645">
                <a:moveTo>
                  <a:pt x="0" y="84256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379982" y="4570543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233355" y="3676913"/>
            <a:ext cx="0" cy="919480"/>
          </a:xfrm>
          <a:custGeom>
            <a:avLst/>
            <a:gdLst/>
            <a:ahLst/>
            <a:cxnLst/>
            <a:rect l="l" t="t" r="r" b="b"/>
            <a:pathLst>
              <a:path w="0" h="919479">
                <a:moveTo>
                  <a:pt x="0" y="91916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693706" y="2885412"/>
            <a:ext cx="1783714" cy="0"/>
          </a:xfrm>
          <a:custGeom>
            <a:avLst/>
            <a:gdLst/>
            <a:ahLst/>
            <a:cxnLst/>
            <a:rect l="l" t="t" r="r" b="b"/>
            <a:pathLst>
              <a:path w="1783714" h="0">
                <a:moveTo>
                  <a:pt x="0" y="0"/>
                </a:moveTo>
                <a:lnTo>
                  <a:pt x="178316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354811" y="2974775"/>
            <a:ext cx="1044575" cy="0"/>
          </a:xfrm>
          <a:custGeom>
            <a:avLst/>
            <a:gdLst/>
            <a:ahLst/>
            <a:cxnLst/>
            <a:rect l="l" t="t" r="r" b="b"/>
            <a:pathLst>
              <a:path w="1044575" h="0">
                <a:moveTo>
                  <a:pt x="0" y="0"/>
                </a:moveTo>
                <a:lnTo>
                  <a:pt x="104442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188927" y="3676913"/>
            <a:ext cx="1069975" cy="0"/>
          </a:xfrm>
          <a:custGeom>
            <a:avLst/>
            <a:gdLst/>
            <a:ahLst/>
            <a:cxnLst/>
            <a:rect l="l" t="t" r="r" b="b"/>
            <a:pathLst>
              <a:path w="1069975" h="0">
                <a:moveTo>
                  <a:pt x="0" y="0"/>
                </a:moveTo>
                <a:lnTo>
                  <a:pt x="106990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44654" y="3791808"/>
            <a:ext cx="1681480" cy="0"/>
          </a:xfrm>
          <a:custGeom>
            <a:avLst/>
            <a:gdLst/>
            <a:ahLst/>
            <a:cxnLst/>
            <a:rect l="l" t="t" r="r" b="b"/>
            <a:pathLst>
              <a:path w="1681479" h="0">
                <a:moveTo>
                  <a:pt x="0" y="0"/>
                </a:moveTo>
                <a:lnTo>
                  <a:pt x="1681273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3475661" y="4596075"/>
            <a:ext cx="1783714" cy="0"/>
          </a:xfrm>
          <a:custGeom>
            <a:avLst/>
            <a:gdLst/>
            <a:ahLst/>
            <a:cxnLst/>
            <a:rect l="l" t="t" r="r" b="b"/>
            <a:pathLst>
              <a:path w="1783715" h="0">
                <a:moveTo>
                  <a:pt x="0" y="0"/>
                </a:moveTo>
                <a:lnTo>
                  <a:pt x="178316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252916" y="5362044"/>
            <a:ext cx="1172210" cy="0"/>
          </a:xfrm>
          <a:custGeom>
            <a:avLst/>
            <a:gdLst/>
            <a:ahLst/>
            <a:cxnLst/>
            <a:rect l="l" t="t" r="r" b="b"/>
            <a:pathLst>
              <a:path w="1172209" h="0">
                <a:moveTo>
                  <a:pt x="0" y="0"/>
                </a:moveTo>
                <a:lnTo>
                  <a:pt x="117179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821075" y="6242908"/>
            <a:ext cx="1656080" cy="0"/>
          </a:xfrm>
          <a:custGeom>
            <a:avLst/>
            <a:gdLst/>
            <a:ahLst/>
            <a:cxnLst/>
            <a:rect l="l" t="t" r="r" b="b"/>
            <a:pathLst>
              <a:path w="1656079" h="0">
                <a:moveTo>
                  <a:pt x="0" y="0"/>
                </a:moveTo>
                <a:lnTo>
                  <a:pt x="165579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44654" y="7149303"/>
            <a:ext cx="1809114" cy="0"/>
          </a:xfrm>
          <a:custGeom>
            <a:avLst/>
            <a:gdLst/>
            <a:ahLst/>
            <a:cxnLst/>
            <a:rect l="l" t="t" r="r" b="b"/>
            <a:pathLst>
              <a:path w="1809114" h="0">
                <a:moveTo>
                  <a:pt x="0" y="0"/>
                </a:moveTo>
                <a:lnTo>
                  <a:pt x="180864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692161" y="466295"/>
            <a:ext cx="11958955" cy="1274445"/>
          </a:xfrm>
          <a:prstGeom prst="rect"/>
        </p:spPr>
        <p:txBody>
          <a:bodyPr wrap="square" lIns="0" tIns="46990" rIns="0" bIns="0" rtlCol="0" vert="horz">
            <a:spAutoFit/>
          </a:bodyPr>
          <a:lstStyle/>
          <a:p>
            <a:pPr marL="12700" marR="5080" indent="8255">
              <a:lnSpc>
                <a:spcPts val="4830"/>
              </a:lnSpc>
              <a:spcBef>
                <a:spcPts val="370"/>
              </a:spcBef>
            </a:pPr>
            <a:r>
              <a:rPr dirty="0" sz="4150" spc="-330">
                <a:solidFill>
                  <a:srgbClr val="030301"/>
                </a:solidFill>
                <a:latin typeface="Arial"/>
                <a:cs typeface="Arial"/>
              </a:rPr>
              <a:t>A</a:t>
            </a:r>
            <a:r>
              <a:rPr dirty="0" sz="4150" spc="-125">
                <a:solidFill>
                  <a:srgbClr val="030301"/>
                </a:solidFill>
                <a:latin typeface="Arial"/>
                <a:cs typeface="Arial"/>
              </a:rPr>
              <a:t> Fundamental</a:t>
            </a:r>
            <a:r>
              <a:rPr dirty="0" sz="4150" spc="-1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4150" spc="-80">
                <a:solidFill>
                  <a:srgbClr val="030301"/>
                </a:solidFill>
                <a:latin typeface="Arial"/>
                <a:cs typeface="Arial"/>
              </a:rPr>
              <a:t>Choice</a:t>
            </a:r>
            <a:r>
              <a:rPr dirty="0" sz="4150" spc="-80">
                <a:solidFill>
                  <a:srgbClr val="1F1F1C"/>
                </a:solidFill>
                <a:latin typeface="Arial"/>
                <a:cs typeface="Arial"/>
              </a:rPr>
              <a:t>:</a:t>
            </a:r>
            <a:r>
              <a:rPr dirty="0" sz="4150" spc="-545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4150" spc="-100">
                <a:solidFill>
                  <a:srgbClr val="030301"/>
                </a:solidFill>
                <a:latin typeface="Arial"/>
                <a:cs typeface="Arial"/>
              </a:rPr>
              <a:t>Stay</a:t>
            </a:r>
            <a:r>
              <a:rPr dirty="0" sz="4150" spc="-185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4150" spc="-20">
                <a:solidFill>
                  <a:srgbClr val="030301"/>
                </a:solidFill>
                <a:latin typeface="Arial"/>
                <a:cs typeface="Arial"/>
              </a:rPr>
              <a:t>in</a:t>
            </a:r>
            <a:r>
              <a:rPr dirty="0" sz="4150" spc="-265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4150">
                <a:solidFill>
                  <a:srgbClr val="030301"/>
                </a:solidFill>
                <a:latin typeface="Arial"/>
                <a:cs typeface="Arial"/>
              </a:rPr>
              <a:t>the</a:t>
            </a:r>
            <a:r>
              <a:rPr dirty="0" sz="4150" spc="-155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4150" spc="-100">
                <a:solidFill>
                  <a:srgbClr val="030301"/>
                </a:solidFill>
                <a:latin typeface="Arial"/>
                <a:cs typeface="Arial"/>
              </a:rPr>
              <a:t>Reactive</a:t>
            </a:r>
            <a:r>
              <a:rPr dirty="0" sz="4150" spc="-70">
                <a:solidFill>
                  <a:srgbClr val="030301"/>
                </a:solidFill>
                <a:latin typeface="Arial"/>
                <a:cs typeface="Arial"/>
              </a:rPr>
              <a:t> Cycle </a:t>
            </a:r>
            <a:r>
              <a:rPr dirty="0" sz="4150" spc="-50">
                <a:solidFill>
                  <a:srgbClr val="030301"/>
                </a:solidFill>
                <a:latin typeface="Arial"/>
                <a:cs typeface="Arial"/>
              </a:rPr>
              <a:t>or</a:t>
            </a:r>
            <a:r>
              <a:rPr dirty="0" sz="4150" spc="-185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4150" spc="-20">
                <a:solidFill>
                  <a:srgbClr val="030301"/>
                </a:solidFill>
                <a:latin typeface="Arial"/>
                <a:cs typeface="Arial"/>
              </a:rPr>
              <a:t>Move</a:t>
            </a:r>
            <a:r>
              <a:rPr dirty="0" sz="4150" spc="-225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4150">
                <a:solidFill>
                  <a:srgbClr val="030301"/>
                </a:solidFill>
                <a:latin typeface="Arial"/>
                <a:cs typeface="Arial"/>
              </a:rPr>
              <a:t>to</a:t>
            </a:r>
            <a:r>
              <a:rPr dirty="0" sz="4150" spc="-29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4150" spc="-105">
                <a:solidFill>
                  <a:srgbClr val="030301"/>
                </a:solidFill>
                <a:latin typeface="Arial"/>
                <a:cs typeface="Arial"/>
              </a:rPr>
              <a:t>Proactive</a:t>
            </a:r>
            <a:r>
              <a:rPr dirty="0" sz="4150" spc="-14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4150" spc="-10">
                <a:solidFill>
                  <a:srgbClr val="030301"/>
                </a:solidFill>
                <a:latin typeface="Arial"/>
                <a:cs typeface="Arial"/>
              </a:rPr>
              <a:t>Defense</a:t>
            </a:r>
            <a:endParaRPr sz="41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47783" y="9418922"/>
            <a:ext cx="125476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70">
                <a:solidFill>
                  <a:srgbClr val="31312F"/>
                </a:solidFill>
                <a:latin typeface="Arial"/>
                <a:cs typeface="Arial"/>
              </a:rPr>
              <a:t>I'S\</a:t>
            </a:r>
            <a:r>
              <a:rPr dirty="0" sz="1300" spc="-2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1211F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60203" y="2164192"/>
            <a:ext cx="14175740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96595" algn="l"/>
                <a:tab pos="7119620" algn="l"/>
              </a:tabLst>
            </a:pPr>
            <a:r>
              <a:rPr dirty="0" sz="2500" spc="-25" b="1">
                <a:solidFill>
                  <a:srgbClr val="030301"/>
                </a:solidFill>
                <a:latin typeface="Arial"/>
                <a:cs typeface="Arial"/>
              </a:rPr>
              <a:t>The</a:t>
            </a:r>
            <a:r>
              <a:rPr dirty="0" sz="2500" b="1">
                <a:solidFill>
                  <a:srgbClr val="030301"/>
                </a:solidFill>
                <a:latin typeface="Arial"/>
                <a:cs typeface="Arial"/>
              </a:rPr>
              <a:t>	</a:t>
            </a:r>
            <a:r>
              <a:rPr dirty="0" sz="2500" spc="55" b="1">
                <a:solidFill>
                  <a:srgbClr val="030301"/>
                </a:solidFill>
                <a:latin typeface="Arial"/>
                <a:cs typeface="Arial"/>
              </a:rPr>
              <a:t>Reactive</a:t>
            </a:r>
            <a:r>
              <a:rPr dirty="0" sz="2500" spc="-8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00" spc="55" b="1">
                <a:solidFill>
                  <a:srgbClr val="030301"/>
                </a:solidFill>
                <a:latin typeface="Arial"/>
                <a:cs typeface="Arial"/>
              </a:rPr>
              <a:t>Cyc</a:t>
            </a:r>
            <a:r>
              <a:rPr dirty="0" sz="2500" spc="55" b="1">
                <a:solidFill>
                  <a:srgbClr val="1F1F1C"/>
                </a:solidFill>
                <a:latin typeface="Arial"/>
                <a:cs typeface="Arial"/>
              </a:rPr>
              <a:t>l</a:t>
            </a:r>
            <a:r>
              <a:rPr dirty="0" sz="2500" spc="55" b="1">
                <a:solidFill>
                  <a:srgbClr val="030301"/>
                </a:solidFill>
                <a:latin typeface="Arial"/>
                <a:cs typeface="Arial"/>
              </a:rPr>
              <a:t>e</a:t>
            </a:r>
            <a:r>
              <a:rPr dirty="0" sz="2500" spc="28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F1F1C"/>
                </a:solidFill>
                <a:latin typeface="Arial"/>
                <a:cs typeface="Arial"/>
              </a:rPr>
              <a:t>(</a:t>
            </a:r>
            <a:r>
              <a:rPr dirty="0" sz="2550">
                <a:solidFill>
                  <a:srgbClr val="030301"/>
                </a:solidFill>
                <a:latin typeface="Arial"/>
                <a:cs typeface="Arial"/>
              </a:rPr>
              <a:t>Th</a:t>
            </a:r>
            <a:r>
              <a:rPr dirty="0" sz="2550">
                <a:solidFill>
                  <a:srgbClr val="1F1F1C"/>
                </a:solidFill>
                <a:latin typeface="Arial"/>
                <a:cs typeface="Arial"/>
              </a:rPr>
              <a:t>e</a:t>
            </a:r>
            <a:r>
              <a:rPr dirty="0" sz="2550" spc="9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550" spc="40">
                <a:solidFill>
                  <a:srgbClr val="030301"/>
                </a:solidFill>
                <a:latin typeface="Arial"/>
                <a:cs typeface="Arial"/>
              </a:rPr>
              <a:t>P</a:t>
            </a:r>
            <a:r>
              <a:rPr dirty="0" sz="2550" spc="40">
                <a:solidFill>
                  <a:srgbClr val="1F1F1C"/>
                </a:solidFill>
                <a:latin typeface="Arial"/>
                <a:cs typeface="Arial"/>
              </a:rPr>
              <a:t>as</a:t>
            </a:r>
            <a:r>
              <a:rPr dirty="0" sz="2550" spc="40">
                <a:solidFill>
                  <a:srgbClr val="030301"/>
                </a:solidFill>
                <a:latin typeface="Arial"/>
                <a:cs typeface="Arial"/>
              </a:rPr>
              <a:t>t</a:t>
            </a:r>
            <a:r>
              <a:rPr dirty="0" sz="2550" spc="40">
                <a:solidFill>
                  <a:srgbClr val="1F1F1C"/>
                </a:solidFill>
                <a:latin typeface="Arial"/>
                <a:cs typeface="Arial"/>
              </a:rPr>
              <a:t>)</a:t>
            </a:r>
            <a:r>
              <a:rPr dirty="0" sz="2550">
                <a:solidFill>
                  <a:srgbClr val="1F1F1C"/>
                </a:solidFill>
                <a:latin typeface="Arial"/>
                <a:cs typeface="Arial"/>
              </a:rPr>
              <a:t>	</a:t>
            </a:r>
            <a:r>
              <a:rPr dirty="0" sz="2500" spc="140" b="1">
                <a:solidFill>
                  <a:srgbClr val="030301"/>
                </a:solidFill>
                <a:latin typeface="Arial"/>
                <a:cs typeface="Arial"/>
              </a:rPr>
              <a:t>The</a:t>
            </a:r>
            <a:r>
              <a:rPr dirty="0" sz="2500" spc="-20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00" spc="55" b="1">
                <a:solidFill>
                  <a:srgbClr val="030301"/>
                </a:solidFill>
                <a:latin typeface="Arial"/>
                <a:cs typeface="Arial"/>
              </a:rPr>
              <a:t>Proactive</a:t>
            </a:r>
            <a:r>
              <a:rPr dirty="0" sz="2500" spc="-8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00" spc="95" b="1">
                <a:solidFill>
                  <a:srgbClr val="030301"/>
                </a:solidFill>
                <a:latin typeface="Arial"/>
                <a:cs typeface="Arial"/>
              </a:rPr>
              <a:t>Model</a:t>
            </a:r>
            <a:r>
              <a:rPr dirty="0" sz="2500" spc="3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50" spc="65">
                <a:solidFill>
                  <a:srgbClr val="030301"/>
                </a:solidFill>
                <a:latin typeface="Arial"/>
                <a:cs typeface="Arial"/>
              </a:rPr>
              <a:t>(T</a:t>
            </a:r>
            <a:r>
              <a:rPr dirty="0" sz="2550" spc="65">
                <a:solidFill>
                  <a:srgbClr val="1F1F1C"/>
                </a:solidFill>
                <a:latin typeface="Arial"/>
                <a:cs typeface="Arial"/>
              </a:rPr>
              <a:t>he</a:t>
            </a:r>
            <a:r>
              <a:rPr dirty="0" sz="2550" spc="-8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550" spc="60">
                <a:solidFill>
                  <a:srgbClr val="030301"/>
                </a:solidFill>
                <a:latin typeface="Arial"/>
                <a:cs typeface="Arial"/>
              </a:rPr>
              <a:t>Fu</a:t>
            </a:r>
            <a:r>
              <a:rPr dirty="0" sz="2550" spc="60">
                <a:solidFill>
                  <a:srgbClr val="1F1F1C"/>
                </a:solidFill>
                <a:latin typeface="Arial"/>
                <a:cs typeface="Arial"/>
              </a:rPr>
              <a:t>t</a:t>
            </a:r>
            <a:r>
              <a:rPr dirty="0" sz="2550" spc="60">
                <a:solidFill>
                  <a:srgbClr val="030301"/>
                </a:solidFill>
                <a:latin typeface="Arial"/>
                <a:cs typeface="Arial"/>
              </a:rPr>
              <a:t>ur</a:t>
            </a:r>
            <a:r>
              <a:rPr dirty="0" sz="2550" spc="60">
                <a:solidFill>
                  <a:srgbClr val="1F1F1C"/>
                </a:solidFill>
                <a:latin typeface="Arial"/>
                <a:cs typeface="Arial"/>
              </a:rPr>
              <a:t>e</a:t>
            </a:r>
            <a:r>
              <a:rPr dirty="0" sz="2550" spc="3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550" spc="135">
                <a:solidFill>
                  <a:srgbClr val="1F1F1C"/>
                </a:solidFill>
                <a:latin typeface="Arial"/>
                <a:cs typeface="Arial"/>
              </a:rPr>
              <a:t>w</a:t>
            </a:r>
            <a:r>
              <a:rPr dirty="0" sz="2550" spc="135">
                <a:solidFill>
                  <a:srgbClr val="030301"/>
                </a:solidFill>
                <a:latin typeface="Arial"/>
                <a:cs typeface="Arial"/>
              </a:rPr>
              <a:t>ith</a:t>
            </a:r>
            <a:r>
              <a:rPr dirty="0" sz="2550" spc="3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030301"/>
                </a:solidFill>
                <a:latin typeface="Arial"/>
                <a:cs typeface="Arial"/>
              </a:rPr>
              <a:t>RLC-</a:t>
            </a:r>
            <a:r>
              <a:rPr dirty="0" sz="2550" spc="-25">
                <a:solidFill>
                  <a:srgbClr val="030301"/>
                </a:solidFill>
                <a:latin typeface="Arial"/>
                <a:cs typeface="Arial"/>
              </a:rPr>
              <a:t>H)</a:t>
            </a:r>
            <a:endParaRPr sz="25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94404" y="2987609"/>
            <a:ext cx="1536700" cy="68199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70180" marR="5080" indent="-158115">
              <a:lnSpc>
                <a:spcPts val="2510"/>
              </a:lnSpc>
              <a:spcBef>
                <a:spcPts val="300"/>
              </a:spcBef>
            </a:pPr>
            <a:r>
              <a:rPr dirty="0" sz="2200" spc="-10">
                <a:solidFill>
                  <a:srgbClr val="1F1F1C"/>
                </a:solidFill>
                <a:latin typeface="Arial"/>
                <a:cs typeface="Arial"/>
              </a:rPr>
              <a:t>Vulnerability Disclosed</a:t>
            </a:r>
            <a:endParaRPr sz="2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59590" y="4621608"/>
            <a:ext cx="1758314" cy="906780"/>
          </a:xfrm>
          <a:prstGeom prst="rect">
            <a:avLst/>
          </a:prstGeom>
          <a:ln w="25473">
            <a:solidFill>
              <a:srgbClr val="000000"/>
            </a:solidFill>
          </a:ln>
        </p:spPr>
        <p:txBody>
          <a:bodyPr wrap="square" lIns="0" tIns="140335" rIns="0" bIns="0" rtlCol="0" vert="horz">
            <a:spAutoFit/>
          </a:bodyPr>
          <a:lstStyle/>
          <a:p>
            <a:pPr marL="283845" marR="272415" indent="119380">
              <a:lnSpc>
                <a:spcPts val="2510"/>
              </a:lnSpc>
              <a:spcBef>
                <a:spcPts val="1105"/>
              </a:spcBef>
            </a:pPr>
            <a:r>
              <a:rPr dirty="0" sz="2200" spc="-25">
                <a:solidFill>
                  <a:srgbClr val="1F1F1C"/>
                </a:solidFill>
                <a:latin typeface="Arial"/>
                <a:cs typeface="Arial"/>
              </a:rPr>
              <a:t>Wait</a:t>
            </a:r>
            <a:r>
              <a:rPr dirty="0" sz="2200" spc="-12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200" spc="25">
                <a:solidFill>
                  <a:srgbClr val="1F1F1C"/>
                </a:solidFill>
                <a:latin typeface="Arial"/>
                <a:cs typeface="Arial"/>
              </a:rPr>
              <a:t>for </a:t>
            </a:r>
            <a:r>
              <a:rPr dirty="0" sz="2200">
                <a:solidFill>
                  <a:srgbClr val="030301"/>
                </a:solidFill>
                <a:latin typeface="Arial"/>
                <a:cs typeface="Arial"/>
              </a:rPr>
              <a:t>N</a:t>
            </a:r>
            <a:r>
              <a:rPr dirty="0" sz="2200">
                <a:solidFill>
                  <a:srgbClr val="1F1F1C"/>
                </a:solidFill>
                <a:latin typeface="Arial"/>
                <a:cs typeface="Arial"/>
              </a:rPr>
              <a:t>ext</a:t>
            </a:r>
            <a:r>
              <a:rPr dirty="0" sz="2200" spc="114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200" spc="-140">
                <a:solidFill>
                  <a:srgbClr val="1F1F1C"/>
                </a:solidFill>
                <a:latin typeface="Arial"/>
                <a:cs typeface="Arial"/>
              </a:rPr>
              <a:t>CVE</a:t>
            </a:r>
            <a:endParaRPr sz="2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70128" y="6345105"/>
            <a:ext cx="1744980" cy="68199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513080" marR="180975" indent="-332105">
              <a:lnSpc>
                <a:spcPts val="2510"/>
              </a:lnSpc>
              <a:spcBef>
                <a:spcPts val="300"/>
              </a:spcBef>
            </a:pPr>
            <a:r>
              <a:rPr dirty="0" sz="2200" spc="-45">
                <a:solidFill>
                  <a:srgbClr val="1F1F1C"/>
                </a:solidFill>
                <a:latin typeface="Arial"/>
                <a:cs typeface="Arial"/>
              </a:rPr>
              <a:t>Emergency </a:t>
            </a:r>
            <a:r>
              <a:rPr dirty="0" sz="2200" spc="-10">
                <a:solidFill>
                  <a:srgbClr val="1F1F1C"/>
                </a:solidFill>
                <a:latin typeface="Arial"/>
                <a:cs typeface="Arial"/>
              </a:rPr>
              <a:t>Patch</a:t>
            </a:r>
            <a:endParaRPr sz="2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02349" y="4327986"/>
            <a:ext cx="1758314" cy="906780"/>
          </a:xfrm>
          <a:prstGeom prst="rect">
            <a:avLst/>
          </a:prstGeom>
          <a:ln w="25473">
            <a:solidFill>
              <a:srgbClr val="000000"/>
            </a:solidFill>
          </a:ln>
        </p:spPr>
        <p:txBody>
          <a:bodyPr wrap="square" lIns="0" tIns="116205" rIns="0" bIns="0" rtlCol="0" vert="horz">
            <a:spAutoFit/>
          </a:bodyPr>
          <a:lstStyle/>
          <a:p>
            <a:pPr marL="457834">
              <a:lnSpc>
                <a:spcPts val="2575"/>
              </a:lnSpc>
              <a:spcBef>
                <a:spcPts val="915"/>
              </a:spcBef>
            </a:pPr>
            <a:r>
              <a:rPr dirty="0" sz="2200" spc="-25">
                <a:solidFill>
                  <a:srgbClr val="1F1F1C"/>
                </a:solidFill>
                <a:latin typeface="Arial"/>
                <a:cs typeface="Arial"/>
              </a:rPr>
              <a:t>Scan</a:t>
            </a:r>
            <a:r>
              <a:rPr dirty="0" sz="2200" spc="-13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1950" spc="-50">
                <a:solidFill>
                  <a:srgbClr val="1F1F1C"/>
                </a:solidFill>
                <a:latin typeface="Arial"/>
                <a:cs typeface="Arial"/>
              </a:rPr>
              <a:t>&amp;</a:t>
            </a:r>
            <a:endParaRPr sz="1950">
              <a:latin typeface="Arial"/>
              <a:cs typeface="Arial"/>
            </a:endParaRPr>
          </a:p>
          <a:p>
            <a:pPr marL="406400">
              <a:lnSpc>
                <a:spcPts val="2575"/>
              </a:lnSpc>
            </a:pPr>
            <a:r>
              <a:rPr dirty="0" sz="2200" spc="40">
                <a:solidFill>
                  <a:srgbClr val="1F1F1C"/>
                </a:solidFill>
                <a:latin typeface="Arial"/>
                <a:cs typeface="Arial"/>
              </a:rPr>
              <a:t>Identify</a:t>
            </a:r>
            <a:endParaRPr sz="2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29452" y="7685551"/>
            <a:ext cx="6529070" cy="75311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553085" marR="5080" indent="-541020">
              <a:lnSpc>
                <a:spcPts val="2710"/>
              </a:lnSpc>
              <a:spcBef>
                <a:spcPts val="445"/>
              </a:spcBef>
            </a:pPr>
            <a:r>
              <a:rPr dirty="0" sz="2500">
                <a:solidFill>
                  <a:srgbClr val="79483F"/>
                </a:solidFill>
                <a:latin typeface="Times New Roman"/>
                <a:cs typeface="Times New Roman"/>
              </a:rPr>
              <a:t>"Our</a:t>
            </a:r>
            <a:r>
              <a:rPr dirty="0" sz="2500" spc="-50">
                <a:solidFill>
                  <a:srgbClr val="79483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79483F"/>
                </a:solidFill>
                <a:latin typeface="Times New Roman"/>
                <a:cs typeface="Times New Roman"/>
              </a:rPr>
              <a:t>security</a:t>
            </a:r>
            <a:r>
              <a:rPr dirty="0" sz="2500" spc="45">
                <a:solidFill>
                  <a:srgbClr val="79483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79483F"/>
                </a:solidFill>
                <a:latin typeface="Times New Roman"/>
                <a:cs typeface="Times New Roman"/>
              </a:rPr>
              <a:t>is</a:t>
            </a:r>
            <a:r>
              <a:rPr dirty="0" sz="2500" spc="-120">
                <a:solidFill>
                  <a:srgbClr val="79483F"/>
                </a:solidFill>
                <a:latin typeface="Times New Roman"/>
                <a:cs typeface="Times New Roman"/>
              </a:rPr>
              <a:t> </a:t>
            </a:r>
            <a:r>
              <a:rPr dirty="0" sz="2500" spc="50">
                <a:solidFill>
                  <a:srgbClr val="79483F"/>
                </a:solidFill>
                <a:latin typeface="Times New Roman"/>
                <a:cs typeface="Times New Roman"/>
              </a:rPr>
              <a:t>defined</a:t>
            </a:r>
            <a:r>
              <a:rPr dirty="0" sz="2500" spc="114">
                <a:solidFill>
                  <a:srgbClr val="79483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79483F"/>
                </a:solidFill>
                <a:latin typeface="Times New Roman"/>
                <a:cs typeface="Times New Roman"/>
              </a:rPr>
              <a:t>by</a:t>
            </a:r>
            <a:r>
              <a:rPr dirty="0" sz="2500" spc="-120">
                <a:solidFill>
                  <a:srgbClr val="79483F"/>
                </a:solidFill>
                <a:latin typeface="Times New Roman"/>
                <a:cs typeface="Times New Roman"/>
              </a:rPr>
              <a:t> </a:t>
            </a:r>
            <a:r>
              <a:rPr dirty="0" sz="2500" spc="80">
                <a:solidFill>
                  <a:srgbClr val="79483F"/>
                </a:solidFill>
                <a:latin typeface="Times New Roman"/>
                <a:cs typeface="Times New Roman"/>
              </a:rPr>
              <a:t>how</a:t>
            </a:r>
            <a:r>
              <a:rPr dirty="0" sz="2500" spc="-75">
                <a:solidFill>
                  <a:srgbClr val="79483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79483F"/>
                </a:solidFill>
                <a:latin typeface="Times New Roman"/>
                <a:cs typeface="Times New Roman"/>
              </a:rPr>
              <a:t>fast</a:t>
            </a:r>
            <a:r>
              <a:rPr dirty="0" sz="2500" spc="-75">
                <a:solidFill>
                  <a:srgbClr val="79483F"/>
                </a:solidFill>
                <a:latin typeface="Times New Roman"/>
                <a:cs typeface="Times New Roman"/>
              </a:rPr>
              <a:t> </a:t>
            </a:r>
            <a:r>
              <a:rPr dirty="0" sz="2500" spc="55">
                <a:solidFill>
                  <a:srgbClr val="79483F"/>
                </a:solidFill>
                <a:latin typeface="Times New Roman"/>
                <a:cs typeface="Times New Roman"/>
              </a:rPr>
              <a:t>we</a:t>
            </a:r>
            <a:r>
              <a:rPr dirty="0" sz="2500" spc="-30">
                <a:solidFill>
                  <a:srgbClr val="79483F"/>
                </a:solidFill>
                <a:latin typeface="Times New Roman"/>
                <a:cs typeface="Times New Roman"/>
              </a:rPr>
              <a:t> </a:t>
            </a:r>
            <a:r>
              <a:rPr dirty="0" sz="2500" spc="90">
                <a:solidFill>
                  <a:srgbClr val="79483F"/>
                </a:solidFill>
                <a:latin typeface="Times New Roman"/>
                <a:cs typeface="Times New Roman"/>
              </a:rPr>
              <a:t>can</a:t>
            </a:r>
            <a:r>
              <a:rPr dirty="0" sz="2500" spc="150">
                <a:solidFill>
                  <a:srgbClr val="79483F"/>
                </a:solidFill>
                <a:latin typeface="Times New Roman"/>
                <a:cs typeface="Times New Roman"/>
              </a:rPr>
              <a:t> </a:t>
            </a:r>
            <a:r>
              <a:rPr dirty="0" sz="2500" spc="40">
                <a:solidFill>
                  <a:srgbClr val="79483F"/>
                </a:solidFill>
                <a:latin typeface="Times New Roman"/>
                <a:cs typeface="Times New Roman"/>
              </a:rPr>
              <a:t>patch </a:t>
            </a:r>
            <a:r>
              <a:rPr dirty="0" sz="2500" spc="55">
                <a:solidFill>
                  <a:srgbClr val="79483F"/>
                </a:solidFill>
                <a:latin typeface="Times New Roman"/>
                <a:cs typeface="Times New Roman"/>
              </a:rPr>
              <a:t>what</a:t>
            </a:r>
            <a:r>
              <a:rPr dirty="0" sz="2500" spc="80">
                <a:solidFill>
                  <a:srgbClr val="79483F"/>
                </a:solidFill>
                <a:latin typeface="Times New Roman"/>
                <a:cs typeface="Times New Roman"/>
              </a:rPr>
              <a:t> </a:t>
            </a:r>
            <a:r>
              <a:rPr dirty="0" sz="2500" spc="95">
                <a:solidFill>
                  <a:srgbClr val="79483F"/>
                </a:solidFill>
                <a:latin typeface="Times New Roman"/>
                <a:cs typeface="Times New Roman"/>
              </a:rPr>
              <a:t>the</a:t>
            </a:r>
            <a:r>
              <a:rPr dirty="0" sz="2500" spc="-85">
                <a:solidFill>
                  <a:srgbClr val="79483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79483F"/>
                </a:solidFill>
                <a:latin typeface="Times New Roman"/>
                <a:cs typeface="Times New Roman"/>
              </a:rPr>
              <a:t>world</a:t>
            </a:r>
            <a:r>
              <a:rPr dirty="0" sz="2500" spc="110">
                <a:solidFill>
                  <a:srgbClr val="79483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79483F"/>
                </a:solidFill>
                <a:latin typeface="Times New Roman"/>
                <a:cs typeface="Times New Roman"/>
              </a:rPr>
              <a:t>already</a:t>
            </a:r>
            <a:r>
              <a:rPr dirty="0" sz="2500" spc="110">
                <a:solidFill>
                  <a:srgbClr val="79483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79483F"/>
                </a:solidFill>
                <a:latin typeface="Times New Roman"/>
                <a:cs typeface="Times New Roman"/>
              </a:rPr>
              <a:t>knows</a:t>
            </a:r>
            <a:r>
              <a:rPr dirty="0" sz="2500" spc="75">
                <a:solidFill>
                  <a:srgbClr val="79483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79483F"/>
                </a:solidFill>
                <a:latin typeface="Times New Roman"/>
                <a:cs typeface="Times New Roman"/>
              </a:rPr>
              <a:t>is</a:t>
            </a:r>
            <a:r>
              <a:rPr dirty="0" sz="2500" spc="30">
                <a:solidFill>
                  <a:srgbClr val="79483F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79483F"/>
                </a:solidFill>
                <a:latin typeface="Times New Roman"/>
                <a:cs typeface="Times New Roman"/>
              </a:rPr>
              <a:t>broken."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622591" y="3357760"/>
            <a:ext cx="1758314" cy="906780"/>
          </a:xfrm>
          <a:prstGeom prst="rect">
            <a:avLst/>
          </a:prstGeom>
          <a:ln w="25473">
            <a:solidFill>
              <a:srgbClr val="000000"/>
            </a:solidFill>
          </a:ln>
        </p:spPr>
        <p:txBody>
          <a:bodyPr wrap="square" lIns="0" tIns="128905" rIns="0" bIns="0" rtlCol="0" vert="horz">
            <a:spAutoFit/>
          </a:bodyPr>
          <a:lstStyle/>
          <a:p>
            <a:pPr algn="ctr" marL="11430">
              <a:lnSpc>
                <a:spcPts val="2575"/>
              </a:lnSpc>
              <a:spcBef>
                <a:spcPts val="1015"/>
              </a:spcBef>
            </a:pPr>
            <a:r>
              <a:rPr dirty="0" sz="2200" spc="-25">
                <a:solidFill>
                  <a:srgbClr val="1F1F1C"/>
                </a:solidFill>
                <a:latin typeface="Arial"/>
                <a:cs typeface="Arial"/>
              </a:rPr>
              <a:t>CVE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ts val="2575"/>
              </a:lnSpc>
            </a:pPr>
            <a:r>
              <a:rPr dirty="0" sz="2200" spc="-10">
                <a:solidFill>
                  <a:srgbClr val="1F1F1C"/>
                </a:solidFill>
                <a:latin typeface="Arial"/>
                <a:cs typeface="Arial"/>
              </a:rPr>
              <a:t>Disclosed</a:t>
            </a:r>
            <a:endParaRPr sz="2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909180" y="3791876"/>
            <a:ext cx="910590" cy="68199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4130" marR="5080" indent="-12065">
              <a:lnSpc>
                <a:spcPts val="2510"/>
              </a:lnSpc>
              <a:spcBef>
                <a:spcPts val="300"/>
              </a:spcBef>
            </a:pPr>
            <a:r>
              <a:rPr dirty="0" sz="2200" spc="-35">
                <a:solidFill>
                  <a:srgbClr val="1F1F1C"/>
                </a:solidFill>
                <a:latin typeface="Arial"/>
                <a:cs typeface="Arial"/>
              </a:rPr>
              <a:t>Assess </a:t>
            </a:r>
            <a:r>
              <a:rPr dirty="0" sz="2200" spc="-10">
                <a:solidFill>
                  <a:srgbClr val="2F2F2F"/>
                </a:solidFill>
                <a:latin typeface="Arial"/>
                <a:cs typeface="Arial"/>
              </a:rPr>
              <a:t>Impact</a:t>
            </a:r>
            <a:endParaRPr sz="2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252800" y="5464241"/>
            <a:ext cx="1170305" cy="68199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33045" marR="5080" indent="-220979">
              <a:lnSpc>
                <a:spcPts val="2510"/>
              </a:lnSpc>
              <a:spcBef>
                <a:spcPts val="300"/>
              </a:spcBef>
            </a:pPr>
            <a:r>
              <a:rPr dirty="0" sz="2200" spc="-30">
                <a:solidFill>
                  <a:srgbClr val="1F1F1C"/>
                </a:solidFill>
                <a:latin typeface="Arial"/>
                <a:cs typeface="Arial"/>
              </a:rPr>
              <a:t>Schedule </a:t>
            </a:r>
            <a:r>
              <a:rPr dirty="0" sz="2200" spc="-10">
                <a:solidFill>
                  <a:srgbClr val="1F1F1C"/>
                </a:solidFill>
                <a:latin typeface="Arial"/>
                <a:cs typeface="Arial"/>
              </a:rPr>
              <a:t>Patch</a:t>
            </a:r>
            <a:endParaRPr sz="2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168874" y="7685551"/>
            <a:ext cx="5423535" cy="75311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692150" marR="5080" indent="-680085">
              <a:lnSpc>
                <a:spcPts val="2710"/>
              </a:lnSpc>
              <a:spcBef>
                <a:spcPts val="445"/>
              </a:spcBef>
            </a:pPr>
            <a:r>
              <a:rPr dirty="0" sz="2500">
                <a:solidFill>
                  <a:srgbClr val="314654"/>
                </a:solidFill>
                <a:latin typeface="Times New Roman"/>
                <a:cs typeface="Times New Roman"/>
              </a:rPr>
              <a:t>"Our</a:t>
            </a:r>
            <a:r>
              <a:rPr dirty="0" sz="2500" spc="-30">
                <a:solidFill>
                  <a:srgbClr val="314654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314654"/>
                </a:solidFill>
                <a:latin typeface="Times New Roman"/>
                <a:cs typeface="Times New Roman"/>
              </a:rPr>
              <a:t>security</a:t>
            </a:r>
            <a:r>
              <a:rPr dirty="0" sz="2500" spc="-60">
                <a:solidFill>
                  <a:srgbClr val="314654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314654"/>
                </a:solidFill>
                <a:latin typeface="Times New Roman"/>
                <a:cs typeface="Times New Roman"/>
              </a:rPr>
              <a:t>is</a:t>
            </a:r>
            <a:r>
              <a:rPr dirty="0" sz="2500" spc="20">
                <a:solidFill>
                  <a:srgbClr val="314654"/>
                </a:solidFill>
                <a:latin typeface="Times New Roman"/>
                <a:cs typeface="Times New Roman"/>
              </a:rPr>
              <a:t> </a:t>
            </a:r>
            <a:r>
              <a:rPr dirty="0" sz="2500" spc="50">
                <a:solidFill>
                  <a:srgbClr val="314654"/>
                </a:solidFill>
                <a:latin typeface="Times New Roman"/>
                <a:cs typeface="Times New Roman"/>
              </a:rPr>
              <a:t>defined</a:t>
            </a:r>
            <a:r>
              <a:rPr dirty="0" sz="2500" spc="135">
                <a:solidFill>
                  <a:srgbClr val="314654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314654"/>
                </a:solidFill>
                <a:latin typeface="Times New Roman"/>
                <a:cs typeface="Times New Roman"/>
              </a:rPr>
              <a:t>by</a:t>
            </a:r>
            <a:r>
              <a:rPr dirty="0" sz="2500" spc="-65">
                <a:solidFill>
                  <a:srgbClr val="314654"/>
                </a:solidFill>
                <a:latin typeface="Times New Roman"/>
                <a:cs typeface="Times New Roman"/>
              </a:rPr>
              <a:t> </a:t>
            </a:r>
            <a:r>
              <a:rPr dirty="0" sz="2500" spc="85">
                <a:solidFill>
                  <a:srgbClr val="314654"/>
                </a:solidFill>
                <a:latin typeface="Times New Roman"/>
                <a:cs typeface="Times New Roman"/>
              </a:rPr>
              <a:t>our</a:t>
            </a:r>
            <a:r>
              <a:rPr dirty="0" sz="2500" spc="75">
                <a:solidFill>
                  <a:srgbClr val="314654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1D3442"/>
                </a:solidFill>
                <a:latin typeface="Times New Roman"/>
                <a:cs typeface="Times New Roman"/>
              </a:rPr>
              <a:t>resilience </a:t>
            </a:r>
            <a:r>
              <a:rPr dirty="0" sz="2500">
                <a:solidFill>
                  <a:srgbClr val="314654"/>
                </a:solidFill>
                <a:latin typeface="Times New Roman"/>
                <a:cs typeface="Times New Roman"/>
              </a:rPr>
              <a:t>to</a:t>
            </a:r>
            <a:r>
              <a:rPr dirty="0" sz="2500" spc="10">
                <a:solidFill>
                  <a:srgbClr val="314654"/>
                </a:solidFill>
                <a:latin typeface="Times New Roman"/>
                <a:cs typeface="Times New Roman"/>
              </a:rPr>
              <a:t> </a:t>
            </a:r>
            <a:r>
              <a:rPr dirty="0" sz="2500" spc="80">
                <a:solidFill>
                  <a:srgbClr val="314654"/>
                </a:solidFill>
                <a:latin typeface="Times New Roman"/>
                <a:cs typeface="Times New Roman"/>
              </a:rPr>
              <a:t>threats</a:t>
            </a:r>
            <a:r>
              <a:rPr dirty="0" sz="2500" spc="-75">
                <a:solidFill>
                  <a:srgbClr val="314654"/>
                </a:solidFill>
                <a:latin typeface="Times New Roman"/>
                <a:cs typeface="Times New Roman"/>
              </a:rPr>
              <a:t> </a:t>
            </a:r>
            <a:r>
              <a:rPr dirty="0" sz="2500" spc="55">
                <a:solidFill>
                  <a:srgbClr val="425966"/>
                </a:solidFill>
                <a:latin typeface="Times New Roman"/>
                <a:cs typeface="Times New Roman"/>
              </a:rPr>
              <a:t>we</a:t>
            </a:r>
            <a:r>
              <a:rPr dirty="0" sz="2500" spc="-95">
                <a:solidFill>
                  <a:srgbClr val="425966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314654"/>
                </a:solidFill>
                <a:latin typeface="Times New Roman"/>
                <a:cs typeface="Times New Roman"/>
              </a:rPr>
              <a:t>haven't</a:t>
            </a:r>
            <a:r>
              <a:rPr dirty="0" sz="2500" spc="-40">
                <a:solidFill>
                  <a:srgbClr val="314654"/>
                </a:solidFill>
                <a:latin typeface="Times New Roman"/>
                <a:cs typeface="Times New Roman"/>
              </a:rPr>
              <a:t> </a:t>
            </a:r>
            <a:r>
              <a:rPr dirty="0" sz="2500" spc="110">
                <a:solidFill>
                  <a:srgbClr val="314654"/>
                </a:solidFill>
                <a:latin typeface="Times New Roman"/>
                <a:cs typeface="Times New Roman"/>
              </a:rPr>
              <a:t>seen</a:t>
            </a:r>
            <a:r>
              <a:rPr dirty="0" sz="2500" spc="-20">
                <a:solidFill>
                  <a:srgbClr val="314654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314654"/>
                </a:solidFill>
                <a:latin typeface="Times New Roman"/>
                <a:cs typeface="Times New Roman"/>
              </a:rPr>
              <a:t>yet."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02129" y="8898334"/>
            <a:ext cx="15717519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 spc="50" b="1">
                <a:solidFill>
                  <a:srgbClr val="030301"/>
                </a:solidFill>
                <a:latin typeface="Arial"/>
                <a:cs typeface="Arial"/>
              </a:rPr>
              <a:t>Compliance</a:t>
            </a:r>
            <a:r>
              <a:rPr dirty="0" sz="2500" spc="3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00" spc="150" b="1">
                <a:solidFill>
                  <a:srgbClr val="030301"/>
                </a:solidFill>
                <a:latin typeface="Arial"/>
                <a:cs typeface="Arial"/>
              </a:rPr>
              <a:t>gets</a:t>
            </a:r>
            <a:r>
              <a:rPr dirty="0" sz="2500" spc="-23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00" spc="85" b="1">
                <a:solidFill>
                  <a:srgbClr val="030301"/>
                </a:solidFill>
                <a:latin typeface="Arial"/>
                <a:cs typeface="Arial"/>
              </a:rPr>
              <a:t>you</a:t>
            </a:r>
            <a:r>
              <a:rPr dirty="0" sz="2500" spc="-18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00" spc="60" b="1">
                <a:solidFill>
                  <a:srgbClr val="030301"/>
                </a:solidFill>
                <a:latin typeface="Arial"/>
                <a:cs typeface="Arial"/>
              </a:rPr>
              <a:t>through</a:t>
            </a:r>
            <a:r>
              <a:rPr dirty="0" sz="2500" spc="-5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00" spc="55" b="1">
                <a:solidFill>
                  <a:srgbClr val="030301"/>
                </a:solidFill>
                <a:latin typeface="Arial"/>
                <a:cs typeface="Arial"/>
              </a:rPr>
              <a:t>the</a:t>
            </a:r>
            <a:r>
              <a:rPr dirty="0" sz="2500" spc="6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00" spc="75" b="1">
                <a:solidFill>
                  <a:srgbClr val="030301"/>
                </a:solidFill>
                <a:latin typeface="Arial"/>
                <a:cs typeface="Arial"/>
              </a:rPr>
              <a:t>audit</a:t>
            </a:r>
            <a:r>
              <a:rPr dirty="0" sz="2500" spc="75" b="1">
                <a:solidFill>
                  <a:srgbClr val="1F1F1C"/>
                </a:solidFill>
                <a:latin typeface="Arial"/>
                <a:cs typeface="Arial"/>
              </a:rPr>
              <a:t>.</a:t>
            </a:r>
            <a:r>
              <a:rPr dirty="0" sz="2500" spc="-220" b="1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500" spc="55" b="1">
                <a:solidFill>
                  <a:srgbClr val="030301"/>
                </a:solidFill>
                <a:latin typeface="Arial"/>
                <a:cs typeface="Arial"/>
              </a:rPr>
              <a:t>Proactive</a:t>
            </a:r>
            <a:r>
              <a:rPr dirty="0" sz="2500" spc="-6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30301"/>
                </a:solidFill>
                <a:latin typeface="Arial"/>
                <a:cs typeface="Arial"/>
              </a:rPr>
              <a:t>hardening</a:t>
            </a:r>
            <a:r>
              <a:rPr dirty="0" sz="2500" spc="1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00" spc="95" b="1">
                <a:solidFill>
                  <a:srgbClr val="030301"/>
                </a:solidFill>
                <a:latin typeface="Arial"/>
                <a:cs typeface="Arial"/>
              </a:rPr>
              <a:t>keeps</a:t>
            </a:r>
            <a:r>
              <a:rPr dirty="0" sz="2500" spc="-8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00" spc="85" b="1">
                <a:solidFill>
                  <a:srgbClr val="030301"/>
                </a:solidFill>
                <a:latin typeface="Arial"/>
                <a:cs typeface="Arial"/>
              </a:rPr>
              <a:t>you</a:t>
            </a:r>
            <a:r>
              <a:rPr dirty="0" sz="2500" spc="-26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00" spc="125" b="1">
                <a:solidFill>
                  <a:srgbClr val="030301"/>
                </a:solidFill>
                <a:latin typeface="Arial"/>
                <a:cs typeface="Arial"/>
              </a:rPr>
              <a:t>out</a:t>
            </a:r>
            <a:r>
              <a:rPr dirty="0" sz="2500" spc="-24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00" spc="105" b="1">
                <a:solidFill>
                  <a:srgbClr val="030301"/>
                </a:solidFill>
                <a:latin typeface="Arial"/>
                <a:cs typeface="Arial"/>
              </a:rPr>
              <a:t>of</a:t>
            </a:r>
            <a:r>
              <a:rPr dirty="0" sz="2500" spc="-6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00" spc="105" b="1">
                <a:solidFill>
                  <a:srgbClr val="030301"/>
                </a:solidFill>
                <a:latin typeface="Arial"/>
                <a:cs typeface="Arial"/>
              </a:rPr>
              <a:t>the</a:t>
            </a:r>
            <a:r>
              <a:rPr dirty="0" sz="2500" spc="-6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00" spc="75" b="1">
                <a:solidFill>
                  <a:srgbClr val="030301"/>
                </a:solidFill>
                <a:latin typeface="Arial"/>
                <a:cs typeface="Arial"/>
              </a:rPr>
              <a:t>breach</a:t>
            </a:r>
            <a:r>
              <a:rPr dirty="0" sz="2500" spc="-3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500" spc="55" b="1">
                <a:solidFill>
                  <a:srgbClr val="030301"/>
                </a:solidFill>
                <a:latin typeface="Arial"/>
                <a:cs typeface="Arial"/>
              </a:rPr>
              <a:t>headlines</a:t>
            </a:r>
            <a:r>
              <a:rPr dirty="0" sz="2500" spc="55" b="1">
                <a:solidFill>
                  <a:srgbClr val="1F1F1C"/>
                </a:solidFill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2025-12-07T23:37:42Z</dcterms:created>
  <dcterms:modified xsi:type="dcterms:W3CDTF">2025-12-07T23:37:42Z</dcterms:modified>
</cp:coreProperties>
</file>